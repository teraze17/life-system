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319" r:id="rId3"/>
    <p:sldId id="318" r:id="rId4"/>
    <p:sldId id="263" r:id="rId5"/>
    <p:sldId id="261" r:id="rId6"/>
    <p:sldId id="272" r:id="rId7"/>
    <p:sldId id="320" r:id="rId8"/>
    <p:sldId id="283" r:id="rId9"/>
    <p:sldId id="284" r:id="rId10"/>
    <p:sldId id="285" r:id="rId11"/>
    <p:sldId id="313" r:id="rId12"/>
    <p:sldId id="266" r:id="rId13"/>
    <p:sldId id="314" r:id="rId14"/>
    <p:sldId id="267" r:id="rId15"/>
    <p:sldId id="286" r:id="rId16"/>
    <p:sldId id="287" r:id="rId17"/>
    <p:sldId id="315" r:id="rId18"/>
    <p:sldId id="268" r:id="rId19"/>
    <p:sldId id="290" r:id="rId20"/>
    <p:sldId id="291" r:id="rId21"/>
    <p:sldId id="288" r:id="rId22"/>
    <p:sldId id="269" r:id="rId23"/>
    <p:sldId id="293" r:id="rId24"/>
    <p:sldId id="316" r:id="rId25"/>
    <p:sldId id="294" r:id="rId26"/>
    <p:sldId id="292" r:id="rId27"/>
    <p:sldId id="270" r:id="rId28"/>
    <p:sldId id="317" r:id="rId29"/>
    <p:sldId id="271" r:id="rId30"/>
    <p:sldId id="295" r:id="rId31"/>
    <p:sldId id="296" r:id="rId32"/>
    <p:sldId id="273" r:id="rId33"/>
    <p:sldId id="276" r:id="rId34"/>
    <p:sldId id="275" r:id="rId35"/>
    <p:sldId id="278" r:id="rId36"/>
    <p:sldId id="277" r:id="rId37"/>
    <p:sldId id="280" r:id="rId38"/>
    <p:sldId id="279" r:id="rId39"/>
    <p:sldId id="281" r:id="rId40"/>
    <p:sldId id="282" r:id="rId41"/>
    <p:sldId id="298" r:id="rId42"/>
    <p:sldId id="297" r:id="rId43"/>
    <p:sldId id="299" r:id="rId44"/>
    <p:sldId id="301" r:id="rId45"/>
    <p:sldId id="302" r:id="rId46"/>
    <p:sldId id="300" r:id="rId47"/>
    <p:sldId id="303" r:id="rId48"/>
    <p:sldId id="305" r:id="rId49"/>
    <p:sldId id="304" r:id="rId50"/>
    <p:sldId id="306" r:id="rId51"/>
    <p:sldId id="307" r:id="rId52"/>
    <p:sldId id="308" r:id="rId53"/>
    <p:sldId id="310" r:id="rId54"/>
    <p:sldId id="309" r:id="rId55"/>
    <p:sldId id="311" r:id="rId56"/>
    <p:sldId id="312"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77623" autoAdjust="0"/>
  </p:normalViewPr>
  <p:slideViewPr>
    <p:cSldViewPr snapToGrid="0">
      <p:cViewPr varScale="1">
        <p:scale>
          <a:sx n="66" d="100"/>
          <a:sy n="66" d="100"/>
        </p:scale>
        <p:origin x="13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ACAA4-6A99-4D92-9E30-E84247B84EF1}" type="datetimeFigureOut">
              <a:rPr lang="en-US" smtClean="0"/>
              <a:t>10/25/2023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F5148F-E0CF-4A3E-922E-B1B7AB039E21}" type="slidenum">
              <a:rPr lang="en-US" smtClean="0"/>
              <a:t>‹#›</a:t>
            </a:fld>
            <a:endParaRPr lang="en-US"/>
          </a:p>
        </p:txBody>
      </p:sp>
    </p:spTree>
    <p:extLst>
      <p:ext uri="{BB962C8B-B14F-4D97-AF65-F5344CB8AC3E}">
        <p14:creationId xmlns:p14="http://schemas.microsoft.com/office/powerpoint/2010/main" val="969622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a:t>
            </a:r>
            <a:r>
              <a:rPr lang="zh-TW" altLang="en-US" dirty="0"/>
              <a:t>陳怡婕。</a:t>
            </a:r>
            <a:r>
              <a:rPr lang="en-US" dirty="0"/>
              <a:t> today I want to introduce a </a:t>
            </a:r>
            <a:r>
              <a:rPr lang="en-US" dirty="0" err="1"/>
              <a:t>biotools</a:t>
            </a:r>
            <a:r>
              <a:rPr lang="en-US" dirty="0"/>
              <a:t> – SIMB</a:t>
            </a:r>
            <a:r>
              <a:rPr lang="en-US" altLang="zh-TW" dirty="0"/>
              <a:t>A, this </a:t>
            </a:r>
            <a:r>
              <a:rPr lang="en-US" altLang="zh-TW" dirty="0" err="1"/>
              <a:t>biotools</a:t>
            </a:r>
            <a:r>
              <a:rPr lang="en-US" altLang="zh-TW" dirty="0"/>
              <a:t> </a:t>
            </a:r>
            <a:r>
              <a:rPr lang="en-US" dirty="0"/>
              <a:t>is used on single cell analysis. And the paper is published in Nature </a:t>
            </a:r>
            <a:r>
              <a:rPr lang="en-US" altLang="zh-TW" dirty="0"/>
              <a:t>Methods. </a:t>
            </a:r>
          </a:p>
          <a:p>
            <a:r>
              <a:rPr lang="en-US" dirty="0"/>
              <a:t>The topic is related to my own research, that’s why I choose it.</a:t>
            </a:r>
          </a:p>
        </p:txBody>
      </p:sp>
      <p:sp>
        <p:nvSpPr>
          <p:cNvPr id="4" name="Slide Number Placeholder 3"/>
          <p:cNvSpPr>
            <a:spLocks noGrp="1"/>
          </p:cNvSpPr>
          <p:nvPr>
            <p:ph type="sldNum" sz="quarter" idx="5"/>
          </p:nvPr>
        </p:nvSpPr>
        <p:spPr/>
        <p:txBody>
          <a:bodyPr/>
          <a:lstStyle/>
          <a:p>
            <a:fld id="{FBF5148F-E0CF-4A3E-922E-B1B7AB039E21}" type="slidenum">
              <a:rPr lang="en-US" smtClean="0"/>
              <a:t>1</a:t>
            </a:fld>
            <a:endParaRPr lang="en-US"/>
          </a:p>
        </p:txBody>
      </p:sp>
    </p:spTree>
    <p:extLst>
      <p:ext uri="{BB962C8B-B14F-4D97-AF65-F5344CB8AC3E}">
        <p14:creationId xmlns:p14="http://schemas.microsoft.com/office/powerpoint/2010/main" val="264655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a:t>
            </a:fld>
            <a:endParaRPr lang="en-US"/>
          </a:p>
        </p:txBody>
      </p:sp>
    </p:spTree>
    <p:extLst>
      <p:ext uri="{BB962C8B-B14F-4D97-AF65-F5344CB8AC3E}">
        <p14:creationId xmlns:p14="http://schemas.microsoft.com/office/powerpoint/2010/main" val="608356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And many of us know, papers published in 'Nature Methods' are based on methodologies, so their citation numbers are naturally higher, leading to very high impact factors.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a:t>
            </a:fld>
            <a:endParaRPr lang="en-US"/>
          </a:p>
        </p:txBody>
      </p:sp>
    </p:spTree>
    <p:extLst>
      <p:ext uri="{BB962C8B-B14F-4D97-AF65-F5344CB8AC3E}">
        <p14:creationId xmlns:p14="http://schemas.microsoft.com/office/powerpoint/2010/main" val="1058192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introducing SIMBA. I would like to first discuss the current challenges in single-cell analysis.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first one is “Most current single-cell analysis pipelines rely heavily on </a:t>
            </a:r>
            <a:r>
              <a:rPr lang="en-US" dirty="0">
                <a:solidFill>
                  <a:srgbClr val="FF0000"/>
                </a:solidFill>
                <a:effectLst/>
              </a:rPr>
              <a:t>clustering</a:t>
            </a:r>
            <a:r>
              <a:rPr lang="en-US" altLang="zh-TW" dirty="0">
                <a:solidFill>
                  <a:srgbClr val="FF0000"/>
                </a:solidFill>
                <a:effectLst/>
              </a:rPr>
              <a:t>”, it may lead to False Discovery.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effectLst/>
              </a:rPr>
              <a:t>What is false discovery? It is like you group two genes together based on some similar characteristics, for example, high expression level.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effectLst/>
              </a:rPr>
              <a:t>However, this can be a random error. It is possible that two genes are not related.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The similarity you see might just be a coincidence, rather than the reason you explained.</a:t>
            </a:r>
            <a:endParaRPr lang="en-US" altLang="zh-TW" b="0" i="0" dirty="0">
              <a:solidFill>
                <a:srgbClr val="FF0000"/>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374151"/>
                </a:solidFill>
                <a:effectLst/>
                <a:latin typeface="Söhne"/>
              </a:rPr>
              <a:t>The second challenge is many computational methods nowadays in single-cell analysis are developed for one modality.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374151"/>
                </a:solidFill>
                <a:effectLst/>
                <a:latin typeface="Söhne"/>
              </a:rPr>
              <a:t>One modality means there is only one data type. For example, the computational method is only suitable for RNA data, or for proteomics data, or for methylation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374151"/>
                </a:solidFill>
                <a:effectLst/>
                <a:latin typeface="Söhne"/>
              </a:rPr>
              <a:t>So actually, we don’t have suitable methods to analyze </a:t>
            </a:r>
            <a:r>
              <a:rPr lang="en-US" b="0" i="0" dirty="0">
                <a:solidFill>
                  <a:srgbClr val="374151"/>
                </a:solidFill>
                <a:effectLst/>
                <a:latin typeface="Söhne"/>
              </a:rPr>
              <a:t>multiple different types of data simultaneously.</a:t>
            </a:r>
            <a:r>
              <a:rPr lang="en-US" altLang="zh-TW" b="0" i="0" dirty="0">
                <a:solidFill>
                  <a:srgbClr val="374151"/>
                </a:solidFill>
                <a:effectLst/>
                <a:latin typeface="Söhne"/>
              </a:rPr>
              <a:t> </a:t>
            </a:r>
          </a:p>
        </p:txBody>
      </p:sp>
      <p:sp>
        <p:nvSpPr>
          <p:cNvPr id="4" name="Slide Number Placeholder 3"/>
          <p:cNvSpPr>
            <a:spLocks noGrp="1"/>
          </p:cNvSpPr>
          <p:nvPr>
            <p:ph type="sldNum" sz="quarter" idx="5"/>
          </p:nvPr>
        </p:nvSpPr>
        <p:spPr/>
        <p:txBody>
          <a:bodyPr/>
          <a:lstStyle/>
          <a:p>
            <a:fld id="{FBF5148F-E0CF-4A3E-922E-B1B7AB039E21}" type="slidenum">
              <a:rPr lang="en-US" smtClean="0"/>
              <a:t>5</a:t>
            </a:fld>
            <a:endParaRPr lang="en-US"/>
          </a:p>
        </p:txBody>
      </p:sp>
    </p:spTree>
    <p:extLst>
      <p:ext uri="{BB962C8B-B14F-4D97-AF65-F5344CB8AC3E}">
        <p14:creationId xmlns:p14="http://schemas.microsoft.com/office/powerpoint/2010/main" val="2034573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picture captured by a paper which </a:t>
            </a:r>
            <a:r>
              <a:rPr lang="en-US" b="0" i="0" dirty="0">
                <a:solidFill>
                  <a:srgbClr val="374151"/>
                </a:solidFill>
                <a:effectLst/>
                <a:latin typeface="Söhne"/>
              </a:rPr>
              <a:t>summarizes the steps of mainstream </a:t>
            </a:r>
            <a:r>
              <a:rPr lang="en-US" b="0" i="0" dirty="0" err="1">
                <a:solidFill>
                  <a:srgbClr val="374151"/>
                </a:solidFill>
                <a:effectLst/>
                <a:latin typeface="Söhne"/>
              </a:rPr>
              <a:t>scRNA</a:t>
            </a:r>
            <a:r>
              <a:rPr lang="en-US" b="0" i="0" dirty="0">
                <a:solidFill>
                  <a:srgbClr val="374151"/>
                </a:solidFill>
                <a:effectLst/>
                <a:latin typeface="Söhne"/>
              </a:rPr>
              <a:t> analysis currently in use.</a:t>
            </a:r>
          </a:p>
          <a:p>
            <a:r>
              <a:rPr lang="en-US" b="0" i="0" dirty="0">
                <a:solidFill>
                  <a:srgbClr val="374151"/>
                </a:solidFill>
                <a:effectLst/>
                <a:latin typeface="Söhne"/>
              </a:rPr>
              <a:t>You can clearly see that the cluster analysis is right above.</a:t>
            </a:r>
          </a:p>
          <a:p>
            <a:r>
              <a:rPr lang="en-US" b="0" i="0" dirty="0">
                <a:solidFill>
                  <a:srgbClr val="374151"/>
                </a:solidFill>
                <a:effectLst/>
                <a:latin typeface="Söhne"/>
              </a:rPr>
              <a:t>You can regard clustering as an important step for </a:t>
            </a:r>
            <a:r>
              <a:rPr lang="en-US" b="0" i="0" dirty="0" err="1">
                <a:solidFill>
                  <a:srgbClr val="374151"/>
                </a:solidFill>
                <a:effectLst/>
                <a:latin typeface="Söhne"/>
              </a:rPr>
              <a:t>scRNA</a:t>
            </a:r>
            <a:r>
              <a:rPr lang="en-US" b="0" i="0" dirty="0">
                <a:solidFill>
                  <a:srgbClr val="374151"/>
                </a:solidFill>
                <a:effectLst/>
                <a:latin typeface="Söhne"/>
              </a:rPr>
              <a:t> </a:t>
            </a:r>
            <a:r>
              <a:rPr lang="en-US" b="0" i="0" dirty="0" err="1">
                <a:solidFill>
                  <a:srgbClr val="374151"/>
                </a:solidFill>
                <a:effectLst/>
                <a:latin typeface="Söhne"/>
              </a:rPr>
              <a:t>alaysis</a:t>
            </a:r>
            <a:r>
              <a:rPr lang="en-US" b="0" i="0" dirty="0">
                <a:solidFill>
                  <a:srgbClr val="374151"/>
                </a:solidFill>
                <a:effectLst/>
                <a:latin typeface="Söhne"/>
              </a:rPr>
              <a:t>.</a:t>
            </a:r>
          </a:p>
        </p:txBody>
      </p:sp>
      <p:sp>
        <p:nvSpPr>
          <p:cNvPr id="4" name="Slide Number Placeholder 3"/>
          <p:cNvSpPr>
            <a:spLocks noGrp="1"/>
          </p:cNvSpPr>
          <p:nvPr>
            <p:ph type="sldNum" sz="quarter" idx="5"/>
          </p:nvPr>
        </p:nvSpPr>
        <p:spPr/>
        <p:txBody>
          <a:bodyPr/>
          <a:lstStyle/>
          <a:p>
            <a:fld id="{FBF5148F-E0CF-4A3E-922E-B1B7AB039E21}" type="slidenum">
              <a:rPr lang="en-US" smtClean="0"/>
              <a:t>6</a:t>
            </a:fld>
            <a:endParaRPr lang="en-US"/>
          </a:p>
        </p:txBody>
      </p:sp>
    </p:spTree>
    <p:extLst>
      <p:ext uri="{BB962C8B-B14F-4D97-AF65-F5344CB8AC3E}">
        <p14:creationId xmlns:p14="http://schemas.microsoft.com/office/powerpoint/2010/main" val="1572617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can see there are so many information in single cell. For instance, (methylation, genome sequence, chromatin accessibility and also mRNA.)</a:t>
            </a:r>
          </a:p>
        </p:txBody>
      </p:sp>
      <p:sp>
        <p:nvSpPr>
          <p:cNvPr id="4" name="Slide Number Placeholder 3"/>
          <p:cNvSpPr>
            <a:spLocks noGrp="1"/>
          </p:cNvSpPr>
          <p:nvPr>
            <p:ph type="sldNum" sz="quarter" idx="5"/>
          </p:nvPr>
        </p:nvSpPr>
        <p:spPr/>
        <p:txBody>
          <a:bodyPr/>
          <a:lstStyle/>
          <a:p>
            <a:fld id="{FBF5148F-E0CF-4A3E-922E-B1B7AB039E21}" type="slidenum">
              <a:rPr lang="en-US" smtClean="0"/>
              <a:t>8</a:t>
            </a:fld>
            <a:endParaRPr lang="en-US"/>
          </a:p>
        </p:txBody>
      </p:sp>
    </p:spTree>
    <p:extLst>
      <p:ext uri="{BB962C8B-B14F-4D97-AF65-F5344CB8AC3E}">
        <p14:creationId xmlns:p14="http://schemas.microsoft.com/office/powerpoint/2010/main" val="3959649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collect </a:t>
            </a:r>
            <a:r>
              <a:rPr lang="en-US" b="0" i="0" dirty="0">
                <a:solidFill>
                  <a:srgbClr val="374151"/>
                </a:solidFill>
                <a:effectLst/>
                <a:latin typeface="Söhne"/>
              </a:rPr>
              <a:t>multiple different types of data, we regard them as a feature. And we input this feature, embedding them on a 2D graph.</a:t>
            </a:r>
          </a:p>
          <a:p>
            <a:r>
              <a:rPr lang="en-US" b="0" i="0" dirty="0">
                <a:solidFill>
                  <a:srgbClr val="374151"/>
                </a:solidFill>
                <a:effectLst/>
                <a:latin typeface="Söhne"/>
              </a:rPr>
              <a:t>We employ some techniques and computational methods to identify the relationships between these features, and then we connect these features, these nodes together.</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10</a:t>
            </a:fld>
            <a:endParaRPr lang="en-US"/>
          </a:p>
        </p:txBody>
      </p:sp>
    </p:spTree>
    <p:extLst>
      <p:ext uri="{BB962C8B-B14F-4D97-AF65-F5344CB8AC3E}">
        <p14:creationId xmlns:p14="http://schemas.microsoft.com/office/powerpoint/2010/main" val="70452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the analysis workflow of SIMBA, five types of data are collected. </a:t>
            </a:r>
          </a:p>
          <a:p>
            <a:r>
              <a:rPr lang="en-US" b="0" i="0" dirty="0">
                <a:solidFill>
                  <a:srgbClr val="374151"/>
                </a:solidFill>
                <a:effectLst/>
                <a:latin typeface="Söhne"/>
              </a:rPr>
              <a:t>Let me spend a little time to explain these data format. I think you guys are familiar with cells and gene expression, but maybe not that familiar with these three types.</a:t>
            </a:r>
          </a:p>
          <a:p>
            <a:r>
              <a:rPr lang="en-US" b="0" i="0" dirty="0">
                <a:solidFill>
                  <a:srgbClr val="374151"/>
                </a:solidFill>
                <a:effectLst/>
                <a:latin typeface="Söhne"/>
              </a:rPr>
              <a:t>Let’s explain TF motif first, TF refers to “Transcription Factor”, transcription factors are specialized proteins that play a crucial role in turning genes on or off. </a:t>
            </a:r>
          </a:p>
          <a:p>
            <a:r>
              <a:rPr lang="en-US" b="0" i="0" dirty="0">
                <a:solidFill>
                  <a:srgbClr val="374151"/>
                </a:solidFill>
                <a:effectLst/>
                <a:latin typeface="Söhne"/>
              </a:rPr>
              <a:t>They do so by recognizing and binding to specific short sequences of DNA, referred to as "TF motifs“, a specific sequence of DNA that can be bound by transcription factors</a:t>
            </a:r>
          </a:p>
          <a:p>
            <a:endParaRPr lang="en-US" b="0" i="0" dirty="0">
              <a:solidFill>
                <a:srgbClr val="374151"/>
              </a:solidFill>
              <a:effectLst/>
              <a:latin typeface="Söhne"/>
            </a:endParaRPr>
          </a:p>
          <a:p>
            <a:r>
              <a:rPr lang="en-US" b="0" i="0" dirty="0">
                <a:solidFill>
                  <a:srgbClr val="374151"/>
                </a:solidFill>
                <a:effectLst/>
                <a:latin typeface="Söhne"/>
              </a:rPr>
              <a:t>Chromatin accessibility, reveals which regions of the DNA within a cell are accessible to transcription factors. If there is a high peak, means the region is accessible for transcription factors.</a:t>
            </a:r>
          </a:p>
          <a:p>
            <a:r>
              <a:rPr lang="en-US" b="0" i="0" dirty="0">
                <a:solidFill>
                  <a:srgbClr val="374151"/>
                </a:solidFill>
                <a:effectLst/>
                <a:latin typeface="Söhne"/>
              </a:rPr>
              <a:t>k-</a:t>
            </a:r>
            <a:r>
              <a:rPr lang="en-US" b="0" i="0" dirty="0" err="1">
                <a:solidFill>
                  <a:srgbClr val="374151"/>
                </a:solidFill>
                <a:effectLst/>
                <a:latin typeface="Söhne"/>
              </a:rPr>
              <a:t>mer</a:t>
            </a:r>
            <a:r>
              <a:rPr lang="en-US" b="0" i="0" dirty="0">
                <a:solidFill>
                  <a:srgbClr val="374151"/>
                </a:solidFill>
                <a:effectLst/>
                <a:latin typeface="Söhne"/>
              </a:rPr>
              <a:t>, </a:t>
            </a:r>
            <a:r>
              <a:rPr lang="en-US" b="0" i="0" dirty="0" err="1">
                <a:solidFill>
                  <a:srgbClr val="374151"/>
                </a:solidFill>
                <a:effectLst/>
                <a:latin typeface="Söhne"/>
              </a:rPr>
              <a:t>ummm</a:t>
            </a:r>
            <a:r>
              <a:rPr lang="en-US" b="0" i="0" dirty="0">
                <a:solidFill>
                  <a:srgbClr val="374151"/>
                </a:solidFill>
                <a:effectLst/>
                <a:latin typeface="Söhne"/>
              </a:rPr>
              <a:t>….k refers to number, so "k-</a:t>
            </a:r>
            <a:r>
              <a:rPr lang="en-US" b="0" i="0" dirty="0" err="1">
                <a:solidFill>
                  <a:srgbClr val="374151"/>
                </a:solidFill>
                <a:effectLst/>
                <a:latin typeface="Söhne"/>
              </a:rPr>
              <a:t>mer</a:t>
            </a:r>
            <a:r>
              <a:rPr lang="en-US" b="0" i="0" dirty="0">
                <a:solidFill>
                  <a:srgbClr val="374151"/>
                </a:solidFill>
                <a:effectLst/>
                <a:latin typeface="Söhne"/>
              </a:rPr>
              <a:t>" refers to a substring of DNA that is "k" nucleotides long. Basically, k-</a:t>
            </a:r>
            <a:r>
              <a:rPr lang="en-US" b="0" i="0" dirty="0" err="1">
                <a:solidFill>
                  <a:srgbClr val="374151"/>
                </a:solidFill>
                <a:effectLst/>
                <a:latin typeface="Söhne"/>
              </a:rPr>
              <a:t>mer</a:t>
            </a:r>
            <a:r>
              <a:rPr lang="en-US" b="0" i="0" dirty="0">
                <a:solidFill>
                  <a:srgbClr val="374151"/>
                </a:solidFill>
                <a:effectLst/>
                <a:latin typeface="Söhne"/>
              </a:rPr>
              <a:t> can let us know the frequency, how many times these fragments had shown up.</a:t>
            </a:r>
          </a:p>
          <a:p>
            <a:r>
              <a:rPr lang="en-US" b="0" i="0" dirty="0">
                <a:solidFill>
                  <a:srgbClr val="374151"/>
                </a:solidFill>
                <a:effectLst/>
                <a:latin typeface="Söhne"/>
              </a:rPr>
              <a:t>And knowing this we can assess the similarities between sequences.</a:t>
            </a:r>
          </a:p>
          <a:p>
            <a:endParaRPr lang="en-US" b="0" i="0" dirty="0">
              <a:solidFill>
                <a:srgbClr val="374151"/>
              </a:solidFill>
              <a:effectLst/>
              <a:latin typeface="Söhne"/>
            </a:endParaRPr>
          </a:p>
          <a:p>
            <a:r>
              <a:rPr lang="en-US" b="0" i="0" dirty="0">
                <a:solidFill>
                  <a:srgbClr val="374151"/>
                </a:solidFill>
                <a:effectLst/>
                <a:latin typeface="Söhne"/>
              </a:rPr>
              <a:t>These Data will be transformed to different signature, which means these nodes. Then be placed onto a graph, and certain computational methods are utilized to find associations, then connecting these nodes. We call this process “Embedding”. After Embedding, we employ </a:t>
            </a:r>
            <a:r>
              <a:rPr lang="en-US" b="0" i="0" dirty="0" err="1">
                <a:solidFill>
                  <a:srgbClr val="374151"/>
                </a:solidFill>
                <a:effectLst/>
                <a:latin typeface="Söhne"/>
              </a:rPr>
              <a:t>softmax</a:t>
            </a:r>
            <a:r>
              <a:rPr lang="en-US" b="0" i="0" dirty="0">
                <a:solidFill>
                  <a:srgbClr val="374151"/>
                </a:solidFill>
                <a:effectLst/>
                <a:latin typeface="Söhne"/>
              </a:rPr>
              <a:t> transformation,  we are able to identify the relationship between these cells, genes, chromatin accessibility, TF motif, and k-mer. Dividing different cells and features to different groups based on their association.</a:t>
            </a:r>
          </a:p>
          <a:p>
            <a:endParaRPr lang="en-US" b="0" i="0" dirty="0">
              <a:solidFill>
                <a:srgbClr val="374151"/>
              </a:solidFill>
              <a:effectLst/>
              <a:latin typeface="Söhne"/>
            </a:endParaRPr>
          </a:p>
          <a:p>
            <a:r>
              <a:rPr lang="en-US" b="0" i="0" dirty="0">
                <a:solidFill>
                  <a:srgbClr val="374151"/>
                </a:solidFill>
                <a:effectLst/>
                <a:latin typeface="Söhne"/>
              </a:rPr>
              <a:t>And this kind of embedding, or this kind of method. Could be used to multiple single-cell tasks. RNA, ATAC, multimodal, batch correction and multi-omics integration.</a:t>
            </a:r>
          </a:p>
        </p:txBody>
      </p:sp>
      <p:sp>
        <p:nvSpPr>
          <p:cNvPr id="4" name="Slide Number Placeholder 3"/>
          <p:cNvSpPr>
            <a:spLocks noGrp="1"/>
          </p:cNvSpPr>
          <p:nvPr>
            <p:ph type="sldNum" sz="quarter" idx="5"/>
          </p:nvPr>
        </p:nvSpPr>
        <p:spPr/>
        <p:txBody>
          <a:bodyPr/>
          <a:lstStyle/>
          <a:p>
            <a:fld id="{FBF5148F-E0CF-4A3E-922E-B1B7AB039E21}" type="slidenum">
              <a:rPr lang="en-US" smtClean="0"/>
              <a:t>12</a:t>
            </a:fld>
            <a:endParaRPr lang="en-US"/>
          </a:p>
        </p:txBody>
      </p:sp>
    </p:spTree>
    <p:extLst>
      <p:ext uri="{BB962C8B-B14F-4D97-AF65-F5344CB8AC3E}">
        <p14:creationId xmlns:p14="http://schemas.microsoft.com/office/powerpoint/2010/main" val="4239776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explaining so much, let’s move to result. </a:t>
            </a:r>
          </a:p>
        </p:txBody>
      </p:sp>
      <p:sp>
        <p:nvSpPr>
          <p:cNvPr id="4" name="Slide Number Placeholder 3"/>
          <p:cNvSpPr>
            <a:spLocks noGrp="1"/>
          </p:cNvSpPr>
          <p:nvPr>
            <p:ph type="sldNum" sz="quarter" idx="5"/>
          </p:nvPr>
        </p:nvSpPr>
        <p:spPr/>
        <p:txBody>
          <a:bodyPr/>
          <a:lstStyle/>
          <a:p>
            <a:fld id="{FBF5148F-E0CF-4A3E-922E-B1B7AB039E21}" type="slidenum">
              <a:rPr lang="en-US" smtClean="0"/>
              <a:t>13</a:t>
            </a:fld>
            <a:endParaRPr lang="en-US"/>
          </a:p>
        </p:txBody>
      </p:sp>
    </p:spTree>
    <p:extLst>
      <p:ext uri="{BB962C8B-B14F-4D97-AF65-F5344CB8AC3E}">
        <p14:creationId xmlns:p14="http://schemas.microsoft.com/office/powerpoint/2010/main" val="601421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for SIMBA, I think result may not be the most important. Because comparing to result, the </a:t>
            </a:r>
            <a:r>
              <a:rPr lang="en-US" b="0" i="0" dirty="0">
                <a:solidFill>
                  <a:srgbClr val="374151"/>
                </a:solidFill>
                <a:effectLst/>
                <a:latin typeface="Söhne"/>
              </a:rPr>
              <a:t>methodology, method is somewhat more important. Therefore, I won't spend too much time on the results.</a:t>
            </a:r>
          </a:p>
          <a:p>
            <a:endParaRPr lang="en-US" b="0" i="0" dirty="0">
              <a:solidFill>
                <a:srgbClr val="374151"/>
              </a:solidFill>
              <a:effectLst/>
              <a:latin typeface="Söhne"/>
            </a:endParaRPr>
          </a:p>
          <a:p>
            <a:r>
              <a:rPr lang="en-US" b="0" i="0" dirty="0">
                <a:solidFill>
                  <a:srgbClr val="374151"/>
                </a:solidFill>
                <a:effectLst/>
                <a:latin typeface="Söhne"/>
              </a:rPr>
              <a:t>This is an example of SIMBA being used for single-cell RNA-seq analysis.</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14</a:t>
            </a:fld>
            <a:endParaRPr lang="en-US"/>
          </a:p>
        </p:txBody>
      </p:sp>
    </p:spTree>
    <p:extLst>
      <p:ext uri="{BB962C8B-B14F-4D97-AF65-F5344CB8AC3E}">
        <p14:creationId xmlns:p14="http://schemas.microsoft.com/office/powerpoint/2010/main" val="980922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First, let's take a look at the clustering results.</a:t>
            </a:r>
          </a:p>
          <a:p>
            <a:endParaRPr lang="en-US" b="0" i="0" dirty="0">
              <a:solidFill>
                <a:srgbClr val="374151"/>
              </a:solidFill>
              <a:effectLst/>
              <a:latin typeface="Söhne"/>
            </a:endParaRPr>
          </a:p>
          <a:p>
            <a:r>
              <a:rPr lang="en-US" b="0" i="0" dirty="0">
                <a:solidFill>
                  <a:srgbClr val="374151"/>
                </a:solidFill>
                <a:effectLst/>
                <a:latin typeface="Söhne"/>
              </a:rPr>
              <a:t>The following graph shows the clustering results produced by Seurat. It is a tools widely recognized in the filed of single-cell RNA analysis.</a:t>
            </a:r>
          </a:p>
          <a:p>
            <a:pPr algn="l"/>
            <a:r>
              <a:rPr lang="en-US" b="0" i="0" dirty="0">
                <a:solidFill>
                  <a:srgbClr val="374151"/>
                </a:solidFill>
                <a:effectLst/>
                <a:latin typeface="Söhne"/>
              </a:rPr>
              <a:t>The two graphs tell us that the plots generated by SIMBA and Seurat are very similar.</a:t>
            </a:r>
          </a:p>
          <a:p>
            <a:br>
              <a:rPr lang="en-US" dirty="0"/>
            </a:b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15</a:t>
            </a:fld>
            <a:endParaRPr lang="en-US"/>
          </a:p>
        </p:txBody>
      </p:sp>
    </p:spTree>
    <p:extLst>
      <p:ext uri="{BB962C8B-B14F-4D97-AF65-F5344CB8AC3E}">
        <p14:creationId xmlns:p14="http://schemas.microsoft.com/office/powerpoint/2010/main" val="3986581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16</a:t>
            </a:fld>
            <a:endParaRPr lang="en-US"/>
          </a:p>
        </p:txBody>
      </p:sp>
    </p:spTree>
    <p:extLst>
      <p:ext uri="{BB962C8B-B14F-4D97-AF65-F5344CB8AC3E}">
        <p14:creationId xmlns:p14="http://schemas.microsoft.com/office/powerpoint/2010/main" val="3494742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If you want to know how many cells express a particular gene, you can also use a barcode plot to observe this. </a:t>
            </a:r>
          </a:p>
          <a:p>
            <a:r>
              <a:rPr lang="en-US" b="0" i="0" dirty="0">
                <a:solidFill>
                  <a:srgbClr val="374151"/>
                </a:solidFill>
                <a:effectLst/>
                <a:latin typeface="Söhne"/>
              </a:rPr>
              <a:t>Here, each line represents a single cell.</a:t>
            </a:r>
          </a:p>
          <a:p>
            <a:endParaRPr lang="en-US" b="0" i="0" dirty="0">
              <a:solidFill>
                <a:srgbClr val="374151"/>
              </a:solidFill>
              <a:effectLst/>
              <a:latin typeface="Söhne"/>
            </a:endParaRPr>
          </a:p>
          <a:p>
            <a:r>
              <a:rPr lang="en-US" b="0" i="0" dirty="0">
                <a:solidFill>
                  <a:srgbClr val="374151"/>
                </a:solidFill>
                <a:effectLst/>
                <a:latin typeface="Söhne"/>
              </a:rPr>
              <a:t>We can also use </a:t>
            </a:r>
            <a:r>
              <a:rPr lang="en-US" b="0" i="0" dirty="0" err="1">
                <a:solidFill>
                  <a:srgbClr val="374151"/>
                </a:solidFill>
                <a:effectLst/>
                <a:latin typeface="Söhne"/>
              </a:rPr>
              <a:t>umap</a:t>
            </a:r>
            <a:r>
              <a:rPr lang="en-US" b="0" i="0" dirty="0">
                <a:solidFill>
                  <a:srgbClr val="374151"/>
                </a:solidFill>
                <a:effectLst/>
                <a:latin typeface="Söhne"/>
              </a:rPr>
              <a:t> to examine gene expression in specific cells</a:t>
            </a:r>
          </a:p>
          <a:p>
            <a:endParaRPr lang="en-US" b="0" i="0" dirty="0">
              <a:solidFill>
                <a:srgbClr val="374151"/>
              </a:solidFill>
              <a:effectLst/>
              <a:latin typeface="Söhne"/>
            </a:endParaRPr>
          </a:p>
          <a:p>
            <a:endParaRPr lang="en-US" b="0" i="0" dirty="0">
              <a:solidFill>
                <a:srgbClr val="374151"/>
              </a:solidFill>
              <a:effectLst/>
              <a:latin typeface="Söhne"/>
            </a:endParaRPr>
          </a:p>
          <a:p>
            <a:endParaRPr lang="en-US" b="0" i="0" dirty="0">
              <a:solidFill>
                <a:srgbClr val="374151"/>
              </a:solidFill>
              <a:effectLst/>
              <a:latin typeface="Söhne"/>
            </a:endParaRPr>
          </a:p>
          <a:p>
            <a:endParaRPr lang="en-US" b="0" i="0" dirty="0">
              <a:solidFill>
                <a:srgbClr val="374151"/>
              </a:solidFill>
              <a:effectLst/>
              <a:latin typeface="Söhne"/>
            </a:endParaRPr>
          </a:p>
          <a:p>
            <a:r>
              <a:rPr lang="en-US" b="0" i="0" dirty="0">
                <a:solidFill>
                  <a:srgbClr val="374151"/>
                </a:solidFill>
                <a:effectLst/>
                <a:latin typeface="Söhne"/>
              </a:rPr>
              <a:t>d. The x-axis displays the ranking of cells, based on the probability of each cell being associated with a given gene; the y-axis represents the probability value</a:t>
            </a:r>
          </a:p>
          <a:p>
            <a:r>
              <a:rPr lang="en-US" b="0" i="0" dirty="0">
                <a:solidFill>
                  <a:srgbClr val="374151"/>
                </a:solidFill>
                <a:effectLst/>
                <a:latin typeface="Söhne"/>
              </a:rPr>
              <a:t>e. SIMBA ranking of genes based on the Gini index and max score.</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17</a:t>
            </a:fld>
            <a:endParaRPr lang="en-US"/>
          </a:p>
        </p:txBody>
      </p:sp>
    </p:spTree>
    <p:extLst>
      <p:ext uri="{BB962C8B-B14F-4D97-AF65-F5344CB8AC3E}">
        <p14:creationId xmlns:p14="http://schemas.microsoft.com/office/powerpoint/2010/main" val="20257798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74151"/>
                </a:solidFill>
                <a:effectLst/>
                <a:latin typeface="Söhne"/>
              </a:rPr>
              <a:t>The next application is single-cell ATAC-seq analysis.</a:t>
            </a:r>
          </a:p>
          <a:p>
            <a:pPr algn="l"/>
            <a:endParaRPr lang="en-US" b="0" i="0" dirty="0">
              <a:solidFill>
                <a:srgbClr val="374151"/>
              </a:solidFill>
              <a:effectLst/>
              <a:latin typeface="Söhne"/>
            </a:endParaRPr>
          </a:p>
          <a:p>
            <a:pPr algn="l"/>
            <a:r>
              <a:rPr lang="en-US" sz="1200" dirty="0" err="1">
                <a:solidFill>
                  <a:schemeClr val="tx1"/>
                </a:solidFill>
              </a:rPr>
              <a:t>Uhh</a:t>
            </a:r>
            <a:r>
              <a:rPr lang="en-US" sz="1200" dirty="0">
                <a:solidFill>
                  <a:schemeClr val="tx1"/>
                </a:solidFill>
              </a:rPr>
              <a:t>..ATAC-seq</a:t>
            </a:r>
            <a:r>
              <a:rPr lang="en-US" sz="1200" b="0" i="0" dirty="0">
                <a:solidFill>
                  <a:srgbClr val="374151"/>
                </a:solidFill>
                <a:effectLst/>
                <a:latin typeface="Söhne"/>
              </a:rPr>
              <a:t> is a sequencing method which can provides insights </a:t>
            </a:r>
            <a:r>
              <a:rPr lang="en-US" b="0" i="0" dirty="0">
                <a:solidFill>
                  <a:srgbClr val="374151"/>
                </a:solidFill>
                <a:effectLst/>
                <a:latin typeface="Söhne"/>
              </a:rPr>
              <a:t>into the chromatin accessibility landscape of individual cells.</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18</a:t>
            </a:fld>
            <a:endParaRPr lang="en-US"/>
          </a:p>
        </p:txBody>
      </p:sp>
    </p:spTree>
    <p:extLst>
      <p:ext uri="{BB962C8B-B14F-4D97-AF65-F5344CB8AC3E}">
        <p14:creationId xmlns:p14="http://schemas.microsoft.com/office/powerpoint/2010/main" val="47802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As usual, we first use SIMBA to generate a cell annotation plot, and then compare it with a plot generated by another common tool used for ATAC data.</a:t>
            </a:r>
          </a:p>
          <a:p>
            <a:r>
              <a:rPr lang="en-US" b="0" i="0" dirty="0">
                <a:solidFill>
                  <a:srgbClr val="374151"/>
                </a:solidFill>
                <a:effectLst/>
                <a:latin typeface="Söhne"/>
              </a:rPr>
              <a:t>And…actually the result is not bad, right?</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19</a:t>
            </a:fld>
            <a:endParaRPr lang="en-US"/>
          </a:p>
        </p:txBody>
      </p:sp>
    </p:spTree>
    <p:extLst>
      <p:ext uri="{BB962C8B-B14F-4D97-AF65-F5344CB8AC3E}">
        <p14:creationId xmlns:p14="http://schemas.microsoft.com/office/powerpoint/2010/main" val="2600022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graph e shows, from a small region on a chromosome, we notice that there is only MEP cell has a peak at this location. And we also found, </a:t>
            </a:r>
            <a:r>
              <a:rPr lang="en-US" b="0" i="0" dirty="0">
                <a:solidFill>
                  <a:srgbClr val="222222"/>
                </a:solidFill>
                <a:effectLst/>
                <a:latin typeface="Harding"/>
              </a:rPr>
              <a:t>the DNA sequence GATAAG is the sequence present in this region; GATAAG matches the binding motif of GATA1, GATA1 is a transcription factor, and it is also the master regulator in the production of </a:t>
            </a:r>
            <a:r>
              <a:rPr lang="en-US" b="0" i="0" dirty="0">
                <a:solidFill>
                  <a:srgbClr val="374151"/>
                </a:solidFill>
                <a:effectLst/>
                <a:latin typeface="Söhne"/>
              </a:rPr>
              <a:t>red blood cells.</a:t>
            </a:r>
          </a:p>
          <a:p>
            <a:endParaRPr lang="en-US" b="0" i="0" dirty="0">
              <a:solidFill>
                <a:srgbClr val="374151"/>
              </a:solidFill>
              <a:effectLst/>
              <a:latin typeface="Söhne"/>
            </a:endParaRPr>
          </a:p>
          <a:p>
            <a:pPr algn="l"/>
            <a:r>
              <a:rPr lang="en-US" b="0" i="0" dirty="0">
                <a:solidFill>
                  <a:srgbClr val="374151"/>
                </a:solidFill>
                <a:effectLst/>
                <a:latin typeface="Söhne"/>
              </a:rPr>
              <a:t>Similarly, we can use UMAP to observe the expression of transcription factors and k-</a:t>
            </a:r>
            <a:r>
              <a:rPr lang="en-US" b="0" i="0" dirty="0" err="1">
                <a:solidFill>
                  <a:srgbClr val="374151"/>
                </a:solidFill>
                <a:effectLst/>
                <a:latin typeface="Söhne"/>
              </a:rPr>
              <a:t>mers</a:t>
            </a:r>
            <a:r>
              <a:rPr lang="en-US" b="0" i="0" dirty="0">
                <a:solidFill>
                  <a:srgbClr val="374151"/>
                </a:solidFill>
                <a:effectLst/>
                <a:latin typeface="Söhne"/>
              </a:rPr>
              <a:t> across different cells.</a:t>
            </a:r>
          </a:p>
        </p:txBody>
      </p:sp>
      <p:sp>
        <p:nvSpPr>
          <p:cNvPr id="4" name="Slide Number Placeholder 3"/>
          <p:cNvSpPr>
            <a:spLocks noGrp="1"/>
          </p:cNvSpPr>
          <p:nvPr>
            <p:ph type="sldNum" sz="quarter" idx="5"/>
          </p:nvPr>
        </p:nvSpPr>
        <p:spPr/>
        <p:txBody>
          <a:bodyPr/>
          <a:lstStyle/>
          <a:p>
            <a:fld id="{FBF5148F-E0CF-4A3E-922E-B1B7AB039E21}" type="slidenum">
              <a:rPr lang="en-US" smtClean="0"/>
              <a:t>20</a:t>
            </a:fld>
            <a:endParaRPr lang="en-US"/>
          </a:p>
        </p:txBody>
      </p:sp>
    </p:spTree>
    <p:extLst>
      <p:ext uri="{BB962C8B-B14F-4D97-AF65-F5344CB8AC3E}">
        <p14:creationId xmlns:p14="http://schemas.microsoft.com/office/powerpoint/2010/main" val="11613389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21</a:t>
            </a:fld>
            <a:endParaRPr lang="en-US"/>
          </a:p>
        </p:txBody>
      </p:sp>
    </p:spTree>
    <p:extLst>
      <p:ext uri="{BB962C8B-B14F-4D97-AF65-F5344CB8AC3E}">
        <p14:creationId xmlns:p14="http://schemas.microsoft.com/office/powerpoint/2010/main" val="1256794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application of SIMBA, is Multimodal analysis, which means considering more than one data type in single cell analysis.</a:t>
            </a:r>
          </a:p>
          <a:p>
            <a:pPr algn="l"/>
            <a:r>
              <a:rPr lang="en-US" b="0" i="0" dirty="0">
                <a:solidFill>
                  <a:srgbClr val="374151"/>
                </a:solidFill>
                <a:effectLst/>
                <a:latin typeface="Söhne"/>
              </a:rPr>
              <a:t>For instance, you can consider both Single-cell RNA and ATAC sequencing data, incorporating them into a unified analytical framework."</a:t>
            </a:r>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b="0" i="0" dirty="0">
                <a:solidFill>
                  <a:srgbClr val="374151"/>
                </a:solidFill>
                <a:effectLst/>
                <a:latin typeface="Söhne"/>
              </a:rPr>
              <a:t>SHARE-seq enables simultaneous measurement of the RNA data and ATAC data in single cells. </a:t>
            </a: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22</a:t>
            </a:fld>
            <a:endParaRPr lang="en-US"/>
          </a:p>
        </p:txBody>
      </p:sp>
    </p:spTree>
    <p:extLst>
      <p:ext uri="{BB962C8B-B14F-4D97-AF65-F5344CB8AC3E}">
        <p14:creationId xmlns:p14="http://schemas.microsoft.com/office/powerpoint/2010/main" val="10670963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sample used here is hair follicles, so …</a:t>
            </a:r>
          </a:p>
          <a:p>
            <a:r>
              <a:rPr lang="en-US" b="0" i="0" dirty="0">
                <a:solidFill>
                  <a:srgbClr val="374151"/>
                </a:solidFill>
                <a:effectLst/>
                <a:latin typeface="Söhne"/>
              </a:rPr>
              <a:t>Through cell annotation and marker gene, we can get the differentiation  information from hair follicle </a:t>
            </a:r>
          </a:p>
          <a:p>
            <a:endParaRPr lang="en-US" b="0" i="0" dirty="0">
              <a:solidFill>
                <a:srgbClr val="374151"/>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23</a:t>
            </a:fld>
            <a:endParaRPr lang="en-US"/>
          </a:p>
        </p:txBody>
      </p:sp>
    </p:spTree>
    <p:extLst>
      <p:ext uri="{BB962C8B-B14F-4D97-AF65-F5344CB8AC3E}">
        <p14:creationId xmlns:p14="http://schemas.microsoft.com/office/powerpoint/2010/main" val="3032606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you can consider not only RNA data.  ATAC, TF motifs can be included as well.</a:t>
            </a:r>
          </a:p>
          <a:p>
            <a:r>
              <a:rPr lang="en-US" dirty="0"/>
              <a:t>You can add more information you had already gotten before</a:t>
            </a:r>
          </a:p>
        </p:txBody>
      </p:sp>
      <p:sp>
        <p:nvSpPr>
          <p:cNvPr id="4" name="Slide Number Placeholder 3"/>
          <p:cNvSpPr>
            <a:spLocks noGrp="1"/>
          </p:cNvSpPr>
          <p:nvPr>
            <p:ph type="sldNum" sz="quarter" idx="5"/>
          </p:nvPr>
        </p:nvSpPr>
        <p:spPr/>
        <p:txBody>
          <a:bodyPr/>
          <a:lstStyle/>
          <a:p>
            <a:fld id="{FBF5148F-E0CF-4A3E-922E-B1B7AB039E21}" type="slidenum">
              <a:rPr lang="en-US" smtClean="0"/>
              <a:t>24</a:t>
            </a:fld>
            <a:endParaRPr lang="en-US"/>
          </a:p>
        </p:txBody>
      </p:sp>
    </p:spTree>
    <p:extLst>
      <p:ext uri="{BB962C8B-B14F-4D97-AF65-F5344CB8AC3E}">
        <p14:creationId xmlns:p14="http://schemas.microsoft.com/office/powerpoint/2010/main" val="211451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374151"/>
                </a:solidFill>
                <a:effectLst/>
                <a:latin typeface="Söhne"/>
              </a:rPr>
              <a:t>Uhhh</a:t>
            </a:r>
            <a:r>
              <a:rPr lang="en-US" b="0" i="0" dirty="0">
                <a:solidFill>
                  <a:srgbClr val="374151"/>
                </a:solidFill>
                <a:effectLst/>
                <a:latin typeface="Söhne"/>
              </a:rPr>
              <a:t>….This is the ranking of a given transcription factor gene based on the distance. </a:t>
            </a:r>
          </a:p>
          <a:p>
            <a:r>
              <a:rPr lang="en-US" b="0" i="0" dirty="0">
                <a:solidFill>
                  <a:srgbClr val="374151"/>
                </a:solidFill>
                <a:effectLst/>
                <a:latin typeface="Söhne"/>
              </a:rPr>
              <a:t>We believe if TF want to bind to the target sequence, then the region of the TF gene may be near to the target sequence. </a:t>
            </a:r>
          </a:p>
          <a:p>
            <a:endParaRPr lang="en-US" b="0" i="0" dirty="0">
              <a:solidFill>
                <a:srgbClr val="374151"/>
              </a:solidFill>
              <a:effectLst/>
              <a:latin typeface="Söhne"/>
            </a:endParaRPr>
          </a:p>
          <a:p>
            <a:pPr algn="l"/>
            <a:r>
              <a:rPr lang="en-US" b="0" i="0" dirty="0">
                <a:solidFill>
                  <a:srgbClr val="374151"/>
                </a:solidFill>
                <a:effectLst/>
                <a:latin typeface="Söhne"/>
              </a:rPr>
              <a:t>Therefore, for those transcription factor binding sites that are closer to the target sequences, we will assign higher scores, or you can say, greater weights on it</a:t>
            </a:r>
          </a:p>
          <a:p>
            <a:endParaRPr lang="en-US" b="0" i="0" dirty="0">
              <a:solidFill>
                <a:srgbClr val="374151"/>
              </a:solidFill>
              <a:effectLst/>
              <a:latin typeface="Söhne"/>
            </a:endParaRPr>
          </a:p>
          <a:p>
            <a:r>
              <a:rPr lang="en-US" b="0" i="0" dirty="0">
                <a:solidFill>
                  <a:srgbClr val="374151"/>
                </a:solidFill>
                <a:effectLst/>
                <a:latin typeface="Söhne"/>
              </a:rPr>
              <a:t>And through the score, we can find their relationship more easily. Then we line these nodes up.</a:t>
            </a:r>
          </a:p>
          <a:p>
            <a:endParaRPr lang="en-US" b="0" i="0" dirty="0">
              <a:solidFill>
                <a:srgbClr val="374151"/>
              </a:solidFill>
              <a:effectLst/>
              <a:latin typeface="Söhne"/>
            </a:endParaRPr>
          </a:p>
          <a:p>
            <a:r>
              <a:rPr lang="en-US" b="0" i="0" dirty="0">
                <a:solidFill>
                  <a:srgbClr val="374151"/>
                </a:solidFill>
                <a:effectLst/>
                <a:latin typeface="Söhne"/>
              </a:rPr>
              <a:t>And…SIMBA also inferred the top 30 target genes of the transcription factor</a:t>
            </a:r>
          </a:p>
          <a:p>
            <a:endParaRPr lang="en-US" b="0" i="0" dirty="0">
              <a:solidFill>
                <a:srgbClr val="374151"/>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25</a:t>
            </a:fld>
            <a:endParaRPr lang="en-US"/>
          </a:p>
        </p:txBody>
      </p:sp>
    </p:spTree>
    <p:extLst>
      <p:ext uri="{BB962C8B-B14F-4D97-AF65-F5344CB8AC3E}">
        <p14:creationId xmlns:p14="http://schemas.microsoft.com/office/powerpoint/2010/main" val="24171338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Okay, so we move to Batch correction analysis.</a:t>
            </a:r>
          </a:p>
          <a:p>
            <a:endParaRPr lang="en-US" b="0" i="0" dirty="0">
              <a:solidFill>
                <a:srgbClr val="374151"/>
              </a:solidFill>
              <a:effectLst/>
              <a:latin typeface="Söhne"/>
            </a:endParaRPr>
          </a:p>
          <a:p>
            <a:r>
              <a:rPr lang="en-US" b="0" i="0" dirty="0">
                <a:solidFill>
                  <a:srgbClr val="374151"/>
                </a:solidFill>
                <a:effectLst/>
                <a:latin typeface="Söhne"/>
              </a:rPr>
              <a:t>The top figure presents the UMAP visualization before batch correction. </a:t>
            </a:r>
          </a:p>
          <a:p>
            <a:r>
              <a:rPr lang="en-US" b="0" i="0" dirty="0">
                <a:solidFill>
                  <a:srgbClr val="374151"/>
                </a:solidFill>
                <a:effectLst/>
                <a:latin typeface="Söhne"/>
              </a:rPr>
              <a:t>The bottom figure displays the UMAP visualization after batch correction using SIMBA.</a:t>
            </a:r>
            <a:endParaRPr lang="en-US" altLang="zh-TW" dirty="0"/>
          </a:p>
        </p:txBody>
      </p:sp>
      <p:sp>
        <p:nvSpPr>
          <p:cNvPr id="4" name="Slide Number Placeholder 3"/>
          <p:cNvSpPr>
            <a:spLocks noGrp="1"/>
          </p:cNvSpPr>
          <p:nvPr>
            <p:ph type="sldNum" sz="quarter" idx="5"/>
          </p:nvPr>
        </p:nvSpPr>
        <p:spPr/>
        <p:txBody>
          <a:bodyPr/>
          <a:lstStyle/>
          <a:p>
            <a:fld id="{FBF5148F-E0CF-4A3E-922E-B1B7AB039E21}" type="slidenum">
              <a:rPr lang="en-US" smtClean="0"/>
              <a:t>27</a:t>
            </a:fld>
            <a:endParaRPr lang="en-US"/>
          </a:p>
        </p:txBody>
      </p:sp>
    </p:spTree>
    <p:extLst>
      <p:ext uri="{BB962C8B-B14F-4D97-AF65-F5344CB8AC3E}">
        <p14:creationId xmlns:p14="http://schemas.microsoft.com/office/powerpoint/2010/main" val="16197202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And here we have known marker genes highlighted.</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28</a:t>
            </a:fld>
            <a:endParaRPr lang="en-US"/>
          </a:p>
        </p:txBody>
      </p:sp>
    </p:spTree>
    <p:extLst>
      <p:ext uri="{BB962C8B-B14F-4D97-AF65-F5344CB8AC3E}">
        <p14:creationId xmlns:p14="http://schemas.microsoft.com/office/powerpoint/2010/main" val="17124750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last, is </a:t>
            </a:r>
            <a:r>
              <a:rPr lang="en-US" sz="1200" dirty="0">
                <a:solidFill>
                  <a:schemeClr val="tx1"/>
                </a:solidFill>
              </a:rPr>
              <a:t>Multi-omics integration.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r>
              <a:rPr lang="en-US" b="0" i="0" dirty="0">
                <a:solidFill>
                  <a:srgbClr val="374151"/>
                </a:solidFill>
                <a:effectLst/>
                <a:latin typeface="Söhne"/>
              </a:rPr>
              <a:t>The top figure presents the UMAP visualization before integration. </a:t>
            </a:r>
          </a:p>
          <a:p>
            <a:r>
              <a:rPr lang="en-US" b="0" i="0" dirty="0">
                <a:solidFill>
                  <a:srgbClr val="374151"/>
                </a:solidFill>
                <a:effectLst/>
                <a:latin typeface="Söhne"/>
              </a:rPr>
              <a:t>The bottom figure displays the UMAP visualization after integration using SIMBA.</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FBF5148F-E0CF-4A3E-922E-B1B7AB039E21}" type="slidenum">
              <a:rPr lang="en-US" smtClean="0"/>
              <a:t>29</a:t>
            </a:fld>
            <a:endParaRPr lang="en-US"/>
          </a:p>
        </p:txBody>
      </p:sp>
    </p:spTree>
    <p:extLst>
      <p:ext uri="{BB962C8B-B14F-4D97-AF65-F5344CB8AC3E}">
        <p14:creationId xmlns:p14="http://schemas.microsoft.com/office/powerpoint/2010/main" val="35034757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We have finally arrived at the highlight of this paper.</a:t>
            </a:r>
          </a:p>
          <a:p>
            <a:r>
              <a:rPr lang="en-US" b="0" i="0" dirty="0">
                <a:solidFill>
                  <a:srgbClr val="374151"/>
                </a:solidFill>
                <a:effectLst/>
                <a:latin typeface="Söhne"/>
              </a:rPr>
              <a:t>In summary, it is divided into three steps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30</a:t>
            </a:fld>
            <a:endParaRPr lang="en-US"/>
          </a:p>
        </p:txBody>
      </p:sp>
    </p:spTree>
    <p:extLst>
      <p:ext uri="{BB962C8B-B14F-4D97-AF65-F5344CB8AC3E}">
        <p14:creationId xmlns:p14="http://schemas.microsoft.com/office/powerpoint/2010/main" val="26759888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 will discuss the first and second steps together, as the first and second steps in the five applications are very similar.</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31</a:t>
            </a:fld>
            <a:endParaRPr lang="en-US"/>
          </a:p>
        </p:txBody>
      </p:sp>
    </p:spTree>
    <p:extLst>
      <p:ext uri="{BB962C8B-B14F-4D97-AF65-F5344CB8AC3E}">
        <p14:creationId xmlns:p14="http://schemas.microsoft.com/office/powerpoint/2010/main" val="30756604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t>
            </a:r>
            <a:r>
              <a:rPr lang="en-US" b="0" i="0" dirty="0">
                <a:solidFill>
                  <a:srgbClr val="374151"/>
                </a:solidFill>
                <a:effectLst/>
                <a:latin typeface="Söhne"/>
              </a:rPr>
              <a:t>You can always see three steps. – Preprocessing, Graph Construction, and Embedding.</a:t>
            </a:r>
          </a:p>
          <a:p>
            <a:endParaRPr lang="en-US" b="0" i="0" dirty="0">
              <a:solidFill>
                <a:srgbClr val="374151"/>
              </a:solidFill>
              <a:effectLst/>
              <a:latin typeface="Söhne"/>
            </a:endParaRPr>
          </a:p>
          <a:p>
            <a:r>
              <a:rPr lang="en-US" b="0" i="0" dirty="0">
                <a:solidFill>
                  <a:srgbClr val="374151"/>
                </a:solidFill>
                <a:effectLst/>
                <a:latin typeface="Söhne"/>
              </a:rPr>
              <a:t>Preprocessing is simple, </a:t>
            </a:r>
            <a:r>
              <a:rPr lang="en-US" b="0" i="0" dirty="0" err="1">
                <a:solidFill>
                  <a:srgbClr val="374151"/>
                </a:solidFill>
                <a:effectLst/>
                <a:latin typeface="Söhne"/>
              </a:rPr>
              <a:t>ehen</a:t>
            </a:r>
            <a:r>
              <a:rPr lang="en-US" b="0" i="0" dirty="0">
                <a:solidFill>
                  <a:srgbClr val="374151"/>
                </a:solidFill>
                <a:effectLst/>
                <a:latin typeface="Söhne"/>
              </a:rPr>
              <a:t> we obtain the gene expression levels of cells, we tend to transform them into a gene expression matrix.</a:t>
            </a:r>
            <a:br>
              <a:rPr lang="en-US" b="0" i="0" dirty="0">
                <a:solidFill>
                  <a:srgbClr val="374151"/>
                </a:solidFill>
                <a:effectLst/>
                <a:latin typeface="Söhne"/>
              </a:rPr>
            </a:br>
            <a:r>
              <a:rPr lang="en-US" b="0" i="0" dirty="0">
                <a:solidFill>
                  <a:srgbClr val="374151"/>
                </a:solidFill>
                <a:effectLst/>
                <a:latin typeface="Söhne"/>
              </a:rPr>
              <a:t>You can see that, on this gene expression matrix, the values are continuous and include decimal points.</a:t>
            </a:r>
          </a:p>
          <a:p>
            <a:endParaRPr lang="en-US" b="0" i="0" dirty="0">
              <a:solidFill>
                <a:srgbClr val="374151"/>
              </a:solidFill>
              <a:effectLst/>
              <a:latin typeface="Söhne"/>
            </a:endParaRPr>
          </a:p>
          <a:p>
            <a:r>
              <a:rPr lang="en-US" b="0" i="0" dirty="0">
                <a:solidFill>
                  <a:srgbClr val="374151"/>
                </a:solidFill>
                <a:effectLst/>
                <a:latin typeface="Söhne"/>
              </a:rPr>
              <a:t>To simplify, we will transform these continuous values through a discrete conversion. We divide these values into five groups.</a:t>
            </a:r>
          </a:p>
          <a:p>
            <a:r>
              <a:rPr lang="en-US" b="0" i="0" dirty="0">
                <a:solidFill>
                  <a:srgbClr val="374151"/>
                </a:solidFill>
                <a:effectLst/>
                <a:latin typeface="Söhne"/>
              </a:rPr>
              <a:t>Each group here implies that the gene expression levels within the same group are relatively similar</a:t>
            </a:r>
          </a:p>
          <a:p>
            <a:endParaRPr lang="en-US" b="0" i="0" dirty="0">
              <a:solidFill>
                <a:srgbClr val="374151"/>
              </a:solidFill>
              <a:effectLst/>
              <a:latin typeface="Söhne"/>
            </a:endParaRPr>
          </a:p>
          <a:p>
            <a:r>
              <a:rPr lang="en-US" b="0" i="0" dirty="0">
                <a:solidFill>
                  <a:srgbClr val="374151"/>
                </a:solidFill>
                <a:effectLst/>
                <a:latin typeface="Söhne"/>
              </a:rPr>
              <a:t>After completing the conversion of discrete values, we can do the graph construction. </a:t>
            </a:r>
          </a:p>
          <a:p>
            <a:r>
              <a:rPr lang="en-US" b="0" i="0" dirty="0">
                <a:solidFill>
                  <a:srgbClr val="374151"/>
                </a:solidFill>
                <a:effectLst/>
                <a:latin typeface="Söhne"/>
              </a:rPr>
              <a:t>Graph construction is very easy, you put cells and genes on a graph. Circles represent Cells, and Squares represent Genes. </a:t>
            </a:r>
          </a:p>
          <a:p>
            <a:r>
              <a:rPr lang="en-US" b="0" i="0" dirty="0">
                <a:solidFill>
                  <a:srgbClr val="374151"/>
                </a:solidFill>
                <a:effectLst/>
                <a:latin typeface="Söhne"/>
              </a:rPr>
              <a:t>You know their relationship, you know which genes expressed in which cells, and you also know the value, the value is their expression level. </a:t>
            </a:r>
          </a:p>
          <a:p>
            <a:r>
              <a:rPr lang="en-US" b="0" i="0" dirty="0">
                <a:solidFill>
                  <a:srgbClr val="374151"/>
                </a:solidFill>
                <a:effectLst/>
                <a:latin typeface="Söhne"/>
              </a:rPr>
              <a:t>So based on their association, you can line them up. And this, is graph construction! </a:t>
            </a:r>
          </a:p>
          <a:p>
            <a:endParaRPr lang="en-US" b="0" i="0" dirty="0">
              <a:solidFill>
                <a:srgbClr val="374151"/>
              </a:solidFill>
              <a:effectLst/>
              <a:latin typeface="Söhne"/>
            </a:endParaRPr>
          </a:p>
          <a:p>
            <a:r>
              <a:rPr lang="en-US" b="0" i="0" dirty="0">
                <a:solidFill>
                  <a:srgbClr val="374151"/>
                </a:solidFill>
                <a:effectLst/>
                <a:latin typeface="Söhne"/>
              </a:rPr>
              <a:t>We will discuss SIMBA embedding later.</a:t>
            </a:r>
          </a:p>
        </p:txBody>
      </p:sp>
      <p:sp>
        <p:nvSpPr>
          <p:cNvPr id="4" name="Slide Number Placeholder 3"/>
          <p:cNvSpPr>
            <a:spLocks noGrp="1"/>
          </p:cNvSpPr>
          <p:nvPr>
            <p:ph type="sldNum" sz="quarter" idx="5"/>
          </p:nvPr>
        </p:nvSpPr>
        <p:spPr/>
        <p:txBody>
          <a:bodyPr/>
          <a:lstStyle/>
          <a:p>
            <a:fld id="{FBF5148F-E0CF-4A3E-922E-B1B7AB039E21}" type="slidenum">
              <a:rPr lang="en-US" smtClean="0"/>
              <a:t>32</a:t>
            </a:fld>
            <a:endParaRPr lang="en-US"/>
          </a:p>
        </p:txBody>
      </p:sp>
    </p:spTree>
    <p:extLst>
      <p:ext uri="{BB962C8B-B14F-4D97-AF65-F5344CB8AC3E}">
        <p14:creationId xmlns:p14="http://schemas.microsoft.com/office/powerpoint/2010/main" val="22319627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It's quite clever that, as we just mentioned, the first five applications we discussed all follow a similar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If we now take another look at the ATAC data, they also conducted data preprocessing beforehand.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However, the conversion of values here is a bit different. They performed binarization.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Because they only wanted to categorize chromatin accessibility as either 'open' or 'closed.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74151"/>
                </a:solidFill>
                <a:effectLst/>
                <a:latin typeface="Söhne"/>
              </a:rPr>
              <a:t>And Here, you can do the same thing to TF motif data and k-mer. After transformation, </a:t>
            </a:r>
            <a:r>
              <a:rPr lang="en-US" b="0" i="0" dirty="0">
                <a:solidFill>
                  <a:srgbClr val="374151"/>
                </a:solidFill>
                <a:effectLst/>
                <a:latin typeface="Söhne"/>
              </a:rPr>
              <a:t>You can perform graph construction similar to the previous one.</a:t>
            </a: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Peak selection (truncated-SVD) </a:t>
            </a:r>
            <a:r>
              <a:rPr lang="zh-TW" altLang="en-US" sz="1200" dirty="0"/>
              <a:t>包括 </a:t>
            </a:r>
            <a:r>
              <a:rPr lang="en-US" altLang="zh-TW" sz="1200" dirty="0"/>
              <a:t>find main peak (elbow plot</a:t>
            </a:r>
            <a:r>
              <a:rPr lang="zh-TW" altLang="en-US" sz="1200" dirty="0"/>
              <a:t>，前</a:t>
            </a:r>
            <a:r>
              <a:rPr lang="en-US" altLang="zh-TW" sz="1200" dirty="0"/>
              <a:t>k</a:t>
            </a:r>
            <a:r>
              <a:rPr lang="zh-TW" altLang="en-US" sz="1200" dirty="0"/>
              <a:t>個</a:t>
            </a:r>
            <a:r>
              <a:rPr lang="en-US" altLang="zh-TW" sz="1200" dirty="0"/>
              <a:t>Pcs)</a:t>
            </a:r>
            <a:r>
              <a:rPr lang="zh-TW" altLang="en-US" sz="1200" dirty="0"/>
              <a:t>、</a:t>
            </a:r>
            <a:r>
              <a:rPr lang="en-US" altLang="zh-TW" sz="1200" dirty="0"/>
              <a:t>pick peak (knee point detection algorithm)</a:t>
            </a:r>
            <a:r>
              <a:rPr lang="zh-TW" altLang="en-US" sz="1200" dirty="0"/>
              <a:t>、</a:t>
            </a:r>
            <a:r>
              <a:rPr lang="en-US" altLang="zh-TW" sz="1200" dirty="0"/>
              <a:t>combine peak (variable peaks)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truncated-SVD</a:t>
            </a:r>
            <a:r>
              <a:rPr lang="zh-TW" altLang="en-US" sz="1200" dirty="0"/>
              <a:t>：只保留具有信息的</a:t>
            </a:r>
            <a:r>
              <a:rPr lang="en-US" altLang="zh-TW" sz="1200" dirty="0"/>
              <a:t>peak</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PCs selection</a:t>
            </a:r>
            <a:r>
              <a:rPr lang="en-US" altLang="zh-TW" sz="1200" dirty="0"/>
              <a:t>(</a:t>
            </a:r>
            <a:r>
              <a:rPr lang="en-US" altLang="zh-TW" sz="1200" b="1" dirty="0"/>
              <a:t>elbow</a:t>
            </a:r>
            <a:r>
              <a:rPr lang="en-US" altLang="zh-TW" sz="1200" dirty="0"/>
              <a:t>)</a:t>
            </a:r>
            <a:r>
              <a:rPr lang="en-US" sz="1200" dirty="0"/>
              <a:t>: </a:t>
            </a:r>
            <a:r>
              <a:rPr lang="zh-TW" altLang="en-US" sz="1200" dirty="0"/>
              <a:t>降維，把主幹挑出來，同時達到去噪</a:t>
            </a:r>
            <a:endParaRPr lang="en-US" altLang="zh-TW" sz="1200"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peak pick</a:t>
            </a:r>
            <a:r>
              <a:rPr lang="zh-TW" altLang="en-US" sz="1200" dirty="0"/>
              <a:t> </a:t>
            </a:r>
            <a:r>
              <a:rPr lang="en-US" altLang="zh-TW" sz="1200" b="1" dirty="0"/>
              <a:t>(knee point detection algo</a:t>
            </a:r>
            <a:r>
              <a:rPr lang="en-US" altLang="zh-TW" sz="1200"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Variable peaks combination</a:t>
            </a:r>
          </a:p>
        </p:txBody>
      </p:sp>
      <p:sp>
        <p:nvSpPr>
          <p:cNvPr id="4" name="Slide Number Placeholder 3"/>
          <p:cNvSpPr>
            <a:spLocks noGrp="1"/>
          </p:cNvSpPr>
          <p:nvPr>
            <p:ph type="sldNum" sz="quarter" idx="5"/>
          </p:nvPr>
        </p:nvSpPr>
        <p:spPr/>
        <p:txBody>
          <a:bodyPr/>
          <a:lstStyle/>
          <a:p>
            <a:fld id="{FBF5148F-E0CF-4A3E-922E-B1B7AB039E21}" type="slidenum">
              <a:rPr lang="en-US" smtClean="0"/>
              <a:t>33</a:t>
            </a:fld>
            <a:endParaRPr lang="en-US"/>
          </a:p>
        </p:txBody>
      </p:sp>
    </p:spTree>
    <p:extLst>
      <p:ext uri="{BB962C8B-B14F-4D97-AF65-F5344CB8AC3E}">
        <p14:creationId xmlns:p14="http://schemas.microsoft.com/office/powerpoint/2010/main" val="40715333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The concept of multimodal analysis is essentially the combination of the two previous approaches.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34</a:t>
            </a:fld>
            <a:endParaRPr lang="en-US"/>
          </a:p>
        </p:txBody>
      </p:sp>
    </p:spTree>
    <p:extLst>
      <p:ext uri="{BB962C8B-B14F-4D97-AF65-F5344CB8AC3E}">
        <p14:creationId xmlns:p14="http://schemas.microsoft.com/office/powerpoint/2010/main" val="1241055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374151"/>
                </a:solidFill>
                <a:effectLst/>
                <a:latin typeface="Söhne"/>
              </a:rPr>
              <a:t>On the left, we have the approach for processing RNA data, while on the right, we have the approach for processing ATAC data</a:t>
            </a:r>
            <a:endParaRPr lang="zh-CN" altLang="en-US"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FBF5148F-E0CF-4A3E-922E-B1B7AB039E21}" type="slidenum">
              <a:rPr lang="en-US" smtClean="0"/>
              <a:t>35</a:t>
            </a:fld>
            <a:endParaRPr lang="en-US"/>
          </a:p>
        </p:txBody>
      </p:sp>
    </p:spTree>
    <p:extLst>
      <p:ext uri="{BB962C8B-B14F-4D97-AF65-F5344CB8AC3E}">
        <p14:creationId xmlns:p14="http://schemas.microsoft.com/office/powerpoint/2010/main" val="11793039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Batch correction analysis is essentially the same, but it involves constructing different graphs for different batches</a:t>
            </a:r>
          </a:p>
          <a:p>
            <a:r>
              <a:rPr lang="en-US" b="0" i="0" dirty="0">
                <a:solidFill>
                  <a:srgbClr val="374151"/>
                </a:solidFill>
                <a:effectLst/>
                <a:latin typeface="Söhne"/>
              </a:rPr>
              <a:t>So, here you can see many graphs</a:t>
            </a:r>
          </a:p>
          <a:p>
            <a:endParaRPr lang="en-US" b="0" i="0" dirty="0">
              <a:solidFill>
                <a:srgbClr val="374151"/>
              </a:solidFill>
              <a:effectLst/>
              <a:latin typeface="Söhne"/>
            </a:endParaRPr>
          </a:p>
          <a:p>
            <a:endParaRPr lang="en-US"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74151"/>
                </a:solidFill>
                <a:effectLst/>
                <a:latin typeface="Söhne"/>
              </a:rPr>
              <a:t>* truncated randomized SVD</a:t>
            </a:r>
            <a:endParaRPr lang="en-US" sz="1200" dirty="0"/>
          </a:p>
          <a:p>
            <a:endParaRPr lang="en-US" b="0" dirty="0"/>
          </a:p>
        </p:txBody>
      </p:sp>
      <p:sp>
        <p:nvSpPr>
          <p:cNvPr id="4" name="Slide Number Placeholder 3"/>
          <p:cNvSpPr>
            <a:spLocks noGrp="1"/>
          </p:cNvSpPr>
          <p:nvPr>
            <p:ph type="sldNum" sz="quarter" idx="5"/>
          </p:nvPr>
        </p:nvSpPr>
        <p:spPr/>
        <p:txBody>
          <a:bodyPr/>
          <a:lstStyle/>
          <a:p>
            <a:fld id="{FBF5148F-E0CF-4A3E-922E-B1B7AB039E21}" type="slidenum">
              <a:rPr lang="en-US" smtClean="0"/>
              <a:t>36</a:t>
            </a:fld>
            <a:endParaRPr lang="en-US"/>
          </a:p>
        </p:txBody>
      </p:sp>
    </p:spTree>
    <p:extLst>
      <p:ext uri="{BB962C8B-B14F-4D97-AF65-F5344CB8AC3E}">
        <p14:creationId xmlns:p14="http://schemas.microsoft.com/office/powerpoint/2010/main" val="15254688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Söhne"/>
              </a:rPr>
              <a:t>Truncated-SVD based vs. Truncated randomized SVD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öhne"/>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effectLst/>
                <a:latin typeface="Söhne"/>
              </a:rPr>
              <a:t>Truncated-SVD based</a:t>
            </a:r>
            <a:r>
              <a:rPr lang="zh-TW" altLang="en-US" b="0" i="0" dirty="0">
                <a:effectLst/>
                <a:latin typeface="Söhne"/>
              </a:rPr>
              <a:t>：</a:t>
            </a:r>
            <a:r>
              <a:rPr lang="zh-CN" altLang="en-US" b="0" i="0" dirty="0">
                <a:solidFill>
                  <a:srgbClr val="374151"/>
                </a:solidFill>
                <a:effectLst/>
                <a:latin typeface="Söhne"/>
              </a:rPr>
              <a:t>用于降维和特征选择的方法。在这种情况下，</a:t>
            </a:r>
            <a:r>
              <a:rPr lang="en-US" altLang="zh-CN" b="0" i="0" dirty="0">
                <a:solidFill>
                  <a:srgbClr val="374151"/>
                </a:solidFill>
                <a:effectLst/>
                <a:latin typeface="Söhne"/>
              </a:rPr>
              <a:t>Truncated-SVD</a:t>
            </a:r>
            <a:r>
              <a:rPr lang="zh-CN" altLang="en-US" b="0" i="0" dirty="0">
                <a:solidFill>
                  <a:srgbClr val="374151"/>
                </a:solidFill>
                <a:effectLst/>
                <a:latin typeface="Söhne"/>
              </a:rPr>
              <a:t>用于选择和保留最重要的峰（</a:t>
            </a:r>
            <a:r>
              <a:rPr lang="en-US" altLang="zh-CN" b="0" i="0" dirty="0">
                <a:solidFill>
                  <a:srgbClr val="374151"/>
                </a:solidFill>
                <a:effectLst/>
                <a:latin typeface="Söhne"/>
              </a:rPr>
              <a:t>peak</a:t>
            </a:r>
            <a:r>
              <a:rPr lang="zh-CN" altLang="en-US" b="0" i="0" dirty="0">
                <a:solidFill>
                  <a:srgbClr val="374151"/>
                </a:solidFill>
                <a:effectLst/>
                <a:latin typeface="Söhne"/>
              </a:rPr>
              <a:t>）或箱子（</a:t>
            </a:r>
            <a:r>
              <a:rPr lang="en-US" altLang="zh-CN" b="0" i="0" dirty="0">
                <a:solidFill>
                  <a:srgbClr val="374151"/>
                </a:solidFill>
                <a:effectLst/>
                <a:latin typeface="Söhne"/>
              </a:rPr>
              <a:t>bin</a:t>
            </a:r>
            <a:r>
              <a:rPr lang="zh-CN" altLang="en-US" b="0" i="0" dirty="0">
                <a:solidFill>
                  <a:srgbClr val="374151"/>
                </a:solidFill>
                <a:effectLst/>
                <a:latin typeface="Söhne"/>
              </a:rPr>
              <a:t>），以加速分析并减少维度</a:t>
            </a:r>
            <a:endParaRPr lang="en-US" altLang="zh-CN" sz="1200" b="0" i="0" dirty="0">
              <a:solidFill>
                <a:srgbClr val="374151"/>
              </a:solidFill>
              <a:effectLst/>
              <a:latin typeface="Söhne"/>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dirty="0">
                <a:solidFill>
                  <a:srgbClr val="374151"/>
                </a:solidFill>
                <a:effectLst/>
                <a:latin typeface="Söhne"/>
              </a:rPr>
              <a:t>Truncated randomized SVD</a:t>
            </a:r>
            <a:r>
              <a:rPr lang="zh-TW" altLang="en-US" sz="1200" b="0" i="0" dirty="0">
                <a:solidFill>
                  <a:srgbClr val="374151"/>
                </a:solidFill>
                <a:effectLst/>
                <a:latin typeface="Söhne"/>
              </a:rPr>
              <a:t>：</a:t>
            </a:r>
            <a:r>
              <a:rPr lang="zh-CN" altLang="en-US" b="0" i="0" dirty="0">
                <a:solidFill>
                  <a:srgbClr val="374151"/>
                </a:solidFill>
                <a:effectLst/>
                <a:latin typeface="Söhne"/>
              </a:rPr>
              <a:t>用于整合不同批次（</a:t>
            </a:r>
            <a:r>
              <a:rPr lang="en-US" altLang="zh-CN" b="0" i="0" dirty="0">
                <a:solidFill>
                  <a:srgbClr val="374151"/>
                </a:solidFill>
                <a:effectLst/>
                <a:latin typeface="Söhne"/>
              </a:rPr>
              <a:t>batch</a:t>
            </a:r>
            <a:r>
              <a:rPr lang="zh-CN" altLang="en-US" b="0" i="0" dirty="0">
                <a:solidFill>
                  <a:srgbClr val="374151"/>
                </a:solidFill>
                <a:effectLst/>
                <a:latin typeface="Söhne"/>
              </a:rPr>
              <a:t>）之间的单细胞</a:t>
            </a:r>
            <a:r>
              <a:rPr lang="en-US" altLang="zh-CN" b="0" i="0" dirty="0">
                <a:solidFill>
                  <a:srgbClr val="374151"/>
                </a:solidFill>
                <a:effectLst/>
                <a:latin typeface="Söhne"/>
              </a:rPr>
              <a:t>RNA-seq</a:t>
            </a:r>
            <a:r>
              <a:rPr lang="zh-CN" altLang="en-US" b="0" i="0" dirty="0">
                <a:solidFill>
                  <a:srgbClr val="374151"/>
                </a:solidFill>
                <a:effectLst/>
                <a:latin typeface="Söhne"/>
              </a:rPr>
              <a:t>数据。目的是</a:t>
            </a:r>
            <a:r>
              <a:rPr lang="zh-CN" altLang="en-US" b="1" i="0" dirty="0">
                <a:solidFill>
                  <a:srgbClr val="374151"/>
                </a:solidFill>
                <a:effectLst/>
                <a:latin typeface="Söhne"/>
              </a:rPr>
              <a:t>通过分析共享特征来推断不同批次之间细胞之间的关系</a:t>
            </a:r>
            <a:endParaRPr lang="en-US" sz="1200" b="1" dirty="0"/>
          </a:p>
          <a:p>
            <a:endParaRPr lang="en-US" b="0" dirty="0"/>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37</a:t>
            </a:fld>
            <a:endParaRPr lang="en-US"/>
          </a:p>
        </p:txBody>
      </p:sp>
    </p:spTree>
    <p:extLst>
      <p:ext uri="{BB962C8B-B14F-4D97-AF65-F5344CB8AC3E}">
        <p14:creationId xmlns:p14="http://schemas.microsoft.com/office/powerpoint/2010/main" val="11504058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Let’s not go into further about Multi-omics Integration; it's the same concept.</a:t>
            </a: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74151"/>
                </a:solidFill>
                <a:effectLst/>
                <a:latin typeface="Söhne"/>
              </a:rPr>
              <a:t>* Gene activity calculation</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74151"/>
                </a:solidFill>
                <a:effectLst/>
                <a:latin typeface="Söhne"/>
              </a:rPr>
              <a:t>* truncated randomized SVD</a:t>
            </a:r>
            <a:endParaRPr lang="en-US" sz="1200" dirty="0"/>
          </a:p>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38</a:t>
            </a:fld>
            <a:endParaRPr lang="en-US"/>
          </a:p>
        </p:txBody>
      </p:sp>
    </p:spTree>
    <p:extLst>
      <p:ext uri="{BB962C8B-B14F-4D97-AF65-F5344CB8AC3E}">
        <p14:creationId xmlns:p14="http://schemas.microsoft.com/office/powerpoint/2010/main" val="37429705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fact, the most important part of this paper is the SIMBA embedding.</a:t>
            </a:r>
          </a:p>
          <a:p>
            <a:endParaRPr lang="en-US" b="0" i="0" dirty="0">
              <a:solidFill>
                <a:srgbClr val="374151"/>
              </a:solidFill>
              <a:effectLst/>
              <a:latin typeface="Söhne"/>
            </a:endParaRPr>
          </a:p>
          <a:p>
            <a:r>
              <a:rPr lang="en-US" b="0" i="0" dirty="0">
                <a:solidFill>
                  <a:srgbClr val="374151"/>
                </a:solidFill>
                <a:effectLst/>
                <a:latin typeface="Söhne"/>
              </a:rPr>
              <a:t>You may want to ask, how is the data normalized across different batches?</a:t>
            </a:r>
          </a:p>
          <a:p>
            <a:r>
              <a:rPr lang="en-US" b="0" i="0" dirty="0">
                <a:solidFill>
                  <a:srgbClr val="374151"/>
                </a:solidFill>
                <a:effectLst/>
                <a:latin typeface="Söhne"/>
              </a:rPr>
              <a:t>How do you integrate different datasets together?</a:t>
            </a:r>
          </a:p>
          <a:p>
            <a:r>
              <a:rPr lang="en-US" b="0" i="0" dirty="0">
                <a:solidFill>
                  <a:srgbClr val="374151"/>
                </a:solidFill>
                <a:effectLst/>
                <a:latin typeface="Söhne"/>
              </a:rPr>
              <a:t>or Why does using SIMBA embedding enable the construction of a world that lining up different features together?</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39</a:t>
            </a:fld>
            <a:endParaRPr lang="en-US"/>
          </a:p>
        </p:txBody>
      </p:sp>
    </p:spTree>
    <p:extLst>
      <p:ext uri="{BB962C8B-B14F-4D97-AF65-F5344CB8AC3E}">
        <p14:creationId xmlns:p14="http://schemas.microsoft.com/office/powerpoint/2010/main" val="1999940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Ok, so for SIMBA embedding…</a:t>
            </a:r>
          </a:p>
          <a:p>
            <a:r>
              <a:rPr lang="en-US" b="0" i="0" dirty="0">
                <a:solidFill>
                  <a:srgbClr val="374151"/>
                </a:solidFill>
                <a:effectLst/>
                <a:latin typeface="Söhne"/>
              </a:rPr>
              <a:t>First, we need to create a vector. Vectors are our input for SIMBA embedding.</a:t>
            </a:r>
          </a:p>
          <a:p>
            <a:r>
              <a:rPr lang="en-US" b="0" i="0" dirty="0">
                <a:solidFill>
                  <a:srgbClr val="374151"/>
                </a:solidFill>
                <a:effectLst/>
                <a:latin typeface="Söhne"/>
              </a:rPr>
              <a:t>We represent each edge existing in this space with a set of vectors.</a:t>
            </a:r>
          </a:p>
          <a:p>
            <a:endParaRPr lang="en-US"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An edge connects a starting position to an ending position. We call the node at starting position as “</a:t>
            </a:r>
            <a:r>
              <a:rPr lang="en-US" dirty="0"/>
              <a:t>source entity”, and we call the node at </a:t>
            </a:r>
            <a:r>
              <a:rPr lang="en-US" b="0" i="0" dirty="0">
                <a:solidFill>
                  <a:srgbClr val="374151"/>
                </a:solidFill>
                <a:effectLst/>
                <a:latin typeface="Söhne"/>
              </a:rPr>
              <a:t>ending position as “</a:t>
            </a:r>
            <a:r>
              <a:rPr lang="en-US" dirty="0"/>
              <a:t>destination entity”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74151"/>
                </a:solidFill>
                <a:effectLst/>
                <a:latin typeface="Söhne"/>
              </a:rPr>
              <a:t>And then, we calculate an edge score for each edge. The score is related to the two nodes connected by the edge. This score reflects our aim to find a method to effectively capture the connectivity relationships between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we calculate the loss. </a:t>
            </a:r>
            <a:r>
              <a:rPr lang="en-US" b="0" i="0" dirty="0">
                <a:solidFill>
                  <a:srgbClr val="374151"/>
                </a:solidFill>
                <a:effectLst/>
                <a:latin typeface="Söhne"/>
              </a:rPr>
              <a:t>Loss is a method used to assess whether these scores are sufficiently good. It is an evaluation for these scores.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Find the overall best score means, we will </a:t>
            </a:r>
            <a:r>
              <a:rPr lang="en-US" b="0" i="0" dirty="0">
                <a:solidFill>
                  <a:srgbClr val="374151"/>
                </a:solidFill>
                <a:effectLst/>
                <a:latin typeface="Söhne"/>
              </a:rPr>
              <a:t>adjust our score and seeing if these scores become increasingly better, meaning they approach the true connectivity relationships more closely.</a:t>
            </a:r>
            <a:endParaRPr lang="en-US" dirty="0">
              <a:solidFill>
                <a:schemeClr val="tx1"/>
              </a:solidFill>
            </a:endParaRPr>
          </a:p>
        </p:txBody>
      </p:sp>
      <p:sp>
        <p:nvSpPr>
          <p:cNvPr id="4" name="Slide Number Placeholder 3"/>
          <p:cNvSpPr>
            <a:spLocks noGrp="1"/>
          </p:cNvSpPr>
          <p:nvPr>
            <p:ph type="sldNum" sz="quarter" idx="5"/>
          </p:nvPr>
        </p:nvSpPr>
        <p:spPr/>
        <p:txBody>
          <a:bodyPr/>
          <a:lstStyle/>
          <a:p>
            <a:fld id="{FBF5148F-E0CF-4A3E-922E-B1B7AB039E21}" type="slidenum">
              <a:rPr lang="en-US" smtClean="0"/>
              <a:t>40</a:t>
            </a:fld>
            <a:endParaRPr lang="en-US"/>
          </a:p>
        </p:txBody>
      </p:sp>
    </p:spTree>
    <p:extLst>
      <p:ext uri="{BB962C8B-B14F-4D97-AF65-F5344CB8AC3E}">
        <p14:creationId xmlns:p14="http://schemas.microsoft.com/office/powerpoint/2010/main" val="8109502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next step we need to do is to create some wrong edges, </a:t>
            </a:r>
            <a:r>
              <a:rPr lang="en-US" b="0" i="0" dirty="0">
                <a:solidFill>
                  <a:srgbClr val="374151"/>
                </a:solidFill>
                <a:effectLst/>
                <a:latin typeface="Söhne"/>
              </a:rPr>
              <a:t>It means those edges that shouldn't exist in the reality at all.</a:t>
            </a:r>
          </a:p>
          <a:p>
            <a:r>
              <a:rPr lang="en-US" b="0" i="0" dirty="0">
                <a:solidFill>
                  <a:srgbClr val="374151"/>
                </a:solidFill>
                <a:effectLst/>
                <a:latin typeface="Söhne"/>
              </a:rPr>
              <a:t>But why do we need to do this?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41</a:t>
            </a:fld>
            <a:endParaRPr lang="en-US"/>
          </a:p>
        </p:txBody>
      </p:sp>
    </p:spTree>
    <p:extLst>
      <p:ext uri="{BB962C8B-B14F-4D97-AF65-F5344CB8AC3E}">
        <p14:creationId xmlns:p14="http://schemas.microsoft.com/office/powerpoint/2010/main" val="31709628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Imagine you have a lot of food today. You want to teach your robot to distinguish whether food is tasty or not.</a:t>
            </a:r>
          </a:p>
          <a:p>
            <a:r>
              <a:rPr lang="en-US" b="0" i="0" dirty="0">
                <a:solidFill>
                  <a:srgbClr val="374151"/>
                </a:solidFill>
                <a:effectLst/>
                <a:latin typeface="Söhne"/>
              </a:rPr>
              <a:t>But if, during the teaching process, you only tell it that these are tasty foods without informing it that some foods are actually inedible, they are rotten, no one should eat it.</a:t>
            </a:r>
          </a:p>
          <a:p>
            <a:r>
              <a:rPr lang="en-US" b="0" i="0" dirty="0">
                <a:solidFill>
                  <a:srgbClr val="374151"/>
                </a:solidFill>
                <a:effectLst/>
                <a:latin typeface="Söhne"/>
              </a:rPr>
              <a:t>It will still perceive these as tasty foods.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42</a:t>
            </a:fld>
            <a:endParaRPr lang="en-US"/>
          </a:p>
        </p:txBody>
      </p:sp>
    </p:spTree>
    <p:extLst>
      <p:ext uri="{BB962C8B-B14F-4D97-AF65-F5344CB8AC3E}">
        <p14:creationId xmlns:p14="http://schemas.microsoft.com/office/powerpoint/2010/main" val="39349285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So, it's crucial to inform it that some foods are inedible, they are disgusting. </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43</a:t>
            </a:fld>
            <a:endParaRPr lang="en-US"/>
          </a:p>
        </p:txBody>
      </p:sp>
    </p:spTree>
    <p:extLst>
      <p:ext uri="{BB962C8B-B14F-4D97-AF65-F5344CB8AC3E}">
        <p14:creationId xmlns:p14="http://schemas.microsoft.com/office/powerpoint/2010/main" val="33044307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This is the key point of negative sampling, not only creating incorrect connections to indicate which connections should not exist. For points with stronger associations, we should also assign higher weights to reflect their strong relevance. Finally, based on the strength or absence of these relationships, compute the corresponding scores.</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44</a:t>
            </a:fld>
            <a:endParaRPr lang="en-US"/>
          </a:p>
        </p:txBody>
      </p:sp>
    </p:spTree>
    <p:extLst>
      <p:ext uri="{BB962C8B-B14F-4D97-AF65-F5344CB8AC3E}">
        <p14:creationId xmlns:p14="http://schemas.microsoft.com/office/powerpoint/2010/main" val="19299927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Let's now talk about how to determine if this machine is good or not</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45</a:t>
            </a:fld>
            <a:endParaRPr lang="en-US"/>
          </a:p>
        </p:txBody>
      </p:sp>
    </p:spTree>
    <p:extLst>
      <p:ext uri="{BB962C8B-B14F-4D97-AF65-F5344CB8AC3E}">
        <p14:creationId xmlns:p14="http://schemas.microsoft.com/office/powerpoint/2010/main" val="37556755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We might all wonder, how do we know if what this machine says is correct? Is it accurate enough to predict the connections between different features?</a:t>
            </a:r>
          </a:p>
          <a:p>
            <a:r>
              <a:rPr lang="en-US" b="0" i="0" dirty="0">
                <a:solidFill>
                  <a:srgbClr val="374151"/>
                </a:solidFill>
                <a:effectLst/>
                <a:latin typeface="Söhne"/>
              </a:rPr>
              <a:t>Therefore, SIMBA adopts five metrics to evaluate the goodness of a model.</a:t>
            </a:r>
          </a:p>
          <a:p>
            <a:endParaRPr lang="en-US" b="0" i="0" dirty="0">
              <a:solidFill>
                <a:srgbClr val="374151"/>
              </a:solidFill>
              <a:effectLst/>
              <a:latin typeface="Söhne"/>
            </a:endParaRPr>
          </a:p>
          <a:p>
            <a:r>
              <a:rPr lang="en-US" sz="1200" b="0" i="0" dirty="0">
                <a:solidFill>
                  <a:srgbClr val="FF0000"/>
                </a:solidFill>
                <a:effectLst/>
                <a:latin typeface="Söhne"/>
              </a:rPr>
              <a:t>The first one is “Mean Reciprocal Rank”. </a:t>
            </a:r>
          </a:p>
          <a:p>
            <a:r>
              <a:rPr lang="en-US" sz="1200" b="0" i="0" dirty="0">
                <a:solidFill>
                  <a:srgbClr val="FF0000"/>
                </a:solidFill>
                <a:effectLst/>
                <a:latin typeface="Söhne"/>
              </a:rPr>
              <a:t>Because I want to be simple. So </a:t>
            </a:r>
            <a:r>
              <a:rPr lang="en-US" b="0" i="0" dirty="0">
                <a:solidFill>
                  <a:srgbClr val="374151"/>
                </a:solidFill>
                <a:effectLst/>
                <a:latin typeface="Söhne"/>
              </a:rPr>
              <a:t>Imagine this, you search for a question on Google, and Google provides you with a bunch of answers. The correct answer might be the first one, or the second one, or possibly further down the list. MRR is a method that measures, on average, how many answers you need to look at before finding the correct one.</a:t>
            </a:r>
          </a:p>
          <a:p>
            <a:endParaRPr lang="en-US" b="0" i="0" dirty="0">
              <a:solidFill>
                <a:srgbClr val="374151"/>
              </a:solidFill>
              <a:effectLst/>
              <a:latin typeface="Söhne"/>
            </a:endParaRPr>
          </a:p>
          <a:p>
            <a:r>
              <a:rPr lang="en-US" b="0" i="0" dirty="0">
                <a:solidFill>
                  <a:srgbClr val="374151"/>
                </a:solidFill>
                <a:effectLst/>
                <a:latin typeface="Söhne"/>
              </a:rPr>
              <a:t>The "R1" focuses specifically on the first item in that list. Each time you seek the correct answer, how high is the probability that the correct answer is the first one?</a:t>
            </a:r>
          </a:p>
          <a:p>
            <a:r>
              <a:rPr lang="en-US" b="0" i="0" dirty="0">
                <a:solidFill>
                  <a:srgbClr val="374151"/>
                </a:solidFill>
                <a:effectLst/>
                <a:latin typeface="Söhne"/>
              </a:rPr>
              <a:t>Same as R10 and R50, how high </a:t>
            </a:r>
            <a:r>
              <a:rPr lang="en-US" b="0" i="0" dirty="0" err="1">
                <a:solidFill>
                  <a:srgbClr val="374151"/>
                </a:solidFill>
                <a:effectLst/>
                <a:latin typeface="Söhne"/>
              </a:rPr>
              <a:t>high</a:t>
            </a:r>
            <a:r>
              <a:rPr lang="en-US" b="0" i="0" dirty="0">
                <a:solidFill>
                  <a:srgbClr val="374151"/>
                </a:solidFill>
                <a:effectLst/>
                <a:latin typeface="Söhne"/>
              </a:rPr>
              <a:t> is the probability that the correct answers shows within 10% or 50%</a:t>
            </a:r>
          </a:p>
          <a:p>
            <a:endParaRPr lang="en-US" b="0" i="0" dirty="0">
              <a:solidFill>
                <a:srgbClr val="374151"/>
              </a:solidFill>
              <a:effectLst/>
              <a:latin typeface="Söhne"/>
            </a:endParaRPr>
          </a:p>
          <a:p>
            <a:r>
              <a:rPr lang="en-US" b="0" i="0" dirty="0">
                <a:solidFill>
                  <a:srgbClr val="374151"/>
                </a:solidFill>
                <a:effectLst/>
                <a:latin typeface="Söhne"/>
              </a:rPr>
              <a:t>AUC, most of us are familiar with this. An important metric used to evaluate the performance of classification models. Judging an edge to truly exist in the world, and that edge does indeed exist, results in a high AUC.</a:t>
            </a:r>
          </a:p>
          <a:p>
            <a:r>
              <a:rPr lang="en-US" b="0" i="0" dirty="0">
                <a:solidFill>
                  <a:srgbClr val="374151"/>
                </a:solidFill>
                <a:effectLst/>
                <a:latin typeface="Söhne"/>
              </a:rPr>
              <a:t>On</a:t>
            </a:r>
            <a:r>
              <a:rPr lang="zh-TW" altLang="en-US" b="0" i="0" dirty="0">
                <a:solidFill>
                  <a:srgbClr val="374151"/>
                </a:solidFill>
                <a:effectLst/>
                <a:latin typeface="Söhne"/>
              </a:rPr>
              <a:t> </a:t>
            </a:r>
            <a:r>
              <a:rPr lang="en-US" altLang="zh-TW" b="0" i="0" dirty="0">
                <a:solidFill>
                  <a:srgbClr val="374151"/>
                </a:solidFill>
                <a:effectLst/>
                <a:latin typeface="Söhne"/>
              </a:rPr>
              <a:t>the</a:t>
            </a:r>
            <a:r>
              <a:rPr lang="zh-TW" altLang="en-US" b="0" i="0" dirty="0">
                <a:solidFill>
                  <a:srgbClr val="374151"/>
                </a:solidFill>
                <a:effectLst/>
                <a:latin typeface="Söhne"/>
              </a:rPr>
              <a:t> </a:t>
            </a:r>
            <a:r>
              <a:rPr lang="en-US" altLang="zh-TW" b="0" i="0" dirty="0">
                <a:solidFill>
                  <a:srgbClr val="374151"/>
                </a:solidFill>
                <a:effectLst/>
                <a:latin typeface="Söhne"/>
              </a:rPr>
              <a:t>contrary,</a:t>
            </a:r>
            <a:r>
              <a:rPr lang="zh-TW" altLang="en-US" b="0" i="0" dirty="0">
                <a:solidFill>
                  <a:srgbClr val="374151"/>
                </a:solidFill>
                <a:effectLst/>
                <a:latin typeface="Söhne"/>
              </a:rPr>
              <a:t> </a:t>
            </a:r>
            <a:r>
              <a:rPr lang="en-US" altLang="zh-TW" b="0" i="0" dirty="0">
                <a:solidFill>
                  <a:srgbClr val="374151"/>
                </a:solidFill>
                <a:effectLst/>
                <a:latin typeface="Söhne"/>
              </a:rPr>
              <a:t>predict </a:t>
            </a:r>
            <a:r>
              <a:rPr lang="en-US" altLang="zh-TW" b="0" i="0" dirty="0" err="1">
                <a:solidFill>
                  <a:srgbClr val="374151"/>
                </a:solidFill>
                <a:effectLst/>
                <a:latin typeface="Söhne"/>
              </a:rPr>
              <a:t>wronly</a:t>
            </a:r>
            <a:r>
              <a:rPr lang="en-US" altLang="zh-TW" b="0" i="0" dirty="0">
                <a:solidFill>
                  <a:srgbClr val="374151"/>
                </a:solidFill>
                <a:effectLst/>
                <a:latin typeface="Söhne"/>
              </a:rPr>
              <a:t>, </a:t>
            </a:r>
            <a:r>
              <a:rPr lang="en-US" b="0" i="0" dirty="0">
                <a:solidFill>
                  <a:srgbClr val="374151"/>
                </a:solidFill>
                <a:effectLst/>
                <a:latin typeface="Söhne"/>
              </a:rPr>
              <a:t>indicate that the model does not classify well, resulting in a low AUC</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46</a:t>
            </a:fld>
            <a:endParaRPr lang="en-US"/>
          </a:p>
        </p:txBody>
      </p:sp>
    </p:spTree>
    <p:extLst>
      <p:ext uri="{BB962C8B-B14F-4D97-AF65-F5344CB8AC3E}">
        <p14:creationId xmlns:p14="http://schemas.microsoft.com/office/powerpoint/2010/main" val="7066206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47</a:t>
            </a:fld>
            <a:endParaRPr lang="en-US"/>
          </a:p>
        </p:txBody>
      </p:sp>
    </p:spTree>
    <p:extLst>
      <p:ext uri="{BB962C8B-B14F-4D97-AF65-F5344CB8AC3E}">
        <p14:creationId xmlns:p14="http://schemas.microsoft.com/office/powerpoint/2010/main" val="363638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Before we dive into the discussion, I'd like to make a declaration. Due to time constraints, there are many mathematical concepts and details behind SIMBA that I have not mentioned. If anyone is interested, you can just come to seek me out for further discussion</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53</a:t>
            </a:fld>
            <a:endParaRPr lang="en-US"/>
          </a:p>
        </p:txBody>
      </p:sp>
    </p:spTree>
    <p:extLst>
      <p:ext uri="{BB962C8B-B14F-4D97-AF65-F5344CB8AC3E}">
        <p14:creationId xmlns:p14="http://schemas.microsoft.com/office/powerpoint/2010/main" val="36347605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the discussion, SIMBA believes it has successfully accomplished two things. First, through SIMBA, we can clearly differentiate various cell types. Secondly, it allows us to understand the regulatory mechanisms among genes, transcription, and chromatin factors within a single cell.</a:t>
            </a:r>
          </a:p>
          <a:p>
            <a:endParaRPr lang="en-US" b="0" i="0" dirty="0">
              <a:solidFill>
                <a:srgbClr val="374151"/>
              </a:solidFill>
              <a:effectLst/>
              <a:latin typeface="Söhne"/>
            </a:endParaRPr>
          </a:p>
          <a:p>
            <a:r>
              <a:rPr lang="en-US" b="0" i="0" dirty="0">
                <a:solidFill>
                  <a:srgbClr val="374151"/>
                </a:solidFill>
                <a:effectLst/>
                <a:latin typeface="Söhne"/>
              </a:rPr>
              <a:t>However, is there a chance to incorporate more variables in the future?</a:t>
            </a:r>
          </a:p>
          <a:p>
            <a:r>
              <a:rPr lang="en-US" b="0" i="0" dirty="0">
                <a:solidFill>
                  <a:srgbClr val="374151"/>
                </a:solidFill>
                <a:effectLst/>
                <a:latin typeface="Söhne"/>
              </a:rPr>
              <a:t>For instance, time points, or some interfering factors</a:t>
            </a:r>
            <a:r>
              <a:rPr lang="zh-TW" altLang="en-US" b="0" i="0" dirty="0">
                <a:solidFill>
                  <a:srgbClr val="374151"/>
                </a:solidFill>
                <a:effectLst/>
                <a:latin typeface="Söhne"/>
              </a:rPr>
              <a:t>？</a:t>
            </a:r>
            <a:endParaRPr lang="en-US" altLang="zh-TW" b="0" i="0" dirty="0">
              <a:solidFill>
                <a:srgbClr val="374151"/>
              </a:solidFill>
              <a:effectLst/>
              <a:latin typeface="Söhne"/>
            </a:endParaRPr>
          </a:p>
          <a:p>
            <a:endParaRPr lang="en-US" b="0" i="0" dirty="0">
              <a:solidFill>
                <a:srgbClr val="374151"/>
              </a:solidFill>
              <a:effectLst/>
              <a:latin typeface="Söhne"/>
            </a:endParaRPr>
          </a:p>
          <a:p>
            <a:r>
              <a:rPr lang="en-US" b="0" i="0" dirty="0">
                <a:solidFill>
                  <a:srgbClr val="374151"/>
                </a:solidFill>
                <a:effectLst/>
                <a:latin typeface="Söhne"/>
              </a:rPr>
              <a:t>Indeed, with each additional variable, we are essentially adding another dimension to the data, which may complicate the analysis significantly. However, it‘s a matter worth considering</a:t>
            </a:r>
            <a:r>
              <a:rPr lang="zh-TW" altLang="en-US" b="0" i="0" dirty="0">
                <a:solidFill>
                  <a:srgbClr val="374151"/>
                </a:solidFill>
                <a:effectLst/>
                <a:latin typeface="Söhne"/>
              </a:rPr>
              <a:t> </a:t>
            </a:r>
            <a:r>
              <a:rPr lang="en-US" altLang="zh-TW" b="0" i="0" dirty="0">
                <a:solidFill>
                  <a:srgbClr val="374151"/>
                </a:solidFill>
                <a:effectLst/>
                <a:latin typeface="Söhne"/>
              </a:rPr>
              <a:t>for everyone. </a:t>
            </a:r>
            <a:endParaRPr lang="en-US" dirty="0"/>
          </a:p>
        </p:txBody>
      </p:sp>
      <p:sp>
        <p:nvSpPr>
          <p:cNvPr id="4" name="Slide Number Placeholder 3"/>
          <p:cNvSpPr>
            <a:spLocks noGrp="1"/>
          </p:cNvSpPr>
          <p:nvPr>
            <p:ph type="sldNum" sz="quarter" idx="5"/>
          </p:nvPr>
        </p:nvSpPr>
        <p:spPr/>
        <p:txBody>
          <a:bodyPr/>
          <a:lstStyle/>
          <a:p>
            <a:fld id="{FBF5148F-E0CF-4A3E-922E-B1B7AB039E21}" type="slidenum">
              <a:rPr lang="en-US" smtClean="0"/>
              <a:t>55</a:t>
            </a:fld>
            <a:endParaRPr lang="en-US"/>
          </a:p>
        </p:txBody>
      </p:sp>
    </p:spTree>
    <p:extLst>
      <p:ext uri="{BB962C8B-B14F-4D97-AF65-F5344CB8AC3E}">
        <p14:creationId xmlns:p14="http://schemas.microsoft.com/office/powerpoint/2010/main" val="36897984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your listening, this is the end of my presentation. Do you guys have any question?</a:t>
            </a:r>
          </a:p>
        </p:txBody>
      </p:sp>
      <p:sp>
        <p:nvSpPr>
          <p:cNvPr id="4" name="Slide Number Placeholder 3"/>
          <p:cNvSpPr>
            <a:spLocks noGrp="1"/>
          </p:cNvSpPr>
          <p:nvPr>
            <p:ph type="sldNum" sz="quarter" idx="5"/>
          </p:nvPr>
        </p:nvSpPr>
        <p:spPr/>
        <p:txBody>
          <a:bodyPr/>
          <a:lstStyle/>
          <a:p>
            <a:fld id="{FBF5148F-E0CF-4A3E-922E-B1B7AB039E21}" type="slidenum">
              <a:rPr lang="en-US" smtClean="0"/>
              <a:t>56</a:t>
            </a:fld>
            <a:endParaRPr lang="en-US"/>
          </a:p>
        </p:txBody>
      </p:sp>
    </p:spTree>
    <p:extLst>
      <p:ext uri="{BB962C8B-B14F-4D97-AF65-F5344CB8AC3E}">
        <p14:creationId xmlns:p14="http://schemas.microsoft.com/office/powerpoint/2010/main" val="2811162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AA1E2-B67A-A249-4E1D-180AFBF227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1D9AAB-C53F-62A7-0272-E116D3C0BC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19D3BA-21CE-7623-4963-BA51D27D4AA3}"/>
              </a:ext>
            </a:extLst>
          </p:cNvPr>
          <p:cNvSpPr>
            <a:spLocks noGrp="1"/>
          </p:cNvSpPr>
          <p:nvPr>
            <p:ph type="dt" sz="half" idx="10"/>
          </p:nvPr>
        </p:nvSpPr>
        <p:spPr/>
        <p:txBody>
          <a:bodyPr/>
          <a:lstStyle/>
          <a:p>
            <a:fld id="{7B7EB1A6-7185-41A2-B82C-4EF5F22543C5}" type="datetimeFigureOut">
              <a:rPr lang="en-US" smtClean="0"/>
              <a:t>10/25/2023</a:t>
            </a:fld>
            <a:endParaRPr lang="en-US"/>
          </a:p>
        </p:txBody>
      </p:sp>
      <p:sp>
        <p:nvSpPr>
          <p:cNvPr id="5" name="Footer Placeholder 4">
            <a:extLst>
              <a:ext uri="{FF2B5EF4-FFF2-40B4-BE49-F238E27FC236}">
                <a16:creationId xmlns:a16="http://schemas.microsoft.com/office/drawing/2014/main" id="{1DDA42AF-A697-F21C-551A-1230677FC6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634175-3BB2-BC0F-6974-A87C7FDF37CA}"/>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3447404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ED5ED-01C9-6134-F208-CD26BCC2E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DF697D-ACDC-D9D6-4337-D5A0CFD4DC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C4C176-2CDB-5ED2-8353-81D6317925FA}"/>
              </a:ext>
            </a:extLst>
          </p:cNvPr>
          <p:cNvSpPr>
            <a:spLocks noGrp="1"/>
          </p:cNvSpPr>
          <p:nvPr>
            <p:ph type="dt" sz="half" idx="10"/>
          </p:nvPr>
        </p:nvSpPr>
        <p:spPr/>
        <p:txBody>
          <a:bodyPr/>
          <a:lstStyle/>
          <a:p>
            <a:fld id="{7B7EB1A6-7185-41A2-B82C-4EF5F22543C5}" type="datetimeFigureOut">
              <a:rPr lang="en-US" smtClean="0"/>
              <a:t>10/25/2023</a:t>
            </a:fld>
            <a:endParaRPr lang="en-US"/>
          </a:p>
        </p:txBody>
      </p:sp>
      <p:sp>
        <p:nvSpPr>
          <p:cNvPr id="5" name="Footer Placeholder 4">
            <a:extLst>
              <a:ext uri="{FF2B5EF4-FFF2-40B4-BE49-F238E27FC236}">
                <a16:creationId xmlns:a16="http://schemas.microsoft.com/office/drawing/2014/main" id="{A0250744-34AD-5A87-C9B3-16FEEAA213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70CF8E-DA58-6CB9-941E-DAAFCE860E34}"/>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1412491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57818-C96C-DAA4-5F5F-FCBE771E97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2C019F-446A-76BC-E459-B317AE625D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32E486-4A74-B8DD-C012-3FDA148CB6CD}"/>
              </a:ext>
            </a:extLst>
          </p:cNvPr>
          <p:cNvSpPr>
            <a:spLocks noGrp="1"/>
          </p:cNvSpPr>
          <p:nvPr>
            <p:ph type="dt" sz="half" idx="10"/>
          </p:nvPr>
        </p:nvSpPr>
        <p:spPr/>
        <p:txBody>
          <a:bodyPr/>
          <a:lstStyle/>
          <a:p>
            <a:fld id="{7B7EB1A6-7185-41A2-B82C-4EF5F22543C5}" type="datetimeFigureOut">
              <a:rPr lang="en-US" smtClean="0"/>
              <a:t>10/25/2023</a:t>
            </a:fld>
            <a:endParaRPr lang="en-US"/>
          </a:p>
        </p:txBody>
      </p:sp>
      <p:sp>
        <p:nvSpPr>
          <p:cNvPr id="5" name="Footer Placeholder 4">
            <a:extLst>
              <a:ext uri="{FF2B5EF4-FFF2-40B4-BE49-F238E27FC236}">
                <a16:creationId xmlns:a16="http://schemas.microsoft.com/office/drawing/2014/main" id="{1B3981D9-A52F-5E93-8A57-42F830D634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8D2AE3-6F0C-73C7-44EA-AAA60100C716}"/>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641713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8280E-327F-B2D2-0B39-A133B3D4F6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35A5C8-568A-C528-EAEC-8A5630A059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801B89-9C76-5B8F-6608-7E198836F2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689955-FB25-C68B-BB1C-8FF05648E492}"/>
              </a:ext>
            </a:extLst>
          </p:cNvPr>
          <p:cNvSpPr>
            <a:spLocks noGrp="1"/>
          </p:cNvSpPr>
          <p:nvPr>
            <p:ph type="dt" sz="half" idx="10"/>
          </p:nvPr>
        </p:nvSpPr>
        <p:spPr/>
        <p:txBody>
          <a:bodyPr/>
          <a:lstStyle/>
          <a:p>
            <a:fld id="{7B7EB1A6-7185-41A2-B82C-4EF5F22543C5}" type="datetimeFigureOut">
              <a:rPr lang="en-US" smtClean="0"/>
              <a:t>10/25/2023</a:t>
            </a:fld>
            <a:endParaRPr lang="en-US"/>
          </a:p>
        </p:txBody>
      </p:sp>
      <p:sp>
        <p:nvSpPr>
          <p:cNvPr id="6" name="Footer Placeholder 5">
            <a:extLst>
              <a:ext uri="{FF2B5EF4-FFF2-40B4-BE49-F238E27FC236}">
                <a16:creationId xmlns:a16="http://schemas.microsoft.com/office/drawing/2014/main" id="{1F23D584-A0A3-1C54-1CA0-5C7B6EA4AA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7A756F-83F0-5262-7F2F-477245C3B541}"/>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638851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20889-AA1D-F249-3A28-1E0149C25D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06C568-F290-654E-0A54-7F2660727C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80387A-5F7B-6954-7C37-1B8BEBFD40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56BB35-D302-4739-B5AB-3F3A9B2FDC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2BE1E5-657B-4291-DDB5-F5E5BDA0BA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118042-02FE-72D4-5FB8-F7D1AD838E41}"/>
              </a:ext>
            </a:extLst>
          </p:cNvPr>
          <p:cNvSpPr>
            <a:spLocks noGrp="1"/>
          </p:cNvSpPr>
          <p:nvPr>
            <p:ph type="dt" sz="half" idx="10"/>
          </p:nvPr>
        </p:nvSpPr>
        <p:spPr/>
        <p:txBody>
          <a:bodyPr/>
          <a:lstStyle/>
          <a:p>
            <a:fld id="{7B7EB1A6-7185-41A2-B82C-4EF5F22543C5}" type="datetimeFigureOut">
              <a:rPr lang="en-US" smtClean="0"/>
              <a:t>10/25/2023</a:t>
            </a:fld>
            <a:endParaRPr lang="en-US"/>
          </a:p>
        </p:txBody>
      </p:sp>
      <p:sp>
        <p:nvSpPr>
          <p:cNvPr id="8" name="Footer Placeholder 7">
            <a:extLst>
              <a:ext uri="{FF2B5EF4-FFF2-40B4-BE49-F238E27FC236}">
                <a16:creationId xmlns:a16="http://schemas.microsoft.com/office/drawing/2014/main" id="{EC9E48DC-D303-379B-F60F-E0329EE767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98D151-8A67-5E1C-C04D-6ADE3C655A85}"/>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343898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C7340-FDFE-82D0-D66E-C58C59675F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6777D6-BFDF-27A9-E9E5-1BC9289DF08A}"/>
              </a:ext>
            </a:extLst>
          </p:cNvPr>
          <p:cNvSpPr>
            <a:spLocks noGrp="1"/>
          </p:cNvSpPr>
          <p:nvPr>
            <p:ph type="dt" sz="half" idx="10"/>
          </p:nvPr>
        </p:nvSpPr>
        <p:spPr/>
        <p:txBody>
          <a:bodyPr/>
          <a:lstStyle/>
          <a:p>
            <a:fld id="{7B7EB1A6-7185-41A2-B82C-4EF5F22543C5}" type="datetimeFigureOut">
              <a:rPr lang="en-US" smtClean="0"/>
              <a:t>10/25/2023</a:t>
            </a:fld>
            <a:endParaRPr lang="en-US"/>
          </a:p>
        </p:txBody>
      </p:sp>
      <p:sp>
        <p:nvSpPr>
          <p:cNvPr id="4" name="Footer Placeholder 3">
            <a:extLst>
              <a:ext uri="{FF2B5EF4-FFF2-40B4-BE49-F238E27FC236}">
                <a16:creationId xmlns:a16="http://schemas.microsoft.com/office/drawing/2014/main" id="{1944516C-D64B-495C-176E-D1F77A2FCA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91082E-C101-5FDC-179A-92C4D15905CC}"/>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2912783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B88822-CFDB-C9D2-8BDE-9BD24CDBA4A4}"/>
              </a:ext>
            </a:extLst>
          </p:cNvPr>
          <p:cNvSpPr>
            <a:spLocks noGrp="1"/>
          </p:cNvSpPr>
          <p:nvPr>
            <p:ph type="dt" sz="half" idx="10"/>
          </p:nvPr>
        </p:nvSpPr>
        <p:spPr/>
        <p:txBody>
          <a:bodyPr/>
          <a:lstStyle/>
          <a:p>
            <a:fld id="{7B7EB1A6-7185-41A2-B82C-4EF5F22543C5}" type="datetimeFigureOut">
              <a:rPr lang="en-US" smtClean="0"/>
              <a:t>10/25/2023</a:t>
            </a:fld>
            <a:endParaRPr lang="en-US"/>
          </a:p>
        </p:txBody>
      </p:sp>
      <p:sp>
        <p:nvSpPr>
          <p:cNvPr id="3" name="Footer Placeholder 2">
            <a:extLst>
              <a:ext uri="{FF2B5EF4-FFF2-40B4-BE49-F238E27FC236}">
                <a16:creationId xmlns:a16="http://schemas.microsoft.com/office/drawing/2014/main" id="{A45E432D-3F72-DE06-388C-E6D0C0FC06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34BE1F-DF8D-2999-1C21-287FFD54601C}"/>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1479668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509D7-A626-244B-9713-C29F11C4B9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A0327E-6797-E754-8558-F5DE40F94F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1A165C-27FF-670F-AC47-B95A27CCF2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D05D6F-2D30-898C-6D87-06FC33742C8D}"/>
              </a:ext>
            </a:extLst>
          </p:cNvPr>
          <p:cNvSpPr>
            <a:spLocks noGrp="1"/>
          </p:cNvSpPr>
          <p:nvPr>
            <p:ph type="dt" sz="half" idx="10"/>
          </p:nvPr>
        </p:nvSpPr>
        <p:spPr/>
        <p:txBody>
          <a:bodyPr/>
          <a:lstStyle/>
          <a:p>
            <a:fld id="{7B7EB1A6-7185-41A2-B82C-4EF5F22543C5}" type="datetimeFigureOut">
              <a:rPr lang="en-US" smtClean="0"/>
              <a:t>10/25/2023</a:t>
            </a:fld>
            <a:endParaRPr lang="en-US"/>
          </a:p>
        </p:txBody>
      </p:sp>
      <p:sp>
        <p:nvSpPr>
          <p:cNvPr id="6" name="Footer Placeholder 5">
            <a:extLst>
              <a:ext uri="{FF2B5EF4-FFF2-40B4-BE49-F238E27FC236}">
                <a16:creationId xmlns:a16="http://schemas.microsoft.com/office/drawing/2014/main" id="{C7E8CB48-478B-28B1-231B-7EDC455D34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40C7E7-93EC-14F2-B23E-04D8B150C873}"/>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192313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6FD83-60A4-A678-3EAD-7F0523C684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352410-22C1-4262-FF38-4594CAE55E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B45293-3049-2889-1935-B47B65B59B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665846-1334-1A8A-7BCB-282AB92E83F7}"/>
              </a:ext>
            </a:extLst>
          </p:cNvPr>
          <p:cNvSpPr>
            <a:spLocks noGrp="1"/>
          </p:cNvSpPr>
          <p:nvPr>
            <p:ph type="dt" sz="half" idx="10"/>
          </p:nvPr>
        </p:nvSpPr>
        <p:spPr/>
        <p:txBody>
          <a:bodyPr/>
          <a:lstStyle/>
          <a:p>
            <a:fld id="{7B7EB1A6-7185-41A2-B82C-4EF5F22543C5}" type="datetimeFigureOut">
              <a:rPr lang="en-US" smtClean="0"/>
              <a:t>10/25/2023</a:t>
            </a:fld>
            <a:endParaRPr lang="en-US"/>
          </a:p>
        </p:txBody>
      </p:sp>
      <p:sp>
        <p:nvSpPr>
          <p:cNvPr id="6" name="Footer Placeholder 5">
            <a:extLst>
              <a:ext uri="{FF2B5EF4-FFF2-40B4-BE49-F238E27FC236}">
                <a16:creationId xmlns:a16="http://schemas.microsoft.com/office/drawing/2014/main" id="{C0772550-8F68-FD10-18D1-35D34AF80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16D2C-AADF-0DCC-EE36-92B9C77DCB33}"/>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694944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89FFC-5E22-0D88-D94F-70BE1792EE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9A3FAA-44FA-688B-6B41-DA8CB6FBCC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801A9-B17B-C90B-63CF-67BB325DEE47}"/>
              </a:ext>
            </a:extLst>
          </p:cNvPr>
          <p:cNvSpPr>
            <a:spLocks noGrp="1"/>
          </p:cNvSpPr>
          <p:nvPr>
            <p:ph type="dt" sz="half" idx="10"/>
          </p:nvPr>
        </p:nvSpPr>
        <p:spPr/>
        <p:txBody>
          <a:bodyPr/>
          <a:lstStyle/>
          <a:p>
            <a:fld id="{7B7EB1A6-7185-41A2-B82C-4EF5F22543C5}" type="datetimeFigureOut">
              <a:rPr lang="en-US" smtClean="0"/>
              <a:t>10/25/2023</a:t>
            </a:fld>
            <a:endParaRPr lang="en-US"/>
          </a:p>
        </p:txBody>
      </p:sp>
      <p:sp>
        <p:nvSpPr>
          <p:cNvPr id="5" name="Footer Placeholder 4">
            <a:extLst>
              <a:ext uri="{FF2B5EF4-FFF2-40B4-BE49-F238E27FC236}">
                <a16:creationId xmlns:a16="http://schemas.microsoft.com/office/drawing/2014/main" id="{87164CF7-9D0C-26E9-7908-46CA1027A9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46FE37-151F-1186-6767-597ADAD62920}"/>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1341546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4237E1-D9FA-8DC2-C66D-B3D909F34F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FE1A05-DBDF-7607-1B34-88399B96E0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58081C-79E3-DBC3-E810-532DB5A88E6E}"/>
              </a:ext>
            </a:extLst>
          </p:cNvPr>
          <p:cNvSpPr>
            <a:spLocks noGrp="1"/>
          </p:cNvSpPr>
          <p:nvPr>
            <p:ph type="dt" sz="half" idx="10"/>
          </p:nvPr>
        </p:nvSpPr>
        <p:spPr/>
        <p:txBody>
          <a:bodyPr/>
          <a:lstStyle/>
          <a:p>
            <a:fld id="{7B7EB1A6-7185-41A2-B82C-4EF5F22543C5}" type="datetimeFigureOut">
              <a:rPr lang="en-US" smtClean="0"/>
              <a:t>10/25/2023</a:t>
            </a:fld>
            <a:endParaRPr lang="en-US"/>
          </a:p>
        </p:txBody>
      </p:sp>
      <p:sp>
        <p:nvSpPr>
          <p:cNvPr id="5" name="Footer Placeholder 4">
            <a:extLst>
              <a:ext uri="{FF2B5EF4-FFF2-40B4-BE49-F238E27FC236}">
                <a16:creationId xmlns:a16="http://schemas.microsoft.com/office/drawing/2014/main" id="{8325B75D-0B0C-AFC2-0A85-3E482A1CAA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FDAA45-89D0-D895-8AF9-90C66D1BB63C}"/>
              </a:ext>
            </a:extLst>
          </p:cNvPr>
          <p:cNvSpPr>
            <a:spLocks noGrp="1"/>
          </p:cNvSpPr>
          <p:nvPr>
            <p:ph type="sldNum" sz="quarter" idx="12"/>
          </p:nvPr>
        </p:nvSpPr>
        <p:spPr/>
        <p:txBody>
          <a:bodyPr/>
          <a:lstStyle/>
          <a:p>
            <a:fld id="{7DF2C209-72C5-4BD6-83FD-73557975086B}" type="slidenum">
              <a:rPr lang="en-US" smtClean="0"/>
              <a:t>‹#›</a:t>
            </a:fld>
            <a:endParaRPr lang="en-US"/>
          </a:p>
        </p:txBody>
      </p:sp>
    </p:spTree>
    <p:extLst>
      <p:ext uri="{BB962C8B-B14F-4D97-AF65-F5344CB8AC3E}">
        <p14:creationId xmlns:p14="http://schemas.microsoft.com/office/powerpoint/2010/main" val="103976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F4794F-C420-CDEA-76F5-AD2D875B00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265051-79F6-56D4-B1FA-005CDAB815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19FEC4-FBA3-29F1-907F-6494E0930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7EB1A6-7185-41A2-B82C-4EF5F22543C5}" type="datetimeFigureOut">
              <a:rPr lang="en-US" smtClean="0"/>
              <a:t>10/25/2023</a:t>
            </a:fld>
            <a:endParaRPr lang="en-US"/>
          </a:p>
        </p:txBody>
      </p:sp>
      <p:sp>
        <p:nvSpPr>
          <p:cNvPr id="5" name="Footer Placeholder 4">
            <a:extLst>
              <a:ext uri="{FF2B5EF4-FFF2-40B4-BE49-F238E27FC236}">
                <a16:creationId xmlns:a16="http://schemas.microsoft.com/office/drawing/2014/main" id="{150C36DA-8CE0-C9F6-7A4D-6C60E8FEF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D983AFA-BF69-94FB-A92A-CDFD1CE80D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2C209-72C5-4BD6-83FD-73557975086B}" type="slidenum">
              <a:rPr lang="en-US" smtClean="0"/>
              <a:t>‹#›</a:t>
            </a:fld>
            <a:endParaRPr lang="en-US"/>
          </a:p>
        </p:txBody>
      </p:sp>
    </p:spTree>
    <p:extLst>
      <p:ext uri="{BB962C8B-B14F-4D97-AF65-F5344CB8AC3E}">
        <p14:creationId xmlns:p14="http://schemas.microsoft.com/office/powerpoint/2010/main" val="1794038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jpeg"/></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E8AC6-E937-7003-2335-0505BB05E005}"/>
              </a:ext>
            </a:extLst>
          </p:cNvPr>
          <p:cNvSpPr>
            <a:spLocks noGrp="1"/>
          </p:cNvSpPr>
          <p:nvPr>
            <p:ph type="ctrTitle"/>
          </p:nvPr>
        </p:nvSpPr>
        <p:spPr/>
        <p:txBody>
          <a:bodyPr>
            <a:normAutofit fontScale="90000"/>
          </a:bodyPr>
          <a:lstStyle/>
          <a:p>
            <a:r>
              <a:rPr lang="en-US" dirty="0"/>
              <a:t>SIMBA</a:t>
            </a:r>
            <a:r>
              <a:rPr lang="en-US" altLang="zh-TW" dirty="0"/>
              <a:t>:</a:t>
            </a:r>
            <a:r>
              <a:rPr lang="zh-TW" altLang="en-US" dirty="0"/>
              <a:t> </a:t>
            </a:r>
            <a:r>
              <a:rPr lang="en-US" altLang="zh-TW" dirty="0"/>
              <a:t>single-cell embedding along with features</a:t>
            </a:r>
            <a:endParaRPr lang="en-US" dirty="0"/>
          </a:p>
        </p:txBody>
      </p:sp>
      <p:sp>
        <p:nvSpPr>
          <p:cNvPr id="3" name="Subtitle 2">
            <a:extLst>
              <a:ext uri="{FF2B5EF4-FFF2-40B4-BE49-F238E27FC236}">
                <a16:creationId xmlns:a16="http://schemas.microsoft.com/office/drawing/2014/main" id="{1127F540-E472-90A1-C813-C1FC181F6D14}"/>
              </a:ext>
            </a:extLst>
          </p:cNvPr>
          <p:cNvSpPr>
            <a:spLocks noGrp="1"/>
          </p:cNvSpPr>
          <p:nvPr>
            <p:ph type="subTitle" idx="1"/>
          </p:nvPr>
        </p:nvSpPr>
        <p:spPr>
          <a:xfrm>
            <a:off x="1524000" y="5459413"/>
            <a:ext cx="9144000" cy="1655762"/>
          </a:xfrm>
        </p:spPr>
        <p:txBody>
          <a:bodyPr/>
          <a:lstStyle/>
          <a:p>
            <a:r>
              <a:rPr lang="en-US" dirty="0"/>
              <a:t>Speaker: </a:t>
            </a:r>
            <a:r>
              <a:rPr lang="en-US" altLang="zh-TW" dirty="0"/>
              <a:t>Chen, Yi-Jie</a:t>
            </a:r>
            <a:endParaRPr lang="en-US" dirty="0"/>
          </a:p>
          <a:p>
            <a:r>
              <a:rPr lang="en-US" altLang="zh-TW" dirty="0"/>
              <a:t>Advisor </a:t>
            </a:r>
            <a:r>
              <a:rPr lang="en-US" dirty="0"/>
              <a:t>: Lee, </a:t>
            </a:r>
            <a:r>
              <a:rPr lang="en-US" dirty="0" err="1"/>
              <a:t>Tzong</a:t>
            </a:r>
            <a:r>
              <a:rPr lang="en-US" dirty="0"/>
              <a:t>-Yi </a:t>
            </a:r>
          </a:p>
        </p:txBody>
      </p:sp>
      <p:sp>
        <p:nvSpPr>
          <p:cNvPr id="17" name="TextBox 16">
            <a:extLst>
              <a:ext uri="{FF2B5EF4-FFF2-40B4-BE49-F238E27FC236}">
                <a16:creationId xmlns:a16="http://schemas.microsoft.com/office/drawing/2014/main" id="{80EC7C19-98BA-15CF-4509-AF09598C49F5}"/>
              </a:ext>
            </a:extLst>
          </p:cNvPr>
          <p:cNvSpPr txBox="1"/>
          <p:nvPr/>
        </p:nvSpPr>
        <p:spPr>
          <a:xfrm>
            <a:off x="2136070" y="3841710"/>
            <a:ext cx="8052717" cy="369332"/>
          </a:xfrm>
          <a:prstGeom prst="rect">
            <a:avLst/>
          </a:prstGeom>
          <a:noFill/>
        </p:spPr>
        <p:txBody>
          <a:bodyPr wrap="none" rtlCol="0">
            <a:spAutoFit/>
          </a:bodyPr>
          <a:lstStyle/>
          <a:p>
            <a:r>
              <a:rPr lang="en-US" b="1" dirty="0" err="1"/>
              <a:t>Huidong</a:t>
            </a:r>
            <a:r>
              <a:rPr lang="en-US" b="1" dirty="0"/>
              <a:t> Chen, </a:t>
            </a:r>
            <a:r>
              <a:rPr lang="en-US" b="1" dirty="0" err="1"/>
              <a:t>Jayoung</a:t>
            </a:r>
            <a:r>
              <a:rPr lang="en-US" b="1" dirty="0"/>
              <a:t> Ryu, Michael E. </a:t>
            </a:r>
            <a:r>
              <a:rPr lang="en-US" b="1" dirty="0" err="1"/>
              <a:t>Vinyard</a:t>
            </a:r>
            <a:r>
              <a:rPr lang="en-US" b="1" dirty="0"/>
              <a:t>, Adam </a:t>
            </a:r>
            <a:r>
              <a:rPr lang="en-US" b="1" dirty="0" err="1"/>
              <a:t>Lerer</a:t>
            </a:r>
            <a:r>
              <a:rPr lang="en-US" b="1" dirty="0"/>
              <a:t> &amp; Luca </a:t>
            </a:r>
            <a:r>
              <a:rPr lang="en-US" b="1" dirty="0" err="1"/>
              <a:t>Pinello</a:t>
            </a:r>
            <a:r>
              <a:rPr lang="en-US" b="1" dirty="0"/>
              <a:t> (2023) </a:t>
            </a:r>
          </a:p>
        </p:txBody>
      </p:sp>
      <p:sp>
        <p:nvSpPr>
          <p:cNvPr id="22" name="TextBox 21">
            <a:extLst>
              <a:ext uri="{FF2B5EF4-FFF2-40B4-BE49-F238E27FC236}">
                <a16:creationId xmlns:a16="http://schemas.microsoft.com/office/drawing/2014/main" id="{B155AA2B-759C-9316-5252-DAA023AAF7C6}"/>
              </a:ext>
            </a:extLst>
          </p:cNvPr>
          <p:cNvSpPr txBox="1"/>
          <p:nvPr/>
        </p:nvSpPr>
        <p:spPr>
          <a:xfrm>
            <a:off x="5217329" y="4531877"/>
            <a:ext cx="1757341" cy="369332"/>
          </a:xfrm>
          <a:prstGeom prst="rect">
            <a:avLst/>
          </a:prstGeom>
          <a:noFill/>
        </p:spPr>
        <p:txBody>
          <a:bodyPr wrap="none" rtlCol="0">
            <a:spAutoFit/>
          </a:bodyPr>
          <a:lstStyle/>
          <a:p>
            <a:r>
              <a:rPr lang="en-US" b="1" dirty="0"/>
              <a:t>Nature Methods</a:t>
            </a:r>
          </a:p>
        </p:txBody>
      </p:sp>
    </p:spTree>
    <p:extLst>
      <p:ext uri="{BB962C8B-B14F-4D97-AF65-F5344CB8AC3E}">
        <p14:creationId xmlns:p14="http://schemas.microsoft.com/office/powerpoint/2010/main" val="421117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D60DB-E4B1-F7AF-6720-E9E7C939B612}"/>
              </a:ext>
            </a:extLst>
          </p:cNvPr>
          <p:cNvSpPr>
            <a:spLocks noGrp="1"/>
          </p:cNvSpPr>
          <p:nvPr>
            <p:ph type="title"/>
          </p:nvPr>
        </p:nvSpPr>
        <p:spPr/>
        <p:txBody>
          <a:bodyPr/>
          <a:lstStyle/>
          <a:p>
            <a:r>
              <a:rPr lang="en-US" altLang="zh-TW" dirty="0"/>
              <a:t>Presentation </a:t>
            </a:r>
            <a:r>
              <a:rPr lang="zh-TW" altLang="en-US" dirty="0"/>
              <a:t>方向和問題</a:t>
            </a:r>
            <a:endParaRPr lang="en-US" dirty="0"/>
          </a:p>
        </p:txBody>
      </p:sp>
      <p:sp>
        <p:nvSpPr>
          <p:cNvPr id="3" name="Content Placeholder 2">
            <a:extLst>
              <a:ext uri="{FF2B5EF4-FFF2-40B4-BE49-F238E27FC236}">
                <a16:creationId xmlns:a16="http://schemas.microsoft.com/office/drawing/2014/main" id="{35C18370-FA45-3DCF-D98B-FB99BA1413C0}"/>
              </a:ext>
            </a:extLst>
          </p:cNvPr>
          <p:cNvSpPr>
            <a:spLocks noGrp="1"/>
          </p:cNvSpPr>
          <p:nvPr>
            <p:ph idx="1"/>
          </p:nvPr>
        </p:nvSpPr>
        <p:spPr/>
        <p:txBody>
          <a:bodyPr/>
          <a:lstStyle/>
          <a:p>
            <a:pPr>
              <a:lnSpc>
                <a:spcPct val="150000"/>
              </a:lnSpc>
            </a:pPr>
            <a:r>
              <a:rPr lang="zh-TW" altLang="en-US" dirty="0"/>
              <a:t>一張</a:t>
            </a:r>
            <a:r>
              <a:rPr lang="en-US" altLang="zh-TW" dirty="0"/>
              <a:t>Result</a:t>
            </a:r>
            <a:r>
              <a:rPr lang="zh-TW" altLang="en-US" dirty="0"/>
              <a:t>的圖究竟要不要拆開成多張？</a:t>
            </a:r>
            <a:endParaRPr lang="en-US" altLang="zh-TW" dirty="0"/>
          </a:p>
          <a:p>
            <a:pPr>
              <a:lnSpc>
                <a:spcPct val="150000"/>
              </a:lnSpc>
            </a:pPr>
            <a:r>
              <a:rPr lang="en-US" dirty="0"/>
              <a:t>Method </a:t>
            </a:r>
            <a:r>
              <a:rPr lang="zh-TW" altLang="en-US" dirty="0"/>
              <a:t>是否要搭配 </a:t>
            </a:r>
            <a:r>
              <a:rPr lang="en-US" altLang="zh-TW" dirty="0"/>
              <a:t>Result </a:t>
            </a:r>
            <a:r>
              <a:rPr lang="zh-TW" altLang="en-US" dirty="0"/>
              <a:t>說？先後順序呢？</a:t>
            </a:r>
            <a:endParaRPr lang="en-US" altLang="zh-TW" dirty="0"/>
          </a:p>
          <a:p>
            <a:pPr>
              <a:lnSpc>
                <a:spcPct val="150000"/>
              </a:lnSpc>
            </a:pPr>
            <a:r>
              <a:rPr lang="zh-TW" altLang="en-US" dirty="0"/>
              <a:t>怎麼去定義 </a:t>
            </a:r>
            <a:r>
              <a:rPr lang="en-US" altLang="zh-TW" dirty="0"/>
              <a:t>Cluster</a:t>
            </a:r>
            <a:r>
              <a:rPr lang="zh-TW" altLang="en-US" dirty="0"/>
              <a:t> 好不好這件事？</a:t>
            </a:r>
            <a:r>
              <a:rPr lang="en-US" altLang="zh-TW" dirty="0"/>
              <a:t>(SIMBA</a:t>
            </a:r>
            <a:r>
              <a:rPr lang="zh-TW" altLang="en-US" dirty="0"/>
              <a:t> </a:t>
            </a:r>
            <a:r>
              <a:rPr lang="en-US" altLang="zh-TW" dirty="0"/>
              <a:t>vs. Seurat)</a:t>
            </a:r>
          </a:p>
        </p:txBody>
      </p:sp>
    </p:spTree>
    <p:extLst>
      <p:ext uri="{BB962C8B-B14F-4D97-AF65-F5344CB8AC3E}">
        <p14:creationId xmlns:p14="http://schemas.microsoft.com/office/powerpoint/2010/main" val="3373326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DCF7-1C49-5BBB-7E3F-307836D6134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0978013-16E4-B599-1E37-FB5263EEA2CF}"/>
              </a:ext>
            </a:extLst>
          </p:cNvPr>
          <p:cNvSpPr>
            <a:spLocks noGrp="1"/>
          </p:cNvSpPr>
          <p:nvPr>
            <p:ph idx="1"/>
          </p:nvPr>
        </p:nvSpPr>
        <p:spPr/>
        <p:txBody>
          <a:bodyPr/>
          <a:lstStyle/>
          <a:p>
            <a:endParaRPr lang="en-US" dirty="0"/>
          </a:p>
          <a:p>
            <a:r>
              <a:rPr lang="en-US" dirty="0"/>
              <a:t>Method + Result </a:t>
            </a:r>
            <a:r>
              <a:rPr lang="zh-TW" altLang="en-US" dirty="0"/>
              <a:t>一起講</a:t>
            </a:r>
            <a:endParaRPr lang="en-US" altLang="zh-TW" dirty="0"/>
          </a:p>
          <a:p>
            <a:r>
              <a:rPr lang="en-US" dirty="0"/>
              <a:t>Method1</a:t>
            </a:r>
            <a:r>
              <a:rPr lang="en-US" altLang="zh-TW" dirty="0"/>
              <a:t>(</a:t>
            </a:r>
            <a:r>
              <a:rPr lang="en-US" altLang="zh-TW" dirty="0" err="1"/>
              <a:t>scRNA</a:t>
            </a:r>
            <a:r>
              <a:rPr lang="en-US" altLang="zh-TW" dirty="0"/>
              <a:t>)</a:t>
            </a:r>
            <a:r>
              <a:rPr lang="en-US" dirty="0"/>
              <a:t>+ Method2(</a:t>
            </a:r>
            <a:r>
              <a:rPr lang="en-US" dirty="0" err="1"/>
              <a:t>scATAC</a:t>
            </a:r>
            <a:r>
              <a:rPr lang="en-US" dirty="0"/>
              <a:t>)</a:t>
            </a:r>
            <a:r>
              <a:rPr lang="zh-TW" altLang="en-US" dirty="0"/>
              <a:t> 一起講</a:t>
            </a:r>
            <a:endParaRPr lang="en-US" dirty="0"/>
          </a:p>
        </p:txBody>
      </p:sp>
    </p:spTree>
    <p:extLst>
      <p:ext uri="{BB962C8B-B14F-4D97-AF65-F5344CB8AC3E}">
        <p14:creationId xmlns:p14="http://schemas.microsoft.com/office/powerpoint/2010/main" val="3380022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a:extLst>
              <a:ext uri="{FF2B5EF4-FFF2-40B4-BE49-F238E27FC236}">
                <a16:creationId xmlns:a16="http://schemas.microsoft.com/office/drawing/2014/main" id="{8AF677A5-2C17-0BE6-D6E0-D666307D131A}"/>
              </a:ext>
            </a:extLst>
          </p:cNvPr>
          <p:cNvPicPr>
            <a:picLocks noGrp="1" noChangeAspect="1"/>
          </p:cNvPicPr>
          <p:nvPr>
            <p:ph idx="1"/>
          </p:nvPr>
        </p:nvPicPr>
        <p:blipFill>
          <a:blip r:embed="rId3"/>
          <a:stretch>
            <a:fillRect/>
          </a:stretch>
        </p:blipFill>
        <p:spPr>
          <a:xfrm>
            <a:off x="7388579" y="2321866"/>
            <a:ext cx="4713111" cy="4351338"/>
          </a:xfrm>
        </p:spPr>
      </p:pic>
      <p:pic>
        <p:nvPicPr>
          <p:cNvPr id="8" name="Picture 7">
            <a:extLst>
              <a:ext uri="{FF2B5EF4-FFF2-40B4-BE49-F238E27FC236}">
                <a16:creationId xmlns:a16="http://schemas.microsoft.com/office/drawing/2014/main" id="{BC4CDA6E-94AC-622D-B372-B5F9218BB227}"/>
              </a:ext>
            </a:extLst>
          </p:cNvPr>
          <p:cNvPicPr>
            <a:picLocks noChangeAspect="1"/>
          </p:cNvPicPr>
          <p:nvPr/>
        </p:nvPicPr>
        <p:blipFill>
          <a:blip r:embed="rId4"/>
          <a:stretch>
            <a:fillRect/>
          </a:stretch>
        </p:blipFill>
        <p:spPr>
          <a:xfrm>
            <a:off x="90310" y="263160"/>
            <a:ext cx="7353937" cy="3520745"/>
          </a:xfrm>
          <a:prstGeom prst="rect">
            <a:avLst/>
          </a:prstGeom>
        </p:spPr>
      </p:pic>
      <p:sp>
        <p:nvSpPr>
          <p:cNvPr id="10" name="TextBox 9">
            <a:extLst>
              <a:ext uri="{FF2B5EF4-FFF2-40B4-BE49-F238E27FC236}">
                <a16:creationId xmlns:a16="http://schemas.microsoft.com/office/drawing/2014/main" id="{C20346D4-4BAD-7D35-7134-67692803639E}"/>
              </a:ext>
            </a:extLst>
          </p:cNvPr>
          <p:cNvSpPr txBox="1"/>
          <p:nvPr/>
        </p:nvSpPr>
        <p:spPr>
          <a:xfrm>
            <a:off x="58490" y="6464035"/>
            <a:ext cx="7281334" cy="261610"/>
          </a:xfrm>
          <a:prstGeom prst="rect">
            <a:avLst/>
          </a:prstGeom>
          <a:noFill/>
        </p:spPr>
        <p:txBody>
          <a:bodyPr wrap="square">
            <a:spAutoFit/>
          </a:bodyPr>
          <a:lstStyle/>
          <a:p>
            <a:r>
              <a:rPr lang="en-US" sz="1100" dirty="0"/>
              <a:t>https://jcr.clarivate.com/jcr-jp/journal-profile?journal=NAT%20METHODS&amp;year=2022&amp;fromPage=%2Fjcr%2Fsearch-results</a:t>
            </a:r>
          </a:p>
        </p:txBody>
      </p:sp>
    </p:spTree>
    <p:extLst>
      <p:ext uri="{BB962C8B-B14F-4D97-AF65-F5344CB8AC3E}">
        <p14:creationId xmlns:p14="http://schemas.microsoft.com/office/powerpoint/2010/main" val="1989591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79BA1-99B9-E8E2-AD59-2C83F583CB7C}"/>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5D5441EB-E454-A280-1AB8-3E426BA21F0A}"/>
              </a:ext>
            </a:extLst>
          </p:cNvPr>
          <p:cNvSpPr>
            <a:spLocks noGrp="1"/>
          </p:cNvSpPr>
          <p:nvPr>
            <p:ph idx="1"/>
          </p:nvPr>
        </p:nvSpPr>
        <p:spPr>
          <a:xfrm>
            <a:off x="838200" y="1825624"/>
            <a:ext cx="10515600" cy="4784725"/>
          </a:xfrm>
        </p:spPr>
        <p:txBody>
          <a:bodyPr>
            <a:normAutofit/>
          </a:bodyPr>
          <a:lstStyle/>
          <a:p>
            <a:pPr>
              <a:lnSpc>
                <a:spcPct val="150000"/>
              </a:lnSpc>
            </a:pPr>
            <a:r>
              <a:rPr lang="en-US" dirty="0"/>
              <a:t>Most current single-cell analysis pipelines rely heavily on </a:t>
            </a:r>
            <a:r>
              <a:rPr lang="en-US" dirty="0">
                <a:solidFill>
                  <a:srgbClr val="FF0000"/>
                </a:solidFill>
                <a:effectLst/>
              </a:rPr>
              <a:t>clustering</a:t>
            </a:r>
          </a:p>
          <a:p>
            <a:pPr lvl="1">
              <a:lnSpc>
                <a:spcPct val="150000"/>
              </a:lnSpc>
            </a:pPr>
            <a:r>
              <a:rPr lang="en-US" dirty="0"/>
              <a:t>False Discovery (just because they are clustered by similar characteristics)</a:t>
            </a:r>
          </a:p>
          <a:p>
            <a:pPr>
              <a:lnSpc>
                <a:spcPct val="150000"/>
              </a:lnSpc>
            </a:pPr>
            <a:r>
              <a:rPr lang="en-US" dirty="0">
                <a:solidFill>
                  <a:srgbClr val="222222"/>
                </a:solidFill>
                <a:latin typeface="Harding"/>
              </a:rPr>
              <a:t>Lots of single-cell computational methods are developed for the</a:t>
            </a:r>
            <a:r>
              <a:rPr lang="en-US" b="0" i="0" dirty="0">
                <a:solidFill>
                  <a:srgbClr val="222222"/>
                </a:solidFill>
                <a:effectLst/>
                <a:latin typeface="Harding"/>
              </a:rPr>
              <a:t> analysis of</a:t>
            </a:r>
            <a:r>
              <a:rPr lang="zh-TW" altLang="en-US" b="0" i="0" dirty="0">
                <a:solidFill>
                  <a:srgbClr val="222222"/>
                </a:solidFill>
                <a:effectLst/>
                <a:latin typeface="Harding"/>
              </a:rPr>
              <a:t> </a:t>
            </a:r>
            <a:r>
              <a:rPr lang="en-US" altLang="zh-TW" b="0" i="0" dirty="0">
                <a:solidFill>
                  <a:srgbClr val="0070C0"/>
                </a:solidFill>
                <a:effectLst/>
                <a:latin typeface="Harding"/>
              </a:rPr>
              <a:t>o</a:t>
            </a:r>
            <a:r>
              <a:rPr lang="en-US" b="0" i="0" dirty="0">
                <a:solidFill>
                  <a:srgbClr val="0070C0"/>
                </a:solidFill>
                <a:effectLst/>
                <a:latin typeface="Harding"/>
              </a:rPr>
              <a:t>ne modality</a:t>
            </a:r>
          </a:p>
          <a:p>
            <a:endParaRPr lang="en-US" dirty="0"/>
          </a:p>
          <a:p>
            <a:pPr marL="0" indent="0">
              <a:buNone/>
            </a:pPr>
            <a:r>
              <a:rPr lang="zh-TW" altLang="en-US" dirty="0"/>
              <a:t>                                                                </a:t>
            </a:r>
            <a:r>
              <a:rPr lang="en-US" altLang="zh-TW" dirty="0"/>
              <a:t>….these are also our obstacles</a:t>
            </a:r>
            <a:endParaRPr lang="en-US" dirty="0"/>
          </a:p>
        </p:txBody>
      </p:sp>
    </p:spTree>
    <p:extLst>
      <p:ext uri="{BB962C8B-B14F-4D97-AF65-F5344CB8AC3E}">
        <p14:creationId xmlns:p14="http://schemas.microsoft.com/office/powerpoint/2010/main" val="3174988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C94257-8110-36F0-92A8-1DDC74F1737A}"/>
              </a:ext>
            </a:extLst>
          </p:cNvPr>
          <p:cNvSpPr/>
          <p:nvPr/>
        </p:nvSpPr>
        <p:spPr>
          <a:xfrm>
            <a:off x="-8279" y="-7499"/>
            <a:ext cx="3962401"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E2894C27-2656-7FA6-AEDE-E51B6E57119F}"/>
              </a:ext>
            </a:extLst>
          </p:cNvPr>
          <p:cNvSpPr>
            <a:spLocks noGrp="1"/>
          </p:cNvSpPr>
          <p:nvPr>
            <p:ph type="title"/>
          </p:nvPr>
        </p:nvSpPr>
        <p:spPr>
          <a:xfrm>
            <a:off x="387032" y="2860216"/>
            <a:ext cx="3258353" cy="1039469"/>
          </a:xfrm>
        </p:spPr>
        <p:txBody>
          <a:bodyPr>
            <a:normAutofit/>
          </a:bodyPr>
          <a:lstStyle/>
          <a:p>
            <a:r>
              <a:rPr lang="en-US" sz="3200" dirty="0"/>
              <a:t>General Workflow </a:t>
            </a:r>
            <a:br>
              <a:rPr lang="en-US" sz="3200" dirty="0"/>
            </a:br>
            <a:r>
              <a:rPr lang="en-US" sz="3200" dirty="0"/>
              <a:t>for </a:t>
            </a:r>
            <a:r>
              <a:rPr lang="en-US" sz="3200" dirty="0" err="1"/>
              <a:t>scRNA</a:t>
            </a:r>
            <a:r>
              <a:rPr lang="en-US" sz="3200" dirty="0"/>
              <a:t> Analysis</a:t>
            </a:r>
          </a:p>
        </p:txBody>
      </p:sp>
      <p:sp>
        <p:nvSpPr>
          <p:cNvPr id="4" name="TextBox 3">
            <a:extLst>
              <a:ext uri="{FF2B5EF4-FFF2-40B4-BE49-F238E27FC236}">
                <a16:creationId xmlns:a16="http://schemas.microsoft.com/office/drawing/2014/main" id="{6D8147E8-B5F3-6650-D2DA-3217745CD21E}"/>
              </a:ext>
            </a:extLst>
          </p:cNvPr>
          <p:cNvSpPr txBox="1"/>
          <p:nvPr/>
        </p:nvSpPr>
        <p:spPr>
          <a:xfrm>
            <a:off x="8383766" y="6588891"/>
            <a:ext cx="3808234" cy="261610"/>
          </a:xfrm>
          <a:prstGeom prst="rect">
            <a:avLst/>
          </a:prstGeom>
          <a:noFill/>
        </p:spPr>
        <p:txBody>
          <a:bodyPr wrap="square">
            <a:spAutoFit/>
          </a:bodyPr>
          <a:lstStyle/>
          <a:p>
            <a:r>
              <a:rPr lang="en-US" sz="1100" dirty="0"/>
              <a:t>https://www.embopress.org/doi/full/10.15252/msb.20188746</a:t>
            </a:r>
          </a:p>
        </p:txBody>
      </p:sp>
      <p:pic>
        <p:nvPicPr>
          <p:cNvPr id="2" name="Content Placeholder 4">
            <a:extLst>
              <a:ext uri="{FF2B5EF4-FFF2-40B4-BE49-F238E27FC236}">
                <a16:creationId xmlns:a16="http://schemas.microsoft.com/office/drawing/2014/main" id="{65753635-850F-5297-A28B-6A2061E23055}"/>
              </a:ext>
            </a:extLst>
          </p:cNvPr>
          <p:cNvPicPr>
            <a:picLocks noGrp="1" noChangeAspect="1"/>
          </p:cNvPicPr>
          <p:nvPr>
            <p:ph idx="1"/>
          </p:nvPr>
        </p:nvPicPr>
        <p:blipFill>
          <a:blip r:embed="rId3"/>
          <a:stretch>
            <a:fillRect/>
          </a:stretch>
        </p:blipFill>
        <p:spPr>
          <a:xfrm>
            <a:off x="4156287" y="967668"/>
            <a:ext cx="7633869" cy="5161201"/>
          </a:xfrm>
        </p:spPr>
      </p:pic>
      <p:sp>
        <p:nvSpPr>
          <p:cNvPr id="3" name="Rectangle 2">
            <a:extLst>
              <a:ext uri="{FF2B5EF4-FFF2-40B4-BE49-F238E27FC236}">
                <a16:creationId xmlns:a16="http://schemas.microsoft.com/office/drawing/2014/main" id="{1FA6F4F5-577F-21D0-0311-8FA5F10B5FCE}"/>
              </a:ext>
            </a:extLst>
          </p:cNvPr>
          <p:cNvSpPr/>
          <p:nvPr/>
        </p:nvSpPr>
        <p:spPr>
          <a:xfrm>
            <a:off x="4949687" y="4015409"/>
            <a:ext cx="2256183" cy="506895"/>
          </a:xfrm>
          <a:prstGeom prst="rect">
            <a:avLst/>
          </a:prstGeom>
          <a:noFill/>
          <a:ln w="28575">
            <a:solidFill>
              <a:schemeClr val="accent1">
                <a:lumMod val="60000"/>
                <a:lumOff val="40000"/>
              </a:schemeClr>
            </a:solid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1791271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5AE63-1764-1D03-B2D7-890262BCE039}"/>
              </a:ext>
            </a:extLst>
          </p:cNvPr>
          <p:cNvSpPr>
            <a:spLocks noGrp="1"/>
          </p:cNvSpPr>
          <p:nvPr>
            <p:ph type="title"/>
          </p:nvPr>
        </p:nvSpPr>
        <p:spPr/>
        <p:txBody>
          <a:bodyPr/>
          <a:lstStyle/>
          <a:p>
            <a:r>
              <a:rPr lang="en-US" altLang="zh-TW" dirty="0"/>
              <a:t>The Limitation of Clustering</a:t>
            </a:r>
            <a:endParaRPr lang="en-US" dirty="0"/>
          </a:p>
        </p:txBody>
      </p:sp>
      <p:sp>
        <p:nvSpPr>
          <p:cNvPr id="3" name="Content Placeholder 2">
            <a:extLst>
              <a:ext uri="{FF2B5EF4-FFF2-40B4-BE49-F238E27FC236}">
                <a16:creationId xmlns:a16="http://schemas.microsoft.com/office/drawing/2014/main" id="{E4CCA983-034A-9B13-EA28-4B5B7DC17E7A}"/>
              </a:ext>
            </a:extLst>
          </p:cNvPr>
          <p:cNvSpPr>
            <a:spLocks noGrp="1"/>
          </p:cNvSpPr>
          <p:nvPr>
            <p:ph idx="1"/>
          </p:nvPr>
        </p:nvSpPr>
        <p:spPr/>
        <p:txBody>
          <a:bodyPr/>
          <a:lstStyle/>
          <a:p>
            <a:r>
              <a:rPr lang="en-US" b="0" i="0" dirty="0">
                <a:solidFill>
                  <a:srgbClr val="374151"/>
                </a:solidFill>
                <a:effectLst/>
                <a:latin typeface="Söhne"/>
              </a:rPr>
              <a:t>Presumed Number of Groups</a:t>
            </a:r>
          </a:p>
          <a:p>
            <a:r>
              <a:rPr lang="en-US" b="0" i="0" dirty="0">
                <a:solidFill>
                  <a:srgbClr val="374151"/>
                </a:solidFill>
                <a:effectLst/>
                <a:latin typeface="Söhne"/>
              </a:rPr>
              <a:t>Non-linear Structures and Continuous Variation</a:t>
            </a:r>
            <a:endParaRPr lang="en-US" dirty="0">
              <a:solidFill>
                <a:srgbClr val="374151"/>
              </a:solidFill>
              <a:latin typeface="Söhne"/>
            </a:endParaRPr>
          </a:p>
          <a:p>
            <a:r>
              <a:rPr lang="en-US" b="0" i="0" dirty="0">
                <a:solidFill>
                  <a:srgbClr val="374151"/>
                </a:solidFill>
                <a:effectLst/>
                <a:latin typeface="Söhne"/>
              </a:rPr>
              <a:t>Sensitivity to Noise and Outliers</a:t>
            </a:r>
            <a:endParaRPr lang="en-US" dirty="0"/>
          </a:p>
        </p:txBody>
      </p:sp>
    </p:spTree>
    <p:extLst>
      <p:ext uri="{BB962C8B-B14F-4D97-AF65-F5344CB8AC3E}">
        <p14:creationId xmlns:p14="http://schemas.microsoft.com/office/powerpoint/2010/main" val="1151386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574814-4AC5-86BC-5DBC-25E9755C504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010F94A-CC87-4CFD-9C93-64BCE1844BCA}"/>
              </a:ext>
            </a:extLst>
          </p:cNvPr>
          <p:cNvPicPr>
            <a:picLocks noChangeAspect="1"/>
          </p:cNvPicPr>
          <p:nvPr/>
        </p:nvPicPr>
        <p:blipFill>
          <a:blip r:embed="rId3"/>
          <a:stretch>
            <a:fillRect/>
          </a:stretch>
        </p:blipFill>
        <p:spPr>
          <a:xfrm>
            <a:off x="158258" y="430484"/>
            <a:ext cx="11748820" cy="6062391"/>
          </a:xfrm>
          <a:prstGeom prst="rect">
            <a:avLst/>
          </a:prstGeom>
        </p:spPr>
      </p:pic>
    </p:spTree>
    <p:extLst>
      <p:ext uri="{BB962C8B-B14F-4D97-AF65-F5344CB8AC3E}">
        <p14:creationId xmlns:p14="http://schemas.microsoft.com/office/powerpoint/2010/main" val="2550113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AC6DC-3E4B-5FD3-3842-9F9FCFE60820}"/>
              </a:ext>
            </a:extLst>
          </p:cNvPr>
          <p:cNvSpPr>
            <a:spLocks noGrp="1"/>
          </p:cNvSpPr>
          <p:nvPr>
            <p:ph type="title"/>
          </p:nvPr>
        </p:nvSpPr>
        <p:spPr/>
        <p:txBody>
          <a:bodyPr/>
          <a:lstStyle/>
          <a:p>
            <a:r>
              <a:rPr lang="en-US" dirty="0"/>
              <a:t>This is what SIMBA want to ACHIEVE</a:t>
            </a:r>
          </a:p>
        </p:txBody>
      </p:sp>
      <p:sp>
        <p:nvSpPr>
          <p:cNvPr id="3" name="Content Placeholder 2">
            <a:extLst>
              <a:ext uri="{FF2B5EF4-FFF2-40B4-BE49-F238E27FC236}">
                <a16:creationId xmlns:a16="http://schemas.microsoft.com/office/drawing/2014/main" id="{414E03F7-2C8E-97C8-0BC5-81325601F3D8}"/>
              </a:ext>
            </a:extLst>
          </p:cNvPr>
          <p:cNvSpPr>
            <a:spLocks noGrp="1"/>
          </p:cNvSpPr>
          <p:nvPr>
            <p:ph idx="1"/>
          </p:nvPr>
        </p:nvSpPr>
        <p:spPr>
          <a:xfrm>
            <a:off x="838200" y="1825625"/>
            <a:ext cx="10814538" cy="4351338"/>
          </a:xfrm>
        </p:spPr>
        <p:txBody>
          <a:bodyPr/>
          <a:lstStyle/>
          <a:p>
            <a:pPr>
              <a:lnSpc>
                <a:spcPct val="150000"/>
              </a:lnSpc>
            </a:pPr>
            <a:r>
              <a:rPr lang="en-US" dirty="0">
                <a:effectLst/>
              </a:rPr>
              <a:t>An </a:t>
            </a:r>
            <a:r>
              <a:rPr lang="en-US" dirty="0">
                <a:solidFill>
                  <a:srgbClr val="FF0000"/>
                </a:solidFill>
                <a:effectLst/>
              </a:rPr>
              <a:t>clustering-free</a:t>
            </a:r>
            <a:r>
              <a:rPr lang="en-US" dirty="0">
                <a:effectLst/>
              </a:rPr>
              <a:t> approach</a:t>
            </a:r>
          </a:p>
          <a:p>
            <a:pPr>
              <a:lnSpc>
                <a:spcPct val="150000"/>
              </a:lnSpc>
            </a:pPr>
            <a:r>
              <a:rPr lang="en-US" dirty="0">
                <a:effectLst/>
              </a:rPr>
              <a:t>Building  the model considering </a:t>
            </a:r>
            <a:r>
              <a:rPr lang="en-US" dirty="0">
                <a:solidFill>
                  <a:srgbClr val="FF0000"/>
                </a:solidFill>
                <a:effectLst/>
              </a:rPr>
              <a:t>interactions</a:t>
            </a:r>
            <a:r>
              <a:rPr lang="en-US" dirty="0">
                <a:effectLst/>
              </a:rPr>
              <a:t> between different feature</a:t>
            </a:r>
          </a:p>
          <a:p>
            <a:endParaRPr lang="en-US" dirty="0"/>
          </a:p>
        </p:txBody>
      </p:sp>
      <p:sp>
        <p:nvSpPr>
          <p:cNvPr id="21" name="Arrow: Down 20">
            <a:extLst>
              <a:ext uri="{FF2B5EF4-FFF2-40B4-BE49-F238E27FC236}">
                <a16:creationId xmlns:a16="http://schemas.microsoft.com/office/drawing/2014/main" id="{5D98B7AA-A9FC-61A9-2DBC-AB937CC74DAC}"/>
              </a:ext>
            </a:extLst>
          </p:cNvPr>
          <p:cNvSpPr/>
          <p:nvPr/>
        </p:nvSpPr>
        <p:spPr>
          <a:xfrm>
            <a:off x="5049078" y="3697357"/>
            <a:ext cx="506896" cy="1043608"/>
          </a:xfrm>
          <a:prstGeom prst="downArrow">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09D2687-6C54-8CF2-E46F-B76935740E8D}"/>
              </a:ext>
            </a:extLst>
          </p:cNvPr>
          <p:cNvSpPr txBox="1"/>
          <p:nvPr/>
        </p:nvSpPr>
        <p:spPr>
          <a:xfrm>
            <a:off x="3268731" y="5196543"/>
            <a:ext cx="4574485" cy="523220"/>
          </a:xfrm>
          <a:prstGeom prst="rect">
            <a:avLst/>
          </a:prstGeom>
          <a:noFill/>
        </p:spPr>
        <p:txBody>
          <a:bodyPr wrap="square">
            <a:spAutoFit/>
          </a:bodyPr>
          <a:lstStyle/>
          <a:p>
            <a:r>
              <a:rPr lang="en-US" sz="2800" b="1" dirty="0">
                <a:ln w="0"/>
                <a:effectLst>
                  <a:outerShdw blurRad="38100" dist="19050" dir="2700000" algn="tl" rotWithShape="0">
                    <a:schemeClr val="dk1">
                      <a:alpha val="40000"/>
                    </a:schemeClr>
                  </a:outerShdw>
                </a:effectLst>
              </a:rPr>
              <a:t>A graph embedding method</a:t>
            </a:r>
          </a:p>
        </p:txBody>
      </p:sp>
    </p:spTree>
    <p:extLst>
      <p:ext uri="{BB962C8B-B14F-4D97-AF65-F5344CB8AC3E}">
        <p14:creationId xmlns:p14="http://schemas.microsoft.com/office/powerpoint/2010/main" val="302891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AC6DC-3E4B-5FD3-3842-9F9FCFE60820}"/>
              </a:ext>
            </a:extLst>
          </p:cNvPr>
          <p:cNvSpPr>
            <a:spLocks noGrp="1"/>
          </p:cNvSpPr>
          <p:nvPr>
            <p:ph type="title"/>
          </p:nvPr>
        </p:nvSpPr>
        <p:spPr/>
        <p:txBody>
          <a:bodyPr/>
          <a:lstStyle/>
          <a:p>
            <a:r>
              <a:rPr lang="en-US" dirty="0"/>
              <a:t>This is what SIMBA want to ACHIEVE</a:t>
            </a:r>
          </a:p>
        </p:txBody>
      </p:sp>
      <p:sp>
        <p:nvSpPr>
          <p:cNvPr id="6" name="Content Placeholder 2">
            <a:extLst>
              <a:ext uri="{FF2B5EF4-FFF2-40B4-BE49-F238E27FC236}">
                <a16:creationId xmlns:a16="http://schemas.microsoft.com/office/drawing/2014/main" id="{503464DC-13C2-CC29-0404-125764207662}"/>
              </a:ext>
            </a:extLst>
          </p:cNvPr>
          <p:cNvSpPr>
            <a:spLocks noGrp="1"/>
          </p:cNvSpPr>
          <p:nvPr>
            <p:ph idx="1"/>
          </p:nvPr>
        </p:nvSpPr>
        <p:spPr>
          <a:xfrm>
            <a:off x="838200" y="1825625"/>
            <a:ext cx="10515600" cy="4351338"/>
          </a:xfrm>
        </p:spPr>
        <p:txBody>
          <a:bodyPr/>
          <a:lstStyle/>
          <a:p>
            <a:r>
              <a:rPr lang="en-US" dirty="0"/>
              <a:t>A</a:t>
            </a:r>
            <a:r>
              <a:rPr lang="en-US" dirty="0">
                <a:solidFill>
                  <a:schemeClr val="accent1"/>
                </a:solidFill>
              </a:rPr>
              <a:t> </a:t>
            </a:r>
            <a:r>
              <a:rPr lang="en-US" dirty="0">
                <a:solidFill>
                  <a:srgbClr val="FF0000"/>
                </a:solidFill>
              </a:rPr>
              <a:t>graph embedding </a:t>
            </a:r>
            <a:r>
              <a:rPr lang="en-US" dirty="0"/>
              <a:t>method</a:t>
            </a:r>
          </a:p>
        </p:txBody>
      </p:sp>
      <p:sp>
        <p:nvSpPr>
          <p:cNvPr id="7" name="Rectangle 6">
            <a:extLst>
              <a:ext uri="{FF2B5EF4-FFF2-40B4-BE49-F238E27FC236}">
                <a16:creationId xmlns:a16="http://schemas.microsoft.com/office/drawing/2014/main" id="{0E0E5407-4F64-C40D-B7C3-7C6AA247A7ED}"/>
              </a:ext>
            </a:extLst>
          </p:cNvPr>
          <p:cNvSpPr/>
          <p:nvPr/>
        </p:nvSpPr>
        <p:spPr>
          <a:xfrm>
            <a:off x="1498351" y="3785164"/>
            <a:ext cx="192616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mRNA  (</a:t>
            </a:r>
            <a:r>
              <a:rPr lang="en-US" dirty="0" err="1">
                <a:solidFill>
                  <a:schemeClr val="tx1"/>
                </a:solidFill>
              </a:rPr>
              <a:t>scRNA</a:t>
            </a:r>
            <a:r>
              <a:rPr lang="en-US" dirty="0">
                <a:solidFill>
                  <a:schemeClr val="tx1"/>
                </a:solidFill>
              </a:rPr>
              <a:t>)</a:t>
            </a:r>
          </a:p>
        </p:txBody>
      </p:sp>
      <p:sp>
        <p:nvSpPr>
          <p:cNvPr id="8" name="Rectangle 7">
            <a:extLst>
              <a:ext uri="{FF2B5EF4-FFF2-40B4-BE49-F238E27FC236}">
                <a16:creationId xmlns:a16="http://schemas.microsoft.com/office/drawing/2014/main" id="{A041FA36-C0FF-2C48-54DE-CF9A7602000B}"/>
              </a:ext>
            </a:extLst>
          </p:cNvPr>
          <p:cNvSpPr/>
          <p:nvPr/>
        </p:nvSpPr>
        <p:spPr>
          <a:xfrm>
            <a:off x="933200" y="4376768"/>
            <a:ext cx="336745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Chromatin Accessibility (</a:t>
            </a:r>
            <a:r>
              <a:rPr lang="en-US" altLang="zh-TW" dirty="0" err="1">
                <a:solidFill>
                  <a:schemeClr val="tx1"/>
                </a:solidFill>
              </a:rPr>
              <a:t>scATAC</a:t>
            </a:r>
            <a:r>
              <a:rPr lang="en-US" altLang="zh-TW" dirty="0">
                <a:solidFill>
                  <a:schemeClr val="tx1"/>
                </a:solidFill>
              </a:rPr>
              <a:t>) </a:t>
            </a:r>
            <a:r>
              <a:rPr lang="en-US" dirty="0">
                <a:solidFill>
                  <a:schemeClr val="tx1"/>
                </a:solidFill>
              </a:rPr>
              <a:t> </a:t>
            </a:r>
          </a:p>
        </p:txBody>
      </p:sp>
      <p:sp>
        <p:nvSpPr>
          <p:cNvPr id="11" name="Rectangle 10">
            <a:extLst>
              <a:ext uri="{FF2B5EF4-FFF2-40B4-BE49-F238E27FC236}">
                <a16:creationId xmlns:a16="http://schemas.microsoft.com/office/drawing/2014/main" id="{88F014C1-2A81-3AB3-CF54-4C92AC155C85}"/>
              </a:ext>
            </a:extLst>
          </p:cNvPr>
          <p:cNvSpPr/>
          <p:nvPr/>
        </p:nvSpPr>
        <p:spPr>
          <a:xfrm>
            <a:off x="1343430" y="5694204"/>
            <a:ext cx="192616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DNA sequence</a:t>
            </a:r>
          </a:p>
        </p:txBody>
      </p:sp>
      <p:sp>
        <p:nvSpPr>
          <p:cNvPr id="12" name="Arrow: Right 11">
            <a:extLst>
              <a:ext uri="{FF2B5EF4-FFF2-40B4-BE49-F238E27FC236}">
                <a16:creationId xmlns:a16="http://schemas.microsoft.com/office/drawing/2014/main" id="{32AADA35-E82B-DC29-7B4F-41DA014348B9}"/>
              </a:ext>
            </a:extLst>
          </p:cNvPr>
          <p:cNvSpPr/>
          <p:nvPr/>
        </p:nvSpPr>
        <p:spPr>
          <a:xfrm>
            <a:off x="4801658" y="4382030"/>
            <a:ext cx="2963333" cy="4696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2AC6E69-0EBE-77A5-CA7E-891C1D2449DA}"/>
              </a:ext>
            </a:extLst>
          </p:cNvPr>
          <p:cNvSpPr/>
          <p:nvPr/>
        </p:nvSpPr>
        <p:spPr>
          <a:xfrm>
            <a:off x="8497360" y="3179763"/>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 name="Oval 13">
            <a:extLst>
              <a:ext uri="{FF2B5EF4-FFF2-40B4-BE49-F238E27FC236}">
                <a16:creationId xmlns:a16="http://schemas.microsoft.com/office/drawing/2014/main" id="{D2A918CA-4258-E4F1-6C58-262E53EBBB4D}"/>
              </a:ext>
            </a:extLst>
          </p:cNvPr>
          <p:cNvSpPr/>
          <p:nvPr/>
        </p:nvSpPr>
        <p:spPr>
          <a:xfrm>
            <a:off x="9293751" y="376052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4F0EC62-BB98-334A-BE19-5112529F0FF7}"/>
              </a:ext>
            </a:extLst>
          </p:cNvPr>
          <p:cNvSpPr/>
          <p:nvPr/>
        </p:nvSpPr>
        <p:spPr>
          <a:xfrm>
            <a:off x="9110662" y="456353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6144AF5-2E70-3C99-F83D-469BCD133751}"/>
              </a:ext>
            </a:extLst>
          </p:cNvPr>
          <p:cNvSpPr/>
          <p:nvPr/>
        </p:nvSpPr>
        <p:spPr>
          <a:xfrm>
            <a:off x="9466262" y="53900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03901A6-B8DF-6280-F554-AEB3275922CF}"/>
              </a:ext>
            </a:extLst>
          </p:cNvPr>
          <p:cNvSpPr/>
          <p:nvPr/>
        </p:nvSpPr>
        <p:spPr>
          <a:xfrm>
            <a:off x="10426169" y="4247093"/>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2C49C1F-CC42-FEAD-7501-15FBDF314D1D}"/>
              </a:ext>
            </a:extLst>
          </p:cNvPr>
          <p:cNvSpPr/>
          <p:nvPr/>
        </p:nvSpPr>
        <p:spPr>
          <a:xfrm>
            <a:off x="10453159" y="53392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CEEF4F9-E03A-4C56-F8B9-06914B25A96F}"/>
              </a:ext>
            </a:extLst>
          </p:cNvPr>
          <p:cNvSpPr/>
          <p:nvPr/>
        </p:nvSpPr>
        <p:spPr>
          <a:xfrm>
            <a:off x="8543398" y="2772306"/>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20" name="Straight Connector 19">
            <a:extLst>
              <a:ext uri="{FF2B5EF4-FFF2-40B4-BE49-F238E27FC236}">
                <a16:creationId xmlns:a16="http://schemas.microsoft.com/office/drawing/2014/main" id="{2CD383D2-3F1B-F752-6C15-F2A12F4AB33D}"/>
              </a:ext>
            </a:extLst>
          </p:cNvPr>
          <p:cNvCxnSpPr>
            <a:cxnSpLocks/>
            <a:endCxn id="15" idx="0"/>
          </p:cNvCxnSpPr>
          <p:nvPr/>
        </p:nvCxnSpPr>
        <p:spPr>
          <a:xfrm flipH="1">
            <a:off x="9196918" y="3938325"/>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AB358D0-5D6F-7AF3-877D-44B072831E04}"/>
              </a:ext>
            </a:extLst>
          </p:cNvPr>
          <p:cNvCxnSpPr>
            <a:cxnSpLocks/>
            <a:stCxn id="14" idx="4"/>
          </p:cNvCxnSpPr>
          <p:nvPr/>
        </p:nvCxnSpPr>
        <p:spPr>
          <a:xfrm>
            <a:off x="9380007" y="3938325"/>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9051F8D-67BD-93C7-8DC3-0CCAB55C2B8D}"/>
              </a:ext>
            </a:extLst>
          </p:cNvPr>
          <p:cNvCxnSpPr>
            <a:cxnSpLocks/>
            <a:endCxn id="17" idx="1"/>
          </p:cNvCxnSpPr>
          <p:nvPr/>
        </p:nvCxnSpPr>
        <p:spPr>
          <a:xfrm>
            <a:off x="9419958" y="3810202"/>
            <a:ext cx="1031475" cy="462929"/>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0FB1036-516B-5A5B-845F-1B9420A092E4}"/>
              </a:ext>
            </a:extLst>
          </p:cNvPr>
          <p:cNvSpPr/>
          <p:nvPr/>
        </p:nvSpPr>
        <p:spPr>
          <a:xfrm>
            <a:off x="1494772" y="4982169"/>
            <a:ext cx="1623484"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TF motif</a:t>
            </a:r>
            <a:endParaRPr lang="en-US" dirty="0">
              <a:solidFill>
                <a:schemeClr val="tx1"/>
              </a:solidFill>
            </a:endParaRPr>
          </a:p>
        </p:txBody>
      </p:sp>
      <p:sp>
        <p:nvSpPr>
          <p:cNvPr id="4" name="Rectangle 3">
            <a:extLst>
              <a:ext uri="{FF2B5EF4-FFF2-40B4-BE49-F238E27FC236}">
                <a16:creationId xmlns:a16="http://schemas.microsoft.com/office/drawing/2014/main" id="{DEA5D0B7-EAE5-5850-473E-321F859C58C9}"/>
              </a:ext>
            </a:extLst>
          </p:cNvPr>
          <p:cNvSpPr/>
          <p:nvPr/>
        </p:nvSpPr>
        <p:spPr>
          <a:xfrm>
            <a:off x="1192089" y="3179763"/>
            <a:ext cx="1926167" cy="29633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Cell</a:t>
            </a:r>
          </a:p>
        </p:txBody>
      </p:sp>
    </p:spTree>
    <p:extLst>
      <p:ext uri="{BB962C8B-B14F-4D97-AF65-F5344CB8AC3E}">
        <p14:creationId xmlns:p14="http://schemas.microsoft.com/office/powerpoint/2010/main" val="323227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arn(inVertical)">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3981763" y="2593344"/>
            <a:ext cx="4228474" cy="1671311"/>
          </a:xfrm>
        </p:spPr>
        <p:txBody>
          <a:bodyPr>
            <a:normAutofit/>
          </a:bodyPr>
          <a:lstStyle/>
          <a:p>
            <a:pPr algn="ctr"/>
            <a:r>
              <a:rPr lang="en-US" sz="6000" dirty="0"/>
              <a:t>Overview</a:t>
            </a:r>
          </a:p>
        </p:txBody>
      </p:sp>
    </p:spTree>
    <p:extLst>
      <p:ext uri="{BB962C8B-B14F-4D97-AF65-F5344CB8AC3E}">
        <p14:creationId xmlns:p14="http://schemas.microsoft.com/office/powerpoint/2010/main" val="1452500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650FA4-00FE-9FAF-0D8D-4A92B0A37EC9}"/>
              </a:ext>
            </a:extLst>
          </p:cNvPr>
          <p:cNvPicPr>
            <a:picLocks noChangeAspect="1"/>
          </p:cNvPicPr>
          <p:nvPr/>
        </p:nvPicPr>
        <p:blipFill>
          <a:blip r:embed="rId3"/>
          <a:stretch>
            <a:fillRect/>
          </a:stretch>
        </p:blipFill>
        <p:spPr>
          <a:xfrm>
            <a:off x="1319826" y="223894"/>
            <a:ext cx="9552347" cy="6634106"/>
          </a:xfrm>
          <a:prstGeom prst="rect">
            <a:avLst/>
          </a:prstGeom>
        </p:spPr>
      </p:pic>
    </p:spTree>
    <p:extLst>
      <p:ext uri="{BB962C8B-B14F-4D97-AF65-F5344CB8AC3E}">
        <p14:creationId xmlns:p14="http://schemas.microsoft.com/office/powerpoint/2010/main" val="1791410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3981763" y="2593344"/>
            <a:ext cx="4228474" cy="1671311"/>
          </a:xfrm>
        </p:spPr>
        <p:txBody>
          <a:bodyPr>
            <a:normAutofit/>
          </a:bodyPr>
          <a:lstStyle/>
          <a:p>
            <a:pPr algn="ctr"/>
            <a:r>
              <a:rPr lang="en-US" sz="6000" dirty="0"/>
              <a:t>Results</a:t>
            </a:r>
          </a:p>
        </p:txBody>
      </p:sp>
    </p:spTree>
    <p:extLst>
      <p:ext uri="{BB962C8B-B14F-4D97-AF65-F5344CB8AC3E}">
        <p14:creationId xmlns:p14="http://schemas.microsoft.com/office/powerpoint/2010/main" val="47228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0" y="0"/>
            <a:ext cx="2718061"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159425" y="2527300"/>
            <a:ext cx="2764364"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Single-cell </a:t>
            </a:r>
          </a:p>
          <a:p>
            <a:pPr algn="ctr"/>
            <a:r>
              <a:rPr lang="en-US" sz="2800" dirty="0">
                <a:solidFill>
                  <a:schemeClr val="tx1"/>
                </a:solidFill>
              </a:rPr>
              <a:t>RNA-seq </a:t>
            </a:r>
          </a:p>
          <a:p>
            <a:pPr algn="ctr"/>
            <a:r>
              <a:rPr lang="en-US" sz="2800" dirty="0">
                <a:solidFill>
                  <a:schemeClr val="tx1"/>
                </a:solidFill>
              </a:rPr>
              <a:t>analysis</a:t>
            </a:r>
          </a:p>
        </p:txBody>
      </p:sp>
      <p:sp>
        <p:nvSpPr>
          <p:cNvPr id="4" name="Rectangle 3">
            <a:extLst>
              <a:ext uri="{FF2B5EF4-FFF2-40B4-BE49-F238E27FC236}">
                <a16:creationId xmlns:a16="http://schemas.microsoft.com/office/drawing/2014/main" id="{AB50607C-D90C-8385-7F82-47608504619B}"/>
              </a:ext>
            </a:extLst>
          </p:cNvPr>
          <p:cNvSpPr/>
          <p:nvPr/>
        </p:nvSpPr>
        <p:spPr>
          <a:xfrm>
            <a:off x="76461" y="6445742"/>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10x Genomics PBMCs</a:t>
            </a:r>
          </a:p>
        </p:txBody>
      </p:sp>
      <p:pic>
        <p:nvPicPr>
          <p:cNvPr id="10" name="Picture 9">
            <a:extLst>
              <a:ext uri="{FF2B5EF4-FFF2-40B4-BE49-F238E27FC236}">
                <a16:creationId xmlns:a16="http://schemas.microsoft.com/office/drawing/2014/main" id="{673885F3-3B48-5FD6-AFA6-17E3153C2BA7}"/>
              </a:ext>
            </a:extLst>
          </p:cNvPr>
          <p:cNvPicPr>
            <a:picLocks noChangeAspect="1"/>
          </p:cNvPicPr>
          <p:nvPr/>
        </p:nvPicPr>
        <p:blipFill rotWithShape="1">
          <a:blip r:embed="rId3"/>
          <a:srcRect t="24058"/>
          <a:stretch/>
        </p:blipFill>
        <p:spPr>
          <a:xfrm>
            <a:off x="2843616" y="204241"/>
            <a:ext cx="9271923" cy="6537834"/>
          </a:xfrm>
          <a:prstGeom prst="rect">
            <a:avLst/>
          </a:prstGeom>
        </p:spPr>
      </p:pic>
    </p:spTree>
    <p:extLst>
      <p:ext uri="{BB962C8B-B14F-4D97-AF65-F5344CB8AC3E}">
        <p14:creationId xmlns:p14="http://schemas.microsoft.com/office/powerpoint/2010/main" val="1302511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EEF2533-08D0-765E-CA48-D4861382F4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4497" y="2428416"/>
            <a:ext cx="7835348" cy="435331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A04A3BB2-5B6B-DABC-6CE6-25C6631703FB}"/>
              </a:ext>
            </a:extLst>
          </p:cNvPr>
          <p:cNvPicPr>
            <a:picLocks noChangeAspect="1"/>
          </p:cNvPicPr>
          <p:nvPr/>
        </p:nvPicPr>
        <p:blipFill rotWithShape="1">
          <a:blip r:embed="rId4"/>
          <a:srcRect t="23579" r="51520" b="50287"/>
          <a:stretch/>
        </p:blipFill>
        <p:spPr>
          <a:xfrm>
            <a:off x="617852" y="440786"/>
            <a:ext cx="5970167" cy="2988213"/>
          </a:xfrm>
          <a:prstGeom prst="rect">
            <a:avLst/>
          </a:prstGeom>
        </p:spPr>
      </p:pic>
      <p:sp>
        <p:nvSpPr>
          <p:cNvPr id="6" name="Rectangle: Rounded Corners 5">
            <a:extLst>
              <a:ext uri="{FF2B5EF4-FFF2-40B4-BE49-F238E27FC236}">
                <a16:creationId xmlns:a16="http://schemas.microsoft.com/office/drawing/2014/main" id="{2CC79EA7-35E2-E1AF-B3E8-579ED7546896}"/>
              </a:ext>
            </a:extLst>
          </p:cNvPr>
          <p:cNvSpPr/>
          <p:nvPr/>
        </p:nvSpPr>
        <p:spPr>
          <a:xfrm>
            <a:off x="1186523" y="4850295"/>
            <a:ext cx="1391478" cy="56653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Seurat</a:t>
            </a:r>
            <a:endParaRPr lang="en-US" sz="2800" dirty="0">
              <a:solidFill>
                <a:schemeClr val="tx1"/>
              </a:solidFill>
            </a:endParaRPr>
          </a:p>
        </p:txBody>
      </p:sp>
      <p:sp>
        <p:nvSpPr>
          <p:cNvPr id="7" name="Rectangle: Rounded Corners 6">
            <a:extLst>
              <a:ext uri="{FF2B5EF4-FFF2-40B4-BE49-F238E27FC236}">
                <a16:creationId xmlns:a16="http://schemas.microsoft.com/office/drawing/2014/main" id="{F080D254-D792-9D9A-9271-152C0988F6C6}"/>
              </a:ext>
            </a:extLst>
          </p:cNvPr>
          <p:cNvSpPr/>
          <p:nvPr/>
        </p:nvSpPr>
        <p:spPr>
          <a:xfrm>
            <a:off x="7688762" y="1511242"/>
            <a:ext cx="3885386" cy="84729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SIMBA can do great work on “cell type”</a:t>
            </a:r>
            <a:endParaRPr lang="en-US" sz="2800" dirty="0">
              <a:solidFill>
                <a:schemeClr val="tx1"/>
              </a:solidFill>
            </a:endParaRPr>
          </a:p>
        </p:txBody>
      </p:sp>
      <p:sp>
        <p:nvSpPr>
          <p:cNvPr id="8" name="Arrow: Right 7">
            <a:extLst>
              <a:ext uri="{FF2B5EF4-FFF2-40B4-BE49-F238E27FC236}">
                <a16:creationId xmlns:a16="http://schemas.microsoft.com/office/drawing/2014/main" id="{3B62F990-2EF3-EFF3-F73F-0E5947DBF9CC}"/>
              </a:ext>
            </a:extLst>
          </p:cNvPr>
          <p:cNvSpPr/>
          <p:nvPr/>
        </p:nvSpPr>
        <p:spPr>
          <a:xfrm>
            <a:off x="2749105" y="5009322"/>
            <a:ext cx="745435" cy="248478"/>
          </a:xfrm>
          <a:prstGeom prst="rightArrow">
            <a:avLst/>
          </a:prstGeom>
          <a:solidFill>
            <a:schemeClr val="bg2">
              <a:lumMod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7A30D7B0-F1F1-BB0A-BCF1-DD0D6097C190}"/>
              </a:ext>
            </a:extLst>
          </p:cNvPr>
          <p:cNvSpPr/>
          <p:nvPr/>
        </p:nvSpPr>
        <p:spPr>
          <a:xfrm rot="10800000">
            <a:off x="6721882" y="1810652"/>
            <a:ext cx="745435" cy="248478"/>
          </a:xfrm>
          <a:prstGeom prst="rightArrow">
            <a:avLst/>
          </a:prstGeom>
          <a:solidFill>
            <a:schemeClr val="bg2">
              <a:lumMod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6735D15-78E0-650D-47F9-AA2C4ECC486D}"/>
              </a:ext>
            </a:extLst>
          </p:cNvPr>
          <p:cNvSpPr txBox="1"/>
          <p:nvPr/>
        </p:nvSpPr>
        <p:spPr>
          <a:xfrm>
            <a:off x="0" y="6550223"/>
            <a:ext cx="4498759" cy="307777"/>
          </a:xfrm>
          <a:prstGeom prst="rect">
            <a:avLst/>
          </a:prstGeom>
          <a:noFill/>
        </p:spPr>
        <p:txBody>
          <a:bodyPr wrap="square">
            <a:spAutoFit/>
          </a:bodyPr>
          <a:lstStyle/>
          <a:p>
            <a:r>
              <a:rPr lang="en-US" sz="1400" dirty="0"/>
              <a:t>https://satijalab.org/seurat/articles/pbmc3k_tutorial.html</a:t>
            </a:r>
          </a:p>
        </p:txBody>
      </p:sp>
    </p:spTree>
    <p:extLst>
      <p:ext uri="{BB962C8B-B14F-4D97-AF65-F5344CB8AC3E}">
        <p14:creationId xmlns:p14="http://schemas.microsoft.com/office/powerpoint/2010/main" val="2433560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4A3BB2-5B6B-DABC-6CE6-25C6631703FB}"/>
              </a:ext>
            </a:extLst>
          </p:cNvPr>
          <p:cNvPicPr>
            <a:picLocks noChangeAspect="1"/>
          </p:cNvPicPr>
          <p:nvPr/>
        </p:nvPicPr>
        <p:blipFill rotWithShape="1">
          <a:blip r:embed="rId3"/>
          <a:srcRect t="23579" r="51520" b="50287"/>
          <a:stretch/>
        </p:blipFill>
        <p:spPr>
          <a:xfrm>
            <a:off x="617852" y="440786"/>
            <a:ext cx="5970167" cy="2988213"/>
          </a:xfrm>
          <a:prstGeom prst="rect">
            <a:avLst/>
          </a:prstGeom>
        </p:spPr>
      </p:pic>
      <p:sp>
        <p:nvSpPr>
          <p:cNvPr id="6" name="Rectangle: Rounded Corners 5">
            <a:extLst>
              <a:ext uri="{FF2B5EF4-FFF2-40B4-BE49-F238E27FC236}">
                <a16:creationId xmlns:a16="http://schemas.microsoft.com/office/drawing/2014/main" id="{2CC79EA7-35E2-E1AF-B3E8-579ED7546896}"/>
              </a:ext>
            </a:extLst>
          </p:cNvPr>
          <p:cNvSpPr/>
          <p:nvPr/>
        </p:nvSpPr>
        <p:spPr>
          <a:xfrm>
            <a:off x="2090110" y="4860234"/>
            <a:ext cx="1391478" cy="56653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SCENIC</a:t>
            </a:r>
            <a:endParaRPr lang="en-US" sz="2800" dirty="0">
              <a:solidFill>
                <a:schemeClr val="tx1"/>
              </a:solidFill>
            </a:endParaRPr>
          </a:p>
        </p:txBody>
      </p:sp>
      <p:sp>
        <p:nvSpPr>
          <p:cNvPr id="7" name="Rectangle: Rounded Corners 6">
            <a:extLst>
              <a:ext uri="{FF2B5EF4-FFF2-40B4-BE49-F238E27FC236}">
                <a16:creationId xmlns:a16="http://schemas.microsoft.com/office/drawing/2014/main" id="{F080D254-D792-9D9A-9271-152C0988F6C6}"/>
              </a:ext>
            </a:extLst>
          </p:cNvPr>
          <p:cNvSpPr/>
          <p:nvPr/>
        </p:nvSpPr>
        <p:spPr>
          <a:xfrm>
            <a:off x="7678822" y="1651625"/>
            <a:ext cx="3462943" cy="56653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SIMBA can do great work on “cell type”</a:t>
            </a:r>
            <a:endParaRPr lang="en-US" sz="2800" dirty="0">
              <a:solidFill>
                <a:schemeClr val="tx1"/>
              </a:solidFill>
            </a:endParaRPr>
          </a:p>
        </p:txBody>
      </p:sp>
      <p:sp>
        <p:nvSpPr>
          <p:cNvPr id="8" name="Arrow: Right 7">
            <a:extLst>
              <a:ext uri="{FF2B5EF4-FFF2-40B4-BE49-F238E27FC236}">
                <a16:creationId xmlns:a16="http://schemas.microsoft.com/office/drawing/2014/main" id="{3B62F990-2EF3-EFF3-F73F-0E5947DBF9CC}"/>
              </a:ext>
            </a:extLst>
          </p:cNvPr>
          <p:cNvSpPr/>
          <p:nvPr/>
        </p:nvSpPr>
        <p:spPr>
          <a:xfrm>
            <a:off x="3652692" y="5019261"/>
            <a:ext cx="745435" cy="248478"/>
          </a:xfrm>
          <a:prstGeom prst="rightArrow">
            <a:avLst/>
          </a:prstGeom>
          <a:solidFill>
            <a:schemeClr val="bg2">
              <a:lumMod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7A30D7B0-F1F1-BB0A-BCF1-DD0D6097C190}"/>
              </a:ext>
            </a:extLst>
          </p:cNvPr>
          <p:cNvSpPr/>
          <p:nvPr/>
        </p:nvSpPr>
        <p:spPr>
          <a:xfrm rot="10800000">
            <a:off x="6721882" y="1810652"/>
            <a:ext cx="745435" cy="248478"/>
          </a:xfrm>
          <a:prstGeom prst="rightArrow">
            <a:avLst/>
          </a:prstGeom>
          <a:solidFill>
            <a:schemeClr val="bg2">
              <a:lumMod val="5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2" name="Picture 4">
            <a:extLst>
              <a:ext uri="{FF2B5EF4-FFF2-40B4-BE49-F238E27FC236}">
                <a16:creationId xmlns:a16="http://schemas.microsoft.com/office/drawing/2014/main" id="{40FFCA5D-618A-DB20-B989-0D1C524738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0385" y="3118070"/>
            <a:ext cx="5654154" cy="373993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6D9955D-CE09-6346-C751-B8DC143AAD19}"/>
              </a:ext>
            </a:extLst>
          </p:cNvPr>
          <p:cNvSpPr txBox="1"/>
          <p:nvPr/>
        </p:nvSpPr>
        <p:spPr>
          <a:xfrm>
            <a:off x="0" y="6581001"/>
            <a:ext cx="6190696" cy="276999"/>
          </a:xfrm>
          <a:prstGeom prst="rect">
            <a:avLst/>
          </a:prstGeom>
          <a:noFill/>
        </p:spPr>
        <p:txBody>
          <a:bodyPr wrap="square">
            <a:spAutoFit/>
          </a:bodyPr>
          <a:lstStyle/>
          <a:p>
            <a:r>
              <a:rPr lang="en-US" sz="1200" dirty="0"/>
              <a:t>https://scenicplus.readthedocs.io/en/latest/pbmc_multiome_tutorial.html#Cell-type-annotation</a:t>
            </a:r>
          </a:p>
        </p:txBody>
      </p:sp>
    </p:spTree>
    <p:extLst>
      <p:ext uri="{BB962C8B-B14F-4D97-AF65-F5344CB8AC3E}">
        <p14:creationId xmlns:p14="http://schemas.microsoft.com/office/powerpoint/2010/main" val="2071936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73885F3-3B48-5FD6-AFA6-17E3153C2BA7}"/>
              </a:ext>
            </a:extLst>
          </p:cNvPr>
          <p:cNvPicPr>
            <a:picLocks noChangeAspect="1"/>
          </p:cNvPicPr>
          <p:nvPr/>
        </p:nvPicPr>
        <p:blipFill rotWithShape="1">
          <a:blip r:embed="rId3"/>
          <a:srcRect t="49329" r="45811" b="22005"/>
          <a:stretch/>
        </p:blipFill>
        <p:spPr>
          <a:xfrm>
            <a:off x="624727" y="275492"/>
            <a:ext cx="7238053" cy="3555241"/>
          </a:xfrm>
          <a:prstGeom prst="rect">
            <a:avLst/>
          </a:prstGeom>
        </p:spPr>
      </p:pic>
      <p:pic>
        <p:nvPicPr>
          <p:cNvPr id="3" name="Picture 2">
            <a:extLst>
              <a:ext uri="{FF2B5EF4-FFF2-40B4-BE49-F238E27FC236}">
                <a16:creationId xmlns:a16="http://schemas.microsoft.com/office/drawing/2014/main" id="{B902E8C8-B358-97F7-99A1-1E852586B3B4}"/>
              </a:ext>
            </a:extLst>
          </p:cNvPr>
          <p:cNvPicPr>
            <a:picLocks noChangeAspect="1"/>
          </p:cNvPicPr>
          <p:nvPr/>
        </p:nvPicPr>
        <p:blipFill rotWithShape="1">
          <a:blip r:embed="rId3"/>
          <a:srcRect l="20435" t="78159"/>
          <a:stretch/>
        </p:blipFill>
        <p:spPr>
          <a:xfrm>
            <a:off x="1371601" y="4085493"/>
            <a:ext cx="9198871" cy="2344615"/>
          </a:xfrm>
          <a:prstGeom prst="rect">
            <a:avLst/>
          </a:prstGeom>
        </p:spPr>
      </p:pic>
      <p:sp>
        <p:nvSpPr>
          <p:cNvPr id="5" name="Rectangle: Rounded Corners 4">
            <a:extLst>
              <a:ext uri="{FF2B5EF4-FFF2-40B4-BE49-F238E27FC236}">
                <a16:creationId xmlns:a16="http://schemas.microsoft.com/office/drawing/2014/main" id="{2E8501C2-4738-AA79-491D-2DD61C8E0584}"/>
              </a:ext>
            </a:extLst>
          </p:cNvPr>
          <p:cNvSpPr/>
          <p:nvPr/>
        </p:nvSpPr>
        <p:spPr>
          <a:xfrm>
            <a:off x="8446734" y="1769846"/>
            <a:ext cx="2272295" cy="56653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0" i="0" dirty="0">
                <a:solidFill>
                  <a:srgbClr val="222222"/>
                </a:solidFill>
                <a:effectLst/>
                <a:latin typeface="Harding"/>
              </a:rPr>
              <a:t>barcode plots</a:t>
            </a:r>
            <a:endParaRPr lang="en-US" sz="2800" dirty="0">
              <a:solidFill>
                <a:schemeClr val="tx1"/>
              </a:solidFill>
            </a:endParaRPr>
          </a:p>
        </p:txBody>
      </p:sp>
    </p:spTree>
    <p:extLst>
      <p:ext uri="{BB962C8B-B14F-4D97-AF65-F5344CB8AC3E}">
        <p14:creationId xmlns:p14="http://schemas.microsoft.com/office/powerpoint/2010/main" val="1837654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1" y="0"/>
            <a:ext cx="2236303"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334664" y="2317750"/>
            <a:ext cx="1566976"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Single-cell ATAC-seq analysis</a:t>
            </a:r>
          </a:p>
        </p:txBody>
      </p:sp>
      <p:sp>
        <p:nvSpPr>
          <p:cNvPr id="4" name="Rectangle 3">
            <a:extLst>
              <a:ext uri="{FF2B5EF4-FFF2-40B4-BE49-F238E27FC236}">
                <a16:creationId xmlns:a16="http://schemas.microsoft.com/office/drawing/2014/main" id="{0A5BC295-0C03-7A0F-6AA1-1913CA668CA6}"/>
              </a:ext>
            </a:extLst>
          </p:cNvPr>
          <p:cNvSpPr/>
          <p:nvPr/>
        </p:nvSpPr>
        <p:spPr>
          <a:xfrm>
            <a:off x="-202648" y="6359001"/>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a:t>
            </a:r>
          </a:p>
          <a:p>
            <a:pPr algn="ctr"/>
            <a:r>
              <a:rPr lang="en-US" sz="1400" dirty="0">
                <a:solidFill>
                  <a:schemeClr val="tx1"/>
                </a:solidFill>
              </a:rPr>
              <a:t>human hematopoiesis</a:t>
            </a:r>
          </a:p>
        </p:txBody>
      </p:sp>
      <p:pic>
        <p:nvPicPr>
          <p:cNvPr id="2" name="Picture 1">
            <a:extLst>
              <a:ext uri="{FF2B5EF4-FFF2-40B4-BE49-F238E27FC236}">
                <a16:creationId xmlns:a16="http://schemas.microsoft.com/office/drawing/2014/main" id="{EBEA3510-1569-4598-F9FF-A2FB6C08BB5C}"/>
              </a:ext>
            </a:extLst>
          </p:cNvPr>
          <p:cNvPicPr>
            <a:picLocks noChangeAspect="1"/>
          </p:cNvPicPr>
          <p:nvPr/>
        </p:nvPicPr>
        <p:blipFill rotWithShape="1">
          <a:blip r:embed="rId3"/>
          <a:srcRect t="22894"/>
          <a:stretch/>
        </p:blipFill>
        <p:spPr>
          <a:xfrm>
            <a:off x="2470052" y="61383"/>
            <a:ext cx="9662681" cy="6735233"/>
          </a:xfrm>
          <a:prstGeom prst="rect">
            <a:avLst/>
          </a:prstGeom>
        </p:spPr>
      </p:pic>
    </p:spTree>
    <p:extLst>
      <p:ext uri="{BB962C8B-B14F-4D97-AF65-F5344CB8AC3E}">
        <p14:creationId xmlns:p14="http://schemas.microsoft.com/office/powerpoint/2010/main" val="4155959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5BC295-0C03-7A0F-6AA1-1913CA668CA6}"/>
              </a:ext>
            </a:extLst>
          </p:cNvPr>
          <p:cNvSpPr/>
          <p:nvPr/>
        </p:nvSpPr>
        <p:spPr>
          <a:xfrm>
            <a:off x="-202648" y="6359001"/>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a:t>
            </a:r>
          </a:p>
          <a:p>
            <a:pPr algn="ctr"/>
            <a:r>
              <a:rPr lang="en-US" sz="1400" dirty="0">
                <a:solidFill>
                  <a:schemeClr val="tx1"/>
                </a:solidFill>
              </a:rPr>
              <a:t>human hematopoiesis</a:t>
            </a:r>
          </a:p>
        </p:txBody>
      </p:sp>
      <p:pic>
        <p:nvPicPr>
          <p:cNvPr id="2" name="Picture 1">
            <a:extLst>
              <a:ext uri="{FF2B5EF4-FFF2-40B4-BE49-F238E27FC236}">
                <a16:creationId xmlns:a16="http://schemas.microsoft.com/office/drawing/2014/main" id="{EBEA3510-1569-4598-F9FF-A2FB6C08BB5C}"/>
              </a:ext>
            </a:extLst>
          </p:cNvPr>
          <p:cNvPicPr>
            <a:picLocks noChangeAspect="1"/>
          </p:cNvPicPr>
          <p:nvPr/>
        </p:nvPicPr>
        <p:blipFill rotWithShape="1">
          <a:blip r:embed="rId3"/>
          <a:srcRect t="22894" r="66303" b="54331"/>
          <a:stretch/>
        </p:blipFill>
        <p:spPr>
          <a:xfrm>
            <a:off x="359627" y="1394902"/>
            <a:ext cx="6309812" cy="3855131"/>
          </a:xfrm>
          <a:prstGeom prst="rect">
            <a:avLst/>
          </a:prstGeom>
        </p:spPr>
      </p:pic>
      <p:pic>
        <p:nvPicPr>
          <p:cNvPr id="9" name="Picture 8">
            <a:extLst>
              <a:ext uri="{FF2B5EF4-FFF2-40B4-BE49-F238E27FC236}">
                <a16:creationId xmlns:a16="http://schemas.microsoft.com/office/drawing/2014/main" id="{E997E312-4D37-F3A7-0BF4-283E68339803}"/>
              </a:ext>
            </a:extLst>
          </p:cNvPr>
          <p:cNvPicPr>
            <a:picLocks noChangeAspect="1"/>
          </p:cNvPicPr>
          <p:nvPr/>
        </p:nvPicPr>
        <p:blipFill>
          <a:blip r:embed="rId4"/>
          <a:stretch>
            <a:fillRect/>
          </a:stretch>
        </p:blipFill>
        <p:spPr>
          <a:xfrm>
            <a:off x="7068105" y="1036468"/>
            <a:ext cx="4572000" cy="4572000"/>
          </a:xfrm>
          <a:prstGeom prst="rect">
            <a:avLst/>
          </a:prstGeom>
        </p:spPr>
      </p:pic>
    </p:spTree>
    <p:extLst>
      <p:ext uri="{BB962C8B-B14F-4D97-AF65-F5344CB8AC3E}">
        <p14:creationId xmlns:p14="http://schemas.microsoft.com/office/powerpoint/2010/main" val="188596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2920F8-37E3-9022-5C2F-8BD074C6A67B}"/>
              </a:ext>
            </a:extLst>
          </p:cNvPr>
          <p:cNvPicPr>
            <a:picLocks noChangeAspect="1"/>
          </p:cNvPicPr>
          <p:nvPr/>
        </p:nvPicPr>
        <p:blipFill rotWithShape="1">
          <a:blip r:embed="rId3"/>
          <a:srcRect l="42680" t="22894" b="27907"/>
          <a:stretch/>
        </p:blipFill>
        <p:spPr>
          <a:xfrm>
            <a:off x="1761571" y="205578"/>
            <a:ext cx="8308552" cy="6446843"/>
          </a:xfrm>
          <a:prstGeom prst="rect">
            <a:avLst/>
          </a:prstGeom>
        </p:spPr>
      </p:pic>
    </p:spTree>
    <p:extLst>
      <p:ext uri="{BB962C8B-B14F-4D97-AF65-F5344CB8AC3E}">
        <p14:creationId xmlns:p14="http://schemas.microsoft.com/office/powerpoint/2010/main" val="841625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5BC295-0C03-7A0F-6AA1-1913CA668CA6}"/>
              </a:ext>
            </a:extLst>
          </p:cNvPr>
          <p:cNvSpPr/>
          <p:nvPr/>
        </p:nvSpPr>
        <p:spPr>
          <a:xfrm>
            <a:off x="59267" y="6438900"/>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human hematopoiesis</a:t>
            </a:r>
          </a:p>
        </p:txBody>
      </p:sp>
      <p:pic>
        <p:nvPicPr>
          <p:cNvPr id="3" name="Picture 2">
            <a:extLst>
              <a:ext uri="{FF2B5EF4-FFF2-40B4-BE49-F238E27FC236}">
                <a16:creationId xmlns:a16="http://schemas.microsoft.com/office/drawing/2014/main" id="{5CD0C0DE-B4DF-6976-5F53-07671A27A735}"/>
              </a:ext>
            </a:extLst>
          </p:cNvPr>
          <p:cNvPicPr>
            <a:picLocks noChangeAspect="1"/>
          </p:cNvPicPr>
          <p:nvPr/>
        </p:nvPicPr>
        <p:blipFill rotWithShape="1">
          <a:blip r:embed="rId3"/>
          <a:srcRect l="46693" b="76905"/>
          <a:stretch/>
        </p:blipFill>
        <p:spPr>
          <a:xfrm>
            <a:off x="1380067" y="1936446"/>
            <a:ext cx="8945179" cy="3503377"/>
          </a:xfrm>
          <a:prstGeom prst="rect">
            <a:avLst/>
          </a:prstGeom>
        </p:spPr>
      </p:pic>
      <p:sp>
        <p:nvSpPr>
          <p:cNvPr id="5" name="Title 1">
            <a:extLst>
              <a:ext uri="{FF2B5EF4-FFF2-40B4-BE49-F238E27FC236}">
                <a16:creationId xmlns:a16="http://schemas.microsoft.com/office/drawing/2014/main" id="{FFC2D1CF-306F-B47A-5E47-71859CF7A0FF}"/>
              </a:ext>
            </a:extLst>
          </p:cNvPr>
          <p:cNvSpPr>
            <a:spLocks noGrp="1"/>
          </p:cNvSpPr>
          <p:nvPr>
            <p:ph type="title"/>
          </p:nvPr>
        </p:nvSpPr>
        <p:spPr>
          <a:xfrm>
            <a:off x="334664" y="252412"/>
            <a:ext cx="9451019" cy="1325563"/>
          </a:xfrm>
        </p:spPr>
        <p:txBody>
          <a:bodyPr>
            <a:normAutofit/>
          </a:bodyPr>
          <a:lstStyle/>
          <a:p>
            <a:r>
              <a:rPr lang="en-US" sz="3200" b="0" i="0" dirty="0">
                <a:solidFill>
                  <a:srgbClr val="222222"/>
                </a:solidFill>
                <a:effectLst/>
                <a:latin typeface="Harding"/>
              </a:rPr>
              <a:t>SIMBA </a:t>
            </a:r>
            <a:r>
              <a:rPr lang="zh-TW" altLang="en-US" sz="3200" b="0" i="0" dirty="0">
                <a:solidFill>
                  <a:srgbClr val="222222"/>
                </a:solidFill>
                <a:effectLst/>
                <a:latin typeface="Harding"/>
              </a:rPr>
              <a:t>指標（最大值和</a:t>
            </a:r>
            <a:r>
              <a:rPr lang="en-US" sz="3200" b="0" i="0" dirty="0">
                <a:solidFill>
                  <a:srgbClr val="222222"/>
                </a:solidFill>
                <a:effectLst/>
                <a:latin typeface="Harding"/>
              </a:rPr>
              <a:t>Gini</a:t>
            </a:r>
            <a:r>
              <a:rPr lang="zh-TW" altLang="en-US" sz="3200" b="0" i="0" dirty="0">
                <a:solidFill>
                  <a:srgbClr val="222222"/>
                </a:solidFill>
                <a:effectLst/>
                <a:latin typeface="Harding"/>
              </a:rPr>
              <a:t>指數得分）</a:t>
            </a:r>
            <a:endParaRPr lang="en-US" sz="3200" dirty="0"/>
          </a:p>
        </p:txBody>
      </p:sp>
    </p:spTree>
    <p:extLst>
      <p:ext uri="{BB962C8B-B14F-4D97-AF65-F5344CB8AC3E}">
        <p14:creationId xmlns:p14="http://schemas.microsoft.com/office/powerpoint/2010/main" val="956216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0" y="0"/>
            <a:ext cx="3242733"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9957" y="2027678"/>
            <a:ext cx="2764364"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 Multimodal analysis</a:t>
            </a:r>
          </a:p>
        </p:txBody>
      </p:sp>
      <p:sp>
        <p:nvSpPr>
          <p:cNvPr id="4" name="Rectangle 3">
            <a:extLst>
              <a:ext uri="{FF2B5EF4-FFF2-40B4-BE49-F238E27FC236}">
                <a16:creationId xmlns:a16="http://schemas.microsoft.com/office/drawing/2014/main" id="{AB50607C-D90C-8385-7F82-47608504619B}"/>
              </a:ext>
            </a:extLst>
          </p:cNvPr>
          <p:cNvSpPr/>
          <p:nvPr/>
        </p:nvSpPr>
        <p:spPr>
          <a:xfrm>
            <a:off x="132721" y="6445742"/>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SHARE-seq hair follicle</a:t>
            </a:r>
          </a:p>
        </p:txBody>
      </p:sp>
      <p:pic>
        <p:nvPicPr>
          <p:cNvPr id="5" name="Picture 4">
            <a:extLst>
              <a:ext uri="{FF2B5EF4-FFF2-40B4-BE49-F238E27FC236}">
                <a16:creationId xmlns:a16="http://schemas.microsoft.com/office/drawing/2014/main" id="{C6342A0D-3CA6-D844-A81E-DC4FEF25AA73}"/>
              </a:ext>
            </a:extLst>
          </p:cNvPr>
          <p:cNvPicPr>
            <a:picLocks noChangeAspect="1"/>
          </p:cNvPicPr>
          <p:nvPr/>
        </p:nvPicPr>
        <p:blipFill>
          <a:blip r:embed="rId3"/>
          <a:stretch>
            <a:fillRect/>
          </a:stretch>
        </p:blipFill>
        <p:spPr>
          <a:xfrm>
            <a:off x="3851202" y="226975"/>
            <a:ext cx="7904325" cy="6366934"/>
          </a:xfrm>
          <a:prstGeom prst="rect">
            <a:avLst/>
          </a:prstGeom>
        </p:spPr>
      </p:pic>
    </p:spTree>
    <p:extLst>
      <p:ext uri="{BB962C8B-B14F-4D97-AF65-F5344CB8AC3E}">
        <p14:creationId xmlns:p14="http://schemas.microsoft.com/office/powerpoint/2010/main" val="865402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342A0D-3CA6-D844-A81E-DC4FEF25AA73}"/>
              </a:ext>
            </a:extLst>
          </p:cNvPr>
          <p:cNvPicPr>
            <a:picLocks noChangeAspect="1"/>
          </p:cNvPicPr>
          <p:nvPr/>
        </p:nvPicPr>
        <p:blipFill rotWithShape="1">
          <a:blip r:embed="rId3"/>
          <a:srcRect t="29481" r="56176" b="31944"/>
          <a:stretch/>
        </p:blipFill>
        <p:spPr>
          <a:xfrm>
            <a:off x="1721506" y="513529"/>
            <a:ext cx="8410465" cy="5963157"/>
          </a:xfrm>
          <a:prstGeom prst="rect">
            <a:avLst/>
          </a:prstGeom>
        </p:spPr>
      </p:pic>
    </p:spTree>
    <p:extLst>
      <p:ext uri="{BB962C8B-B14F-4D97-AF65-F5344CB8AC3E}">
        <p14:creationId xmlns:p14="http://schemas.microsoft.com/office/powerpoint/2010/main" val="3189340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DB2AB4-1D49-4C11-0B51-AE8B8DA12377}"/>
              </a:ext>
            </a:extLst>
          </p:cNvPr>
          <p:cNvPicPr>
            <a:picLocks noChangeAspect="1"/>
          </p:cNvPicPr>
          <p:nvPr/>
        </p:nvPicPr>
        <p:blipFill rotWithShape="1">
          <a:blip r:embed="rId3"/>
          <a:srcRect t="67943" r="56176"/>
          <a:stretch/>
        </p:blipFill>
        <p:spPr>
          <a:xfrm>
            <a:off x="1912663" y="964099"/>
            <a:ext cx="8366673" cy="4929801"/>
          </a:xfrm>
          <a:prstGeom prst="rect">
            <a:avLst/>
          </a:prstGeom>
        </p:spPr>
      </p:pic>
    </p:spTree>
    <p:extLst>
      <p:ext uri="{BB962C8B-B14F-4D97-AF65-F5344CB8AC3E}">
        <p14:creationId xmlns:p14="http://schemas.microsoft.com/office/powerpoint/2010/main" val="2850301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B1B855-2CF3-1342-B59C-C5CD54523447}"/>
              </a:ext>
            </a:extLst>
          </p:cNvPr>
          <p:cNvPicPr>
            <a:picLocks noChangeAspect="1"/>
          </p:cNvPicPr>
          <p:nvPr/>
        </p:nvPicPr>
        <p:blipFill rotWithShape="1">
          <a:blip r:embed="rId3"/>
          <a:srcRect l="43938" t="68649" r="223" b="291"/>
          <a:stretch/>
        </p:blipFill>
        <p:spPr>
          <a:xfrm>
            <a:off x="3720930" y="1839104"/>
            <a:ext cx="8066170" cy="3614058"/>
          </a:xfrm>
          <a:prstGeom prst="rect">
            <a:avLst/>
          </a:prstGeom>
        </p:spPr>
      </p:pic>
      <p:pic>
        <p:nvPicPr>
          <p:cNvPr id="3" name="Picture 2">
            <a:extLst>
              <a:ext uri="{FF2B5EF4-FFF2-40B4-BE49-F238E27FC236}">
                <a16:creationId xmlns:a16="http://schemas.microsoft.com/office/drawing/2014/main" id="{39C327B7-5877-3F10-2B4B-616AE3ADAC0B}"/>
              </a:ext>
            </a:extLst>
          </p:cNvPr>
          <p:cNvPicPr>
            <a:picLocks noChangeAspect="1"/>
          </p:cNvPicPr>
          <p:nvPr/>
        </p:nvPicPr>
        <p:blipFill rotWithShape="1">
          <a:blip r:embed="rId3"/>
          <a:srcRect l="43938" t="29330" r="223" b="30879"/>
          <a:stretch/>
        </p:blipFill>
        <p:spPr>
          <a:xfrm>
            <a:off x="295852" y="1457523"/>
            <a:ext cx="7625624" cy="4377220"/>
          </a:xfrm>
          <a:prstGeom prst="rect">
            <a:avLst/>
          </a:prstGeom>
        </p:spPr>
      </p:pic>
    </p:spTree>
    <p:extLst>
      <p:ext uri="{BB962C8B-B14F-4D97-AF65-F5344CB8AC3E}">
        <p14:creationId xmlns:p14="http://schemas.microsoft.com/office/powerpoint/2010/main" val="1885993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50607C-D90C-8385-7F82-47608504619B}"/>
              </a:ext>
            </a:extLst>
          </p:cNvPr>
          <p:cNvSpPr/>
          <p:nvPr/>
        </p:nvSpPr>
        <p:spPr>
          <a:xfrm>
            <a:off x="132721" y="6445742"/>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SHARE-seq hair follicle</a:t>
            </a:r>
          </a:p>
        </p:txBody>
      </p:sp>
      <p:pic>
        <p:nvPicPr>
          <p:cNvPr id="5" name="Picture 4">
            <a:extLst>
              <a:ext uri="{FF2B5EF4-FFF2-40B4-BE49-F238E27FC236}">
                <a16:creationId xmlns:a16="http://schemas.microsoft.com/office/drawing/2014/main" id="{C6342A0D-3CA6-D844-A81E-DC4FEF25AA73}"/>
              </a:ext>
            </a:extLst>
          </p:cNvPr>
          <p:cNvPicPr>
            <a:picLocks noChangeAspect="1"/>
          </p:cNvPicPr>
          <p:nvPr/>
        </p:nvPicPr>
        <p:blipFill rotWithShape="1">
          <a:blip r:embed="rId2"/>
          <a:srcRect l="41129" b="70519"/>
          <a:stretch/>
        </p:blipFill>
        <p:spPr>
          <a:xfrm>
            <a:off x="1535834" y="1793992"/>
            <a:ext cx="8955840" cy="3612507"/>
          </a:xfrm>
          <a:prstGeom prst="rect">
            <a:avLst/>
          </a:prstGeom>
        </p:spPr>
      </p:pic>
      <p:sp>
        <p:nvSpPr>
          <p:cNvPr id="2" name="Title 1">
            <a:extLst>
              <a:ext uri="{FF2B5EF4-FFF2-40B4-BE49-F238E27FC236}">
                <a16:creationId xmlns:a16="http://schemas.microsoft.com/office/drawing/2014/main" id="{24DB447A-C1B7-A5AF-BC7D-70BDD50907C0}"/>
              </a:ext>
            </a:extLst>
          </p:cNvPr>
          <p:cNvSpPr>
            <a:spLocks noGrp="1"/>
          </p:cNvSpPr>
          <p:nvPr>
            <p:ph type="title"/>
          </p:nvPr>
        </p:nvSpPr>
        <p:spPr>
          <a:xfrm>
            <a:off x="334664" y="252412"/>
            <a:ext cx="9451019" cy="1325563"/>
          </a:xfrm>
        </p:spPr>
        <p:txBody>
          <a:bodyPr>
            <a:normAutofit/>
          </a:bodyPr>
          <a:lstStyle/>
          <a:p>
            <a:r>
              <a:rPr lang="en-US" sz="3200" b="0" i="0" dirty="0">
                <a:solidFill>
                  <a:srgbClr val="222222"/>
                </a:solidFill>
                <a:effectLst/>
                <a:latin typeface="Harding"/>
              </a:rPr>
              <a:t>SIMBA</a:t>
            </a:r>
            <a:r>
              <a:rPr lang="zh-TW" altLang="en-US" sz="3200" b="0" i="0" dirty="0">
                <a:solidFill>
                  <a:srgbClr val="222222"/>
                </a:solidFill>
                <a:effectLst/>
                <a:latin typeface="Harding"/>
              </a:rPr>
              <a:t>指標（最大值和</a:t>
            </a:r>
            <a:r>
              <a:rPr lang="en-US" sz="3200" b="0" i="0" dirty="0">
                <a:solidFill>
                  <a:srgbClr val="222222"/>
                </a:solidFill>
                <a:effectLst/>
                <a:latin typeface="Harding"/>
              </a:rPr>
              <a:t>Gini</a:t>
            </a:r>
            <a:r>
              <a:rPr lang="zh-TW" altLang="en-US" sz="3200" b="0" i="0" dirty="0">
                <a:solidFill>
                  <a:srgbClr val="222222"/>
                </a:solidFill>
                <a:effectLst/>
                <a:latin typeface="Harding"/>
              </a:rPr>
              <a:t>指數得分）</a:t>
            </a:r>
            <a:endParaRPr lang="en-US" sz="3200" dirty="0"/>
          </a:p>
        </p:txBody>
      </p:sp>
    </p:spTree>
    <p:extLst>
      <p:ext uri="{BB962C8B-B14F-4D97-AF65-F5344CB8AC3E}">
        <p14:creationId xmlns:p14="http://schemas.microsoft.com/office/powerpoint/2010/main" val="1023893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1" y="-65988"/>
            <a:ext cx="2366127" cy="692398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202143" y="2542116"/>
            <a:ext cx="2000248" cy="1773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Batch correction analysis</a:t>
            </a:r>
          </a:p>
        </p:txBody>
      </p:sp>
      <p:sp>
        <p:nvSpPr>
          <p:cNvPr id="4" name="Rectangle 3">
            <a:extLst>
              <a:ext uri="{FF2B5EF4-FFF2-40B4-BE49-F238E27FC236}">
                <a16:creationId xmlns:a16="http://schemas.microsoft.com/office/drawing/2014/main" id="{0A5BC295-0C03-7A0F-6AA1-1913CA668CA6}"/>
              </a:ext>
            </a:extLst>
          </p:cNvPr>
          <p:cNvSpPr/>
          <p:nvPr/>
        </p:nvSpPr>
        <p:spPr>
          <a:xfrm>
            <a:off x="-118533" y="6489701"/>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a:t>
            </a:r>
            <a:r>
              <a:rPr lang="en-US" sz="1400" dirty="0" err="1">
                <a:solidFill>
                  <a:schemeClr val="tx1"/>
                </a:solidFill>
              </a:rPr>
              <a:t>scRNA</a:t>
            </a:r>
            <a:r>
              <a:rPr lang="en-US" sz="1400" dirty="0">
                <a:solidFill>
                  <a:schemeClr val="tx1"/>
                </a:solidFill>
              </a:rPr>
              <a:t>-seq data</a:t>
            </a:r>
          </a:p>
        </p:txBody>
      </p:sp>
      <p:pic>
        <p:nvPicPr>
          <p:cNvPr id="5" name="Picture 4">
            <a:extLst>
              <a:ext uri="{FF2B5EF4-FFF2-40B4-BE49-F238E27FC236}">
                <a16:creationId xmlns:a16="http://schemas.microsoft.com/office/drawing/2014/main" id="{51CE9773-1BCB-E0CC-CB31-179402E2D985}"/>
              </a:ext>
            </a:extLst>
          </p:cNvPr>
          <p:cNvPicPr>
            <a:picLocks noChangeAspect="1"/>
          </p:cNvPicPr>
          <p:nvPr/>
        </p:nvPicPr>
        <p:blipFill rotWithShape="1">
          <a:blip r:embed="rId3"/>
          <a:srcRect t="34009" r="41427"/>
          <a:stretch/>
        </p:blipFill>
        <p:spPr>
          <a:xfrm>
            <a:off x="3097741" y="272975"/>
            <a:ext cx="8116891" cy="6364892"/>
          </a:xfrm>
          <a:prstGeom prst="rect">
            <a:avLst/>
          </a:prstGeom>
        </p:spPr>
      </p:pic>
    </p:spTree>
    <p:extLst>
      <p:ext uri="{BB962C8B-B14F-4D97-AF65-F5344CB8AC3E}">
        <p14:creationId xmlns:p14="http://schemas.microsoft.com/office/powerpoint/2010/main" val="3044385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1" y="-65988"/>
            <a:ext cx="2366127" cy="692398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202143" y="2542116"/>
            <a:ext cx="2000248" cy="1773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Batch correction analysis</a:t>
            </a:r>
          </a:p>
        </p:txBody>
      </p:sp>
      <p:sp>
        <p:nvSpPr>
          <p:cNvPr id="4" name="Rectangle 3">
            <a:extLst>
              <a:ext uri="{FF2B5EF4-FFF2-40B4-BE49-F238E27FC236}">
                <a16:creationId xmlns:a16="http://schemas.microsoft.com/office/drawing/2014/main" id="{0A5BC295-0C03-7A0F-6AA1-1913CA668CA6}"/>
              </a:ext>
            </a:extLst>
          </p:cNvPr>
          <p:cNvSpPr/>
          <p:nvPr/>
        </p:nvSpPr>
        <p:spPr>
          <a:xfrm>
            <a:off x="-118533" y="6489701"/>
            <a:ext cx="2641600"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Dataset:  </a:t>
            </a:r>
            <a:r>
              <a:rPr lang="en-US" sz="1400" dirty="0" err="1">
                <a:solidFill>
                  <a:schemeClr val="tx1"/>
                </a:solidFill>
              </a:rPr>
              <a:t>scRNA</a:t>
            </a:r>
            <a:r>
              <a:rPr lang="en-US" sz="1400" dirty="0">
                <a:solidFill>
                  <a:schemeClr val="tx1"/>
                </a:solidFill>
              </a:rPr>
              <a:t>-seq data</a:t>
            </a:r>
          </a:p>
        </p:txBody>
      </p:sp>
      <p:pic>
        <p:nvPicPr>
          <p:cNvPr id="5" name="Picture 4">
            <a:extLst>
              <a:ext uri="{FF2B5EF4-FFF2-40B4-BE49-F238E27FC236}">
                <a16:creationId xmlns:a16="http://schemas.microsoft.com/office/drawing/2014/main" id="{51CE9773-1BCB-E0CC-CB31-179402E2D985}"/>
              </a:ext>
            </a:extLst>
          </p:cNvPr>
          <p:cNvPicPr>
            <a:picLocks noChangeAspect="1"/>
          </p:cNvPicPr>
          <p:nvPr/>
        </p:nvPicPr>
        <p:blipFill rotWithShape="1">
          <a:blip r:embed="rId3"/>
          <a:srcRect l="58572" t="34009"/>
          <a:stretch/>
        </p:blipFill>
        <p:spPr>
          <a:xfrm>
            <a:off x="4109154" y="350136"/>
            <a:ext cx="5554134" cy="6157726"/>
          </a:xfrm>
          <a:prstGeom prst="rect">
            <a:avLst/>
          </a:prstGeom>
        </p:spPr>
      </p:pic>
    </p:spTree>
    <p:extLst>
      <p:ext uri="{BB962C8B-B14F-4D97-AF65-F5344CB8AC3E}">
        <p14:creationId xmlns:p14="http://schemas.microsoft.com/office/powerpoint/2010/main" val="2045659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525983-D752-B925-E3B3-3975FD597AA1}"/>
              </a:ext>
            </a:extLst>
          </p:cNvPr>
          <p:cNvSpPr/>
          <p:nvPr/>
        </p:nvSpPr>
        <p:spPr>
          <a:xfrm>
            <a:off x="0" y="0"/>
            <a:ext cx="2462431"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5D4BD70-A9DC-B82A-D594-0566EF2BE3A6}"/>
              </a:ext>
            </a:extLst>
          </p:cNvPr>
          <p:cNvSpPr/>
          <p:nvPr/>
        </p:nvSpPr>
        <p:spPr>
          <a:xfrm>
            <a:off x="119591" y="2527300"/>
            <a:ext cx="2342840" cy="1803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Multi-omics integration</a:t>
            </a:r>
          </a:p>
        </p:txBody>
      </p:sp>
      <p:pic>
        <p:nvPicPr>
          <p:cNvPr id="3" name="Picture 2">
            <a:extLst>
              <a:ext uri="{FF2B5EF4-FFF2-40B4-BE49-F238E27FC236}">
                <a16:creationId xmlns:a16="http://schemas.microsoft.com/office/drawing/2014/main" id="{4909CF60-2068-A1CC-336F-2F23BA644A31}"/>
              </a:ext>
            </a:extLst>
          </p:cNvPr>
          <p:cNvPicPr>
            <a:picLocks noChangeAspect="1"/>
          </p:cNvPicPr>
          <p:nvPr/>
        </p:nvPicPr>
        <p:blipFill rotWithShape="1">
          <a:blip r:embed="rId3"/>
          <a:srcRect t="34885" r="43075"/>
          <a:stretch/>
        </p:blipFill>
        <p:spPr>
          <a:xfrm>
            <a:off x="3763187" y="582529"/>
            <a:ext cx="6480271" cy="5692942"/>
          </a:xfrm>
          <a:prstGeom prst="rect">
            <a:avLst/>
          </a:prstGeom>
        </p:spPr>
      </p:pic>
    </p:spTree>
    <p:extLst>
      <p:ext uri="{BB962C8B-B14F-4D97-AF65-F5344CB8AC3E}">
        <p14:creationId xmlns:p14="http://schemas.microsoft.com/office/powerpoint/2010/main" val="3092121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a:bodyPr>
          <a:lstStyle/>
          <a:p>
            <a:r>
              <a:rPr lang="en-US" sz="6000" dirty="0"/>
              <a:t>Methods</a:t>
            </a:r>
          </a:p>
        </p:txBody>
      </p:sp>
      <p:sp>
        <p:nvSpPr>
          <p:cNvPr id="3" name="Title 1">
            <a:extLst>
              <a:ext uri="{FF2B5EF4-FFF2-40B4-BE49-F238E27FC236}">
                <a16:creationId xmlns:a16="http://schemas.microsoft.com/office/drawing/2014/main" id="{FAB96295-CD61-534B-A8DB-5B2F990BD3D4}"/>
              </a:ext>
            </a:extLst>
          </p:cNvPr>
          <p:cNvSpPr txBox="1">
            <a:spLocks/>
          </p:cNvSpPr>
          <p:nvPr/>
        </p:nvSpPr>
        <p:spPr>
          <a:xfrm>
            <a:off x="3879542" y="3429000"/>
            <a:ext cx="3400148" cy="1551373"/>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1. Preprocessing </a:t>
            </a:r>
          </a:p>
          <a:p>
            <a:pPr algn="ctr">
              <a:lnSpc>
                <a:spcPct val="150000"/>
              </a:lnSpc>
            </a:pPr>
            <a:r>
              <a:rPr lang="en-US" sz="3200" dirty="0"/>
              <a:t>2. Graph Construction</a:t>
            </a:r>
          </a:p>
          <a:p>
            <a:pPr algn="ctr">
              <a:lnSpc>
                <a:spcPct val="150000"/>
              </a:lnSpc>
            </a:pPr>
            <a:r>
              <a:rPr lang="en-US" sz="3200" dirty="0"/>
              <a:t>3. SIMBA Embedding</a:t>
            </a:r>
          </a:p>
        </p:txBody>
      </p:sp>
    </p:spTree>
    <p:extLst>
      <p:ext uri="{BB962C8B-B14F-4D97-AF65-F5344CB8AC3E}">
        <p14:creationId xmlns:p14="http://schemas.microsoft.com/office/powerpoint/2010/main" val="122466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a:bodyPr>
          <a:lstStyle/>
          <a:p>
            <a:r>
              <a:rPr lang="en-US" sz="6000" dirty="0"/>
              <a:t>Methods</a:t>
            </a:r>
          </a:p>
        </p:txBody>
      </p:sp>
      <p:sp>
        <p:nvSpPr>
          <p:cNvPr id="3" name="Title 1">
            <a:extLst>
              <a:ext uri="{FF2B5EF4-FFF2-40B4-BE49-F238E27FC236}">
                <a16:creationId xmlns:a16="http://schemas.microsoft.com/office/drawing/2014/main" id="{FAB96295-CD61-534B-A8DB-5B2F990BD3D4}"/>
              </a:ext>
            </a:extLst>
          </p:cNvPr>
          <p:cNvSpPr txBox="1">
            <a:spLocks/>
          </p:cNvSpPr>
          <p:nvPr/>
        </p:nvSpPr>
        <p:spPr>
          <a:xfrm>
            <a:off x="3879542" y="3429000"/>
            <a:ext cx="3400148" cy="1551373"/>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1. Preprocessing </a:t>
            </a:r>
          </a:p>
          <a:p>
            <a:pPr algn="ctr">
              <a:lnSpc>
                <a:spcPct val="150000"/>
              </a:lnSpc>
            </a:pPr>
            <a:r>
              <a:rPr lang="en-US" sz="3200" dirty="0"/>
              <a:t>2. Graph Construction</a:t>
            </a:r>
          </a:p>
          <a:p>
            <a:pPr algn="ctr">
              <a:lnSpc>
                <a:spcPct val="150000"/>
              </a:lnSpc>
            </a:pPr>
            <a:r>
              <a:rPr lang="en-US" sz="3200" dirty="0">
                <a:solidFill>
                  <a:schemeClr val="bg1">
                    <a:lumMod val="75000"/>
                  </a:schemeClr>
                </a:solidFill>
              </a:rPr>
              <a:t>3. SIMBA Embedding</a:t>
            </a:r>
          </a:p>
        </p:txBody>
      </p:sp>
    </p:spTree>
    <p:extLst>
      <p:ext uri="{BB962C8B-B14F-4D97-AF65-F5344CB8AC3E}">
        <p14:creationId xmlns:p14="http://schemas.microsoft.com/office/powerpoint/2010/main" val="1902928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507D-6182-0AAD-C296-DFC9B7A3DABE}"/>
              </a:ext>
            </a:extLst>
          </p:cNvPr>
          <p:cNvSpPr>
            <a:spLocks noGrp="1"/>
          </p:cNvSpPr>
          <p:nvPr>
            <p:ph type="title"/>
          </p:nvPr>
        </p:nvSpPr>
        <p:spPr>
          <a:xfrm>
            <a:off x="838200" y="365125"/>
            <a:ext cx="8418922" cy="1325563"/>
          </a:xfrm>
        </p:spPr>
        <p:txBody>
          <a:bodyPr/>
          <a:lstStyle/>
          <a:p>
            <a:r>
              <a:rPr lang="en-US" dirty="0"/>
              <a:t>Single-cell RNA seq Analysis</a:t>
            </a:r>
          </a:p>
        </p:txBody>
      </p:sp>
      <p:pic>
        <p:nvPicPr>
          <p:cNvPr id="4" name="Content Placeholder 3">
            <a:extLst>
              <a:ext uri="{FF2B5EF4-FFF2-40B4-BE49-F238E27FC236}">
                <a16:creationId xmlns:a16="http://schemas.microsoft.com/office/drawing/2014/main" id="{3033B7B3-85FE-C9CD-44FF-2268C5448D77}"/>
              </a:ext>
            </a:extLst>
          </p:cNvPr>
          <p:cNvPicPr>
            <a:picLocks noGrp="1" noChangeAspect="1"/>
          </p:cNvPicPr>
          <p:nvPr>
            <p:ph idx="1"/>
          </p:nvPr>
        </p:nvPicPr>
        <p:blipFill rotWithShape="1">
          <a:blip r:embed="rId3"/>
          <a:srcRect b="75880"/>
          <a:stretch/>
        </p:blipFill>
        <p:spPr>
          <a:xfrm>
            <a:off x="285463" y="2077329"/>
            <a:ext cx="12070870" cy="2703341"/>
          </a:xfrm>
          <a:prstGeom prst="rect">
            <a:avLst/>
          </a:prstGeom>
        </p:spPr>
      </p:pic>
      <p:sp>
        <p:nvSpPr>
          <p:cNvPr id="3" name="Rectangle 2">
            <a:extLst>
              <a:ext uri="{FF2B5EF4-FFF2-40B4-BE49-F238E27FC236}">
                <a16:creationId xmlns:a16="http://schemas.microsoft.com/office/drawing/2014/main" id="{F6FEF716-9C84-9EA1-9F91-A8B1E1653FB0}"/>
              </a:ext>
            </a:extLst>
          </p:cNvPr>
          <p:cNvSpPr/>
          <p:nvPr/>
        </p:nvSpPr>
        <p:spPr>
          <a:xfrm>
            <a:off x="1669398" y="5167311"/>
            <a:ext cx="3902697"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sp>
        <p:nvSpPr>
          <p:cNvPr id="5" name="Rectangle 4">
            <a:extLst>
              <a:ext uri="{FF2B5EF4-FFF2-40B4-BE49-F238E27FC236}">
                <a16:creationId xmlns:a16="http://schemas.microsoft.com/office/drawing/2014/main" id="{6DE96067-39B7-3375-5539-65DCC869500A}"/>
              </a:ext>
            </a:extLst>
          </p:cNvPr>
          <p:cNvSpPr/>
          <p:nvPr/>
        </p:nvSpPr>
        <p:spPr>
          <a:xfrm>
            <a:off x="7783727" y="5167311"/>
            <a:ext cx="1872447"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p:txBody>
      </p:sp>
      <p:sp>
        <p:nvSpPr>
          <p:cNvPr id="6" name="Rectangle 5">
            <a:extLst>
              <a:ext uri="{FF2B5EF4-FFF2-40B4-BE49-F238E27FC236}">
                <a16:creationId xmlns:a16="http://schemas.microsoft.com/office/drawing/2014/main" id="{A7FCBB52-9B3C-34B4-9DC6-2824623A49C6}"/>
              </a:ext>
            </a:extLst>
          </p:cNvPr>
          <p:cNvSpPr/>
          <p:nvPr/>
        </p:nvSpPr>
        <p:spPr>
          <a:xfrm>
            <a:off x="4666660" y="3743664"/>
            <a:ext cx="905435"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K-means</a:t>
            </a:r>
          </a:p>
        </p:txBody>
      </p:sp>
      <p:sp>
        <p:nvSpPr>
          <p:cNvPr id="7" name="Rectangle 6">
            <a:extLst>
              <a:ext uri="{FF2B5EF4-FFF2-40B4-BE49-F238E27FC236}">
                <a16:creationId xmlns:a16="http://schemas.microsoft.com/office/drawing/2014/main" id="{8CE15E04-319D-A361-A9C6-86EAF327DF48}"/>
              </a:ext>
            </a:extLst>
          </p:cNvPr>
          <p:cNvSpPr/>
          <p:nvPr/>
        </p:nvSpPr>
        <p:spPr>
          <a:xfrm>
            <a:off x="1382527" y="5928501"/>
            <a:ext cx="905435"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Filtering</a:t>
            </a:r>
          </a:p>
        </p:txBody>
      </p:sp>
      <p:sp>
        <p:nvSpPr>
          <p:cNvPr id="8" name="Rectangle 7">
            <a:extLst>
              <a:ext uri="{FF2B5EF4-FFF2-40B4-BE49-F238E27FC236}">
                <a16:creationId xmlns:a16="http://schemas.microsoft.com/office/drawing/2014/main" id="{61A8FD4D-386A-B585-13B4-CEB9A339DA4D}"/>
              </a:ext>
            </a:extLst>
          </p:cNvPr>
          <p:cNvSpPr/>
          <p:nvPr/>
        </p:nvSpPr>
        <p:spPr>
          <a:xfrm>
            <a:off x="2428440" y="5931316"/>
            <a:ext cx="1467440" cy="176479"/>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Normalization</a:t>
            </a:r>
          </a:p>
        </p:txBody>
      </p:sp>
      <p:sp>
        <p:nvSpPr>
          <p:cNvPr id="10" name="Rectangle 9">
            <a:extLst>
              <a:ext uri="{FF2B5EF4-FFF2-40B4-BE49-F238E27FC236}">
                <a16:creationId xmlns:a16="http://schemas.microsoft.com/office/drawing/2014/main" id="{BCCED95E-BFE2-5B39-9928-39E6C598A01D}"/>
              </a:ext>
            </a:extLst>
          </p:cNvPr>
          <p:cNvSpPr/>
          <p:nvPr/>
        </p:nvSpPr>
        <p:spPr>
          <a:xfrm>
            <a:off x="4036358" y="5944217"/>
            <a:ext cx="2068932" cy="158411"/>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Variable gene selection</a:t>
            </a:r>
          </a:p>
        </p:txBody>
      </p:sp>
      <p:sp>
        <p:nvSpPr>
          <p:cNvPr id="12" name="Rectangle 11">
            <a:extLst>
              <a:ext uri="{FF2B5EF4-FFF2-40B4-BE49-F238E27FC236}">
                <a16:creationId xmlns:a16="http://schemas.microsoft.com/office/drawing/2014/main" id="{A744763C-CAB0-E4CB-28CD-4F8060FB1B5D}"/>
              </a:ext>
            </a:extLst>
          </p:cNvPr>
          <p:cNvSpPr/>
          <p:nvPr/>
        </p:nvSpPr>
        <p:spPr>
          <a:xfrm>
            <a:off x="9954939" y="5167311"/>
            <a:ext cx="197752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Tree>
    <p:extLst>
      <p:ext uri="{BB962C8B-B14F-4D97-AF65-F5344CB8AC3E}">
        <p14:creationId xmlns:p14="http://schemas.microsoft.com/office/powerpoint/2010/main" val="10959405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507D-6182-0AAD-C296-DFC9B7A3DABE}"/>
              </a:ext>
            </a:extLst>
          </p:cNvPr>
          <p:cNvSpPr>
            <a:spLocks noGrp="1"/>
          </p:cNvSpPr>
          <p:nvPr>
            <p:ph type="title"/>
          </p:nvPr>
        </p:nvSpPr>
        <p:spPr>
          <a:xfrm>
            <a:off x="838199" y="365125"/>
            <a:ext cx="10549379" cy="1325563"/>
          </a:xfrm>
        </p:spPr>
        <p:txBody>
          <a:bodyPr>
            <a:normAutofit/>
          </a:bodyPr>
          <a:lstStyle/>
          <a:p>
            <a:r>
              <a:rPr lang="en-US" sz="4400" dirty="0">
                <a:solidFill>
                  <a:schemeClr val="tx1"/>
                </a:solidFill>
              </a:rPr>
              <a:t>Single-cell ATAC-seq analysis</a:t>
            </a:r>
            <a:endParaRPr lang="en-US" dirty="0"/>
          </a:p>
        </p:txBody>
      </p:sp>
      <p:sp>
        <p:nvSpPr>
          <p:cNvPr id="3" name="Rectangle 2">
            <a:extLst>
              <a:ext uri="{FF2B5EF4-FFF2-40B4-BE49-F238E27FC236}">
                <a16:creationId xmlns:a16="http://schemas.microsoft.com/office/drawing/2014/main" id="{F6FEF716-9C84-9EA1-9F91-A8B1E1653FB0}"/>
              </a:ext>
            </a:extLst>
          </p:cNvPr>
          <p:cNvSpPr/>
          <p:nvPr/>
        </p:nvSpPr>
        <p:spPr>
          <a:xfrm>
            <a:off x="1894394" y="5429839"/>
            <a:ext cx="3902697"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sp>
        <p:nvSpPr>
          <p:cNvPr id="5" name="Rectangle 4">
            <a:extLst>
              <a:ext uri="{FF2B5EF4-FFF2-40B4-BE49-F238E27FC236}">
                <a16:creationId xmlns:a16="http://schemas.microsoft.com/office/drawing/2014/main" id="{6DE96067-39B7-3375-5539-65DCC869500A}"/>
              </a:ext>
            </a:extLst>
          </p:cNvPr>
          <p:cNvSpPr/>
          <p:nvPr/>
        </p:nvSpPr>
        <p:spPr>
          <a:xfrm>
            <a:off x="6122498" y="5429839"/>
            <a:ext cx="1868445"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p:txBody>
      </p:sp>
      <p:pic>
        <p:nvPicPr>
          <p:cNvPr id="8" name="Picture 7">
            <a:extLst>
              <a:ext uri="{FF2B5EF4-FFF2-40B4-BE49-F238E27FC236}">
                <a16:creationId xmlns:a16="http://schemas.microsoft.com/office/drawing/2014/main" id="{6678A85D-601B-5D15-F6BC-8EE8CC996406}"/>
              </a:ext>
            </a:extLst>
          </p:cNvPr>
          <p:cNvPicPr>
            <a:picLocks noChangeAspect="1"/>
          </p:cNvPicPr>
          <p:nvPr/>
        </p:nvPicPr>
        <p:blipFill rotWithShape="1">
          <a:blip r:embed="rId3"/>
          <a:srcRect r="52882" b="78145"/>
          <a:stretch/>
        </p:blipFill>
        <p:spPr>
          <a:xfrm>
            <a:off x="1894393" y="1596632"/>
            <a:ext cx="8456211" cy="3545735"/>
          </a:xfrm>
          <a:prstGeom prst="rect">
            <a:avLst/>
          </a:prstGeom>
        </p:spPr>
      </p:pic>
      <p:sp>
        <p:nvSpPr>
          <p:cNvPr id="4" name="Rectangle 3">
            <a:extLst>
              <a:ext uri="{FF2B5EF4-FFF2-40B4-BE49-F238E27FC236}">
                <a16:creationId xmlns:a16="http://schemas.microsoft.com/office/drawing/2014/main" id="{DFEF46D5-9AD9-A0B6-7752-09294BB918B9}"/>
              </a:ext>
            </a:extLst>
          </p:cNvPr>
          <p:cNvSpPr/>
          <p:nvPr/>
        </p:nvSpPr>
        <p:spPr>
          <a:xfrm>
            <a:off x="8373075" y="5421065"/>
            <a:ext cx="197752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
        <p:nvSpPr>
          <p:cNvPr id="6" name="Rectangle 5">
            <a:extLst>
              <a:ext uri="{FF2B5EF4-FFF2-40B4-BE49-F238E27FC236}">
                <a16:creationId xmlns:a16="http://schemas.microsoft.com/office/drawing/2014/main" id="{056E49E7-9B05-9E53-1EBA-7564619549C6}"/>
              </a:ext>
            </a:extLst>
          </p:cNvPr>
          <p:cNvSpPr/>
          <p:nvPr/>
        </p:nvSpPr>
        <p:spPr>
          <a:xfrm>
            <a:off x="2382587" y="6154081"/>
            <a:ext cx="905435"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Filtering</a:t>
            </a:r>
          </a:p>
        </p:txBody>
      </p:sp>
      <p:sp>
        <p:nvSpPr>
          <p:cNvPr id="7" name="Rectangle 6">
            <a:extLst>
              <a:ext uri="{FF2B5EF4-FFF2-40B4-BE49-F238E27FC236}">
                <a16:creationId xmlns:a16="http://schemas.microsoft.com/office/drawing/2014/main" id="{7DE85A40-3D76-4790-74DB-729992DBAA0E}"/>
              </a:ext>
            </a:extLst>
          </p:cNvPr>
          <p:cNvSpPr/>
          <p:nvPr/>
        </p:nvSpPr>
        <p:spPr>
          <a:xfrm>
            <a:off x="3845742" y="6154081"/>
            <a:ext cx="1271647" cy="179294"/>
          </a:xfrm>
          <a:prstGeom prst="rect">
            <a:avLst/>
          </a:prstGeom>
          <a:solidFill>
            <a:schemeClr val="bg2"/>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Peak selection</a:t>
            </a:r>
          </a:p>
        </p:txBody>
      </p:sp>
    </p:spTree>
    <p:extLst>
      <p:ext uri="{BB962C8B-B14F-4D97-AF65-F5344CB8AC3E}">
        <p14:creationId xmlns:p14="http://schemas.microsoft.com/office/powerpoint/2010/main" val="11554153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507D-6182-0AAD-C296-DFC9B7A3DABE}"/>
              </a:ext>
            </a:extLst>
          </p:cNvPr>
          <p:cNvSpPr>
            <a:spLocks noGrp="1"/>
          </p:cNvSpPr>
          <p:nvPr>
            <p:ph type="title"/>
          </p:nvPr>
        </p:nvSpPr>
        <p:spPr>
          <a:xfrm>
            <a:off x="747765" y="444629"/>
            <a:ext cx="5009941" cy="1325563"/>
          </a:xfrm>
        </p:spPr>
        <p:txBody>
          <a:bodyPr/>
          <a:lstStyle/>
          <a:p>
            <a:r>
              <a:rPr lang="en-US" dirty="0"/>
              <a:t>Multimodal </a:t>
            </a:r>
            <a:r>
              <a:rPr lang="en-US" altLang="zh-TW" dirty="0"/>
              <a:t>Analysis</a:t>
            </a:r>
            <a:endParaRPr lang="en-US" dirty="0"/>
          </a:p>
        </p:txBody>
      </p:sp>
      <p:pic>
        <p:nvPicPr>
          <p:cNvPr id="5" name="Picture 4">
            <a:extLst>
              <a:ext uri="{FF2B5EF4-FFF2-40B4-BE49-F238E27FC236}">
                <a16:creationId xmlns:a16="http://schemas.microsoft.com/office/drawing/2014/main" id="{872F4D6D-8ED3-5018-B3BB-9AC4802CE205}"/>
              </a:ext>
            </a:extLst>
          </p:cNvPr>
          <p:cNvPicPr>
            <a:picLocks noChangeAspect="1"/>
          </p:cNvPicPr>
          <p:nvPr/>
        </p:nvPicPr>
        <p:blipFill rotWithShape="1">
          <a:blip r:embed="rId3"/>
          <a:srcRect t="18322"/>
          <a:stretch/>
        </p:blipFill>
        <p:spPr>
          <a:xfrm>
            <a:off x="267698" y="2980267"/>
            <a:ext cx="5389525" cy="2266387"/>
          </a:xfrm>
          <a:prstGeom prst="rect">
            <a:avLst/>
          </a:prstGeom>
        </p:spPr>
      </p:pic>
      <p:pic>
        <p:nvPicPr>
          <p:cNvPr id="7" name="Picture 6">
            <a:extLst>
              <a:ext uri="{FF2B5EF4-FFF2-40B4-BE49-F238E27FC236}">
                <a16:creationId xmlns:a16="http://schemas.microsoft.com/office/drawing/2014/main" id="{8FC1720B-F1C0-2FF2-2E97-3A056261113E}"/>
              </a:ext>
            </a:extLst>
          </p:cNvPr>
          <p:cNvPicPr>
            <a:picLocks noChangeAspect="1"/>
          </p:cNvPicPr>
          <p:nvPr/>
        </p:nvPicPr>
        <p:blipFill rotWithShape="1">
          <a:blip r:embed="rId4"/>
          <a:srcRect t="17301" r="9169"/>
          <a:stretch/>
        </p:blipFill>
        <p:spPr>
          <a:xfrm>
            <a:off x="6760165" y="2754489"/>
            <a:ext cx="4925676" cy="2571137"/>
          </a:xfrm>
          <a:prstGeom prst="rect">
            <a:avLst/>
          </a:prstGeom>
        </p:spPr>
      </p:pic>
      <p:sp>
        <p:nvSpPr>
          <p:cNvPr id="8" name="Cross 7">
            <a:extLst>
              <a:ext uri="{FF2B5EF4-FFF2-40B4-BE49-F238E27FC236}">
                <a16:creationId xmlns:a16="http://schemas.microsoft.com/office/drawing/2014/main" id="{292E5FB9-A284-E7A1-D8A5-B2BA29EE0FAF}"/>
              </a:ext>
            </a:extLst>
          </p:cNvPr>
          <p:cNvSpPr/>
          <p:nvPr/>
        </p:nvSpPr>
        <p:spPr>
          <a:xfrm>
            <a:off x="5995517" y="3687744"/>
            <a:ext cx="482321" cy="532563"/>
          </a:xfrm>
          <a:prstGeom prst="plus">
            <a:avLst>
              <a:gd name="adj" fmla="val 4375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8A99C890-5961-AEC2-0BC5-42DEC10E6987}"/>
              </a:ext>
            </a:extLst>
          </p:cNvPr>
          <p:cNvSpPr txBox="1">
            <a:spLocks/>
          </p:cNvSpPr>
          <p:nvPr/>
        </p:nvSpPr>
        <p:spPr>
          <a:xfrm>
            <a:off x="1020579" y="1712448"/>
            <a:ext cx="441125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Single-cell RNA seq Analysis</a:t>
            </a:r>
          </a:p>
        </p:txBody>
      </p:sp>
      <p:sp>
        <p:nvSpPr>
          <p:cNvPr id="4" name="Title 1">
            <a:extLst>
              <a:ext uri="{FF2B5EF4-FFF2-40B4-BE49-F238E27FC236}">
                <a16:creationId xmlns:a16="http://schemas.microsoft.com/office/drawing/2014/main" id="{96BF3173-C206-EBD0-B82C-C36D6FEE3429}"/>
              </a:ext>
            </a:extLst>
          </p:cNvPr>
          <p:cNvSpPr txBox="1">
            <a:spLocks/>
          </p:cNvSpPr>
          <p:nvPr/>
        </p:nvSpPr>
        <p:spPr>
          <a:xfrm>
            <a:off x="7415735" y="1532374"/>
            <a:ext cx="441125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tx1"/>
                </a:solidFill>
              </a:rPr>
              <a:t>Single-cell ATAC-seq analysis</a:t>
            </a:r>
            <a:endParaRPr lang="en-US" sz="2800" dirty="0"/>
          </a:p>
        </p:txBody>
      </p:sp>
    </p:spTree>
    <p:extLst>
      <p:ext uri="{BB962C8B-B14F-4D97-AF65-F5344CB8AC3E}">
        <p14:creationId xmlns:p14="http://schemas.microsoft.com/office/powerpoint/2010/main" val="14926897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507D-6182-0AAD-C296-DFC9B7A3DABE}"/>
              </a:ext>
            </a:extLst>
          </p:cNvPr>
          <p:cNvSpPr>
            <a:spLocks noGrp="1"/>
          </p:cNvSpPr>
          <p:nvPr>
            <p:ph type="title"/>
          </p:nvPr>
        </p:nvSpPr>
        <p:spPr>
          <a:xfrm>
            <a:off x="566790" y="145122"/>
            <a:ext cx="5009941" cy="1325563"/>
          </a:xfrm>
        </p:spPr>
        <p:txBody>
          <a:bodyPr/>
          <a:lstStyle/>
          <a:p>
            <a:r>
              <a:rPr lang="en-US" dirty="0"/>
              <a:t>Multimodal </a:t>
            </a:r>
            <a:r>
              <a:rPr lang="en-US" altLang="zh-TW" dirty="0"/>
              <a:t>Analysis</a:t>
            </a:r>
            <a:endParaRPr lang="en-US" dirty="0"/>
          </a:p>
        </p:txBody>
      </p:sp>
      <p:sp>
        <p:nvSpPr>
          <p:cNvPr id="8" name="Cross 7">
            <a:extLst>
              <a:ext uri="{FF2B5EF4-FFF2-40B4-BE49-F238E27FC236}">
                <a16:creationId xmlns:a16="http://schemas.microsoft.com/office/drawing/2014/main" id="{292E5FB9-A284-E7A1-D8A5-B2BA29EE0FAF}"/>
              </a:ext>
            </a:extLst>
          </p:cNvPr>
          <p:cNvSpPr/>
          <p:nvPr/>
        </p:nvSpPr>
        <p:spPr>
          <a:xfrm>
            <a:off x="5995517" y="3687744"/>
            <a:ext cx="482321" cy="532563"/>
          </a:xfrm>
          <a:prstGeom prst="plus">
            <a:avLst>
              <a:gd name="adj" fmla="val 4375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77BF4862-A6AC-1CD2-8720-D84ED0DD7E03}"/>
              </a:ext>
            </a:extLst>
          </p:cNvPr>
          <p:cNvPicPr>
            <a:picLocks noChangeAspect="1"/>
          </p:cNvPicPr>
          <p:nvPr/>
        </p:nvPicPr>
        <p:blipFill rotWithShape="1">
          <a:blip r:embed="rId3"/>
          <a:srcRect r="58576" b="71282"/>
          <a:stretch/>
        </p:blipFill>
        <p:spPr>
          <a:xfrm>
            <a:off x="2025362" y="1470685"/>
            <a:ext cx="7940309" cy="4434117"/>
          </a:xfrm>
          <a:prstGeom prst="rect">
            <a:avLst/>
          </a:prstGeom>
        </p:spPr>
      </p:pic>
      <p:sp>
        <p:nvSpPr>
          <p:cNvPr id="3" name="Rectangle 2">
            <a:extLst>
              <a:ext uri="{FF2B5EF4-FFF2-40B4-BE49-F238E27FC236}">
                <a16:creationId xmlns:a16="http://schemas.microsoft.com/office/drawing/2014/main" id="{39C08BE6-059D-DA3B-C44C-1DC6FDBE8469}"/>
              </a:ext>
            </a:extLst>
          </p:cNvPr>
          <p:cNvSpPr/>
          <p:nvPr/>
        </p:nvSpPr>
        <p:spPr>
          <a:xfrm>
            <a:off x="2337521" y="5904802"/>
            <a:ext cx="2563306"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sp>
        <p:nvSpPr>
          <p:cNvPr id="4" name="Rectangle 3">
            <a:extLst>
              <a:ext uri="{FF2B5EF4-FFF2-40B4-BE49-F238E27FC236}">
                <a16:creationId xmlns:a16="http://schemas.microsoft.com/office/drawing/2014/main" id="{A040D8B5-885E-4276-0774-212749A2228C}"/>
              </a:ext>
            </a:extLst>
          </p:cNvPr>
          <p:cNvSpPr/>
          <p:nvPr/>
        </p:nvSpPr>
        <p:spPr>
          <a:xfrm>
            <a:off x="5630113" y="5904802"/>
            <a:ext cx="1695450"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p:txBody>
      </p:sp>
      <p:sp>
        <p:nvSpPr>
          <p:cNvPr id="6" name="Rectangle 5">
            <a:extLst>
              <a:ext uri="{FF2B5EF4-FFF2-40B4-BE49-F238E27FC236}">
                <a16:creationId xmlns:a16="http://schemas.microsoft.com/office/drawing/2014/main" id="{3DCAE2CF-3A30-BB8C-27A9-E4D868AB6C27}"/>
              </a:ext>
            </a:extLst>
          </p:cNvPr>
          <p:cNvSpPr/>
          <p:nvPr/>
        </p:nvSpPr>
        <p:spPr>
          <a:xfrm>
            <a:off x="8354025" y="5904802"/>
            <a:ext cx="1516396"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Tree>
    <p:extLst>
      <p:ext uri="{BB962C8B-B14F-4D97-AF65-F5344CB8AC3E}">
        <p14:creationId xmlns:p14="http://schemas.microsoft.com/office/powerpoint/2010/main" val="2909117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28BA4-A13F-E838-0DF1-0BF114DC64FC}"/>
              </a:ext>
            </a:extLst>
          </p:cNvPr>
          <p:cNvSpPr>
            <a:spLocks noGrp="1"/>
          </p:cNvSpPr>
          <p:nvPr>
            <p:ph type="title"/>
          </p:nvPr>
        </p:nvSpPr>
        <p:spPr/>
        <p:txBody>
          <a:bodyPr/>
          <a:lstStyle/>
          <a:p>
            <a:r>
              <a:rPr lang="en-US" sz="4400" dirty="0">
                <a:solidFill>
                  <a:schemeClr val="tx1"/>
                </a:solidFill>
              </a:rPr>
              <a:t>Batch correction analysis</a:t>
            </a:r>
            <a:endParaRPr lang="en-US" dirty="0"/>
          </a:p>
        </p:txBody>
      </p:sp>
      <p:pic>
        <p:nvPicPr>
          <p:cNvPr id="5" name="Picture 4">
            <a:extLst>
              <a:ext uri="{FF2B5EF4-FFF2-40B4-BE49-F238E27FC236}">
                <a16:creationId xmlns:a16="http://schemas.microsoft.com/office/drawing/2014/main" id="{19CBF9EF-0ABA-70E2-590D-690A5A928A19}"/>
              </a:ext>
            </a:extLst>
          </p:cNvPr>
          <p:cNvPicPr>
            <a:picLocks noChangeAspect="1"/>
          </p:cNvPicPr>
          <p:nvPr/>
        </p:nvPicPr>
        <p:blipFill rotWithShape="1">
          <a:blip r:embed="rId3"/>
          <a:srcRect b="66154"/>
          <a:stretch/>
        </p:blipFill>
        <p:spPr>
          <a:xfrm>
            <a:off x="337491" y="2370590"/>
            <a:ext cx="11517018" cy="2713055"/>
          </a:xfrm>
          <a:prstGeom prst="rect">
            <a:avLst/>
          </a:prstGeom>
        </p:spPr>
      </p:pic>
      <p:sp>
        <p:nvSpPr>
          <p:cNvPr id="6" name="Rectangle 5">
            <a:extLst>
              <a:ext uri="{FF2B5EF4-FFF2-40B4-BE49-F238E27FC236}">
                <a16:creationId xmlns:a16="http://schemas.microsoft.com/office/drawing/2014/main" id="{766FBFEE-6665-43DF-C99C-89E68F201E8C}"/>
              </a:ext>
            </a:extLst>
          </p:cNvPr>
          <p:cNvSpPr/>
          <p:nvPr/>
        </p:nvSpPr>
        <p:spPr>
          <a:xfrm>
            <a:off x="4291961" y="5471316"/>
            <a:ext cx="266980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a:p>
            <a:pPr algn="ctr"/>
            <a:r>
              <a:rPr lang="en-US" dirty="0"/>
              <a:t>for every batch</a:t>
            </a:r>
          </a:p>
        </p:txBody>
      </p:sp>
      <p:sp>
        <p:nvSpPr>
          <p:cNvPr id="8" name="Rectangle 7">
            <a:extLst>
              <a:ext uri="{FF2B5EF4-FFF2-40B4-BE49-F238E27FC236}">
                <a16:creationId xmlns:a16="http://schemas.microsoft.com/office/drawing/2014/main" id="{5F1AD6FD-3CE4-9139-0E42-142157C1EC66}"/>
              </a:ext>
            </a:extLst>
          </p:cNvPr>
          <p:cNvSpPr/>
          <p:nvPr/>
        </p:nvSpPr>
        <p:spPr>
          <a:xfrm>
            <a:off x="7749716" y="5348211"/>
            <a:ext cx="1516396"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
        <p:nvSpPr>
          <p:cNvPr id="3" name="Rectangle 2">
            <a:extLst>
              <a:ext uri="{FF2B5EF4-FFF2-40B4-BE49-F238E27FC236}">
                <a16:creationId xmlns:a16="http://schemas.microsoft.com/office/drawing/2014/main" id="{EB2F9561-5018-270F-CBD1-1B9FE7706913}"/>
              </a:ext>
            </a:extLst>
          </p:cNvPr>
          <p:cNvSpPr/>
          <p:nvPr/>
        </p:nvSpPr>
        <p:spPr>
          <a:xfrm>
            <a:off x="1334682" y="5471316"/>
            <a:ext cx="2563306"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spTree>
    <p:extLst>
      <p:ext uri="{BB962C8B-B14F-4D97-AF65-F5344CB8AC3E}">
        <p14:creationId xmlns:p14="http://schemas.microsoft.com/office/powerpoint/2010/main" val="590122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02F55-A8C0-F5B1-186C-CE9CC2D50F76}"/>
              </a:ext>
            </a:extLst>
          </p:cNvPr>
          <p:cNvSpPr>
            <a:spLocks noGrp="1"/>
          </p:cNvSpPr>
          <p:nvPr>
            <p:ph type="title"/>
          </p:nvPr>
        </p:nvSpPr>
        <p:spPr>
          <a:xfrm>
            <a:off x="838200" y="298450"/>
            <a:ext cx="10515600" cy="1325563"/>
          </a:xfrm>
        </p:spPr>
        <p:txBody>
          <a:bodyPr/>
          <a:lstStyle/>
          <a:p>
            <a:r>
              <a:rPr lang="en-US" dirty="0"/>
              <a:t>About Truncated Randomized SVD…</a:t>
            </a:r>
          </a:p>
        </p:txBody>
      </p:sp>
      <p:pic>
        <p:nvPicPr>
          <p:cNvPr id="5" name="Content Placeholder 4">
            <a:extLst>
              <a:ext uri="{FF2B5EF4-FFF2-40B4-BE49-F238E27FC236}">
                <a16:creationId xmlns:a16="http://schemas.microsoft.com/office/drawing/2014/main" id="{1135D207-C66C-2C0F-8585-62A40ED639A5}"/>
              </a:ext>
            </a:extLst>
          </p:cNvPr>
          <p:cNvPicPr>
            <a:picLocks noGrp="1" noChangeAspect="1"/>
          </p:cNvPicPr>
          <p:nvPr>
            <p:ph idx="1"/>
          </p:nvPr>
        </p:nvPicPr>
        <p:blipFill>
          <a:blip r:embed="rId3"/>
          <a:stretch>
            <a:fillRect/>
          </a:stretch>
        </p:blipFill>
        <p:spPr>
          <a:xfrm>
            <a:off x="1595422" y="1490663"/>
            <a:ext cx="9001156" cy="5281612"/>
          </a:xfrm>
        </p:spPr>
      </p:pic>
    </p:spTree>
    <p:extLst>
      <p:ext uri="{BB962C8B-B14F-4D97-AF65-F5344CB8AC3E}">
        <p14:creationId xmlns:p14="http://schemas.microsoft.com/office/powerpoint/2010/main" val="583030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543B2-4447-288E-7212-BD48E615643B}"/>
              </a:ext>
            </a:extLst>
          </p:cNvPr>
          <p:cNvSpPr>
            <a:spLocks noGrp="1"/>
          </p:cNvSpPr>
          <p:nvPr>
            <p:ph type="title"/>
          </p:nvPr>
        </p:nvSpPr>
        <p:spPr/>
        <p:txBody>
          <a:bodyPr/>
          <a:lstStyle/>
          <a:p>
            <a:r>
              <a:rPr lang="en-US" dirty="0">
                <a:effectLst/>
              </a:rPr>
              <a:t>Multi-omics Integration </a:t>
            </a:r>
            <a:endParaRPr lang="en-US" dirty="0"/>
          </a:p>
        </p:txBody>
      </p:sp>
      <p:pic>
        <p:nvPicPr>
          <p:cNvPr id="5" name="Content Placeholder 4">
            <a:extLst>
              <a:ext uri="{FF2B5EF4-FFF2-40B4-BE49-F238E27FC236}">
                <a16:creationId xmlns:a16="http://schemas.microsoft.com/office/drawing/2014/main" id="{3C52AEA6-A4B8-4B65-1EEF-D8DC73E47EB2}"/>
              </a:ext>
            </a:extLst>
          </p:cNvPr>
          <p:cNvPicPr>
            <a:picLocks noGrp="1" noChangeAspect="1"/>
          </p:cNvPicPr>
          <p:nvPr>
            <p:ph idx="1"/>
          </p:nvPr>
        </p:nvPicPr>
        <p:blipFill rotWithShape="1">
          <a:blip r:embed="rId3"/>
          <a:srcRect b="65519"/>
          <a:stretch/>
        </p:blipFill>
        <p:spPr>
          <a:xfrm>
            <a:off x="368615" y="1912313"/>
            <a:ext cx="11454770" cy="3033373"/>
          </a:xfrm>
          <a:prstGeom prst="rect">
            <a:avLst/>
          </a:prstGeom>
        </p:spPr>
      </p:pic>
      <p:sp>
        <p:nvSpPr>
          <p:cNvPr id="6" name="Rectangle 5">
            <a:extLst>
              <a:ext uri="{FF2B5EF4-FFF2-40B4-BE49-F238E27FC236}">
                <a16:creationId xmlns:a16="http://schemas.microsoft.com/office/drawing/2014/main" id="{5E366522-82A8-99D9-6A14-5FA8C1BCBF7E}"/>
              </a:ext>
            </a:extLst>
          </p:cNvPr>
          <p:cNvSpPr/>
          <p:nvPr/>
        </p:nvSpPr>
        <p:spPr>
          <a:xfrm>
            <a:off x="1236906" y="5473800"/>
            <a:ext cx="266980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a:p>
            <a:pPr algn="ctr"/>
            <a:r>
              <a:rPr lang="en-US" dirty="0"/>
              <a:t>(</a:t>
            </a:r>
            <a:r>
              <a:rPr lang="en-US" dirty="0" err="1"/>
              <a:t>scRNA</a:t>
            </a:r>
            <a:r>
              <a:rPr lang="en-US" dirty="0"/>
              <a:t> and </a:t>
            </a:r>
            <a:r>
              <a:rPr lang="en-US" dirty="0" err="1"/>
              <a:t>scATAC</a:t>
            </a:r>
            <a:r>
              <a:rPr lang="en-US" dirty="0"/>
              <a:t> data)</a:t>
            </a:r>
          </a:p>
        </p:txBody>
      </p:sp>
      <p:sp>
        <p:nvSpPr>
          <p:cNvPr id="9" name="Rectangle 8">
            <a:extLst>
              <a:ext uri="{FF2B5EF4-FFF2-40B4-BE49-F238E27FC236}">
                <a16:creationId xmlns:a16="http://schemas.microsoft.com/office/drawing/2014/main" id="{8092699C-6515-A259-885F-7674135B7C6A}"/>
              </a:ext>
            </a:extLst>
          </p:cNvPr>
          <p:cNvSpPr/>
          <p:nvPr/>
        </p:nvSpPr>
        <p:spPr>
          <a:xfrm>
            <a:off x="7698564" y="5473800"/>
            <a:ext cx="1516396"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Embedding</a:t>
            </a:r>
          </a:p>
        </p:txBody>
      </p:sp>
      <p:sp>
        <p:nvSpPr>
          <p:cNvPr id="3" name="Rectangle 2">
            <a:extLst>
              <a:ext uri="{FF2B5EF4-FFF2-40B4-BE49-F238E27FC236}">
                <a16:creationId xmlns:a16="http://schemas.microsoft.com/office/drawing/2014/main" id="{10001BC5-B092-FE76-92B7-3F355F9E0D8F}"/>
              </a:ext>
            </a:extLst>
          </p:cNvPr>
          <p:cNvSpPr/>
          <p:nvPr/>
        </p:nvSpPr>
        <p:spPr>
          <a:xfrm>
            <a:off x="4382272" y="5473800"/>
            <a:ext cx="2669809" cy="5844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Graph Construction</a:t>
            </a:r>
          </a:p>
        </p:txBody>
      </p:sp>
    </p:spTree>
    <p:extLst>
      <p:ext uri="{BB962C8B-B14F-4D97-AF65-F5344CB8AC3E}">
        <p14:creationId xmlns:p14="http://schemas.microsoft.com/office/powerpoint/2010/main" val="23282898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a:bodyPr>
          <a:lstStyle/>
          <a:p>
            <a:r>
              <a:rPr lang="en-US" sz="6000" dirty="0"/>
              <a:t>Methods</a:t>
            </a:r>
          </a:p>
        </p:txBody>
      </p:sp>
      <p:sp>
        <p:nvSpPr>
          <p:cNvPr id="5" name="Title 1">
            <a:extLst>
              <a:ext uri="{FF2B5EF4-FFF2-40B4-BE49-F238E27FC236}">
                <a16:creationId xmlns:a16="http://schemas.microsoft.com/office/drawing/2014/main" id="{3E5C6F5E-2E2E-CBE4-DD15-988B610D2E79}"/>
              </a:ext>
            </a:extLst>
          </p:cNvPr>
          <p:cNvSpPr txBox="1">
            <a:spLocks/>
          </p:cNvSpPr>
          <p:nvPr/>
        </p:nvSpPr>
        <p:spPr>
          <a:xfrm>
            <a:off x="3879542" y="3429000"/>
            <a:ext cx="3400148" cy="1551373"/>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solidFill>
                  <a:schemeClr val="bg1">
                    <a:lumMod val="75000"/>
                  </a:schemeClr>
                </a:solidFill>
              </a:rPr>
              <a:t>1. Preprocessing </a:t>
            </a:r>
          </a:p>
          <a:p>
            <a:pPr algn="ctr">
              <a:lnSpc>
                <a:spcPct val="150000"/>
              </a:lnSpc>
            </a:pPr>
            <a:r>
              <a:rPr lang="en-US" sz="3200" dirty="0">
                <a:solidFill>
                  <a:schemeClr val="bg1">
                    <a:lumMod val="75000"/>
                  </a:schemeClr>
                </a:solidFill>
              </a:rPr>
              <a:t>2. Graph Construction</a:t>
            </a:r>
          </a:p>
          <a:p>
            <a:pPr algn="ctr">
              <a:lnSpc>
                <a:spcPct val="150000"/>
              </a:lnSpc>
            </a:pPr>
            <a:r>
              <a:rPr lang="en-US" sz="3200" dirty="0"/>
              <a:t>3. SIMBA Embedding</a:t>
            </a:r>
          </a:p>
        </p:txBody>
      </p:sp>
    </p:spTree>
    <p:extLst>
      <p:ext uri="{BB962C8B-B14F-4D97-AF65-F5344CB8AC3E}">
        <p14:creationId xmlns:p14="http://schemas.microsoft.com/office/powerpoint/2010/main" val="33431345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89103-AA66-504F-239C-E146A2F0D5F1}"/>
              </a:ext>
            </a:extLst>
          </p:cNvPr>
          <p:cNvSpPr>
            <a:spLocks noGrp="1"/>
          </p:cNvSpPr>
          <p:nvPr>
            <p:ph type="title"/>
          </p:nvPr>
        </p:nvSpPr>
        <p:spPr>
          <a:xfrm>
            <a:off x="838200" y="365125"/>
            <a:ext cx="10515600" cy="1325563"/>
          </a:xfrm>
        </p:spPr>
        <p:txBody>
          <a:bodyPr/>
          <a:lstStyle/>
          <a:p>
            <a:r>
              <a:rPr lang="en-US" dirty="0"/>
              <a:t>Vector</a:t>
            </a:r>
          </a:p>
        </p:txBody>
      </p:sp>
      <p:sp>
        <p:nvSpPr>
          <p:cNvPr id="5" name="Rectangle 4">
            <a:extLst>
              <a:ext uri="{FF2B5EF4-FFF2-40B4-BE49-F238E27FC236}">
                <a16:creationId xmlns:a16="http://schemas.microsoft.com/office/drawing/2014/main" id="{F5FAC6E4-0480-0FBF-0DD6-36474889902E}"/>
              </a:ext>
            </a:extLst>
          </p:cNvPr>
          <p:cNvSpPr/>
          <p:nvPr/>
        </p:nvSpPr>
        <p:spPr>
          <a:xfrm>
            <a:off x="8497360" y="3179763"/>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Oval 5">
            <a:extLst>
              <a:ext uri="{FF2B5EF4-FFF2-40B4-BE49-F238E27FC236}">
                <a16:creationId xmlns:a16="http://schemas.microsoft.com/office/drawing/2014/main" id="{048C475D-57B9-3970-EEA8-9C7CE98C0EB7}"/>
              </a:ext>
            </a:extLst>
          </p:cNvPr>
          <p:cNvSpPr/>
          <p:nvPr/>
        </p:nvSpPr>
        <p:spPr>
          <a:xfrm>
            <a:off x="9293751" y="376052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9659250-D12C-840A-33D6-27AA3AC152E5}"/>
              </a:ext>
            </a:extLst>
          </p:cNvPr>
          <p:cNvSpPr/>
          <p:nvPr/>
        </p:nvSpPr>
        <p:spPr>
          <a:xfrm>
            <a:off x="9110662" y="456353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8223083-2132-0095-34C1-05504E6EF983}"/>
              </a:ext>
            </a:extLst>
          </p:cNvPr>
          <p:cNvSpPr/>
          <p:nvPr/>
        </p:nvSpPr>
        <p:spPr>
          <a:xfrm>
            <a:off x="9466262" y="53900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D5375CA-DE51-BDA1-A92A-EE3D703D848D}"/>
              </a:ext>
            </a:extLst>
          </p:cNvPr>
          <p:cNvSpPr/>
          <p:nvPr/>
        </p:nvSpPr>
        <p:spPr>
          <a:xfrm>
            <a:off x="10426169" y="4247093"/>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22682D0-3993-6C12-68E4-715C1D3B5110}"/>
              </a:ext>
            </a:extLst>
          </p:cNvPr>
          <p:cNvSpPr/>
          <p:nvPr/>
        </p:nvSpPr>
        <p:spPr>
          <a:xfrm>
            <a:off x="10453159" y="53392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566E932-9FE0-A101-FF94-64FBB0558E80}"/>
              </a:ext>
            </a:extLst>
          </p:cNvPr>
          <p:cNvSpPr/>
          <p:nvPr/>
        </p:nvSpPr>
        <p:spPr>
          <a:xfrm>
            <a:off x="8543398" y="2772306"/>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2" name="Straight Connector 11">
            <a:extLst>
              <a:ext uri="{FF2B5EF4-FFF2-40B4-BE49-F238E27FC236}">
                <a16:creationId xmlns:a16="http://schemas.microsoft.com/office/drawing/2014/main" id="{E5E3750E-3C21-9061-5FC1-DFCF75994E7F}"/>
              </a:ext>
            </a:extLst>
          </p:cNvPr>
          <p:cNvCxnSpPr>
            <a:cxnSpLocks/>
            <a:endCxn id="7" idx="0"/>
          </p:cNvCxnSpPr>
          <p:nvPr/>
        </p:nvCxnSpPr>
        <p:spPr>
          <a:xfrm flipH="1">
            <a:off x="9196918" y="3938325"/>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683BA9-D50B-E20D-AAA5-3837A4BE3154}"/>
              </a:ext>
            </a:extLst>
          </p:cNvPr>
          <p:cNvCxnSpPr>
            <a:cxnSpLocks/>
            <a:stCxn id="6" idx="4"/>
          </p:cNvCxnSpPr>
          <p:nvPr/>
        </p:nvCxnSpPr>
        <p:spPr>
          <a:xfrm>
            <a:off x="9380007" y="3938325"/>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1F08F07-E419-0B66-A129-D0B61DCB2561}"/>
              </a:ext>
            </a:extLst>
          </p:cNvPr>
          <p:cNvCxnSpPr>
            <a:cxnSpLocks/>
            <a:endCxn id="9" idx="1"/>
          </p:cNvCxnSpPr>
          <p:nvPr/>
        </p:nvCxnSpPr>
        <p:spPr>
          <a:xfrm>
            <a:off x="9419958" y="3810202"/>
            <a:ext cx="1031475" cy="462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001869C-72F8-E17B-9300-3CAA52EA7745}"/>
              </a:ext>
            </a:extLst>
          </p:cNvPr>
          <p:cNvCxnSpPr>
            <a:cxnSpLocks/>
          </p:cNvCxnSpPr>
          <p:nvPr/>
        </p:nvCxnSpPr>
        <p:spPr>
          <a:xfrm>
            <a:off x="1298370" y="2203761"/>
            <a:ext cx="1142989"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480C7F3-6C8E-2292-3B3F-2CAB0C114762}"/>
              </a:ext>
            </a:extLst>
          </p:cNvPr>
          <p:cNvSpPr txBox="1"/>
          <p:nvPr/>
        </p:nvSpPr>
        <p:spPr>
          <a:xfrm>
            <a:off x="3314518" y="2038067"/>
            <a:ext cx="1343316" cy="369332"/>
          </a:xfrm>
          <a:prstGeom prst="rect">
            <a:avLst/>
          </a:prstGeom>
          <a:noFill/>
        </p:spPr>
        <p:txBody>
          <a:bodyPr wrap="none" rtlCol="0">
            <a:spAutoFit/>
          </a:bodyPr>
          <a:lstStyle/>
          <a:p>
            <a:r>
              <a:rPr lang="en-US" dirty="0"/>
              <a:t>edge = (u, v)</a:t>
            </a:r>
          </a:p>
        </p:txBody>
      </p:sp>
      <p:sp>
        <p:nvSpPr>
          <p:cNvPr id="18" name="Arrow: Down 17">
            <a:extLst>
              <a:ext uri="{FF2B5EF4-FFF2-40B4-BE49-F238E27FC236}">
                <a16:creationId xmlns:a16="http://schemas.microsoft.com/office/drawing/2014/main" id="{651F74FA-FC97-5C79-AFEA-CDF70A31D807}"/>
              </a:ext>
            </a:extLst>
          </p:cNvPr>
          <p:cNvSpPr/>
          <p:nvPr/>
        </p:nvSpPr>
        <p:spPr>
          <a:xfrm rot="10800000">
            <a:off x="4174160" y="2407399"/>
            <a:ext cx="97656" cy="296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Down 18">
            <a:extLst>
              <a:ext uri="{FF2B5EF4-FFF2-40B4-BE49-F238E27FC236}">
                <a16:creationId xmlns:a16="http://schemas.microsoft.com/office/drawing/2014/main" id="{50C78ECA-94FD-12C7-7CCD-9627E5AA2B1E}"/>
              </a:ext>
            </a:extLst>
          </p:cNvPr>
          <p:cNvSpPr/>
          <p:nvPr/>
        </p:nvSpPr>
        <p:spPr>
          <a:xfrm flipH="1">
            <a:off x="4352129" y="1778233"/>
            <a:ext cx="107911" cy="296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7AF3621-D780-AFDA-91E6-925A920079DB}"/>
              </a:ext>
            </a:extLst>
          </p:cNvPr>
          <p:cNvSpPr txBox="1"/>
          <p:nvPr/>
        </p:nvSpPr>
        <p:spPr>
          <a:xfrm>
            <a:off x="3648603" y="2735806"/>
            <a:ext cx="1407052" cy="369332"/>
          </a:xfrm>
          <a:prstGeom prst="rect">
            <a:avLst/>
          </a:prstGeom>
          <a:noFill/>
        </p:spPr>
        <p:txBody>
          <a:bodyPr wrap="none" rtlCol="0">
            <a:spAutoFit/>
          </a:bodyPr>
          <a:lstStyle/>
          <a:p>
            <a:r>
              <a:rPr lang="en-US" dirty="0"/>
              <a:t>source entity</a:t>
            </a:r>
          </a:p>
        </p:txBody>
      </p:sp>
      <p:sp>
        <p:nvSpPr>
          <p:cNvPr id="21" name="TextBox 20">
            <a:extLst>
              <a:ext uri="{FF2B5EF4-FFF2-40B4-BE49-F238E27FC236}">
                <a16:creationId xmlns:a16="http://schemas.microsoft.com/office/drawing/2014/main" id="{F481D0C7-1699-7667-CDDD-924C2DB445F3}"/>
              </a:ext>
            </a:extLst>
          </p:cNvPr>
          <p:cNvSpPr txBox="1"/>
          <p:nvPr/>
        </p:nvSpPr>
        <p:spPr>
          <a:xfrm>
            <a:off x="3702558" y="1319866"/>
            <a:ext cx="1841786" cy="369332"/>
          </a:xfrm>
          <a:prstGeom prst="rect">
            <a:avLst/>
          </a:prstGeom>
          <a:noFill/>
        </p:spPr>
        <p:txBody>
          <a:bodyPr wrap="none" rtlCol="0">
            <a:spAutoFit/>
          </a:bodyPr>
          <a:lstStyle/>
          <a:p>
            <a:r>
              <a:rPr lang="en-US" dirty="0"/>
              <a:t>destination entity</a:t>
            </a:r>
          </a:p>
        </p:txBody>
      </p:sp>
      <p:sp>
        <p:nvSpPr>
          <p:cNvPr id="22" name="Rectangle: Rounded Corners 21">
            <a:extLst>
              <a:ext uri="{FF2B5EF4-FFF2-40B4-BE49-F238E27FC236}">
                <a16:creationId xmlns:a16="http://schemas.microsoft.com/office/drawing/2014/main" id="{61FCBEAB-C2BE-2F80-1DC8-0A4FE114753E}"/>
              </a:ext>
            </a:extLst>
          </p:cNvPr>
          <p:cNvSpPr/>
          <p:nvPr/>
        </p:nvSpPr>
        <p:spPr>
          <a:xfrm>
            <a:off x="1212258" y="3641934"/>
            <a:ext cx="5080000" cy="39973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Calculate “edge score” based on the connection</a:t>
            </a:r>
          </a:p>
        </p:txBody>
      </p:sp>
      <p:sp>
        <p:nvSpPr>
          <p:cNvPr id="23" name="Oval 22">
            <a:extLst>
              <a:ext uri="{FF2B5EF4-FFF2-40B4-BE49-F238E27FC236}">
                <a16:creationId xmlns:a16="http://schemas.microsoft.com/office/drawing/2014/main" id="{373127DB-D782-327F-C3EF-49B6DFD3A2E4}"/>
              </a:ext>
            </a:extLst>
          </p:cNvPr>
          <p:cNvSpPr/>
          <p:nvPr/>
        </p:nvSpPr>
        <p:spPr>
          <a:xfrm>
            <a:off x="1126003" y="2109202"/>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FA088AE-671E-1BF6-3E08-F7F8380415D6}"/>
              </a:ext>
            </a:extLst>
          </p:cNvPr>
          <p:cNvSpPr/>
          <p:nvPr/>
        </p:nvSpPr>
        <p:spPr>
          <a:xfrm>
            <a:off x="2355103" y="2109202"/>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2E73A2C6-584F-E11B-2D65-7179D35163A7}"/>
              </a:ext>
            </a:extLst>
          </p:cNvPr>
          <p:cNvSpPr/>
          <p:nvPr/>
        </p:nvSpPr>
        <p:spPr>
          <a:xfrm>
            <a:off x="1440827" y="4345530"/>
            <a:ext cx="4523462" cy="33283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Calculate “loss” to evaluate the score</a:t>
            </a:r>
          </a:p>
        </p:txBody>
      </p:sp>
      <p:sp>
        <p:nvSpPr>
          <p:cNvPr id="26" name="Arrow: Down 25">
            <a:extLst>
              <a:ext uri="{FF2B5EF4-FFF2-40B4-BE49-F238E27FC236}">
                <a16:creationId xmlns:a16="http://schemas.microsoft.com/office/drawing/2014/main" id="{60EDEA4D-5750-C7E4-EC29-1DDF74901640}"/>
              </a:ext>
            </a:extLst>
          </p:cNvPr>
          <p:cNvSpPr/>
          <p:nvPr/>
        </p:nvSpPr>
        <p:spPr>
          <a:xfrm>
            <a:off x="3524435" y="4980373"/>
            <a:ext cx="178123" cy="3328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AD9AA9F6-0A77-900C-65D2-5D84F591AC77}"/>
              </a:ext>
            </a:extLst>
          </p:cNvPr>
          <p:cNvSpPr/>
          <p:nvPr/>
        </p:nvSpPr>
        <p:spPr>
          <a:xfrm>
            <a:off x="2006353" y="5745963"/>
            <a:ext cx="3329128" cy="33283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Find the overall best score</a:t>
            </a:r>
          </a:p>
        </p:txBody>
      </p:sp>
      <p:pic>
        <p:nvPicPr>
          <p:cNvPr id="4" name="Picture 3">
            <a:extLst>
              <a:ext uri="{FF2B5EF4-FFF2-40B4-BE49-F238E27FC236}">
                <a16:creationId xmlns:a16="http://schemas.microsoft.com/office/drawing/2014/main" id="{4541869C-9DC1-9123-B67E-02B1FA4B5026}"/>
              </a:ext>
            </a:extLst>
          </p:cNvPr>
          <p:cNvPicPr>
            <a:picLocks noChangeAspect="1"/>
          </p:cNvPicPr>
          <p:nvPr/>
        </p:nvPicPr>
        <p:blipFill>
          <a:blip r:embed="rId3"/>
          <a:stretch>
            <a:fillRect/>
          </a:stretch>
        </p:blipFill>
        <p:spPr>
          <a:xfrm>
            <a:off x="6463720" y="3599417"/>
            <a:ext cx="1422370" cy="442249"/>
          </a:xfrm>
          <a:prstGeom prst="rect">
            <a:avLst/>
          </a:prstGeom>
        </p:spPr>
      </p:pic>
    </p:spTree>
    <p:extLst>
      <p:ext uri="{BB962C8B-B14F-4D97-AF65-F5344CB8AC3E}">
        <p14:creationId xmlns:p14="http://schemas.microsoft.com/office/powerpoint/2010/main" val="169538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E3B4C-8135-40F2-F0AF-F84EC8C95994}"/>
              </a:ext>
            </a:extLst>
          </p:cNvPr>
          <p:cNvSpPr>
            <a:spLocks noGrp="1"/>
          </p:cNvSpPr>
          <p:nvPr>
            <p:ph type="title"/>
          </p:nvPr>
        </p:nvSpPr>
        <p:spPr/>
        <p:txBody>
          <a:bodyPr/>
          <a:lstStyle/>
          <a:p>
            <a:r>
              <a:rPr lang="en-US" dirty="0">
                <a:effectLst/>
              </a:rPr>
              <a:t>Negative Sampling</a:t>
            </a:r>
            <a:endParaRPr lang="en-US" dirty="0"/>
          </a:p>
        </p:txBody>
      </p:sp>
      <p:sp>
        <p:nvSpPr>
          <p:cNvPr id="4" name="Rectangle 3">
            <a:extLst>
              <a:ext uri="{FF2B5EF4-FFF2-40B4-BE49-F238E27FC236}">
                <a16:creationId xmlns:a16="http://schemas.microsoft.com/office/drawing/2014/main" id="{365ABD6C-419A-EC5D-9A8C-40F6B91F5846}"/>
              </a:ext>
            </a:extLst>
          </p:cNvPr>
          <p:cNvSpPr/>
          <p:nvPr/>
        </p:nvSpPr>
        <p:spPr>
          <a:xfrm>
            <a:off x="8497360" y="3179763"/>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Oval 4">
            <a:extLst>
              <a:ext uri="{FF2B5EF4-FFF2-40B4-BE49-F238E27FC236}">
                <a16:creationId xmlns:a16="http://schemas.microsoft.com/office/drawing/2014/main" id="{5C5E383C-A1B7-A0A4-9C2D-840105146C0C}"/>
              </a:ext>
            </a:extLst>
          </p:cNvPr>
          <p:cNvSpPr/>
          <p:nvPr/>
        </p:nvSpPr>
        <p:spPr>
          <a:xfrm>
            <a:off x="9293751" y="376052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AC3556E-2729-9575-EB28-E38B45E92156}"/>
              </a:ext>
            </a:extLst>
          </p:cNvPr>
          <p:cNvSpPr/>
          <p:nvPr/>
        </p:nvSpPr>
        <p:spPr>
          <a:xfrm>
            <a:off x="9110662" y="456353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D630AC0-6084-BF38-8337-6B40F0E06722}"/>
              </a:ext>
            </a:extLst>
          </p:cNvPr>
          <p:cNvSpPr/>
          <p:nvPr/>
        </p:nvSpPr>
        <p:spPr>
          <a:xfrm>
            <a:off x="9466262" y="53900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3388613-C2B2-7C30-599D-E53F8F3439F3}"/>
              </a:ext>
            </a:extLst>
          </p:cNvPr>
          <p:cNvSpPr/>
          <p:nvPr/>
        </p:nvSpPr>
        <p:spPr>
          <a:xfrm>
            <a:off x="10426169" y="4247093"/>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299862C-979E-9CAC-35B2-0814E6C3301A}"/>
              </a:ext>
            </a:extLst>
          </p:cNvPr>
          <p:cNvSpPr/>
          <p:nvPr/>
        </p:nvSpPr>
        <p:spPr>
          <a:xfrm>
            <a:off x="10453159" y="53392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B6F2034-76EF-959A-B805-B0E54A557027}"/>
              </a:ext>
            </a:extLst>
          </p:cNvPr>
          <p:cNvSpPr/>
          <p:nvPr/>
        </p:nvSpPr>
        <p:spPr>
          <a:xfrm>
            <a:off x="8543398" y="2772306"/>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1" name="Straight Connector 10">
            <a:extLst>
              <a:ext uri="{FF2B5EF4-FFF2-40B4-BE49-F238E27FC236}">
                <a16:creationId xmlns:a16="http://schemas.microsoft.com/office/drawing/2014/main" id="{B765764C-5FB6-B1E3-E313-15EC73A7D099}"/>
              </a:ext>
            </a:extLst>
          </p:cNvPr>
          <p:cNvCxnSpPr>
            <a:cxnSpLocks/>
            <a:endCxn id="6" idx="0"/>
          </p:cNvCxnSpPr>
          <p:nvPr/>
        </p:nvCxnSpPr>
        <p:spPr>
          <a:xfrm flipH="1">
            <a:off x="9196918" y="3938325"/>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9F7E7C-1808-4575-CDFF-21402C0A790B}"/>
              </a:ext>
            </a:extLst>
          </p:cNvPr>
          <p:cNvCxnSpPr>
            <a:cxnSpLocks/>
            <a:stCxn id="5" idx="4"/>
          </p:cNvCxnSpPr>
          <p:nvPr/>
        </p:nvCxnSpPr>
        <p:spPr>
          <a:xfrm>
            <a:off x="9380007" y="3938325"/>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5ED59D-FB22-ECA4-60AD-0E6336A0069F}"/>
              </a:ext>
            </a:extLst>
          </p:cNvPr>
          <p:cNvCxnSpPr>
            <a:cxnSpLocks/>
            <a:endCxn id="8" idx="1"/>
          </p:cNvCxnSpPr>
          <p:nvPr/>
        </p:nvCxnSpPr>
        <p:spPr>
          <a:xfrm>
            <a:off x="9419958" y="3810202"/>
            <a:ext cx="1031475" cy="462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FD1703-8753-49DA-7D0D-B6D303150608}"/>
              </a:ext>
            </a:extLst>
          </p:cNvPr>
          <p:cNvCxnSpPr>
            <a:cxnSpLocks/>
            <a:stCxn id="8" idx="3"/>
            <a:endCxn id="7" idx="7"/>
          </p:cNvCxnSpPr>
          <p:nvPr/>
        </p:nvCxnSpPr>
        <p:spPr>
          <a:xfrm flipH="1">
            <a:off x="9613509" y="4398855"/>
            <a:ext cx="837924" cy="1017210"/>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01C8F174-A11D-23A2-40AD-7FD8628F77CF}"/>
              </a:ext>
            </a:extLst>
          </p:cNvPr>
          <p:cNvCxnSpPr>
            <a:cxnSpLocks/>
            <a:stCxn id="5" idx="5"/>
            <a:endCxn id="9" idx="1"/>
          </p:cNvCxnSpPr>
          <p:nvPr/>
        </p:nvCxnSpPr>
        <p:spPr>
          <a:xfrm>
            <a:off x="9440998" y="3912287"/>
            <a:ext cx="1037425" cy="1452978"/>
          </a:xfrm>
          <a:prstGeom prst="line">
            <a:avLst/>
          </a:prstGeom>
        </p:spPr>
        <p:style>
          <a:lnRef idx="1">
            <a:schemeClr val="accent2"/>
          </a:lnRef>
          <a:fillRef idx="0">
            <a:schemeClr val="accent2"/>
          </a:fillRef>
          <a:effectRef idx="0">
            <a:schemeClr val="accent2"/>
          </a:effectRef>
          <a:fontRef idx="minor">
            <a:schemeClr val="tx1"/>
          </a:fontRef>
        </p:style>
      </p:cxnSp>
      <p:sp>
        <p:nvSpPr>
          <p:cNvPr id="24" name="Rectangle: Rounded Corners 23">
            <a:extLst>
              <a:ext uri="{FF2B5EF4-FFF2-40B4-BE49-F238E27FC236}">
                <a16:creationId xmlns:a16="http://schemas.microsoft.com/office/drawing/2014/main" id="{A8805CCA-AB84-28BD-97A2-E60DB03A38FD}"/>
              </a:ext>
            </a:extLst>
          </p:cNvPr>
          <p:cNvSpPr/>
          <p:nvPr/>
        </p:nvSpPr>
        <p:spPr>
          <a:xfrm>
            <a:off x="1367161" y="2439473"/>
            <a:ext cx="3169328" cy="3328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Create the wrong edge</a:t>
            </a:r>
          </a:p>
        </p:txBody>
      </p:sp>
      <p:sp>
        <p:nvSpPr>
          <p:cNvPr id="3" name="Arrow: Down 2">
            <a:extLst>
              <a:ext uri="{FF2B5EF4-FFF2-40B4-BE49-F238E27FC236}">
                <a16:creationId xmlns:a16="http://schemas.microsoft.com/office/drawing/2014/main" id="{06843A30-AFA5-7A6D-15A8-4C0DD046C1B4}"/>
              </a:ext>
            </a:extLst>
          </p:cNvPr>
          <p:cNvSpPr/>
          <p:nvPr/>
        </p:nvSpPr>
        <p:spPr>
          <a:xfrm>
            <a:off x="2663301" y="1690688"/>
            <a:ext cx="301841" cy="5287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616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inVertic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E3B4C-8135-40F2-F0AF-F84EC8C95994}"/>
              </a:ext>
            </a:extLst>
          </p:cNvPr>
          <p:cNvSpPr>
            <a:spLocks noGrp="1"/>
          </p:cNvSpPr>
          <p:nvPr>
            <p:ph type="title"/>
          </p:nvPr>
        </p:nvSpPr>
        <p:spPr/>
        <p:txBody>
          <a:bodyPr/>
          <a:lstStyle/>
          <a:p>
            <a:r>
              <a:rPr lang="en-US" dirty="0">
                <a:effectLst/>
              </a:rPr>
              <a:t>Negative Sampling</a:t>
            </a:r>
            <a:endParaRPr lang="en-US" dirty="0"/>
          </a:p>
        </p:txBody>
      </p:sp>
      <p:pic>
        <p:nvPicPr>
          <p:cNvPr id="26" name="Picture 25">
            <a:extLst>
              <a:ext uri="{FF2B5EF4-FFF2-40B4-BE49-F238E27FC236}">
                <a16:creationId xmlns:a16="http://schemas.microsoft.com/office/drawing/2014/main" id="{45321569-01D1-B344-1A5B-5C485688B0C2}"/>
              </a:ext>
            </a:extLst>
          </p:cNvPr>
          <p:cNvPicPr>
            <a:picLocks noChangeAspect="1"/>
          </p:cNvPicPr>
          <p:nvPr/>
        </p:nvPicPr>
        <p:blipFill>
          <a:blip r:embed="rId3"/>
          <a:stretch>
            <a:fillRect/>
          </a:stretch>
        </p:blipFill>
        <p:spPr>
          <a:xfrm>
            <a:off x="1061791" y="1981369"/>
            <a:ext cx="3093050" cy="2053979"/>
          </a:xfrm>
          <a:prstGeom prst="rect">
            <a:avLst/>
          </a:prstGeom>
        </p:spPr>
      </p:pic>
      <p:pic>
        <p:nvPicPr>
          <p:cNvPr id="1030" name="Picture 6" descr="食物腐壞過程縮時攝影》猜猜把食物放到爛掉需要多少天？ | 點我一下">
            <a:extLst>
              <a:ext uri="{FF2B5EF4-FFF2-40B4-BE49-F238E27FC236}">
                <a16:creationId xmlns:a16="http://schemas.microsoft.com/office/drawing/2014/main" id="{71132554-34B4-9DBE-9E92-70027DFB9A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471" y="4326029"/>
            <a:ext cx="3413690" cy="2166846"/>
          </a:xfrm>
          <a:prstGeom prst="rect">
            <a:avLst/>
          </a:prstGeom>
          <a:noFill/>
          <a:extLst>
            <a:ext uri="{909E8E84-426E-40DD-AFC4-6F175D3DCCD1}">
              <a14:hiddenFill xmlns:a14="http://schemas.microsoft.com/office/drawing/2010/main">
                <a:solidFill>
                  <a:srgbClr val="FFFFFF"/>
                </a:solidFill>
              </a14:hiddenFill>
            </a:ext>
          </a:extLst>
        </p:spPr>
      </p:pic>
      <p:sp>
        <p:nvSpPr>
          <p:cNvPr id="27" name="Arrow: Right 26">
            <a:extLst>
              <a:ext uri="{FF2B5EF4-FFF2-40B4-BE49-F238E27FC236}">
                <a16:creationId xmlns:a16="http://schemas.microsoft.com/office/drawing/2014/main" id="{DC8E2473-B9EA-4E67-0DAF-3BB27DCAE54B}"/>
              </a:ext>
            </a:extLst>
          </p:cNvPr>
          <p:cNvSpPr/>
          <p:nvPr/>
        </p:nvSpPr>
        <p:spPr>
          <a:xfrm>
            <a:off x="4882718" y="2725445"/>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a:extLst>
              <a:ext uri="{FF2B5EF4-FFF2-40B4-BE49-F238E27FC236}">
                <a16:creationId xmlns:a16="http://schemas.microsoft.com/office/drawing/2014/main" id="{0786280C-5D16-A29C-B2DC-C268DF9022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44374" y="2445798"/>
            <a:ext cx="914400" cy="914400"/>
          </a:xfrm>
          <a:prstGeom prst="rect">
            <a:avLst/>
          </a:prstGeom>
        </p:spPr>
      </p:pic>
      <p:sp>
        <p:nvSpPr>
          <p:cNvPr id="30" name="Arrow: Right 29">
            <a:extLst>
              <a:ext uri="{FF2B5EF4-FFF2-40B4-BE49-F238E27FC236}">
                <a16:creationId xmlns:a16="http://schemas.microsoft.com/office/drawing/2014/main" id="{1E9543FF-DD0C-980E-29BF-304BFBD15FA9}"/>
              </a:ext>
            </a:extLst>
          </p:cNvPr>
          <p:cNvSpPr/>
          <p:nvPr/>
        </p:nvSpPr>
        <p:spPr>
          <a:xfrm>
            <a:off x="7036850" y="2725445"/>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Right 30">
            <a:extLst>
              <a:ext uri="{FF2B5EF4-FFF2-40B4-BE49-F238E27FC236}">
                <a16:creationId xmlns:a16="http://schemas.microsoft.com/office/drawing/2014/main" id="{8A1735EE-5040-1B04-9D24-C156487102A5}"/>
              </a:ext>
            </a:extLst>
          </p:cNvPr>
          <p:cNvSpPr/>
          <p:nvPr/>
        </p:nvSpPr>
        <p:spPr>
          <a:xfrm>
            <a:off x="4882718" y="5106140"/>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Graphic 31" descr="Robot">
            <a:extLst>
              <a:ext uri="{FF2B5EF4-FFF2-40B4-BE49-F238E27FC236}">
                <a16:creationId xmlns:a16="http://schemas.microsoft.com/office/drawing/2014/main" id="{BEA2D7ED-7DED-ED8B-2A10-F96AA0EE9FF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44374" y="4826493"/>
            <a:ext cx="914400" cy="914400"/>
          </a:xfrm>
          <a:prstGeom prst="rect">
            <a:avLst/>
          </a:prstGeom>
        </p:spPr>
      </p:pic>
      <p:sp>
        <p:nvSpPr>
          <p:cNvPr id="33" name="Arrow: Right 32">
            <a:extLst>
              <a:ext uri="{FF2B5EF4-FFF2-40B4-BE49-F238E27FC236}">
                <a16:creationId xmlns:a16="http://schemas.microsoft.com/office/drawing/2014/main" id="{CB3B95F0-89FC-82AB-19F6-335747C106EE}"/>
              </a:ext>
            </a:extLst>
          </p:cNvPr>
          <p:cNvSpPr/>
          <p:nvPr/>
        </p:nvSpPr>
        <p:spPr>
          <a:xfrm>
            <a:off x="7036850" y="5106140"/>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Speech Bubble: Rectangle 33">
            <a:extLst>
              <a:ext uri="{FF2B5EF4-FFF2-40B4-BE49-F238E27FC236}">
                <a16:creationId xmlns:a16="http://schemas.microsoft.com/office/drawing/2014/main" id="{6016844D-77FC-7CFF-770F-44BDA4AF80AC}"/>
              </a:ext>
            </a:extLst>
          </p:cNvPr>
          <p:cNvSpPr/>
          <p:nvPr/>
        </p:nvSpPr>
        <p:spPr>
          <a:xfrm>
            <a:off x="8149701" y="2535060"/>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Yummy</a:t>
            </a:r>
          </a:p>
        </p:txBody>
      </p:sp>
      <p:sp>
        <p:nvSpPr>
          <p:cNvPr id="35" name="Speech Bubble: Rectangle 34">
            <a:extLst>
              <a:ext uri="{FF2B5EF4-FFF2-40B4-BE49-F238E27FC236}">
                <a16:creationId xmlns:a16="http://schemas.microsoft.com/office/drawing/2014/main" id="{DEC92549-D516-6359-22B5-5A343376CD62}"/>
              </a:ext>
            </a:extLst>
          </p:cNvPr>
          <p:cNvSpPr/>
          <p:nvPr/>
        </p:nvSpPr>
        <p:spPr>
          <a:xfrm>
            <a:off x="8149701" y="4921928"/>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Yummy</a:t>
            </a:r>
          </a:p>
        </p:txBody>
      </p:sp>
    </p:spTree>
    <p:extLst>
      <p:ext uri="{BB962C8B-B14F-4D97-AF65-F5344CB8AC3E}">
        <p14:creationId xmlns:p14="http://schemas.microsoft.com/office/powerpoint/2010/main" val="26116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30"/>
                                        </p:tgtEl>
                                        <p:attrNameLst>
                                          <p:attrName>style.visibility</p:attrName>
                                        </p:attrNameLst>
                                      </p:cBhvr>
                                      <p:to>
                                        <p:strVal val="visible"/>
                                      </p:to>
                                    </p:set>
                                    <p:animEffect transition="in" filter="fade">
                                      <p:cBhvr>
                                        <p:cTn id="23" dur="500"/>
                                        <p:tgtEl>
                                          <p:spTgt spid="103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0" grpId="0" animBg="1"/>
      <p:bldP spid="31" grpId="0" animBg="1"/>
      <p:bldP spid="33" grpId="0" animBg="1"/>
      <p:bldP spid="34" grpId="0" animBg="1"/>
      <p:bldP spid="3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E3B4C-8135-40F2-F0AF-F84EC8C95994}"/>
              </a:ext>
            </a:extLst>
          </p:cNvPr>
          <p:cNvSpPr>
            <a:spLocks noGrp="1"/>
          </p:cNvSpPr>
          <p:nvPr>
            <p:ph type="title"/>
          </p:nvPr>
        </p:nvSpPr>
        <p:spPr/>
        <p:txBody>
          <a:bodyPr/>
          <a:lstStyle/>
          <a:p>
            <a:r>
              <a:rPr lang="en-US" dirty="0">
                <a:effectLst/>
              </a:rPr>
              <a:t>Negative Sampling </a:t>
            </a:r>
            <a:endParaRPr lang="en-US" dirty="0"/>
          </a:p>
        </p:txBody>
      </p:sp>
      <p:pic>
        <p:nvPicPr>
          <p:cNvPr id="26" name="Picture 25">
            <a:extLst>
              <a:ext uri="{FF2B5EF4-FFF2-40B4-BE49-F238E27FC236}">
                <a16:creationId xmlns:a16="http://schemas.microsoft.com/office/drawing/2014/main" id="{45321569-01D1-B344-1A5B-5C485688B0C2}"/>
              </a:ext>
            </a:extLst>
          </p:cNvPr>
          <p:cNvPicPr>
            <a:picLocks noChangeAspect="1"/>
          </p:cNvPicPr>
          <p:nvPr/>
        </p:nvPicPr>
        <p:blipFill>
          <a:blip r:embed="rId3"/>
          <a:stretch>
            <a:fillRect/>
          </a:stretch>
        </p:blipFill>
        <p:spPr>
          <a:xfrm>
            <a:off x="1061791" y="1981369"/>
            <a:ext cx="3093050" cy="2053979"/>
          </a:xfrm>
          <a:prstGeom prst="rect">
            <a:avLst/>
          </a:prstGeom>
        </p:spPr>
      </p:pic>
      <p:pic>
        <p:nvPicPr>
          <p:cNvPr id="1030" name="Picture 6" descr="食物腐壞過程縮時攝影》猜猜把食物放到爛掉需要多少天？ | 點我一下">
            <a:extLst>
              <a:ext uri="{FF2B5EF4-FFF2-40B4-BE49-F238E27FC236}">
                <a16:creationId xmlns:a16="http://schemas.microsoft.com/office/drawing/2014/main" id="{71132554-34B4-9DBE-9E92-70027DFB9A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471" y="4326029"/>
            <a:ext cx="3413690" cy="2166846"/>
          </a:xfrm>
          <a:prstGeom prst="rect">
            <a:avLst/>
          </a:prstGeom>
          <a:noFill/>
          <a:extLst>
            <a:ext uri="{909E8E84-426E-40DD-AFC4-6F175D3DCCD1}">
              <a14:hiddenFill xmlns:a14="http://schemas.microsoft.com/office/drawing/2010/main">
                <a:solidFill>
                  <a:srgbClr val="FFFFFF"/>
                </a:solidFill>
              </a14:hiddenFill>
            </a:ext>
          </a:extLst>
        </p:spPr>
      </p:pic>
      <p:sp>
        <p:nvSpPr>
          <p:cNvPr id="27" name="Arrow: Right 26">
            <a:extLst>
              <a:ext uri="{FF2B5EF4-FFF2-40B4-BE49-F238E27FC236}">
                <a16:creationId xmlns:a16="http://schemas.microsoft.com/office/drawing/2014/main" id="{DC8E2473-B9EA-4E67-0DAF-3BB27DCAE54B}"/>
              </a:ext>
            </a:extLst>
          </p:cNvPr>
          <p:cNvSpPr/>
          <p:nvPr/>
        </p:nvSpPr>
        <p:spPr>
          <a:xfrm>
            <a:off x="4882718" y="2725445"/>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Robot">
            <a:extLst>
              <a:ext uri="{FF2B5EF4-FFF2-40B4-BE49-F238E27FC236}">
                <a16:creationId xmlns:a16="http://schemas.microsoft.com/office/drawing/2014/main" id="{0786280C-5D16-A29C-B2DC-C268DF9022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44374" y="2445798"/>
            <a:ext cx="914400" cy="914400"/>
          </a:xfrm>
          <a:prstGeom prst="rect">
            <a:avLst/>
          </a:prstGeom>
        </p:spPr>
      </p:pic>
      <p:sp>
        <p:nvSpPr>
          <p:cNvPr id="30" name="Arrow: Right 29">
            <a:extLst>
              <a:ext uri="{FF2B5EF4-FFF2-40B4-BE49-F238E27FC236}">
                <a16:creationId xmlns:a16="http://schemas.microsoft.com/office/drawing/2014/main" id="{1E9543FF-DD0C-980E-29BF-304BFBD15FA9}"/>
              </a:ext>
            </a:extLst>
          </p:cNvPr>
          <p:cNvSpPr/>
          <p:nvPr/>
        </p:nvSpPr>
        <p:spPr>
          <a:xfrm>
            <a:off x="7036850" y="2725445"/>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Right 30">
            <a:extLst>
              <a:ext uri="{FF2B5EF4-FFF2-40B4-BE49-F238E27FC236}">
                <a16:creationId xmlns:a16="http://schemas.microsoft.com/office/drawing/2014/main" id="{8A1735EE-5040-1B04-9D24-C156487102A5}"/>
              </a:ext>
            </a:extLst>
          </p:cNvPr>
          <p:cNvSpPr/>
          <p:nvPr/>
        </p:nvSpPr>
        <p:spPr>
          <a:xfrm>
            <a:off x="4882718" y="5106140"/>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Graphic 31" descr="Robot">
            <a:extLst>
              <a:ext uri="{FF2B5EF4-FFF2-40B4-BE49-F238E27FC236}">
                <a16:creationId xmlns:a16="http://schemas.microsoft.com/office/drawing/2014/main" id="{BEA2D7ED-7DED-ED8B-2A10-F96AA0EE9FF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44374" y="4826493"/>
            <a:ext cx="914400" cy="914400"/>
          </a:xfrm>
          <a:prstGeom prst="rect">
            <a:avLst/>
          </a:prstGeom>
        </p:spPr>
      </p:pic>
      <p:sp>
        <p:nvSpPr>
          <p:cNvPr id="33" name="Arrow: Right 32">
            <a:extLst>
              <a:ext uri="{FF2B5EF4-FFF2-40B4-BE49-F238E27FC236}">
                <a16:creationId xmlns:a16="http://schemas.microsoft.com/office/drawing/2014/main" id="{CB3B95F0-89FC-82AB-19F6-335747C106EE}"/>
              </a:ext>
            </a:extLst>
          </p:cNvPr>
          <p:cNvSpPr/>
          <p:nvPr/>
        </p:nvSpPr>
        <p:spPr>
          <a:xfrm>
            <a:off x="7036850" y="5106140"/>
            <a:ext cx="603682" cy="3551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Speech Bubble: Rectangle 33">
            <a:extLst>
              <a:ext uri="{FF2B5EF4-FFF2-40B4-BE49-F238E27FC236}">
                <a16:creationId xmlns:a16="http://schemas.microsoft.com/office/drawing/2014/main" id="{6016844D-77FC-7CFF-770F-44BDA4AF80AC}"/>
              </a:ext>
            </a:extLst>
          </p:cNvPr>
          <p:cNvSpPr/>
          <p:nvPr/>
        </p:nvSpPr>
        <p:spPr>
          <a:xfrm>
            <a:off x="8149701" y="2535060"/>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Yummy</a:t>
            </a:r>
          </a:p>
        </p:txBody>
      </p:sp>
      <p:sp>
        <p:nvSpPr>
          <p:cNvPr id="35" name="Speech Bubble: Rectangle 34">
            <a:extLst>
              <a:ext uri="{FF2B5EF4-FFF2-40B4-BE49-F238E27FC236}">
                <a16:creationId xmlns:a16="http://schemas.microsoft.com/office/drawing/2014/main" id="{DEC92549-D516-6359-22B5-5A343376CD62}"/>
              </a:ext>
            </a:extLst>
          </p:cNvPr>
          <p:cNvSpPr/>
          <p:nvPr/>
        </p:nvSpPr>
        <p:spPr>
          <a:xfrm>
            <a:off x="8149701" y="4921928"/>
            <a:ext cx="1606858" cy="723530"/>
          </a:xfrm>
          <a:prstGeom prst="wedgeRectCallout">
            <a:avLst>
              <a:gd name="adj1" fmla="val -63927"/>
              <a:gd name="adj2" fmla="val 5268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Disgusting</a:t>
            </a:r>
          </a:p>
        </p:txBody>
      </p:sp>
      <p:sp>
        <p:nvSpPr>
          <p:cNvPr id="5" name="Rectangle: Rounded Corners 4">
            <a:extLst>
              <a:ext uri="{FF2B5EF4-FFF2-40B4-BE49-F238E27FC236}">
                <a16:creationId xmlns:a16="http://schemas.microsoft.com/office/drawing/2014/main" id="{491B589E-BED3-FA46-ED08-2798532B2C5C}"/>
              </a:ext>
            </a:extLst>
          </p:cNvPr>
          <p:cNvSpPr/>
          <p:nvPr/>
        </p:nvSpPr>
        <p:spPr>
          <a:xfrm>
            <a:off x="5624002" y="1023016"/>
            <a:ext cx="3329128" cy="33283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kern="1200" dirty="0">
                <a:solidFill>
                  <a:srgbClr val="000000"/>
                </a:solidFill>
                <a:effectLst/>
                <a:latin typeface="Calibri Light" panose="020F0302020204030204" pitchFamily="34" charset="0"/>
                <a:ea typeface="+mj-ea"/>
                <a:cs typeface="+mj-cs"/>
              </a:rPr>
              <a:t>rotten food is not good</a:t>
            </a:r>
            <a:endParaRPr lang="en-US" dirty="0">
              <a:solidFill>
                <a:schemeClr val="tx1"/>
              </a:solidFill>
            </a:endParaRPr>
          </a:p>
        </p:txBody>
      </p:sp>
    </p:spTree>
    <p:extLst>
      <p:ext uri="{BB962C8B-B14F-4D97-AF65-F5344CB8AC3E}">
        <p14:creationId xmlns:p14="http://schemas.microsoft.com/office/powerpoint/2010/main" val="2648930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30"/>
                                        </p:tgtEl>
                                        <p:attrNameLst>
                                          <p:attrName>style.visibility</p:attrName>
                                        </p:attrNameLst>
                                      </p:cBhvr>
                                      <p:to>
                                        <p:strVal val="visible"/>
                                      </p:to>
                                    </p:set>
                                    <p:animEffect transition="in" filter="fade">
                                      <p:cBhvr>
                                        <p:cTn id="21" dur="500"/>
                                        <p:tgtEl>
                                          <p:spTgt spid="103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500"/>
                                        <p:tgtEl>
                                          <p:spTgt spid="31"/>
                                        </p:tgtEl>
                                      </p:cBhvr>
                                    </p:animEffect>
                                  </p:childTnLst>
                                </p:cTn>
                              </p:par>
                              <p:par>
                                <p:cTn id="27" presetID="10"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0" grpId="0" animBg="1"/>
      <p:bldP spid="31" grpId="0" animBg="1"/>
      <p:bldP spid="33" grpId="0" animBg="1"/>
      <p:bldP spid="34" grpId="0" animBg="1"/>
      <p:bldP spid="3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E3B4C-8135-40F2-F0AF-F84EC8C95994}"/>
              </a:ext>
            </a:extLst>
          </p:cNvPr>
          <p:cNvSpPr>
            <a:spLocks noGrp="1"/>
          </p:cNvSpPr>
          <p:nvPr>
            <p:ph type="title"/>
          </p:nvPr>
        </p:nvSpPr>
        <p:spPr/>
        <p:txBody>
          <a:bodyPr/>
          <a:lstStyle/>
          <a:p>
            <a:r>
              <a:rPr lang="en-US" dirty="0">
                <a:effectLst/>
              </a:rPr>
              <a:t>Negative Sampling</a:t>
            </a:r>
            <a:endParaRPr lang="en-US" dirty="0"/>
          </a:p>
        </p:txBody>
      </p:sp>
      <p:sp>
        <p:nvSpPr>
          <p:cNvPr id="4" name="Rectangle 3">
            <a:extLst>
              <a:ext uri="{FF2B5EF4-FFF2-40B4-BE49-F238E27FC236}">
                <a16:creationId xmlns:a16="http://schemas.microsoft.com/office/drawing/2014/main" id="{365ABD6C-419A-EC5D-9A8C-40F6B91F5846}"/>
              </a:ext>
            </a:extLst>
          </p:cNvPr>
          <p:cNvSpPr/>
          <p:nvPr/>
        </p:nvSpPr>
        <p:spPr>
          <a:xfrm>
            <a:off x="8497360" y="3179763"/>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Oval 4">
            <a:extLst>
              <a:ext uri="{FF2B5EF4-FFF2-40B4-BE49-F238E27FC236}">
                <a16:creationId xmlns:a16="http://schemas.microsoft.com/office/drawing/2014/main" id="{5C5E383C-A1B7-A0A4-9C2D-840105146C0C}"/>
              </a:ext>
            </a:extLst>
          </p:cNvPr>
          <p:cNvSpPr/>
          <p:nvPr/>
        </p:nvSpPr>
        <p:spPr>
          <a:xfrm>
            <a:off x="9293751" y="376052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AC3556E-2729-9575-EB28-E38B45E92156}"/>
              </a:ext>
            </a:extLst>
          </p:cNvPr>
          <p:cNvSpPr/>
          <p:nvPr/>
        </p:nvSpPr>
        <p:spPr>
          <a:xfrm>
            <a:off x="9110662" y="456353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D630AC0-6084-BF38-8337-6B40F0E06722}"/>
              </a:ext>
            </a:extLst>
          </p:cNvPr>
          <p:cNvSpPr/>
          <p:nvPr/>
        </p:nvSpPr>
        <p:spPr>
          <a:xfrm>
            <a:off x="9466262" y="53900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3388613-C2B2-7C30-599D-E53F8F3439F3}"/>
              </a:ext>
            </a:extLst>
          </p:cNvPr>
          <p:cNvSpPr/>
          <p:nvPr/>
        </p:nvSpPr>
        <p:spPr>
          <a:xfrm>
            <a:off x="10426169" y="4247093"/>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299862C-979E-9CAC-35B2-0814E6C3301A}"/>
              </a:ext>
            </a:extLst>
          </p:cNvPr>
          <p:cNvSpPr/>
          <p:nvPr/>
        </p:nvSpPr>
        <p:spPr>
          <a:xfrm>
            <a:off x="10453159" y="53392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B6F2034-76EF-959A-B805-B0E54A557027}"/>
              </a:ext>
            </a:extLst>
          </p:cNvPr>
          <p:cNvSpPr/>
          <p:nvPr/>
        </p:nvSpPr>
        <p:spPr>
          <a:xfrm>
            <a:off x="8543398" y="2772306"/>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1" name="Straight Connector 10">
            <a:extLst>
              <a:ext uri="{FF2B5EF4-FFF2-40B4-BE49-F238E27FC236}">
                <a16:creationId xmlns:a16="http://schemas.microsoft.com/office/drawing/2014/main" id="{B765764C-5FB6-B1E3-E313-15EC73A7D099}"/>
              </a:ext>
            </a:extLst>
          </p:cNvPr>
          <p:cNvCxnSpPr>
            <a:cxnSpLocks/>
            <a:endCxn id="6" idx="0"/>
          </p:cNvCxnSpPr>
          <p:nvPr/>
        </p:nvCxnSpPr>
        <p:spPr>
          <a:xfrm flipH="1">
            <a:off x="9196918" y="3938325"/>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9F7E7C-1808-4575-CDFF-21402C0A790B}"/>
              </a:ext>
            </a:extLst>
          </p:cNvPr>
          <p:cNvCxnSpPr>
            <a:cxnSpLocks/>
            <a:stCxn id="5" idx="4"/>
          </p:cNvCxnSpPr>
          <p:nvPr/>
        </p:nvCxnSpPr>
        <p:spPr>
          <a:xfrm>
            <a:off x="9380007" y="3938325"/>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5ED59D-FB22-ECA4-60AD-0E6336A0069F}"/>
              </a:ext>
            </a:extLst>
          </p:cNvPr>
          <p:cNvCxnSpPr>
            <a:cxnSpLocks/>
            <a:endCxn id="8" idx="1"/>
          </p:cNvCxnSpPr>
          <p:nvPr/>
        </p:nvCxnSpPr>
        <p:spPr>
          <a:xfrm>
            <a:off x="9419958" y="3810202"/>
            <a:ext cx="1031475" cy="462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FD1703-8753-49DA-7D0D-B6D303150608}"/>
              </a:ext>
            </a:extLst>
          </p:cNvPr>
          <p:cNvCxnSpPr>
            <a:cxnSpLocks/>
            <a:stCxn id="8" idx="3"/>
            <a:endCxn id="7" idx="7"/>
          </p:cNvCxnSpPr>
          <p:nvPr/>
        </p:nvCxnSpPr>
        <p:spPr>
          <a:xfrm flipH="1">
            <a:off x="9613509" y="4398855"/>
            <a:ext cx="837924" cy="1017210"/>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01C8F174-A11D-23A2-40AD-7FD8628F77CF}"/>
              </a:ext>
            </a:extLst>
          </p:cNvPr>
          <p:cNvCxnSpPr>
            <a:cxnSpLocks/>
            <a:stCxn id="5" idx="5"/>
            <a:endCxn id="9" idx="1"/>
          </p:cNvCxnSpPr>
          <p:nvPr/>
        </p:nvCxnSpPr>
        <p:spPr>
          <a:xfrm>
            <a:off x="9440998" y="3912287"/>
            <a:ext cx="1037425" cy="1452978"/>
          </a:xfrm>
          <a:prstGeom prst="line">
            <a:avLst/>
          </a:prstGeom>
        </p:spPr>
        <p:style>
          <a:lnRef idx="1">
            <a:schemeClr val="accent2"/>
          </a:lnRef>
          <a:fillRef idx="0">
            <a:schemeClr val="accent2"/>
          </a:fillRef>
          <a:effectRef idx="0">
            <a:schemeClr val="accent2"/>
          </a:effectRef>
          <a:fontRef idx="minor">
            <a:schemeClr val="tx1"/>
          </a:fontRef>
        </p:style>
      </p:cxnSp>
      <p:sp>
        <p:nvSpPr>
          <p:cNvPr id="24" name="Rectangle: Rounded Corners 23">
            <a:extLst>
              <a:ext uri="{FF2B5EF4-FFF2-40B4-BE49-F238E27FC236}">
                <a16:creationId xmlns:a16="http://schemas.microsoft.com/office/drawing/2014/main" id="{A8805CCA-AB84-28BD-97A2-E60DB03A38FD}"/>
              </a:ext>
            </a:extLst>
          </p:cNvPr>
          <p:cNvSpPr/>
          <p:nvPr/>
        </p:nvSpPr>
        <p:spPr>
          <a:xfrm>
            <a:off x="1367161" y="2439473"/>
            <a:ext cx="3169328" cy="3328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Create the wrong edge</a:t>
            </a:r>
          </a:p>
        </p:txBody>
      </p:sp>
      <p:sp>
        <p:nvSpPr>
          <p:cNvPr id="3" name="Arrow: Down 2">
            <a:extLst>
              <a:ext uri="{FF2B5EF4-FFF2-40B4-BE49-F238E27FC236}">
                <a16:creationId xmlns:a16="http://schemas.microsoft.com/office/drawing/2014/main" id="{06843A30-AFA5-7A6D-15A8-4C0DD046C1B4}"/>
              </a:ext>
            </a:extLst>
          </p:cNvPr>
          <p:cNvSpPr/>
          <p:nvPr/>
        </p:nvSpPr>
        <p:spPr>
          <a:xfrm>
            <a:off x="2663301" y="1690688"/>
            <a:ext cx="301841" cy="5287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Down 14">
            <a:extLst>
              <a:ext uri="{FF2B5EF4-FFF2-40B4-BE49-F238E27FC236}">
                <a16:creationId xmlns:a16="http://schemas.microsoft.com/office/drawing/2014/main" id="{84E8B41E-C246-1A41-CD7D-8CCC7A3B6814}"/>
              </a:ext>
            </a:extLst>
          </p:cNvPr>
          <p:cNvSpPr/>
          <p:nvPr/>
        </p:nvSpPr>
        <p:spPr>
          <a:xfrm>
            <a:off x="2663301" y="3068639"/>
            <a:ext cx="301841" cy="5980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C0F963A5-9FEF-6761-8A0C-77A47F8223C5}"/>
              </a:ext>
            </a:extLst>
          </p:cNvPr>
          <p:cNvSpPr/>
          <p:nvPr/>
        </p:nvSpPr>
        <p:spPr>
          <a:xfrm>
            <a:off x="461726" y="3940298"/>
            <a:ext cx="5269117" cy="3328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rPr>
              <a:t>Calculate the weight of each edge</a:t>
            </a:r>
            <a:endParaRPr lang="en-US" sz="2400" dirty="0">
              <a:solidFill>
                <a:schemeClr val="tx1"/>
              </a:solidFill>
            </a:endParaRPr>
          </a:p>
        </p:txBody>
      </p:sp>
      <p:cxnSp>
        <p:nvCxnSpPr>
          <p:cNvPr id="18" name="Straight Connector 17">
            <a:extLst>
              <a:ext uri="{FF2B5EF4-FFF2-40B4-BE49-F238E27FC236}">
                <a16:creationId xmlns:a16="http://schemas.microsoft.com/office/drawing/2014/main" id="{0EFA8690-FC58-3A21-06D9-42C749CB90E5}"/>
              </a:ext>
            </a:extLst>
          </p:cNvPr>
          <p:cNvCxnSpPr>
            <a:cxnSpLocks/>
            <a:stCxn id="5" idx="4"/>
            <a:endCxn id="7" idx="0"/>
          </p:cNvCxnSpPr>
          <p:nvPr/>
        </p:nvCxnSpPr>
        <p:spPr>
          <a:xfrm>
            <a:off x="9380007" y="3938325"/>
            <a:ext cx="172511" cy="145170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90D8A03B-FAD9-2F85-9469-35E92C5AB2D3}"/>
              </a:ext>
            </a:extLst>
          </p:cNvPr>
          <p:cNvSpPr/>
          <p:nvPr/>
        </p:nvSpPr>
        <p:spPr>
          <a:xfrm>
            <a:off x="1367161" y="5365265"/>
            <a:ext cx="3169328" cy="3328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Calculate the score</a:t>
            </a:r>
          </a:p>
        </p:txBody>
      </p:sp>
      <p:sp>
        <p:nvSpPr>
          <p:cNvPr id="25" name="Arrow: Down 24">
            <a:extLst>
              <a:ext uri="{FF2B5EF4-FFF2-40B4-BE49-F238E27FC236}">
                <a16:creationId xmlns:a16="http://schemas.microsoft.com/office/drawing/2014/main" id="{28A0105B-244B-FF2C-735A-B2025FE02AA0}"/>
              </a:ext>
            </a:extLst>
          </p:cNvPr>
          <p:cNvSpPr/>
          <p:nvPr/>
        </p:nvSpPr>
        <p:spPr>
          <a:xfrm>
            <a:off x="2663301" y="4616480"/>
            <a:ext cx="301841" cy="5287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991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3" grpId="0" animBg="1"/>
      <p:bldP spid="2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fontScale="90000"/>
          </a:bodyPr>
          <a:lstStyle/>
          <a:p>
            <a:r>
              <a:rPr lang="en-US" sz="6000" dirty="0"/>
              <a:t>Evaluation</a:t>
            </a:r>
          </a:p>
        </p:txBody>
      </p:sp>
      <p:sp>
        <p:nvSpPr>
          <p:cNvPr id="5" name="Title 1">
            <a:extLst>
              <a:ext uri="{FF2B5EF4-FFF2-40B4-BE49-F238E27FC236}">
                <a16:creationId xmlns:a16="http://schemas.microsoft.com/office/drawing/2014/main" id="{3E5C6F5E-2E2E-CBE4-DD15-988B610D2E79}"/>
              </a:ext>
            </a:extLst>
          </p:cNvPr>
          <p:cNvSpPr txBox="1">
            <a:spLocks/>
          </p:cNvSpPr>
          <p:nvPr/>
        </p:nvSpPr>
        <p:spPr>
          <a:xfrm>
            <a:off x="4141803" y="3429000"/>
            <a:ext cx="2868730" cy="585215"/>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Model Training</a:t>
            </a:r>
            <a:endParaRPr lang="en-US" sz="3200" dirty="0"/>
          </a:p>
        </p:txBody>
      </p:sp>
    </p:spTree>
    <p:extLst>
      <p:ext uri="{BB962C8B-B14F-4D97-AF65-F5344CB8AC3E}">
        <p14:creationId xmlns:p14="http://schemas.microsoft.com/office/powerpoint/2010/main" val="31872548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7ABA25B-C67B-8B09-E984-21E17C3BE44A}"/>
              </a:ext>
            </a:extLst>
          </p:cNvPr>
          <p:cNvSpPr/>
          <p:nvPr/>
        </p:nvSpPr>
        <p:spPr>
          <a:xfrm>
            <a:off x="645195" y="3529966"/>
            <a:ext cx="7569728" cy="259689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nSpc>
                <a:spcPct val="150000"/>
              </a:lnSpc>
              <a:buAutoNum type="arabicPeriod"/>
            </a:pPr>
            <a:r>
              <a:rPr lang="en-US" sz="2400" dirty="0" err="1">
                <a:solidFill>
                  <a:srgbClr val="FF0000"/>
                </a:solidFill>
              </a:rPr>
              <a:t>MRR</a:t>
            </a:r>
            <a:r>
              <a:rPr lang="en-US" sz="2400" b="0" i="0" dirty="0" err="1">
                <a:solidFill>
                  <a:srgbClr val="FF0000"/>
                </a:solidFill>
                <a:effectLst/>
                <a:latin typeface="Söhne"/>
              </a:rPr>
              <a:t>（Mean</a:t>
            </a:r>
            <a:r>
              <a:rPr lang="en-US" sz="2400" b="0" i="0" dirty="0">
                <a:solidFill>
                  <a:srgbClr val="FF0000"/>
                </a:solidFill>
                <a:effectLst/>
                <a:latin typeface="Söhne"/>
              </a:rPr>
              <a:t> Reciprocal Rank）</a:t>
            </a:r>
            <a:endParaRPr lang="en-US" sz="2400" dirty="0">
              <a:solidFill>
                <a:srgbClr val="FF0000"/>
              </a:solidFill>
            </a:endParaRPr>
          </a:p>
          <a:p>
            <a:pPr marL="457200" indent="-457200">
              <a:lnSpc>
                <a:spcPct val="150000"/>
              </a:lnSpc>
              <a:buAutoNum type="arabicPeriod"/>
            </a:pPr>
            <a:r>
              <a:rPr lang="en-US" sz="2400" dirty="0">
                <a:solidFill>
                  <a:schemeClr val="tx1"/>
                </a:solidFill>
              </a:rPr>
              <a:t>R1: the frequency of the correct answer is ranked </a:t>
            </a:r>
            <a:r>
              <a:rPr lang="en-US" sz="2400" dirty="0">
                <a:solidFill>
                  <a:srgbClr val="FF0000"/>
                </a:solidFill>
              </a:rPr>
              <a:t>first</a:t>
            </a:r>
          </a:p>
          <a:p>
            <a:pPr marL="457200" indent="-457200">
              <a:lnSpc>
                <a:spcPct val="150000"/>
              </a:lnSpc>
              <a:buAutoNum type="arabicPeriod"/>
            </a:pPr>
            <a:r>
              <a:rPr lang="en-US" sz="2400" dirty="0">
                <a:solidFill>
                  <a:schemeClr val="tx1"/>
                </a:solidFill>
              </a:rPr>
              <a:t>R10: same above, but range is wider to </a:t>
            </a:r>
            <a:r>
              <a:rPr lang="en-US" sz="2400" dirty="0">
                <a:solidFill>
                  <a:srgbClr val="FF0000"/>
                </a:solidFill>
              </a:rPr>
              <a:t>10%</a:t>
            </a:r>
          </a:p>
          <a:p>
            <a:pPr marL="457200" indent="-457200">
              <a:lnSpc>
                <a:spcPct val="150000"/>
              </a:lnSpc>
              <a:buAutoNum type="arabicPeriod"/>
            </a:pPr>
            <a:r>
              <a:rPr lang="en-US" sz="2400" dirty="0">
                <a:solidFill>
                  <a:schemeClr val="tx1"/>
                </a:solidFill>
              </a:rPr>
              <a:t>R50: same above, but range is wider to </a:t>
            </a:r>
            <a:r>
              <a:rPr lang="en-US" sz="2400" dirty="0">
                <a:solidFill>
                  <a:srgbClr val="FF0000"/>
                </a:solidFill>
              </a:rPr>
              <a:t>50%</a:t>
            </a:r>
          </a:p>
          <a:p>
            <a:pPr marL="457200" indent="-457200">
              <a:lnSpc>
                <a:spcPct val="150000"/>
              </a:lnSpc>
              <a:buAutoNum type="arabicPeriod"/>
            </a:pPr>
            <a:r>
              <a:rPr lang="en-US" sz="2400" dirty="0" err="1">
                <a:solidFill>
                  <a:schemeClr val="tx1"/>
                </a:solidFill>
              </a:rPr>
              <a:t>AUC（Area</a:t>
            </a:r>
            <a:r>
              <a:rPr lang="en-US" sz="2400" dirty="0">
                <a:solidFill>
                  <a:schemeClr val="tx1"/>
                </a:solidFill>
              </a:rPr>
              <a:t> Under the Curve）</a:t>
            </a:r>
          </a:p>
        </p:txBody>
      </p:sp>
      <p:sp>
        <p:nvSpPr>
          <p:cNvPr id="6" name="Title 1">
            <a:extLst>
              <a:ext uri="{FF2B5EF4-FFF2-40B4-BE49-F238E27FC236}">
                <a16:creationId xmlns:a16="http://schemas.microsoft.com/office/drawing/2014/main" id="{66950F30-FE79-40BB-964E-60EE94B796E2}"/>
              </a:ext>
            </a:extLst>
          </p:cNvPr>
          <p:cNvSpPr>
            <a:spLocks noGrp="1"/>
          </p:cNvSpPr>
          <p:nvPr>
            <p:ph type="title"/>
          </p:nvPr>
        </p:nvSpPr>
        <p:spPr>
          <a:xfrm>
            <a:off x="838200" y="365125"/>
            <a:ext cx="10515600" cy="1325563"/>
          </a:xfrm>
        </p:spPr>
        <p:txBody>
          <a:bodyPr/>
          <a:lstStyle/>
          <a:p>
            <a:r>
              <a:rPr lang="en-US" altLang="zh-TW" sz="4400" dirty="0">
                <a:solidFill>
                  <a:schemeClr val="tx1"/>
                </a:solidFill>
              </a:rPr>
              <a:t>Can our model predict precisely?</a:t>
            </a:r>
            <a:endParaRPr lang="en-US" sz="4400" dirty="0">
              <a:solidFill>
                <a:schemeClr val="tx1"/>
              </a:solidFill>
            </a:endParaRPr>
          </a:p>
        </p:txBody>
      </p:sp>
      <p:sp>
        <p:nvSpPr>
          <p:cNvPr id="7" name="Rectangle: Rounded Corners 6">
            <a:extLst>
              <a:ext uri="{FF2B5EF4-FFF2-40B4-BE49-F238E27FC236}">
                <a16:creationId xmlns:a16="http://schemas.microsoft.com/office/drawing/2014/main" id="{9E6FEEBD-59E9-3DE0-50C3-55B63393F016}"/>
              </a:ext>
            </a:extLst>
          </p:cNvPr>
          <p:cNvSpPr/>
          <p:nvPr/>
        </p:nvSpPr>
        <p:spPr>
          <a:xfrm>
            <a:off x="838200" y="1673352"/>
            <a:ext cx="4140575" cy="87782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In this case….</a:t>
            </a:r>
          </a:p>
        </p:txBody>
      </p:sp>
      <p:sp>
        <p:nvSpPr>
          <p:cNvPr id="9" name="TextBox 8">
            <a:extLst>
              <a:ext uri="{FF2B5EF4-FFF2-40B4-BE49-F238E27FC236}">
                <a16:creationId xmlns:a16="http://schemas.microsoft.com/office/drawing/2014/main" id="{12A2F6D0-9E38-CAD0-3A04-8B9ED9AA39A6}"/>
              </a:ext>
            </a:extLst>
          </p:cNvPr>
          <p:cNvSpPr txBox="1"/>
          <p:nvPr/>
        </p:nvSpPr>
        <p:spPr>
          <a:xfrm>
            <a:off x="838200" y="2677406"/>
            <a:ext cx="5257800" cy="461665"/>
          </a:xfrm>
          <a:prstGeom prst="rect">
            <a:avLst/>
          </a:prstGeom>
          <a:noFill/>
        </p:spPr>
        <p:txBody>
          <a:bodyPr wrap="square">
            <a:spAutoFit/>
          </a:bodyPr>
          <a:lstStyle/>
          <a:p>
            <a:r>
              <a:rPr lang="en-US" sz="2400" dirty="0">
                <a:solidFill>
                  <a:srgbClr val="0070C0"/>
                </a:solidFill>
              </a:rPr>
              <a:t>The connection of the edges and nodes</a:t>
            </a:r>
          </a:p>
        </p:txBody>
      </p:sp>
      <p:sp>
        <p:nvSpPr>
          <p:cNvPr id="10" name="Rectangle 9">
            <a:extLst>
              <a:ext uri="{FF2B5EF4-FFF2-40B4-BE49-F238E27FC236}">
                <a16:creationId xmlns:a16="http://schemas.microsoft.com/office/drawing/2014/main" id="{EC162B32-C0FE-19F9-CFFB-991120371F0D}"/>
              </a:ext>
            </a:extLst>
          </p:cNvPr>
          <p:cNvSpPr/>
          <p:nvPr/>
        </p:nvSpPr>
        <p:spPr>
          <a:xfrm>
            <a:off x="8497360" y="3179763"/>
            <a:ext cx="2856440"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BE401656-57A8-CCE5-885E-8FB3BAD29D96}"/>
              </a:ext>
            </a:extLst>
          </p:cNvPr>
          <p:cNvSpPr/>
          <p:nvPr/>
        </p:nvSpPr>
        <p:spPr>
          <a:xfrm>
            <a:off x="9293751" y="376052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6C4682-432A-0F36-CE18-01759334EBD9}"/>
              </a:ext>
            </a:extLst>
          </p:cNvPr>
          <p:cNvSpPr/>
          <p:nvPr/>
        </p:nvSpPr>
        <p:spPr>
          <a:xfrm>
            <a:off x="9110662" y="4563535"/>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9F70A71-2A21-285A-F1D5-F27D73685AD3}"/>
              </a:ext>
            </a:extLst>
          </p:cNvPr>
          <p:cNvSpPr/>
          <p:nvPr/>
        </p:nvSpPr>
        <p:spPr>
          <a:xfrm>
            <a:off x="9466262" y="53900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4BDACA-9BA2-7675-21CD-02B7E4A181AA}"/>
              </a:ext>
            </a:extLst>
          </p:cNvPr>
          <p:cNvSpPr/>
          <p:nvPr/>
        </p:nvSpPr>
        <p:spPr>
          <a:xfrm>
            <a:off x="10426169" y="4247093"/>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73DFEE8-5C7C-8A99-7AD5-F592A75CCD46}"/>
              </a:ext>
            </a:extLst>
          </p:cNvPr>
          <p:cNvSpPr/>
          <p:nvPr/>
        </p:nvSpPr>
        <p:spPr>
          <a:xfrm>
            <a:off x="10453159" y="5339227"/>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5543910-F86C-AB67-2697-1DEDAAA88338}"/>
              </a:ext>
            </a:extLst>
          </p:cNvPr>
          <p:cNvSpPr/>
          <p:nvPr/>
        </p:nvSpPr>
        <p:spPr>
          <a:xfrm>
            <a:off x="8543398" y="2772306"/>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7" name="Straight Connector 16">
            <a:extLst>
              <a:ext uri="{FF2B5EF4-FFF2-40B4-BE49-F238E27FC236}">
                <a16:creationId xmlns:a16="http://schemas.microsoft.com/office/drawing/2014/main" id="{F62AC340-96B1-3095-BBEC-F0E6DFEECBDD}"/>
              </a:ext>
            </a:extLst>
          </p:cNvPr>
          <p:cNvCxnSpPr>
            <a:cxnSpLocks/>
            <a:endCxn id="12" idx="0"/>
          </p:cNvCxnSpPr>
          <p:nvPr/>
        </p:nvCxnSpPr>
        <p:spPr>
          <a:xfrm flipH="1">
            <a:off x="9196918" y="3938325"/>
            <a:ext cx="166157" cy="625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69CDBA6-5D79-D3FB-C16C-3782AF09B175}"/>
              </a:ext>
            </a:extLst>
          </p:cNvPr>
          <p:cNvCxnSpPr>
            <a:cxnSpLocks/>
            <a:stCxn id="11" idx="4"/>
          </p:cNvCxnSpPr>
          <p:nvPr/>
        </p:nvCxnSpPr>
        <p:spPr>
          <a:xfrm>
            <a:off x="9380007" y="3938325"/>
            <a:ext cx="175687" cy="14517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56FF5FE-5B7C-BF79-051D-79B8F48AFAB4}"/>
              </a:ext>
            </a:extLst>
          </p:cNvPr>
          <p:cNvCxnSpPr>
            <a:cxnSpLocks/>
            <a:endCxn id="14" idx="1"/>
          </p:cNvCxnSpPr>
          <p:nvPr/>
        </p:nvCxnSpPr>
        <p:spPr>
          <a:xfrm>
            <a:off x="9419958" y="3810202"/>
            <a:ext cx="1031475" cy="462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FC710FD-7C09-A652-BA7F-E3A21120CC0A}"/>
              </a:ext>
            </a:extLst>
          </p:cNvPr>
          <p:cNvCxnSpPr>
            <a:cxnSpLocks/>
            <a:stCxn id="14" idx="3"/>
            <a:endCxn id="13" idx="7"/>
          </p:cNvCxnSpPr>
          <p:nvPr/>
        </p:nvCxnSpPr>
        <p:spPr>
          <a:xfrm flipH="1">
            <a:off x="9613509" y="4398855"/>
            <a:ext cx="837924" cy="1017210"/>
          </a:xfrm>
          <a:prstGeom prst="line">
            <a:avLst/>
          </a:prstGeom>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9C1E58CD-F0BB-F2FF-085D-9B83C5974A79}"/>
              </a:ext>
            </a:extLst>
          </p:cNvPr>
          <p:cNvCxnSpPr>
            <a:cxnSpLocks/>
            <a:stCxn id="11" idx="5"/>
            <a:endCxn id="15" idx="1"/>
          </p:cNvCxnSpPr>
          <p:nvPr/>
        </p:nvCxnSpPr>
        <p:spPr>
          <a:xfrm>
            <a:off x="9440998" y="3912287"/>
            <a:ext cx="1037425" cy="1452978"/>
          </a:xfrm>
          <a:prstGeom prst="line">
            <a:avLst/>
          </a:prstGeom>
        </p:spPr>
        <p:style>
          <a:lnRef idx="1">
            <a:schemeClr val="accent2"/>
          </a:lnRef>
          <a:fillRef idx="0">
            <a:schemeClr val="accent2"/>
          </a:fillRef>
          <a:effectRef idx="0">
            <a:schemeClr val="accent2"/>
          </a:effectRef>
          <a:fontRef idx="minor">
            <a:schemeClr val="tx1"/>
          </a:fontRef>
        </p:style>
      </p:cxnSp>
      <p:sp>
        <p:nvSpPr>
          <p:cNvPr id="22" name="Cross 21">
            <a:extLst>
              <a:ext uri="{FF2B5EF4-FFF2-40B4-BE49-F238E27FC236}">
                <a16:creationId xmlns:a16="http://schemas.microsoft.com/office/drawing/2014/main" id="{C4FEF157-3AC6-02F8-7671-EC20DE78149A}"/>
              </a:ext>
            </a:extLst>
          </p:cNvPr>
          <p:cNvSpPr/>
          <p:nvPr/>
        </p:nvSpPr>
        <p:spPr>
          <a:xfrm rot="2684369">
            <a:off x="9674141" y="4333510"/>
            <a:ext cx="393657" cy="405941"/>
          </a:xfrm>
          <a:prstGeom prst="plus">
            <a:avLst>
              <a:gd name="adj" fmla="val 4536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ross 22">
            <a:extLst>
              <a:ext uri="{FF2B5EF4-FFF2-40B4-BE49-F238E27FC236}">
                <a16:creationId xmlns:a16="http://schemas.microsoft.com/office/drawing/2014/main" id="{2949B606-4E29-267D-841D-528633667308}"/>
              </a:ext>
            </a:extLst>
          </p:cNvPr>
          <p:cNvSpPr/>
          <p:nvPr/>
        </p:nvSpPr>
        <p:spPr>
          <a:xfrm rot="4063765">
            <a:off x="9684794" y="4905098"/>
            <a:ext cx="393657" cy="405941"/>
          </a:xfrm>
          <a:prstGeom prst="plus">
            <a:avLst>
              <a:gd name="adj" fmla="val 4536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965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7ABA25B-C67B-8B09-E984-21E17C3BE44A}"/>
              </a:ext>
            </a:extLst>
          </p:cNvPr>
          <p:cNvSpPr/>
          <p:nvPr/>
        </p:nvSpPr>
        <p:spPr>
          <a:xfrm>
            <a:off x="2365448" y="3398632"/>
            <a:ext cx="1813360" cy="516415"/>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AUC can tell us</a:t>
            </a:r>
          </a:p>
        </p:txBody>
      </p:sp>
      <p:sp>
        <p:nvSpPr>
          <p:cNvPr id="6" name="Title 1">
            <a:extLst>
              <a:ext uri="{FF2B5EF4-FFF2-40B4-BE49-F238E27FC236}">
                <a16:creationId xmlns:a16="http://schemas.microsoft.com/office/drawing/2014/main" id="{66950F30-FE79-40BB-964E-60EE94B796E2}"/>
              </a:ext>
            </a:extLst>
          </p:cNvPr>
          <p:cNvSpPr>
            <a:spLocks noGrp="1"/>
          </p:cNvSpPr>
          <p:nvPr>
            <p:ph type="title"/>
          </p:nvPr>
        </p:nvSpPr>
        <p:spPr>
          <a:xfrm>
            <a:off x="838200" y="365125"/>
            <a:ext cx="10515600" cy="1325563"/>
          </a:xfrm>
        </p:spPr>
        <p:txBody>
          <a:bodyPr/>
          <a:lstStyle/>
          <a:p>
            <a:r>
              <a:rPr lang="en-US" altLang="zh-TW" sz="4400" dirty="0">
                <a:solidFill>
                  <a:schemeClr val="tx1"/>
                </a:solidFill>
              </a:rPr>
              <a:t>Can our model predict precisely?</a:t>
            </a:r>
            <a:endParaRPr lang="en-US" sz="4400" dirty="0">
              <a:solidFill>
                <a:schemeClr val="tx1"/>
              </a:solidFill>
            </a:endParaRPr>
          </a:p>
        </p:txBody>
      </p:sp>
      <p:sp>
        <p:nvSpPr>
          <p:cNvPr id="7" name="Rectangle: Rounded Corners 6">
            <a:extLst>
              <a:ext uri="{FF2B5EF4-FFF2-40B4-BE49-F238E27FC236}">
                <a16:creationId xmlns:a16="http://schemas.microsoft.com/office/drawing/2014/main" id="{9E6FEEBD-59E9-3DE0-50C3-55B63393F016}"/>
              </a:ext>
            </a:extLst>
          </p:cNvPr>
          <p:cNvSpPr/>
          <p:nvPr/>
        </p:nvSpPr>
        <p:spPr>
          <a:xfrm>
            <a:off x="1450052" y="2294192"/>
            <a:ext cx="4255803" cy="87782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rgbClr val="0070C0"/>
                </a:solidFill>
              </a:rPr>
              <a:t>How good is the model?</a:t>
            </a:r>
          </a:p>
        </p:txBody>
      </p:sp>
      <p:pic>
        <p:nvPicPr>
          <p:cNvPr id="1028" name="Picture 4" descr="Receiver operating characteristic - Wikipedia">
            <a:extLst>
              <a:ext uri="{FF2B5EF4-FFF2-40B4-BE49-F238E27FC236}">
                <a16:creationId xmlns:a16="http://schemas.microsoft.com/office/drawing/2014/main" id="{7707B6A3-28B8-0522-DFBC-30823AF301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8538" y="1844760"/>
            <a:ext cx="4140574" cy="414057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9716983-8266-2CA2-3B09-B143F1B6F9F9}"/>
              </a:ext>
            </a:extLst>
          </p:cNvPr>
          <p:cNvSpPr txBox="1"/>
          <p:nvPr/>
        </p:nvSpPr>
        <p:spPr>
          <a:xfrm>
            <a:off x="7206148" y="6550223"/>
            <a:ext cx="4873076" cy="307777"/>
          </a:xfrm>
          <a:prstGeom prst="rect">
            <a:avLst/>
          </a:prstGeom>
          <a:noFill/>
        </p:spPr>
        <p:txBody>
          <a:bodyPr wrap="square">
            <a:spAutoFit/>
          </a:bodyPr>
          <a:lstStyle/>
          <a:p>
            <a:r>
              <a:rPr lang="en-US" sz="1400" dirty="0"/>
              <a:t>https://en.wikipedia.org/wiki/Receiver_operating_characteristic</a:t>
            </a:r>
          </a:p>
        </p:txBody>
      </p:sp>
    </p:spTree>
    <p:extLst>
      <p:ext uri="{BB962C8B-B14F-4D97-AF65-F5344CB8AC3E}">
        <p14:creationId xmlns:p14="http://schemas.microsoft.com/office/powerpoint/2010/main" val="2382827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fontScale="90000"/>
          </a:bodyPr>
          <a:lstStyle/>
          <a:p>
            <a:r>
              <a:rPr lang="en-US" sz="6000" dirty="0"/>
              <a:t>Evaluation</a:t>
            </a:r>
          </a:p>
        </p:txBody>
      </p:sp>
      <p:sp>
        <p:nvSpPr>
          <p:cNvPr id="5" name="Title 1">
            <a:extLst>
              <a:ext uri="{FF2B5EF4-FFF2-40B4-BE49-F238E27FC236}">
                <a16:creationId xmlns:a16="http://schemas.microsoft.com/office/drawing/2014/main" id="{3E5C6F5E-2E2E-CBE4-DD15-988B610D2E79}"/>
              </a:ext>
            </a:extLst>
          </p:cNvPr>
          <p:cNvSpPr txBox="1">
            <a:spLocks/>
          </p:cNvSpPr>
          <p:nvPr/>
        </p:nvSpPr>
        <p:spPr>
          <a:xfrm>
            <a:off x="3219997" y="3429000"/>
            <a:ext cx="5093208" cy="114300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How do you know </a:t>
            </a:r>
            <a:br>
              <a:rPr lang="en-US" altLang="zh-TW" sz="3200" dirty="0"/>
            </a:br>
            <a:r>
              <a:rPr lang="en-US" altLang="zh-TW" sz="3200" dirty="0"/>
              <a:t>the embedding is </a:t>
            </a:r>
            <a:r>
              <a:rPr lang="en-US" altLang="zh-TW" sz="3200" dirty="0">
                <a:solidFill>
                  <a:srgbClr val="0070C0"/>
                </a:solidFill>
              </a:rPr>
              <a:t>right?</a:t>
            </a:r>
            <a:endParaRPr lang="en-US" sz="3200" dirty="0">
              <a:solidFill>
                <a:srgbClr val="0070C0"/>
              </a:solidFill>
            </a:endParaRPr>
          </a:p>
        </p:txBody>
      </p:sp>
    </p:spTree>
    <p:extLst>
      <p:ext uri="{BB962C8B-B14F-4D97-AF65-F5344CB8AC3E}">
        <p14:creationId xmlns:p14="http://schemas.microsoft.com/office/powerpoint/2010/main" val="21726202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AD7144-0B19-517C-168F-79BC9FAA3326}"/>
              </a:ext>
            </a:extLst>
          </p:cNvPr>
          <p:cNvSpPr>
            <a:spLocks noGrp="1"/>
          </p:cNvSpPr>
          <p:nvPr>
            <p:ph type="title"/>
          </p:nvPr>
        </p:nvSpPr>
        <p:spPr>
          <a:xfrm>
            <a:off x="838200" y="365125"/>
            <a:ext cx="10515600" cy="1325563"/>
          </a:xfrm>
        </p:spPr>
        <p:txBody>
          <a:bodyPr/>
          <a:lstStyle/>
          <a:p>
            <a:r>
              <a:rPr lang="en-US" altLang="zh-TW" sz="4400" dirty="0" err="1">
                <a:solidFill>
                  <a:schemeClr val="tx1"/>
                </a:solidFill>
              </a:rPr>
              <a:t>Softmax</a:t>
            </a:r>
            <a:r>
              <a:rPr lang="en-US" altLang="zh-TW" sz="4400" dirty="0">
                <a:solidFill>
                  <a:schemeClr val="tx1"/>
                </a:solidFill>
              </a:rPr>
              <a:t> Transformation</a:t>
            </a:r>
            <a:endParaRPr lang="en-US" sz="4400" dirty="0">
              <a:solidFill>
                <a:schemeClr val="tx1"/>
              </a:solidFill>
            </a:endParaRPr>
          </a:p>
        </p:txBody>
      </p:sp>
      <p:sp>
        <p:nvSpPr>
          <p:cNvPr id="6" name="Rectangle: Rounded Corners 5">
            <a:extLst>
              <a:ext uri="{FF2B5EF4-FFF2-40B4-BE49-F238E27FC236}">
                <a16:creationId xmlns:a16="http://schemas.microsoft.com/office/drawing/2014/main" id="{6D6BABD0-7846-2420-A554-65932E4E2C27}"/>
              </a:ext>
            </a:extLst>
          </p:cNvPr>
          <p:cNvSpPr/>
          <p:nvPr/>
        </p:nvSpPr>
        <p:spPr>
          <a:xfrm>
            <a:off x="1076144" y="1853296"/>
            <a:ext cx="1630480" cy="516415"/>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Comparable?</a:t>
            </a:r>
          </a:p>
        </p:txBody>
      </p:sp>
    </p:spTree>
    <p:extLst>
      <p:ext uri="{BB962C8B-B14F-4D97-AF65-F5344CB8AC3E}">
        <p14:creationId xmlns:p14="http://schemas.microsoft.com/office/powerpoint/2010/main" val="673850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141803" y="2152650"/>
            <a:ext cx="3249597" cy="1671311"/>
          </a:xfrm>
        </p:spPr>
        <p:txBody>
          <a:bodyPr>
            <a:normAutofit fontScale="90000"/>
          </a:bodyPr>
          <a:lstStyle/>
          <a:p>
            <a:r>
              <a:rPr lang="en-US" sz="6000" dirty="0"/>
              <a:t>Evaluation</a:t>
            </a:r>
          </a:p>
        </p:txBody>
      </p:sp>
      <p:sp>
        <p:nvSpPr>
          <p:cNvPr id="5" name="Title 1">
            <a:extLst>
              <a:ext uri="{FF2B5EF4-FFF2-40B4-BE49-F238E27FC236}">
                <a16:creationId xmlns:a16="http://schemas.microsoft.com/office/drawing/2014/main" id="{3E5C6F5E-2E2E-CBE4-DD15-988B610D2E79}"/>
              </a:ext>
            </a:extLst>
          </p:cNvPr>
          <p:cNvSpPr txBox="1">
            <a:spLocks/>
          </p:cNvSpPr>
          <p:nvPr/>
        </p:nvSpPr>
        <p:spPr>
          <a:xfrm>
            <a:off x="3219997" y="3429000"/>
            <a:ext cx="5093208"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cell-type specificity</a:t>
            </a:r>
            <a:endParaRPr lang="en-US" sz="3200" dirty="0">
              <a:solidFill>
                <a:srgbClr val="0070C0"/>
              </a:solidFill>
            </a:endParaRPr>
          </a:p>
        </p:txBody>
      </p:sp>
    </p:spTree>
    <p:extLst>
      <p:ext uri="{BB962C8B-B14F-4D97-AF65-F5344CB8AC3E}">
        <p14:creationId xmlns:p14="http://schemas.microsoft.com/office/powerpoint/2010/main" val="22098179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349ED44-9408-02FD-6742-3F76F0230795}"/>
              </a:ext>
            </a:extLst>
          </p:cNvPr>
          <p:cNvSpPr/>
          <p:nvPr/>
        </p:nvSpPr>
        <p:spPr>
          <a:xfrm>
            <a:off x="838200" y="3247073"/>
            <a:ext cx="7569728" cy="259689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nSpc>
                <a:spcPct val="200000"/>
              </a:lnSpc>
              <a:buAutoNum type="arabicPeriod"/>
            </a:pPr>
            <a:r>
              <a:rPr lang="en-US" sz="2400" dirty="0">
                <a:solidFill>
                  <a:schemeClr val="tx1"/>
                </a:solidFill>
              </a:rPr>
              <a:t>Max Score</a:t>
            </a:r>
          </a:p>
          <a:p>
            <a:pPr marL="457200" indent="-457200">
              <a:lnSpc>
                <a:spcPct val="200000"/>
              </a:lnSpc>
              <a:buAutoNum type="arabicPeriod"/>
            </a:pPr>
            <a:r>
              <a:rPr lang="en-US" sz="2400" dirty="0">
                <a:solidFill>
                  <a:schemeClr val="tx1"/>
                </a:solidFill>
              </a:rPr>
              <a:t>Gini Index</a:t>
            </a:r>
          </a:p>
          <a:p>
            <a:pPr marL="457200" indent="-457200">
              <a:lnSpc>
                <a:spcPct val="200000"/>
              </a:lnSpc>
              <a:buAutoNum type="arabicPeriod"/>
            </a:pPr>
            <a:r>
              <a:rPr lang="en-US" sz="2400" dirty="0">
                <a:solidFill>
                  <a:schemeClr val="tx1"/>
                </a:solidFill>
              </a:rPr>
              <a:t>Standard Deviation</a:t>
            </a:r>
          </a:p>
          <a:p>
            <a:pPr marL="457200" indent="-457200">
              <a:lnSpc>
                <a:spcPct val="200000"/>
              </a:lnSpc>
              <a:buAutoNum type="arabicPeriod"/>
            </a:pPr>
            <a:r>
              <a:rPr lang="en-US" sz="2400" dirty="0">
                <a:solidFill>
                  <a:schemeClr val="tx1"/>
                </a:solidFill>
              </a:rPr>
              <a:t>Entropy</a:t>
            </a:r>
          </a:p>
        </p:txBody>
      </p:sp>
      <p:sp>
        <p:nvSpPr>
          <p:cNvPr id="5" name="Title 1">
            <a:extLst>
              <a:ext uri="{FF2B5EF4-FFF2-40B4-BE49-F238E27FC236}">
                <a16:creationId xmlns:a16="http://schemas.microsoft.com/office/drawing/2014/main" id="{D2ECDB22-2D28-CFEF-4680-6D1EA7006E43}"/>
              </a:ext>
            </a:extLst>
          </p:cNvPr>
          <p:cNvSpPr>
            <a:spLocks noGrp="1"/>
          </p:cNvSpPr>
          <p:nvPr>
            <p:ph type="title"/>
          </p:nvPr>
        </p:nvSpPr>
        <p:spPr>
          <a:xfrm>
            <a:off x="838200" y="365125"/>
            <a:ext cx="10515600" cy="1325563"/>
          </a:xfrm>
        </p:spPr>
        <p:txBody>
          <a:bodyPr/>
          <a:lstStyle/>
          <a:p>
            <a:r>
              <a:rPr lang="en-US" dirty="0">
                <a:effectLst/>
              </a:rPr>
              <a:t>Metrics to assess cell-type specificity</a:t>
            </a:r>
            <a:endParaRPr lang="en-US" sz="4400" dirty="0">
              <a:solidFill>
                <a:schemeClr val="tx1"/>
              </a:solidFill>
            </a:endParaRPr>
          </a:p>
        </p:txBody>
      </p:sp>
      <p:sp>
        <p:nvSpPr>
          <p:cNvPr id="6" name="Rectangle: Rounded Corners 5">
            <a:extLst>
              <a:ext uri="{FF2B5EF4-FFF2-40B4-BE49-F238E27FC236}">
                <a16:creationId xmlns:a16="http://schemas.microsoft.com/office/drawing/2014/main" id="{88317F84-F8F6-76B6-0252-623E385A9E1A}"/>
              </a:ext>
            </a:extLst>
          </p:cNvPr>
          <p:cNvSpPr/>
          <p:nvPr/>
        </p:nvSpPr>
        <p:spPr>
          <a:xfrm>
            <a:off x="956276" y="1773936"/>
            <a:ext cx="5353084" cy="79457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rgbClr val="FF0000"/>
                </a:solidFill>
              </a:rPr>
              <a:t>Cells</a:t>
            </a:r>
            <a:r>
              <a:rPr lang="en-US" sz="2400" dirty="0">
                <a:solidFill>
                  <a:schemeClr val="tx1"/>
                </a:solidFill>
              </a:rPr>
              <a:t> and </a:t>
            </a:r>
            <a:r>
              <a:rPr lang="en-US" altLang="zh-TW" sz="2400" dirty="0">
                <a:solidFill>
                  <a:srgbClr val="FF0000"/>
                </a:solidFill>
              </a:rPr>
              <a:t>Features</a:t>
            </a:r>
            <a:r>
              <a:rPr lang="en-US" altLang="zh-TW" sz="2400" dirty="0">
                <a:solidFill>
                  <a:schemeClr val="tx1"/>
                </a:solidFill>
              </a:rPr>
              <a:t>…</a:t>
            </a:r>
          </a:p>
          <a:p>
            <a:pPr>
              <a:lnSpc>
                <a:spcPct val="150000"/>
              </a:lnSpc>
            </a:pPr>
            <a:r>
              <a:rPr lang="en-US" sz="2400" dirty="0">
                <a:solidFill>
                  <a:schemeClr val="tx1"/>
                </a:solidFill>
              </a:rPr>
              <a:t>How to evaluate that </a:t>
            </a:r>
            <a:r>
              <a:rPr lang="en-US" sz="2400" dirty="0">
                <a:solidFill>
                  <a:srgbClr val="0070C0"/>
                </a:solidFill>
              </a:rPr>
              <a:t>they are related?</a:t>
            </a:r>
          </a:p>
        </p:txBody>
      </p:sp>
      <p:sp>
        <p:nvSpPr>
          <p:cNvPr id="7" name="Rectangle: Rounded Corners 6">
            <a:extLst>
              <a:ext uri="{FF2B5EF4-FFF2-40B4-BE49-F238E27FC236}">
                <a16:creationId xmlns:a16="http://schemas.microsoft.com/office/drawing/2014/main" id="{6ACFB94F-1A0E-0D39-7C69-A2E73903529F}"/>
              </a:ext>
            </a:extLst>
          </p:cNvPr>
          <p:cNvSpPr/>
          <p:nvPr/>
        </p:nvSpPr>
        <p:spPr>
          <a:xfrm>
            <a:off x="3299062" y="3454986"/>
            <a:ext cx="153811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Association</a:t>
            </a:r>
          </a:p>
        </p:txBody>
      </p:sp>
      <p:sp>
        <p:nvSpPr>
          <p:cNvPr id="9" name="Rectangle: Rounded Corners 8">
            <a:extLst>
              <a:ext uri="{FF2B5EF4-FFF2-40B4-BE49-F238E27FC236}">
                <a16:creationId xmlns:a16="http://schemas.microsoft.com/office/drawing/2014/main" id="{9DF96B50-AE74-4CF5-4274-F1B1BCFB49C7}"/>
              </a:ext>
            </a:extLst>
          </p:cNvPr>
          <p:cNvSpPr/>
          <p:nvPr/>
        </p:nvSpPr>
        <p:spPr>
          <a:xfrm>
            <a:off x="3299062" y="4165781"/>
            <a:ext cx="153811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Specificity</a:t>
            </a:r>
          </a:p>
        </p:txBody>
      </p:sp>
      <p:pic>
        <p:nvPicPr>
          <p:cNvPr id="15" name="Picture 14">
            <a:extLst>
              <a:ext uri="{FF2B5EF4-FFF2-40B4-BE49-F238E27FC236}">
                <a16:creationId xmlns:a16="http://schemas.microsoft.com/office/drawing/2014/main" id="{20EF17CD-1500-6500-AA63-FB1C2E99BD1C}"/>
              </a:ext>
            </a:extLst>
          </p:cNvPr>
          <p:cNvPicPr>
            <a:picLocks noChangeAspect="1"/>
          </p:cNvPicPr>
          <p:nvPr/>
        </p:nvPicPr>
        <p:blipFill>
          <a:blip r:embed="rId2"/>
          <a:stretch>
            <a:fillRect/>
          </a:stretch>
        </p:blipFill>
        <p:spPr>
          <a:xfrm>
            <a:off x="7736471" y="3099830"/>
            <a:ext cx="2644369" cy="739204"/>
          </a:xfrm>
          <a:prstGeom prst="rect">
            <a:avLst/>
          </a:prstGeom>
        </p:spPr>
      </p:pic>
      <p:pic>
        <p:nvPicPr>
          <p:cNvPr id="17" name="Picture 16">
            <a:extLst>
              <a:ext uri="{FF2B5EF4-FFF2-40B4-BE49-F238E27FC236}">
                <a16:creationId xmlns:a16="http://schemas.microsoft.com/office/drawing/2014/main" id="{1760DBA0-6A03-21AB-FB57-1D02A57895BF}"/>
              </a:ext>
            </a:extLst>
          </p:cNvPr>
          <p:cNvPicPr>
            <a:picLocks noChangeAspect="1"/>
          </p:cNvPicPr>
          <p:nvPr/>
        </p:nvPicPr>
        <p:blipFill>
          <a:blip r:embed="rId3"/>
          <a:stretch>
            <a:fillRect/>
          </a:stretch>
        </p:blipFill>
        <p:spPr>
          <a:xfrm>
            <a:off x="7907133" y="3959366"/>
            <a:ext cx="3254022" cy="708721"/>
          </a:xfrm>
          <a:prstGeom prst="rect">
            <a:avLst/>
          </a:prstGeom>
        </p:spPr>
      </p:pic>
      <p:pic>
        <p:nvPicPr>
          <p:cNvPr id="19" name="Picture 18">
            <a:extLst>
              <a:ext uri="{FF2B5EF4-FFF2-40B4-BE49-F238E27FC236}">
                <a16:creationId xmlns:a16="http://schemas.microsoft.com/office/drawing/2014/main" id="{9DD4DB81-3508-9045-AEFD-082902372EB7}"/>
              </a:ext>
            </a:extLst>
          </p:cNvPr>
          <p:cNvPicPr>
            <a:picLocks noChangeAspect="1"/>
          </p:cNvPicPr>
          <p:nvPr/>
        </p:nvPicPr>
        <p:blipFill>
          <a:blip r:embed="rId4"/>
          <a:stretch>
            <a:fillRect/>
          </a:stretch>
        </p:blipFill>
        <p:spPr>
          <a:xfrm>
            <a:off x="7846168" y="4762546"/>
            <a:ext cx="3314987" cy="701101"/>
          </a:xfrm>
          <a:prstGeom prst="rect">
            <a:avLst/>
          </a:prstGeom>
        </p:spPr>
      </p:pic>
      <p:pic>
        <p:nvPicPr>
          <p:cNvPr id="21" name="Picture 20">
            <a:extLst>
              <a:ext uri="{FF2B5EF4-FFF2-40B4-BE49-F238E27FC236}">
                <a16:creationId xmlns:a16="http://schemas.microsoft.com/office/drawing/2014/main" id="{06134831-0563-7676-6A68-73591AC865BD}"/>
              </a:ext>
            </a:extLst>
          </p:cNvPr>
          <p:cNvPicPr>
            <a:picLocks noChangeAspect="1"/>
          </p:cNvPicPr>
          <p:nvPr/>
        </p:nvPicPr>
        <p:blipFill>
          <a:blip r:embed="rId5"/>
          <a:stretch>
            <a:fillRect/>
          </a:stretch>
        </p:blipFill>
        <p:spPr>
          <a:xfrm>
            <a:off x="7907133" y="5701518"/>
            <a:ext cx="3261643" cy="701101"/>
          </a:xfrm>
          <a:prstGeom prst="rect">
            <a:avLst/>
          </a:prstGeom>
        </p:spPr>
      </p:pic>
      <p:sp>
        <p:nvSpPr>
          <p:cNvPr id="22" name="Rectangle: Rounded Corners 21">
            <a:extLst>
              <a:ext uri="{FF2B5EF4-FFF2-40B4-BE49-F238E27FC236}">
                <a16:creationId xmlns:a16="http://schemas.microsoft.com/office/drawing/2014/main" id="{961B6889-4B98-FE45-979A-7C26C4F7626D}"/>
              </a:ext>
            </a:extLst>
          </p:cNvPr>
          <p:cNvSpPr/>
          <p:nvPr/>
        </p:nvSpPr>
        <p:spPr>
          <a:xfrm>
            <a:off x="4132127" y="4861703"/>
            <a:ext cx="153811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Variance</a:t>
            </a:r>
          </a:p>
        </p:txBody>
      </p:sp>
      <p:sp>
        <p:nvSpPr>
          <p:cNvPr id="23" name="Rectangle: Rounded Corners 22">
            <a:extLst>
              <a:ext uri="{FF2B5EF4-FFF2-40B4-BE49-F238E27FC236}">
                <a16:creationId xmlns:a16="http://schemas.microsoft.com/office/drawing/2014/main" id="{D19F1F2B-2A94-94C1-2738-16C5B344DD75}"/>
              </a:ext>
            </a:extLst>
          </p:cNvPr>
          <p:cNvSpPr/>
          <p:nvPr/>
        </p:nvSpPr>
        <p:spPr>
          <a:xfrm>
            <a:off x="3299062" y="5614385"/>
            <a:ext cx="2543954" cy="384048"/>
          </a:xfrm>
          <a:prstGeom prst="roundRect">
            <a:avLst>
              <a:gd name="adj" fmla="val 16667"/>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Degree of Disorder</a:t>
            </a:r>
          </a:p>
        </p:txBody>
      </p:sp>
      <p:sp>
        <p:nvSpPr>
          <p:cNvPr id="24" name="Double Brace 23">
            <a:extLst>
              <a:ext uri="{FF2B5EF4-FFF2-40B4-BE49-F238E27FC236}">
                <a16:creationId xmlns:a16="http://schemas.microsoft.com/office/drawing/2014/main" id="{473812EE-2E86-4B7D-DD30-D847EE56E200}"/>
              </a:ext>
            </a:extLst>
          </p:cNvPr>
          <p:cNvSpPr/>
          <p:nvPr/>
        </p:nvSpPr>
        <p:spPr>
          <a:xfrm>
            <a:off x="416514" y="4196320"/>
            <a:ext cx="6245352" cy="1794892"/>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5" name="Title 1">
            <a:extLst>
              <a:ext uri="{FF2B5EF4-FFF2-40B4-BE49-F238E27FC236}">
                <a16:creationId xmlns:a16="http://schemas.microsoft.com/office/drawing/2014/main" id="{9F19FB6E-9A9B-8581-2BE9-B5A087F2F512}"/>
              </a:ext>
            </a:extLst>
          </p:cNvPr>
          <p:cNvSpPr txBox="1">
            <a:spLocks/>
          </p:cNvSpPr>
          <p:nvPr/>
        </p:nvSpPr>
        <p:spPr>
          <a:xfrm>
            <a:off x="1647046" y="6209672"/>
            <a:ext cx="3304032" cy="5664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altLang="zh-TW" sz="2000" dirty="0"/>
              <a:t>The evenness of Distribution</a:t>
            </a:r>
            <a:endParaRPr lang="en-US" sz="2000" dirty="0">
              <a:solidFill>
                <a:srgbClr val="0070C0"/>
              </a:solidFill>
            </a:endParaRPr>
          </a:p>
        </p:txBody>
      </p:sp>
    </p:spTree>
    <p:extLst>
      <p:ext uri="{BB962C8B-B14F-4D97-AF65-F5344CB8AC3E}">
        <p14:creationId xmlns:p14="http://schemas.microsoft.com/office/powerpoint/2010/main" val="333391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par>
                                <p:cTn id="42" presetID="10" presetClass="entr" presetSubtype="0"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22" grpId="0" animBg="1"/>
      <p:bldP spid="23" grpId="0" animBg="1"/>
      <p:bldP spid="24" grpId="0" animBg="1"/>
      <p:bldP spid="25" grpId="0"/>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EC370A9-E7B3-17EC-46AB-BD02052BBB44}"/>
              </a:ext>
            </a:extLst>
          </p:cNvPr>
          <p:cNvPicPr>
            <a:picLocks noGrp="1" noChangeAspect="1"/>
          </p:cNvPicPr>
          <p:nvPr>
            <p:ph idx="1"/>
          </p:nvPr>
        </p:nvPicPr>
        <p:blipFill>
          <a:blip r:embed="rId2"/>
          <a:stretch>
            <a:fillRect/>
          </a:stretch>
        </p:blipFill>
        <p:spPr>
          <a:xfrm>
            <a:off x="1428607" y="2947796"/>
            <a:ext cx="3299746" cy="708721"/>
          </a:xfrm>
        </p:spPr>
      </p:pic>
      <p:sp>
        <p:nvSpPr>
          <p:cNvPr id="6" name="Title 1">
            <a:extLst>
              <a:ext uri="{FF2B5EF4-FFF2-40B4-BE49-F238E27FC236}">
                <a16:creationId xmlns:a16="http://schemas.microsoft.com/office/drawing/2014/main" id="{933C87FF-73D8-919A-3CA3-A06DF006057A}"/>
              </a:ext>
            </a:extLst>
          </p:cNvPr>
          <p:cNvSpPr>
            <a:spLocks noGrp="1"/>
          </p:cNvSpPr>
          <p:nvPr>
            <p:ph type="title"/>
          </p:nvPr>
        </p:nvSpPr>
        <p:spPr>
          <a:xfrm>
            <a:off x="838200" y="365125"/>
            <a:ext cx="10515600" cy="1325563"/>
          </a:xfrm>
        </p:spPr>
        <p:txBody>
          <a:bodyPr/>
          <a:lstStyle/>
          <a:p>
            <a:r>
              <a:rPr lang="en-US" dirty="0">
                <a:effectLst/>
              </a:rPr>
              <a:t>Metrics to assess cell-type specificity</a:t>
            </a:r>
            <a:endParaRPr lang="en-US" sz="4400" dirty="0">
              <a:solidFill>
                <a:schemeClr val="tx1"/>
              </a:solidFill>
            </a:endParaRPr>
          </a:p>
        </p:txBody>
      </p:sp>
      <p:sp>
        <p:nvSpPr>
          <p:cNvPr id="7" name="Rectangle: Rounded Corners 6">
            <a:extLst>
              <a:ext uri="{FF2B5EF4-FFF2-40B4-BE49-F238E27FC236}">
                <a16:creationId xmlns:a16="http://schemas.microsoft.com/office/drawing/2014/main" id="{ECB1EE0F-7E69-616B-D811-0B186AA8799B}"/>
              </a:ext>
            </a:extLst>
          </p:cNvPr>
          <p:cNvSpPr/>
          <p:nvPr/>
        </p:nvSpPr>
        <p:spPr>
          <a:xfrm>
            <a:off x="838200" y="2169604"/>
            <a:ext cx="5050536" cy="29927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The similarity normalization function:</a:t>
            </a:r>
          </a:p>
        </p:txBody>
      </p:sp>
    </p:spTree>
    <p:extLst>
      <p:ext uri="{BB962C8B-B14F-4D97-AF65-F5344CB8AC3E}">
        <p14:creationId xmlns:p14="http://schemas.microsoft.com/office/powerpoint/2010/main" val="39847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7781-776B-76E8-4EC5-6BABFD20342D}"/>
              </a:ext>
            </a:extLst>
          </p:cNvPr>
          <p:cNvSpPr>
            <a:spLocks noGrp="1"/>
          </p:cNvSpPr>
          <p:nvPr>
            <p:ph type="title"/>
          </p:nvPr>
        </p:nvSpPr>
        <p:spPr>
          <a:xfrm>
            <a:off x="4244673" y="1421130"/>
            <a:ext cx="3420285" cy="1760982"/>
          </a:xfrm>
        </p:spPr>
        <p:txBody>
          <a:bodyPr>
            <a:normAutofit/>
          </a:bodyPr>
          <a:lstStyle/>
          <a:p>
            <a:r>
              <a:rPr lang="en-US" sz="6000" dirty="0"/>
              <a:t>Discussion</a:t>
            </a:r>
          </a:p>
        </p:txBody>
      </p:sp>
      <p:sp>
        <p:nvSpPr>
          <p:cNvPr id="5" name="Title 1">
            <a:extLst>
              <a:ext uri="{FF2B5EF4-FFF2-40B4-BE49-F238E27FC236}">
                <a16:creationId xmlns:a16="http://schemas.microsoft.com/office/drawing/2014/main" id="{3E5C6F5E-2E2E-CBE4-DD15-988B610D2E79}"/>
              </a:ext>
            </a:extLst>
          </p:cNvPr>
          <p:cNvSpPr txBox="1">
            <a:spLocks/>
          </p:cNvSpPr>
          <p:nvPr/>
        </p:nvSpPr>
        <p:spPr>
          <a:xfrm>
            <a:off x="3322867" y="2697480"/>
            <a:ext cx="5093208"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altLang="zh-TW" sz="3200" dirty="0"/>
              <a:t>SIMBA</a:t>
            </a:r>
            <a:endParaRPr lang="en-US" sz="3200" dirty="0">
              <a:solidFill>
                <a:srgbClr val="0070C0"/>
              </a:solidFill>
            </a:endParaRPr>
          </a:p>
        </p:txBody>
      </p:sp>
      <p:pic>
        <p:nvPicPr>
          <p:cNvPr id="5122" name="Picture 2" descr="辛巴- 維基百科，自由的百科全書">
            <a:extLst>
              <a:ext uri="{FF2B5EF4-FFF2-40B4-BE49-F238E27FC236}">
                <a16:creationId xmlns:a16="http://schemas.microsoft.com/office/drawing/2014/main" id="{C6B4CE06-7F69-A928-655E-5B555AE06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2190" y="2845760"/>
            <a:ext cx="3905250" cy="23145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B297089-6884-CE7B-49B6-ADBADE4B78A8}"/>
              </a:ext>
            </a:extLst>
          </p:cNvPr>
          <p:cNvSpPr txBox="1"/>
          <p:nvPr/>
        </p:nvSpPr>
        <p:spPr>
          <a:xfrm>
            <a:off x="7664958" y="6550223"/>
            <a:ext cx="4628550" cy="307777"/>
          </a:xfrm>
          <a:prstGeom prst="rect">
            <a:avLst/>
          </a:prstGeom>
          <a:noFill/>
        </p:spPr>
        <p:txBody>
          <a:bodyPr wrap="square">
            <a:spAutoFit/>
          </a:bodyPr>
          <a:lstStyle/>
          <a:p>
            <a:r>
              <a:rPr lang="en-US" sz="1400" dirty="0"/>
              <a:t>https://zh.wikipedia.org/zh-tw/%E8%BE%9B%E5%B7%B4</a:t>
            </a:r>
          </a:p>
        </p:txBody>
      </p:sp>
    </p:spTree>
    <p:extLst>
      <p:ext uri="{BB962C8B-B14F-4D97-AF65-F5344CB8AC3E}">
        <p14:creationId xmlns:p14="http://schemas.microsoft.com/office/powerpoint/2010/main" val="2848357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2ECDB22-2D28-CFEF-4680-6D1EA7006E43}"/>
              </a:ext>
            </a:extLst>
          </p:cNvPr>
          <p:cNvSpPr>
            <a:spLocks noGrp="1"/>
          </p:cNvSpPr>
          <p:nvPr>
            <p:ph type="title"/>
          </p:nvPr>
        </p:nvSpPr>
        <p:spPr>
          <a:xfrm>
            <a:off x="625337" y="208469"/>
            <a:ext cx="10515600" cy="1325563"/>
          </a:xfrm>
        </p:spPr>
        <p:txBody>
          <a:bodyPr/>
          <a:lstStyle/>
          <a:p>
            <a:r>
              <a:rPr lang="en-US" dirty="0">
                <a:effectLst/>
              </a:rPr>
              <a:t>The Great Idea of SIMBA</a:t>
            </a:r>
            <a:endParaRPr lang="en-US" sz="4400" dirty="0">
              <a:solidFill>
                <a:schemeClr val="tx1"/>
              </a:solidFill>
            </a:endParaRPr>
          </a:p>
        </p:txBody>
      </p:sp>
      <p:sp>
        <p:nvSpPr>
          <p:cNvPr id="2" name="Rectangle 1">
            <a:extLst>
              <a:ext uri="{FF2B5EF4-FFF2-40B4-BE49-F238E27FC236}">
                <a16:creationId xmlns:a16="http://schemas.microsoft.com/office/drawing/2014/main" id="{12D710AE-45CB-D3B6-DC7D-1BB2BB82BC7B}"/>
              </a:ext>
            </a:extLst>
          </p:cNvPr>
          <p:cNvSpPr/>
          <p:nvPr/>
        </p:nvSpPr>
        <p:spPr>
          <a:xfrm>
            <a:off x="3939938" y="3152054"/>
            <a:ext cx="7626297" cy="299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 name="Oval 2">
            <a:extLst>
              <a:ext uri="{FF2B5EF4-FFF2-40B4-BE49-F238E27FC236}">
                <a16:creationId xmlns:a16="http://schemas.microsoft.com/office/drawing/2014/main" id="{F7017552-36A7-2541-8814-79290491B176}"/>
              </a:ext>
            </a:extLst>
          </p:cNvPr>
          <p:cNvSpPr/>
          <p:nvPr/>
        </p:nvSpPr>
        <p:spPr>
          <a:xfrm>
            <a:off x="9506187" y="3732816"/>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482BB83-F4A7-457B-546B-50719E3D3057}"/>
              </a:ext>
            </a:extLst>
          </p:cNvPr>
          <p:cNvSpPr/>
          <p:nvPr/>
        </p:nvSpPr>
        <p:spPr>
          <a:xfrm>
            <a:off x="9323098" y="4535826"/>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2B01066-3F9F-BD5C-B6AE-304FF3694384}"/>
              </a:ext>
            </a:extLst>
          </p:cNvPr>
          <p:cNvSpPr/>
          <p:nvPr/>
        </p:nvSpPr>
        <p:spPr>
          <a:xfrm>
            <a:off x="9678698" y="5362318"/>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0A84B4E-6D75-6F8E-B1B0-C4845A00779F}"/>
              </a:ext>
            </a:extLst>
          </p:cNvPr>
          <p:cNvSpPr/>
          <p:nvPr/>
        </p:nvSpPr>
        <p:spPr>
          <a:xfrm>
            <a:off x="10638605" y="4219384"/>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FB0497E-B861-44F5-2AF8-657EAB0B0744}"/>
              </a:ext>
            </a:extLst>
          </p:cNvPr>
          <p:cNvSpPr/>
          <p:nvPr/>
        </p:nvSpPr>
        <p:spPr>
          <a:xfrm>
            <a:off x="10665595" y="5311518"/>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A4DB846-25D9-FE1B-D2C4-719C2F2983BA}"/>
              </a:ext>
            </a:extLst>
          </p:cNvPr>
          <p:cNvSpPr/>
          <p:nvPr/>
        </p:nvSpPr>
        <p:spPr>
          <a:xfrm>
            <a:off x="6370904" y="2762813"/>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 common latent space</a:t>
            </a:r>
          </a:p>
        </p:txBody>
      </p:sp>
      <p:cxnSp>
        <p:nvCxnSpPr>
          <p:cNvPr id="14" name="Straight Connector 13">
            <a:extLst>
              <a:ext uri="{FF2B5EF4-FFF2-40B4-BE49-F238E27FC236}">
                <a16:creationId xmlns:a16="http://schemas.microsoft.com/office/drawing/2014/main" id="{EE94134F-B4A5-AD75-F42C-9D2EA1F742EF}"/>
              </a:ext>
            </a:extLst>
          </p:cNvPr>
          <p:cNvCxnSpPr>
            <a:cxnSpLocks/>
            <a:endCxn id="8" idx="0"/>
          </p:cNvCxnSpPr>
          <p:nvPr/>
        </p:nvCxnSpPr>
        <p:spPr>
          <a:xfrm flipH="1">
            <a:off x="9409354" y="3910616"/>
            <a:ext cx="166157" cy="62521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558EB9D-21DE-5894-3584-D63F911B4435}"/>
              </a:ext>
            </a:extLst>
          </p:cNvPr>
          <p:cNvCxnSpPr>
            <a:cxnSpLocks/>
            <a:stCxn id="3" idx="4"/>
          </p:cNvCxnSpPr>
          <p:nvPr/>
        </p:nvCxnSpPr>
        <p:spPr>
          <a:xfrm>
            <a:off x="9592443" y="3910616"/>
            <a:ext cx="175687" cy="145170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EE2B0AE-B0FF-D8AB-BF20-0434D0593757}"/>
              </a:ext>
            </a:extLst>
          </p:cNvPr>
          <p:cNvCxnSpPr>
            <a:cxnSpLocks/>
            <a:endCxn id="11" idx="1"/>
          </p:cNvCxnSpPr>
          <p:nvPr/>
        </p:nvCxnSpPr>
        <p:spPr>
          <a:xfrm>
            <a:off x="9632394" y="3782493"/>
            <a:ext cx="1031475" cy="46292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8C44C03F-9CE8-1050-C1AB-9141524E4A2F}"/>
              </a:ext>
            </a:extLst>
          </p:cNvPr>
          <p:cNvSpPr/>
          <p:nvPr/>
        </p:nvSpPr>
        <p:spPr>
          <a:xfrm>
            <a:off x="6054124" y="3935049"/>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DB65DCE-7476-C71D-3977-45B3AA2C86C2}"/>
              </a:ext>
            </a:extLst>
          </p:cNvPr>
          <p:cNvSpPr/>
          <p:nvPr/>
        </p:nvSpPr>
        <p:spPr>
          <a:xfrm>
            <a:off x="5446418" y="4585029"/>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758DD295-2C43-F7B9-C75D-CAF78532AEA5}"/>
              </a:ext>
            </a:extLst>
          </p:cNvPr>
          <p:cNvSpPr/>
          <p:nvPr/>
        </p:nvSpPr>
        <p:spPr>
          <a:xfrm>
            <a:off x="5308745" y="3669292"/>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688735A-ABA6-DBA1-7B6F-E02BFFDA0A3C}"/>
              </a:ext>
            </a:extLst>
          </p:cNvPr>
          <p:cNvSpPr/>
          <p:nvPr/>
        </p:nvSpPr>
        <p:spPr>
          <a:xfrm>
            <a:off x="4943711" y="5311518"/>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0A8053B-9E26-874F-157F-A390E7BFA33F}"/>
              </a:ext>
            </a:extLst>
          </p:cNvPr>
          <p:cNvSpPr/>
          <p:nvPr/>
        </p:nvSpPr>
        <p:spPr>
          <a:xfrm>
            <a:off x="4771200" y="4153481"/>
            <a:ext cx="172511" cy="1778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AB4DAB51-A3C8-0A53-3D60-B4D3E9B0DD9B}"/>
              </a:ext>
            </a:extLst>
          </p:cNvPr>
          <p:cNvCxnSpPr>
            <a:cxnSpLocks/>
            <a:endCxn id="30" idx="7"/>
          </p:cNvCxnSpPr>
          <p:nvPr/>
        </p:nvCxnSpPr>
        <p:spPr>
          <a:xfrm flipH="1">
            <a:off x="5593665" y="4004171"/>
            <a:ext cx="578945" cy="60689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20B5B75-0FA5-FFD7-CAEA-0A835F350C43}"/>
              </a:ext>
            </a:extLst>
          </p:cNvPr>
          <p:cNvCxnSpPr>
            <a:cxnSpLocks/>
          </p:cNvCxnSpPr>
          <p:nvPr/>
        </p:nvCxnSpPr>
        <p:spPr>
          <a:xfrm>
            <a:off x="4889686" y="4331281"/>
            <a:ext cx="139911" cy="96167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2E3FF57-1FC6-4E6C-D2C3-0B93EFD45D1C}"/>
              </a:ext>
            </a:extLst>
          </p:cNvPr>
          <p:cNvCxnSpPr>
            <a:cxnSpLocks/>
          </p:cNvCxnSpPr>
          <p:nvPr/>
        </p:nvCxnSpPr>
        <p:spPr>
          <a:xfrm>
            <a:off x="5399484" y="3719081"/>
            <a:ext cx="139911" cy="961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103AD1D-5D12-D6B7-4E44-FDF111F8B7A7}"/>
              </a:ext>
            </a:extLst>
          </p:cNvPr>
          <p:cNvCxnSpPr>
            <a:cxnSpLocks/>
            <a:stCxn id="33" idx="7"/>
          </p:cNvCxnSpPr>
          <p:nvPr/>
        </p:nvCxnSpPr>
        <p:spPr>
          <a:xfrm flipV="1">
            <a:off x="4918447" y="4001719"/>
            <a:ext cx="1118745" cy="177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5B9385B-4F4E-8BDC-6ACF-10EE452CFBEF}"/>
              </a:ext>
            </a:extLst>
          </p:cNvPr>
          <p:cNvCxnSpPr>
            <a:cxnSpLocks/>
            <a:stCxn id="31" idx="4"/>
            <a:endCxn id="32" idx="0"/>
          </p:cNvCxnSpPr>
          <p:nvPr/>
        </p:nvCxnSpPr>
        <p:spPr>
          <a:xfrm flipH="1">
            <a:off x="5029967" y="3847092"/>
            <a:ext cx="365034" cy="146442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DA3F2A8-9DED-3A7F-130B-4EAB03BB5F76}"/>
              </a:ext>
            </a:extLst>
          </p:cNvPr>
          <p:cNvCxnSpPr>
            <a:cxnSpLocks/>
            <a:stCxn id="12" idx="2"/>
            <a:endCxn id="30" idx="6"/>
          </p:cNvCxnSpPr>
          <p:nvPr/>
        </p:nvCxnSpPr>
        <p:spPr>
          <a:xfrm flipH="1" flipV="1">
            <a:off x="5618929" y="4673929"/>
            <a:ext cx="5046666" cy="726489"/>
          </a:xfrm>
          <a:prstGeom prst="line">
            <a:avLst/>
          </a:prstGeom>
        </p:spPr>
        <p:style>
          <a:lnRef idx="1">
            <a:schemeClr val="accent1"/>
          </a:lnRef>
          <a:fillRef idx="0">
            <a:schemeClr val="accent1"/>
          </a:fillRef>
          <a:effectRef idx="0">
            <a:schemeClr val="accent1"/>
          </a:effectRef>
          <a:fontRef idx="minor">
            <a:schemeClr val="tx1"/>
          </a:fontRef>
        </p:style>
      </p:cxnSp>
      <p:pic>
        <p:nvPicPr>
          <p:cNvPr id="58" name="Picture 57">
            <a:extLst>
              <a:ext uri="{FF2B5EF4-FFF2-40B4-BE49-F238E27FC236}">
                <a16:creationId xmlns:a16="http://schemas.microsoft.com/office/drawing/2014/main" id="{0A2BEE66-CF30-C5D9-48BD-33BC90998C6A}"/>
              </a:ext>
            </a:extLst>
          </p:cNvPr>
          <p:cNvPicPr>
            <a:picLocks noChangeAspect="1"/>
          </p:cNvPicPr>
          <p:nvPr/>
        </p:nvPicPr>
        <p:blipFill>
          <a:blip r:embed="rId2"/>
          <a:stretch>
            <a:fillRect/>
          </a:stretch>
        </p:blipFill>
        <p:spPr>
          <a:xfrm>
            <a:off x="548287" y="1456292"/>
            <a:ext cx="2948986" cy="5146271"/>
          </a:xfrm>
          <a:prstGeom prst="rect">
            <a:avLst/>
          </a:prstGeom>
        </p:spPr>
      </p:pic>
    </p:spTree>
    <p:extLst>
      <p:ext uri="{BB962C8B-B14F-4D97-AF65-F5344CB8AC3E}">
        <p14:creationId xmlns:p14="http://schemas.microsoft.com/office/powerpoint/2010/main" val="24838288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2ECDB22-2D28-CFEF-4680-6D1EA7006E43}"/>
              </a:ext>
            </a:extLst>
          </p:cNvPr>
          <p:cNvSpPr>
            <a:spLocks noGrp="1"/>
          </p:cNvSpPr>
          <p:nvPr>
            <p:ph type="title"/>
          </p:nvPr>
        </p:nvSpPr>
        <p:spPr>
          <a:xfrm>
            <a:off x="625337" y="208469"/>
            <a:ext cx="10515600" cy="1325563"/>
          </a:xfrm>
        </p:spPr>
        <p:txBody>
          <a:bodyPr/>
          <a:lstStyle/>
          <a:p>
            <a:r>
              <a:rPr lang="en-US" dirty="0">
                <a:effectLst/>
              </a:rPr>
              <a:t>SIMBA</a:t>
            </a:r>
            <a:r>
              <a:rPr lang="zh-TW" altLang="en-US" dirty="0">
                <a:effectLst/>
              </a:rPr>
              <a:t>！</a:t>
            </a:r>
            <a:r>
              <a:rPr lang="en-US" altLang="zh-TW" dirty="0">
                <a:effectLst/>
              </a:rPr>
              <a:t>To do more</a:t>
            </a:r>
            <a:r>
              <a:rPr lang="zh-TW" altLang="en-US" dirty="0">
                <a:effectLst/>
              </a:rPr>
              <a:t>？</a:t>
            </a:r>
            <a:endParaRPr lang="en-US" sz="4400" dirty="0">
              <a:solidFill>
                <a:schemeClr val="tx1"/>
              </a:solidFill>
            </a:endParaRPr>
          </a:p>
        </p:txBody>
      </p:sp>
      <p:sp>
        <p:nvSpPr>
          <p:cNvPr id="13" name="Rectangle 12">
            <a:extLst>
              <a:ext uri="{FF2B5EF4-FFF2-40B4-BE49-F238E27FC236}">
                <a16:creationId xmlns:a16="http://schemas.microsoft.com/office/drawing/2014/main" id="{EA4DB846-25D9-FE1B-D2C4-719C2F2983BA}"/>
              </a:ext>
            </a:extLst>
          </p:cNvPr>
          <p:cNvSpPr/>
          <p:nvPr/>
        </p:nvSpPr>
        <p:spPr>
          <a:xfrm>
            <a:off x="1058240" y="2824210"/>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cellular heterogeneity</a:t>
            </a:r>
            <a:endParaRPr lang="en-US" sz="2800" dirty="0">
              <a:solidFill>
                <a:schemeClr val="tx1"/>
              </a:solidFill>
            </a:endParaRPr>
          </a:p>
        </p:txBody>
      </p:sp>
      <p:sp>
        <p:nvSpPr>
          <p:cNvPr id="4" name="Rectangle 3">
            <a:extLst>
              <a:ext uri="{FF2B5EF4-FFF2-40B4-BE49-F238E27FC236}">
                <a16:creationId xmlns:a16="http://schemas.microsoft.com/office/drawing/2014/main" id="{D7F0740B-864B-B39D-E7FA-BA67826011F4}"/>
              </a:ext>
            </a:extLst>
          </p:cNvPr>
          <p:cNvSpPr/>
          <p:nvPr/>
        </p:nvSpPr>
        <p:spPr>
          <a:xfrm>
            <a:off x="902792" y="4410721"/>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regulatory mechanisms</a:t>
            </a:r>
            <a:endParaRPr lang="en-US" sz="2800" dirty="0">
              <a:solidFill>
                <a:schemeClr val="tx1"/>
              </a:solidFill>
            </a:endParaRPr>
          </a:p>
        </p:txBody>
      </p:sp>
      <p:sp>
        <p:nvSpPr>
          <p:cNvPr id="6" name="Rectangle 5">
            <a:extLst>
              <a:ext uri="{FF2B5EF4-FFF2-40B4-BE49-F238E27FC236}">
                <a16:creationId xmlns:a16="http://schemas.microsoft.com/office/drawing/2014/main" id="{A9654783-5BCD-5AD1-3CCC-BCBB506AFE09}"/>
              </a:ext>
            </a:extLst>
          </p:cNvPr>
          <p:cNvSpPr/>
          <p:nvPr/>
        </p:nvSpPr>
        <p:spPr>
          <a:xfrm rot="409328">
            <a:off x="8646427" y="3728689"/>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time points</a:t>
            </a:r>
            <a:endParaRPr lang="en-US" sz="2800" dirty="0">
              <a:solidFill>
                <a:schemeClr val="tx1"/>
              </a:solidFill>
            </a:endParaRPr>
          </a:p>
        </p:txBody>
      </p:sp>
      <p:pic>
        <p:nvPicPr>
          <p:cNvPr id="7170" name="Picture 2" descr="Israeli photographer's real-life 'Lion King' photo grabs headlines | The  Times of Israel">
            <a:extLst>
              <a:ext uri="{FF2B5EF4-FFF2-40B4-BE49-F238E27FC236}">
                <a16:creationId xmlns:a16="http://schemas.microsoft.com/office/drawing/2014/main" id="{39B12045-B443-DD56-A6F6-3C84E80378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277" y="2517806"/>
            <a:ext cx="3855720" cy="240982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4062E6B4-83D6-2BEB-E6E9-9E479517641F}"/>
              </a:ext>
            </a:extLst>
          </p:cNvPr>
          <p:cNvCxnSpPr>
            <a:cxnSpLocks/>
          </p:cNvCxnSpPr>
          <p:nvPr/>
        </p:nvCxnSpPr>
        <p:spPr>
          <a:xfrm flipV="1">
            <a:off x="3667156" y="2824210"/>
            <a:ext cx="1243172" cy="1843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C6F7F36-7669-E461-F0BE-8ABAF665C03E}"/>
              </a:ext>
            </a:extLst>
          </p:cNvPr>
          <p:cNvCxnSpPr>
            <a:cxnSpLocks/>
            <a:stCxn id="4" idx="3"/>
          </p:cNvCxnSpPr>
          <p:nvPr/>
        </p:nvCxnSpPr>
        <p:spPr>
          <a:xfrm flipV="1">
            <a:off x="3667156" y="2824210"/>
            <a:ext cx="1243172" cy="1734678"/>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AB98273-D43B-EFBD-C2BA-FFDF53D107EA}"/>
              </a:ext>
            </a:extLst>
          </p:cNvPr>
          <p:cNvSpPr txBox="1"/>
          <p:nvPr/>
        </p:nvSpPr>
        <p:spPr>
          <a:xfrm>
            <a:off x="6485382" y="6596390"/>
            <a:ext cx="5706618" cy="261610"/>
          </a:xfrm>
          <a:prstGeom prst="rect">
            <a:avLst/>
          </a:prstGeom>
          <a:noFill/>
        </p:spPr>
        <p:txBody>
          <a:bodyPr wrap="square">
            <a:spAutoFit/>
          </a:bodyPr>
          <a:lstStyle/>
          <a:p>
            <a:r>
              <a:rPr lang="en-US" sz="1100" dirty="0"/>
              <a:t>https://www.timesofisrael.com/israeli-photographers-real-life-lion-king-photo-grabs-headlines/</a:t>
            </a:r>
          </a:p>
        </p:txBody>
      </p:sp>
      <p:sp>
        <p:nvSpPr>
          <p:cNvPr id="25" name="Rectangle 24">
            <a:extLst>
              <a:ext uri="{FF2B5EF4-FFF2-40B4-BE49-F238E27FC236}">
                <a16:creationId xmlns:a16="http://schemas.microsoft.com/office/drawing/2014/main" id="{6936796C-5270-D87E-3066-A91C765A9536}"/>
              </a:ext>
            </a:extLst>
          </p:cNvPr>
          <p:cNvSpPr/>
          <p:nvPr/>
        </p:nvSpPr>
        <p:spPr>
          <a:xfrm rot="409328">
            <a:off x="8646425" y="4247585"/>
            <a:ext cx="2764364" cy="296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effectLst/>
              </a:rPr>
              <a:t>Perturbations</a:t>
            </a:r>
            <a:endParaRPr lang="en-US" sz="2800" dirty="0">
              <a:solidFill>
                <a:schemeClr val="tx1"/>
              </a:solidFill>
            </a:endParaRPr>
          </a:p>
        </p:txBody>
      </p:sp>
    </p:spTree>
    <p:extLst>
      <p:ext uri="{BB962C8B-B14F-4D97-AF65-F5344CB8AC3E}">
        <p14:creationId xmlns:p14="http://schemas.microsoft.com/office/powerpoint/2010/main" val="105249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Simba - Wikipedia">
            <a:extLst>
              <a:ext uri="{FF2B5EF4-FFF2-40B4-BE49-F238E27FC236}">
                <a16:creationId xmlns:a16="http://schemas.microsoft.com/office/drawing/2014/main" id="{58795647-D301-A04C-4F12-90197FA5054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54227" y="1409972"/>
            <a:ext cx="2114286" cy="38476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386A398-5F73-83D5-72BA-D95064DFC256}"/>
              </a:ext>
            </a:extLst>
          </p:cNvPr>
          <p:cNvSpPr txBox="1"/>
          <p:nvPr/>
        </p:nvSpPr>
        <p:spPr>
          <a:xfrm>
            <a:off x="9679686" y="6581001"/>
            <a:ext cx="2512314" cy="276999"/>
          </a:xfrm>
          <a:prstGeom prst="rect">
            <a:avLst/>
          </a:prstGeom>
          <a:noFill/>
        </p:spPr>
        <p:txBody>
          <a:bodyPr wrap="square">
            <a:spAutoFit/>
          </a:bodyPr>
          <a:lstStyle/>
          <a:p>
            <a:r>
              <a:rPr lang="en-US" sz="1200" dirty="0"/>
              <a:t>https://en.wikipedia.org/wiki/Simba</a:t>
            </a:r>
          </a:p>
        </p:txBody>
      </p:sp>
      <p:sp>
        <p:nvSpPr>
          <p:cNvPr id="8" name="Title 1">
            <a:extLst>
              <a:ext uri="{FF2B5EF4-FFF2-40B4-BE49-F238E27FC236}">
                <a16:creationId xmlns:a16="http://schemas.microsoft.com/office/drawing/2014/main" id="{9B272056-DD63-C6DA-6226-121D1DE0182F}"/>
              </a:ext>
            </a:extLst>
          </p:cNvPr>
          <p:cNvSpPr>
            <a:spLocks noGrp="1"/>
          </p:cNvSpPr>
          <p:nvPr>
            <p:ph type="title"/>
          </p:nvPr>
        </p:nvSpPr>
        <p:spPr>
          <a:xfrm>
            <a:off x="5281855" y="2548509"/>
            <a:ext cx="3720132" cy="1760982"/>
          </a:xfrm>
        </p:spPr>
        <p:txBody>
          <a:bodyPr>
            <a:normAutofit/>
          </a:bodyPr>
          <a:lstStyle/>
          <a:p>
            <a:r>
              <a:rPr lang="en-US" altLang="zh-TW" sz="6000" dirty="0"/>
              <a:t>Thank you</a:t>
            </a:r>
            <a:endParaRPr lang="en-US" sz="6000" dirty="0"/>
          </a:p>
        </p:txBody>
      </p:sp>
    </p:spTree>
    <p:extLst>
      <p:ext uri="{BB962C8B-B14F-4D97-AF65-F5344CB8AC3E}">
        <p14:creationId xmlns:p14="http://schemas.microsoft.com/office/powerpoint/2010/main" val="4928999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3584</TotalTime>
  <Words>3738</Words>
  <Application>Microsoft Office PowerPoint</Application>
  <PresentationFormat>Widescreen</PresentationFormat>
  <Paragraphs>399</Paragraphs>
  <Slides>56</Slides>
  <Notes>45</Notes>
  <HiddenSlides>15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Harding</vt:lpstr>
      <vt:lpstr>Söhne</vt:lpstr>
      <vt:lpstr>Arial</vt:lpstr>
      <vt:lpstr>Calibri</vt:lpstr>
      <vt:lpstr>Calibri Light</vt:lpstr>
      <vt:lpstr>Office Theme</vt:lpstr>
      <vt:lpstr>SIMBA: single-cell embedding along with features</vt:lpstr>
      <vt:lpstr>Presentation 方向和問題</vt:lpstr>
      <vt:lpstr>PowerPoint Presentation</vt:lpstr>
      <vt:lpstr>PowerPoint Presentation</vt:lpstr>
      <vt:lpstr>Background</vt:lpstr>
      <vt:lpstr>General Workflow  for scRNA Analysis</vt:lpstr>
      <vt:lpstr>The Limitation of Clustering</vt:lpstr>
      <vt:lpstr>PowerPoint Presentation</vt:lpstr>
      <vt:lpstr>This is what SIMBA want to ACHIEVE</vt:lpstr>
      <vt:lpstr>This is what SIMBA want to ACHIEVE</vt:lpstr>
      <vt:lpstr>Overview</vt:lpstr>
      <vt:lpstr>PowerPoint Presentation</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SIMBA 指標（最大值和Gini指數得分）</vt:lpstr>
      <vt:lpstr>PowerPoint Presentation</vt:lpstr>
      <vt:lpstr>PowerPoint Presentation</vt:lpstr>
      <vt:lpstr>PowerPoint Presentation</vt:lpstr>
      <vt:lpstr>PowerPoint Presentation</vt:lpstr>
      <vt:lpstr>SIMBA指標（最大值和Gini指數得分）</vt:lpstr>
      <vt:lpstr>PowerPoint Presentation</vt:lpstr>
      <vt:lpstr>PowerPoint Presentation</vt:lpstr>
      <vt:lpstr>PowerPoint Presentation</vt:lpstr>
      <vt:lpstr>Methods</vt:lpstr>
      <vt:lpstr>Methods</vt:lpstr>
      <vt:lpstr>Single-cell RNA seq Analysis</vt:lpstr>
      <vt:lpstr>Single-cell ATAC-seq analysis</vt:lpstr>
      <vt:lpstr>Multimodal Analysis</vt:lpstr>
      <vt:lpstr>Multimodal Analysis</vt:lpstr>
      <vt:lpstr>Batch correction analysis</vt:lpstr>
      <vt:lpstr>About Truncated Randomized SVD…</vt:lpstr>
      <vt:lpstr>Multi-omics Integration </vt:lpstr>
      <vt:lpstr>Methods</vt:lpstr>
      <vt:lpstr>Vector</vt:lpstr>
      <vt:lpstr>Negative Sampling</vt:lpstr>
      <vt:lpstr>Negative Sampling</vt:lpstr>
      <vt:lpstr>Negative Sampling </vt:lpstr>
      <vt:lpstr>Negative Sampling</vt:lpstr>
      <vt:lpstr>Evaluation</vt:lpstr>
      <vt:lpstr>Can our model predict precisely?</vt:lpstr>
      <vt:lpstr>Can our model predict precisely?</vt:lpstr>
      <vt:lpstr>Evaluation</vt:lpstr>
      <vt:lpstr>Softmax Transformation</vt:lpstr>
      <vt:lpstr>Evaluation</vt:lpstr>
      <vt:lpstr>Metrics to assess cell-type specificity</vt:lpstr>
      <vt:lpstr>Metrics to assess cell-type specificity</vt:lpstr>
      <vt:lpstr>Discussion</vt:lpstr>
      <vt:lpstr>The Great Idea of SIMBA</vt:lpstr>
      <vt:lpstr>SIMBA！To do more？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 Jie Chen</dc:creator>
  <cp:lastModifiedBy>Yi Jie Chen</cp:lastModifiedBy>
  <cp:revision>99</cp:revision>
  <dcterms:created xsi:type="dcterms:W3CDTF">2023-09-16T02:13:27Z</dcterms:created>
  <dcterms:modified xsi:type="dcterms:W3CDTF">2023-10-25T13:21:08Z</dcterms:modified>
</cp:coreProperties>
</file>