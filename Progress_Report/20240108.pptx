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66" r:id="rId3"/>
    <p:sldId id="263" r:id="rId4"/>
    <p:sldId id="267" r:id="rId5"/>
    <p:sldId id="260" r:id="rId6"/>
    <p:sldId id="259" r:id="rId7"/>
    <p:sldId id="262" r:id="rId8"/>
    <p:sldId id="261" r:id="rId9"/>
    <p:sldId id="257" r:id="rId10"/>
    <p:sldId id="258" r:id="rId11"/>
    <p:sldId id="264" r:id="rId12"/>
    <p:sldId id="265" r:id="rId13"/>
    <p:sldId id="278" r:id="rId14"/>
    <p:sldId id="279" r:id="rId15"/>
    <p:sldId id="268" r:id="rId16"/>
    <p:sldId id="277" r:id="rId17"/>
    <p:sldId id="269" r:id="rId18"/>
    <p:sldId id="270" r:id="rId19"/>
    <p:sldId id="271" r:id="rId20"/>
    <p:sldId id="280" r:id="rId21"/>
    <p:sldId id="273" r:id="rId22"/>
    <p:sldId id="275" r:id="rId23"/>
    <p:sldId id="272" r:id="rId24"/>
    <p:sldId id="274" r:id="rId25"/>
    <p:sldId id="27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2A989-16A7-46B5-B29D-032B79521A7C}" type="datetimeFigureOut">
              <a:rPr lang="en-US" smtClean="0"/>
              <a:t>1/17/2024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F1DB29-0FB7-40AD-ABFC-F409F1143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328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F1DB29-0FB7-40AD-ABFC-F409F11438C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85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ECB5D-1DB2-B16B-2995-013A1CE284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DAB2AF-1F23-E77F-50C3-A32A5ABC3D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253C2-336B-E8E4-5289-79B9EC41B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622AF-F040-4C67-9203-CD4AE7B78625}" type="datetimeFigureOut">
              <a:rPr lang="en-US" smtClean="0"/>
              <a:t>1/17/2024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BE1AB-F4BF-73E6-7DAE-50DCEE664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2DB17-827F-AD21-7067-ED064B8DE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2809E-02E6-4ECE-A12A-3B28FBB69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60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36CE5-51C2-3272-F116-182A82FD6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769B3-074C-A945-C681-00C34A1C6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9CA6C-4BBC-5911-1F92-B7F883B48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622AF-F040-4C67-9203-CD4AE7B78625}" type="datetimeFigureOut">
              <a:rPr lang="en-US" smtClean="0"/>
              <a:t>1/17/2024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6FFBE-EAE9-472C-7E46-269A73515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E9CA4-7015-3A3F-328B-9D44D95C5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2809E-02E6-4ECE-A12A-3B28FBB69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776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CA9E0-2D95-81E5-999E-ACCBBBC61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FF8E3-2809-2DF3-A5D5-15750F1C8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0638C-2A91-2EE0-0B8D-6728867E9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622AF-F040-4C67-9203-CD4AE7B78625}" type="datetimeFigureOut">
              <a:rPr lang="en-US" smtClean="0"/>
              <a:t>1/17/2024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15CA6-B9AF-E727-34D4-135002E84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084C1-A002-425A-2FDE-54CCEFA64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2809E-02E6-4ECE-A12A-3B28FBB69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425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DFB6A-0B57-10F6-D5DA-3F3E83669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AACDE-F226-2D19-46C9-5BA2B6B3BF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241602-A9B9-9922-CABE-911253853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321784-A3BD-2542-2492-B85676AA6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622AF-F040-4C67-9203-CD4AE7B78625}" type="datetimeFigureOut">
              <a:rPr lang="en-US" smtClean="0"/>
              <a:t>1/17/2024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42665E-4D06-46DE-9BDA-9D58603B8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F53F9-AF8A-3284-28F0-D32BE4EC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2809E-02E6-4ECE-A12A-3B28FBB69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223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8042F-F2AB-076A-0635-1C129282B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DCAD9D-4B98-F42B-E5E5-E7646C0B0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C0EF2-3AED-99BA-102C-9127F2A32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6B8F27-BB36-FBC2-C8D1-D3C1EB7AE3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1FB3A3-E6C0-E1C8-5278-C00249D42D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9A0E0B-E574-48CA-A05D-48968B416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622AF-F040-4C67-9203-CD4AE7B78625}" type="datetimeFigureOut">
              <a:rPr lang="en-US" smtClean="0"/>
              <a:t>1/17/2024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A805EE-5C37-CB56-C04D-78980987D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F6F5CC-5C0E-46C4-E7DF-E3B5DDA02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2809E-02E6-4ECE-A12A-3B28FBB69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95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6B598-1EFA-4919-5890-EB4A34E28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2EABE6-0E14-5473-FB44-4DB8AAE0C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622AF-F040-4C67-9203-CD4AE7B78625}" type="datetimeFigureOut">
              <a:rPr lang="en-US" smtClean="0"/>
              <a:t>1/17/2024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99D41-C8FB-0DC7-40E6-60DF370BE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325185-E29D-12B2-D6FE-6F131A3D5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2809E-02E6-4ECE-A12A-3B28FBB69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674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291B76-92C7-A1DE-06FE-87D3DD27D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622AF-F040-4C67-9203-CD4AE7B78625}" type="datetimeFigureOut">
              <a:rPr lang="en-US" smtClean="0"/>
              <a:t>1/17/2024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874267-0CBD-E0F4-E574-A45917155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BC2EC-E252-9530-F1BF-54DDDF0CB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2809E-02E6-4ECE-A12A-3B28FBB69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091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1954A-C7A0-EEF2-2CCE-48EFAE173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3E5BC-D173-2418-896F-FB5E6815D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E76C6B-70BD-A721-A1BD-D137CCB54A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2816FC-FB0E-37FC-C55B-947677D69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622AF-F040-4C67-9203-CD4AE7B78625}" type="datetimeFigureOut">
              <a:rPr lang="en-US" smtClean="0"/>
              <a:t>1/17/2024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15AEB-B5B3-5B6C-65F2-482AA50EA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901ABF-721C-B75C-51F0-84C6E8461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2809E-02E6-4ECE-A12A-3B28FBB69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926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F8733-2279-7707-AF25-58CBA6543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31FE13-B255-C5C6-4BD1-6C4E9023CC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8F9A3-9572-1ABB-17CB-CFE7F4F0A9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EA5FE-DE09-ADD4-88A0-CDCEDBC4A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622AF-F040-4C67-9203-CD4AE7B78625}" type="datetimeFigureOut">
              <a:rPr lang="en-US" smtClean="0"/>
              <a:t>1/17/2024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1D8A43-3EC9-F86E-6266-437E67C47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C364E6-76EE-AA76-57A6-848737D63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2809E-02E6-4ECE-A12A-3B28FBB69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79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AC506-3311-995F-736E-5A9F3BF46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7161BF-67A8-CF5A-9359-CBA80CD67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3EAF3-4F03-764A-673C-4BB0F05E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622AF-F040-4C67-9203-CD4AE7B78625}" type="datetimeFigureOut">
              <a:rPr lang="en-US" smtClean="0"/>
              <a:t>1/17/2024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1D15E-4AE2-85BA-134F-2F384B8F5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91F21-E0C9-70F9-B7D3-200D55833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2809E-02E6-4ECE-A12A-3B28FBB69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177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CB907D-EFE2-FAF7-FC32-7BA0BA1420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793ECC-5627-C1C7-8A51-7A50EBDDAE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8E553-9C06-3AFB-29C9-E27325E07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622AF-F040-4C67-9203-CD4AE7B78625}" type="datetimeFigureOut">
              <a:rPr lang="en-US" smtClean="0"/>
              <a:t>1/17/2024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AAF2B-DE5E-02CD-B33E-7E5325682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DC5E5-0C6A-3D68-6D74-66A453E38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2809E-02E6-4ECE-A12A-3B28FBB69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378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314533-56CA-DF81-0357-555F3DBCA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28C88-6157-A961-9186-9C4D7C3E5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FFCF1-87DA-2347-504E-2C665EB59B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622AF-F040-4C67-9203-CD4AE7B78625}" type="datetimeFigureOut">
              <a:rPr lang="en-US" smtClean="0"/>
              <a:t>1/17/2024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255FB-9002-8D36-4990-E262F75DBE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BFE73-C545-A54E-19CC-777A41D486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2809E-02E6-4ECE-A12A-3B28FBB69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153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ellxgene.cziscience.com/collection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inglecell.broadinstitute.org/single_cel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munesinglecell.org/repository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ngdc.cncb.ac.cn/methbank/scm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://bio-bigdata.hrbmu.edu.cn/SORC/Download.jsp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bio-bigdata.hrbmu.edu.cn/SORC/Download.jsp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b.cngb.org/stomics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singpro.idrblab.net/data/ms/details/SCP43381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tide-verbena-b1b.notion.site/Research-Ideas-e53cb1db8217492f982ba5b8d654c0ec?pvs=4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E6645-1200-1739-F581-DA8063EA0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16886"/>
            <a:ext cx="9144000" cy="2387600"/>
          </a:xfrm>
        </p:spPr>
        <p:txBody>
          <a:bodyPr/>
          <a:lstStyle/>
          <a:p>
            <a:r>
              <a:rPr lang="en-US" dirty="0"/>
              <a:t>Multi-Omics Database</a:t>
            </a:r>
            <a:br>
              <a:rPr lang="en-US" dirty="0"/>
            </a:br>
            <a:r>
              <a:rPr lang="en-US" dirty="0"/>
              <a:t>for Single Cell Survey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D02E03-14D5-AA13-B748-6EE169243A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20495"/>
            <a:ext cx="9144000" cy="522093"/>
          </a:xfrm>
        </p:spPr>
        <p:txBody>
          <a:bodyPr/>
          <a:lstStyle/>
          <a:p>
            <a:r>
              <a:rPr lang="en-US" dirty="0"/>
              <a:t>2024.01.08</a:t>
            </a:r>
          </a:p>
        </p:txBody>
      </p:sp>
    </p:spTree>
    <p:extLst>
      <p:ext uri="{BB962C8B-B14F-4D97-AF65-F5344CB8AC3E}">
        <p14:creationId xmlns:p14="http://schemas.microsoft.com/office/powerpoint/2010/main" val="73860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E900-70FC-830E-59EC-36C95A2B0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8581D-A71F-E6AF-2664-83D9BA538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scRNA</a:t>
            </a:r>
            <a:r>
              <a:rPr lang="en-US" dirty="0"/>
              <a:t> / </a:t>
            </a:r>
            <a:r>
              <a:rPr lang="en-US" dirty="0" err="1"/>
              <a:t>scATAC</a:t>
            </a:r>
            <a:r>
              <a:rPr lang="en-US" dirty="0"/>
              <a:t> Database</a:t>
            </a:r>
          </a:p>
          <a:p>
            <a:r>
              <a:rPr lang="en-US" dirty="0" err="1"/>
              <a:t>scMethylation</a:t>
            </a:r>
            <a:r>
              <a:rPr lang="en-US" dirty="0"/>
              <a:t> Database</a:t>
            </a:r>
          </a:p>
          <a:p>
            <a:r>
              <a:rPr lang="en-US" dirty="0" err="1"/>
              <a:t>sc</a:t>
            </a:r>
            <a:r>
              <a:rPr lang="en-US" dirty="0"/>
              <a:t> Spatial Transcriptomics Database</a:t>
            </a:r>
          </a:p>
          <a:p>
            <a:endParaRPr lang="en-US" dirty="0"/>
          </a:p>
          <a:p>
            <a:r>
              <a:rPr lang="en-US" dirty="0"/>
              <a:t>Public Dataset Analysis -&gt; Research Ideas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338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E6645-1200-1739-F581-DA8063EA0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12773"/>
            <a:ext cx="9144000" cy="1045059"/>
          </a:xfrm>
        </p:spPr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scRNA</a:t>
            </a:r>
            <a:r>
              <a:rPr lang="en-US" dirty="0"/>
              <a:t> / </a:t>
            </a:r>
            <a:r>
              <a:rPr lang="en-US" dirty="0" err="1"/>
              <a:t>scATAC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951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78119E-1EA9-D822-5CF9-5B2DE1287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80" y="1476418"/>
            <a:ext cx="11130822" cy="5520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75B993-6272-0CC8-56EA-FCF826EE5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Database Overview</a:t>
            </a:r>
          </a:p>
        </p:txBody>
      </p:sp>
    </p:spTree>
    <p:extLst>
      <p:ext uri="{BB962C8B-B14F-4D97-AF65-F5344CB8AC3E}">
        <p14:creationId xmlns:p14="http://schemas.microsoft.com/office/powerpoint/2010/main" val="3305265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6248A-26B0-82F5-7940-34EE1D4B4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CellxGene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6A7FB7-FF14-316D-72AD-39A6D9F940E4}"/>
              </a:ext>
            </a:extLst>
          </p:cNvPr>
          <p:cNvSpPr txBox="1"/>
          <p:nvPr/>
        </p:nvSpPr>
        <p:spPr>
          <a:xfrm>
            <a:off x="0" y="6550223"/>
            <a:ext cx="33986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hlinkClick r:id="rId2"/>
              </a:rPr>
              <a:t>https://cellxgene.cziscience.com/collections</a:t>
            </a: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62CB3A-F170-3122-7D14-4ECF3050FD8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397"/>
          <a:stretch/>
        </p:blipFill>
        <p:spPr>
          <a:xfrm>
            <a:off x="129209" y="1445884"/>
            <a:ext cx="11777869" cy="450294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D0404AA-FD0E-826C-DF51-820DAA5AC08D}"/>
              </a:ext>
            </a:extLst>
          </p:cNvPr>
          <p:cNvSpPr/>
          <p:nvPr/>
        </p:nvSpPr>
        <p:spPr>
          <a:xfrm>
            <a:off x="4770783" y="1808922"/>
            <a:ext cx="1759226" cy="42539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294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6248A-26B0-82F5-7940-34EE1D4B4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6099"/>
            <a:ext cx="10515600" cy="1325563"/>
          </a:xfrm>
        </p:spPr>
        <p:txBody>
          <a:bodyPr/>
          <a:lstStyle/>
          <a:p>
            <a:r>
              <a:rPr lang="en-US" altLang="zh-TW" dirty="0" err="1"/>
              <a:t>CellxGene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5CE592F-2F7B-885F-10DE-131FC75FE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05" y="1338653"/>
            <a:ext cx="10796295" cy="531324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F115DDB-0D87-8B5E-1542-AEC141134839}"/>
              </a:ext>
            </a:extLst>
          </p:cNvPr>
          <p:cNvSpPr/>
          <p:nvPr/>
        </p:nvSpPr>
        <p:spPr>
          <a:xfrm>
            <a:off x="944216" y="4840357"/>
            <a:ext cx="685801" cy="2782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C4798C-2A49-C8D5-6B8B-466D8DAF5758}"/>
              </a:ext>
            </a:extLst>
          </p:cNvPr>
          <p:cNvSpPr/>
          <p:nvPr/>
        </p:nvSpPr>
        <p:spPr>
          <a:xfrm>
            <a:off x="8024190" y="2464904"/>
            <a:ext cx="1129749" cy="3431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8540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6248A-26B0-82F5-7940-34EE1D4B4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Single Cell Portal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17DE81-D694-92DA-9AA9-DD0F75600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87" y="1515948"/>
            <a:ext cx="12046226" cy="55028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426255-9F3E-2CA6-A9AB-412F172F6811}"/>
              </a:ext>
            </a:extLst>
          </p:cNvPr>
          <p:cNvSpPr txBox="1"/>
          <p:nvPr/>
        </p:nvSpPr>
        <p:spPr>
          <a:xfrm>
            <a:off x="4919869" y="1027906"/>
            <a:ext cx="36195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hlinkClick r:id="rId3"/>
              </a:rPr>
              <a:t>https://singlecell.broadinstitute.org/single_cell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94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6248A-26B0-82F5-7940-34EE1D4B4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0"/>
            <a:ext cx="10515600" cy="1325563"/>
          </a:xfrm>
        </p:spPr>
        <p:txBody>
          <a:bodyPr/>
          <a:lstStyle/>
          <a:p>
            <a:r>
              <a:rPr lang="en-US" altLang="zh-TW" dirty="0"/>
              <a:t>Single Cell Portal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67C1A6-6C79-50C2-E538-178BA055F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451" y="1410150"/>
            <a:ext cx="9581323" cy="52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470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6248A-26B0-82F5-7940-34EE1D4B4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DISCO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2B2E3F-7541-1174-C2BB-5CA73507A2B4}"/>
              </a:ext>
            </a:extLst>
          </p:cNvPr>
          <p:cNvSpPr txBox="1"/>
          <p:nvPr/>
        </p:nvSpPr>
        <p:spPr>
          <a:xfrm>
            <a:off x="1229967" y="1843566"/>
            <a:ext cx="86197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374151"/>
                </a:solidFill>
                <a:effectLst/>
                <a:latin typeface="Söhne"/>
              </a:rPr>
              <a:t>- </a:t>
            </a:r>
            <a:r>
              <a:rPr lang="en-US" sz="2400" b="0" i="0" dirty="0" err="1">
                <a:solidFill>
                  <a:srgbClr val="374151"/>
                </a:solidFill>
                <a:effectLst/>
                <a:latin typeface="Söhne"/>
              </a:rPr>
              <a:t>DISCO（Deeply</a:t>
            </a:r>
            <a:r>
              <a:rPr lang="en-US" sz="2400" b="0" i="0" dirty="0">
                <a:solidFill>
                  <a:srgbClr val="374151"/>
                </a:solidFill>
                <a:effectLst/>
                <a:latin typeface="Söhne"/>
              </a:rPr>
              <a:t> Integrated Single-Cell Omics）</a:t>
            </a:r>
            <a:r>
              <a:rPr lang="zh-TW" altLang="en-US" sz="2400" b="0" i="0" dirty="0">
                <a:solidFill>
                  <a:srgbClr val="374151"/>
                </a:solidFill>
                <a:effectLst/>
                <a:latin typeface="Söhne"/>
              </a:rPr>
              <a:t>是一個公開可用的數據庫，專門收集和整合人類單細胞轉錄組數據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E887F4-34C8-C2D4-EDC3-6A5EE4F0CFCE}"/>
              </a:ext>
            </a:extLst>
          </p:cNvPr>
          <p:cNvSpPr txBox="1"/>
          <p:nvPr/>
        </p:nvSpPr>
        <p:spPr>
          <a:xfrm>
            <a:off x="1229967" y="3066616"/>
            <a:ext cx="960368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0" i="0" dirty="0">
                <a:solidFill>
                  <a:srgbClr val="374151"/>
                </a:solidFill>
                <a:effectLst/>
                <a:latin typeface="Söhne"/>
              </a:rPr>
              <a:t>- </a:t>
            </a:r>
            <a:r>
              <a:rPr lang="zh-TW" altLang="en-US" sz="2400" b="0" i="0" dirty="0">
                <a:solidFill>
                  <a:srgbClr val="374151"/>
                </a:solidFill>
                <a:effectLst/>
                <a:latin typeface="Söhne"/>
              </a:rPr>
              <a:t>使用一個控制詞彙和本體系統來標準化相關的元數據，並且為了實現大規模單細胞數據的整合，開發了</a:t>
            </a:r>
            <a:r>
              <a:rPr lang="en-US" altLang="zh-TW" sz="2400" b="0" i="0" dirty="0" err="1">
                <a:solidFill>
                  <a:srgbClr val="374151"/>
                </a:solidFill>
                <a:effectLst/>
                <a:latin typeface="Söhne"/>
              </a:rPr>
              <a:t>FastIntegration</a:t>
            </a:r>
            <a:r>
              <a:rPr lang="zh-TW" altLang="en-US" sz="2400" b="0" i="0" dirty="0">
                <a:solidFill>
                  <a:srgbClr val="374151"/>
                </a:solidFill>
                <a:effectLst/>
                <a:latin typeface="Söhne"/>
              </a:rPr>
              <a:t>（快速整合工具）和</a:t>
            </a:r>
            <a:r>
              <a:rPr lang="en-US" altLang="zh-TW" sz="2400" b="0" i="0" dirty="0" err="1">
                <a:solidFill>
                  <a:srgbClr val="374151"/>
                </a:solidFill>
                <a:effectLst/>
                <a:latin typeface="Söhne"/>
              </a:rPr>
              <a:t>CELLiD</a:t>
            </a:r>
            <a:r>
              <a:rPr lang="zh-TW" altLang="en-US" sz="2400" b="0" i="0" dirty="0">
                <a:solidFill>
                  <a:srgbClr val="374151"/>
                </a:solidFill>
                <a:effectLst/>
                <a:latin typeface="Söhne"/>
              </a:rPr>
              <a:t>（自動細胞類型識別工具）。此外，</a:t>
            </a:r>
            <a:r>
              <a:rPr lang="en-US" altLang="zh-TW" sz="2400" b="0" i="0" dirty="0">
                <a:solidFill>
                  <a:srgbClr val="374151"/>
                </a:solidFill>
                <a:effectLst/>
                <a:latin typeface="Söhne"/>
              </a:rPr>
              <a:t>DISCO</a:t>
            </a:r>
            <a:r>
              <a:rPr lang="zh-TW" altLang="en-US" sz="2400" b="0" i="0" dirty="0">
                <a:solidFill>
                  <a:srgbClr val="374151"/>
                </a:solidFill>
                <a:effectLst/>
                <a:latin typeface="Söhne"/>
              </a:rPr>
              <a:t>提供了三個在線工具：</a:t>
            </a:r>
            <a:r>
              <a:rPr lang="en-US" altLang="zh-TW" sz="2400" b="0" i="0" dirty="0">
                <a:solidFill>
                  <a:srgbClr val="374151"/>
                </a:solidFill>
                <a:effectLst/>
                <a:latin typeface="Söhne"/>
              </a:rPr>
              <a:t>Online </a:t>
            </a:r>
            <a:r>
              <a:rPr lang="en-US" altLang="zh-TW" sz="2400" b="0" i="0" dirty="0" err="1">
                <a:solidFill>
                  <a:srgbClr val="374151"/>
                </a:solidFill>
                <a:effectLst/>
                <a:latin typeface="Söhne"/>
              </a:rPr>
              <a:t>FastIntegration</a:t>
            </a:r>
            <a:r>
              <a:rPr lang="zh-TW" altLang="en-US" sz="2400" b="0" i="0" dirty="0">
                <a:solidFill>
                  <a:srgbClr val="374151"/>
                </a:solidFill>
                <a:effectLst/>
                <a:latin typeface="Söhne"/>
              </a:rPr>
              <a:t>、</a:t>
            </a:r>
            <a:r>
              <a:rPr lang="en-US" altLang="zh-TW" sz="2400" b="0" i="0" dirty="0">
                <a:solidFill>
                  <a:srgbClr val="374151"/>
                </a:solidFill>
                <a:effectLst/>
                <a:latin typeface="Söhne"/>
              </a:rPr>
              <a:t>Online </a:t>
            </a:r>
            <a:r>
              <a:rPr lang="en-US" altLang="zh-TW" sz="2400" b="0" i="0" dirty="0" err="1">
                <a:solidFill>
                  <a:srgbClr val="374151"/>
                </a:solidFill>
                <a:effectLst/>
                <a:latin typeface="Söhne"/>
              </a:rPr>
              <a:t>CELLiD</a:t>
            </a:r>
            <a:r>
              <a:rPr lang="zh-TW" altLang="en-US" sz="2400" b="0" i="0" dirty="0">
                <a:solidFill>
                  <a:srgbClr val="374151"/>
                </a:solidFill>
                <a:effectLst/>
                <a:latin typeface="Söhne"/>
              </a:rPr>
              <a:t>、和</a:t>
            </a:r>
            <a:r>
              <a:rPr lang="en-US" altLang="zh-TW" sz="2400" b="0" i="0" dirty="0" err="1">
                <a:solidFill>
                  <a:srgbClr val="374151"/>
                </a:solidFill>
                <a:effectLst/>
                <a:latin typeface="Söhne"/>
              </a:rPr>
              <a:t>CellMapper</a:t>
            </a:r>
            <a:r>
              <a:rPr lang="zh-TW" altLang="en-US" sz="2400" b="0" i="0" dirty="0">
                <a:solidFill>
                  <a:srgbClr val="374151"/>
                </a:solidFill>
                <a:effectLst/>
                <a:latin typeface="Söhne"/>
              </a:rPr>
              <a:t>，讓用戶可以整合、標記並將上傳的單細胞</a:t>
            </a:r>
            <a:r>
              <a:rPr lang="en-US" altLang="zh-TW" sz="2400" b="0" i="0" dirty="0">
                <a:solidFill>
                  <a:srgbClr val="374151"/>
                </a:solidFill>
                <a:effectLst/>
                <a:latin typeface="Söhne"/>
              </a:rPr>
              <a:t>RNA</a:t>
            </a:r>
            <a:r>
              <a:rPr lang="zh-TW" altLang="en-US" sz="2400" b="0" i="0" dirty="0">
                <a:solidFill>
                  <a:srgbClr val="374151"/>
                </a:solidFill>
                <a:effectLst/>
                <a:latin typeface="Söhne"/>
              </a:rPr>
              <a:t>序列數據投影到選定的圖譜上。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58194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6248A-26B0-82F5-7940-34EE1D4B4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DISCO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FFB10F-C1ED-660B-E3F3-1739D4EB7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4672"/>
            <a:ext cx="12192000" cy="49982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917F38-5130-C8C9-7D00-8A368EDB8E3D}"/>
              </a:ext>
            </a:extLst>
          </p:cNvPr>
          <p:cNvSpPr txBox="1"/>
          <p:nvPr/>
        </p:nvSpPr>
        <p:spPr>
          <a:xfrm>
            <a:off x="-1656" y="6550223"/>
            <a:ext cx="60976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3"/>
              </a:rPr>
              <a:t>https://www.immunesinglecell.org/repository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32546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E6645-1200-1739-F581-DA8063EA0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12773"/>
            <a:ext cx="9144000" cy="1045059"/>
          </a:xfrm>
        </p:spPr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scMethylation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7566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7E3F1-9375-1FCA-6AC5-7C946CDCE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392" y="212047"/>
            <a:ext cx="10515600" cy="1325563"/>
          </a:xfrm>
        </p:spPr>
        <p:txBody>
          <a:bodyPr/>
          <a:lstStyle/>
          <a:p>
            <a:r>
              <a:rPr lang="en-US" dirty="0" err="1"/>
              <a:t>scMethBank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F3BC67-4787-2AB3-6350-F6D8CA1EC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7610"/>
            <a:ext cx="12192000" cy="520374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61D6921-694D-6C59-FA90-B8B677289517}"/>
              </a:ext>
            </a:extLst>
          </p:cNvPr>
          <p:cNvSpPr/>
          <p:nvPr/>
        </p:nvSpPr>
        <p:spPr>
          <a:xfrm>
            <a:off x="9372600" y="1997764"/>
            <a:ext cx="2514600" cy="15107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FC41F9-99B0-D32D-FC9E-BE91BF9F3481}"/>
              </a:ext>
            </a:extLst>
          </p:cNvPr>
          <p:cNvSpPr txBox="1"/>
          <p:nvPr/>
        </p:nvSpPr>
        <p:spPr>
          <a:xfrm>
            <a:off x="3585540" y="803230"/>
            <a:ext cx="3183007" cy="309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3"/>
              </a:rPr>
              <a:t>https://ngdc.cncb.ac.cn/methbank/scm/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36574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7817F-2E66-D564-D2B3-5CE3E8701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148"/>
            <a:ext cx="10515600" cy="1325563"/>
          </a:xfrm>
        </p:spPr>
        <p:txBody>
          <a:bodyPr/>
          <a:lstStyle/>
          <a:p>
            <a:r>
              <a:rPr lang="en-US" dirty="0" err="1"/>
              <a:t>scMethBank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3BAF5E-07D6-8BBD-953F-8448DF3F4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34" y="1362809"/>
            <a:ext cx="10913166" cy="53560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683C1D-F41B-B01E-54DA-5958B54BB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675" y="1405077"/>
            <a:ext cx="1178324" cy="9900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1302DF-069A-F52C-6F25-3E6202D41B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2632" y="1405077"/>
            <a:ext cx="1192674" cy="99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123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E4B877-6FF2-51B1-6D0F-EFAD5220C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090" y="538206"/>
            <a:ext cx="9786624" cy="578158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1BE25D0-F99E-126A-DCEE-A4CCDE29D21B}"/>
              </a:ext>
            </a:extLst>
          </p:cNvPr>
          <p:cNvSpPr/>
          <p:nvPr/>
        </p:nvSpPr>
        <p:spPr>
          <a:xfrm>
            <a:off x="5218044" y="636103"/>
            <a:ext cx="1272208" cy="57815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999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E6645-1200-1739-F581-DA8063EA0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12773"/>
            <a:ext cx="9144000" cy="1045059"/>
          </a:xfrm>
        </p:spPr>
        <p:txBody>
          <a:bodyPr>
            <a:normAutofit/>
          </a:bodyPr>
          <a:lstStyle/>
          <a:p>
            <a:r>
              <a:rPr lang="en-US" dirty="0"/>
              <a:t>3. </a:t>
            </a:r>
            <a:r>
              <a:rPr lang="en-US" dirty="0" err="1"/>
              <a:t>sc</a:t>
            </a:r>
            <a:r>
              <a:rPr lang="en-US" dirty="0"/>
              <a:t> Spatial Transcriptomics </a:t>
            </a:r>
          </a:p>
        </p:txBody>
      </p:sp>
    </p:spTree>
    <p:extLst>
      <p:ext uri="{BB962C8B-B14F-4D97-AF65-F5344CB8AC3E}">
        <p14:creationId xmlns:p14="http://schemas.microsoft.com/office/powerpoint/2010/main" val="39999399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44ECD-2704-7818-86E3-718CB1F44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456737-6D09-FA98-2BA2-91FC041FD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640" y="2009164"/>
            <a:ext cx="9468920" cy="303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005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7E3F1-9375-1FCA-6AC5-7C946CDCE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392" y="212047"/>
            <a:ext cx="10515600" cy="1325563"/>
          </a:xfrm>
        </p:spPr>
        <p:txBody>
          <a:bodyPr/>
          <a:lstStyle/>
          <a:p>
            <a:r>
              <a:rPr lang="en-US" dirty="0"/>
              <a:t>SORC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FC41F9-99B0-D32D-FC9E-BE91BF9F3481}"/>
              </a:ext>
            </a:extLst>
          </p:cNvPr>
          <p:cNvSpPr txBox="1"/>
          <p:nvPr/>
        </p:nvSpPr>
        <p:spPr>
          <a:xfrm>
            <a:off x="2111304" y="795585"/>
            <a:ext cx="44201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2"/>
              </a:rPr>
              <a:t>http://bio-bigdata.hrbmu.edu.cn/SORC/Download.jsp</a:t>
            </a: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12FD51-432B-8375-201E-06725CDBA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63" y="1300168"/>
            <a:ext cx="11504645" cy="5557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1084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7E3F1-9375-1FCA-6AC5-7C946CDCE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392" y="212047"/>
            <a:ext cx="10515600" cy="1325563"/>
          </a:xfrm>
        </p:spPr>
        <p:txBody>
          <a:bodyPr/>
          <a:lstStyle/>
          <a:p>
            <a:r>
              <a:rPr lang="en-US" dirty="0"/>
              <a:t>SORC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FC41F9-99B0-D32D-FC9E-BE91BF9F3481}"/>
              </a:ext>
            </a:extLst>
          </p:cNvPr>
          <p:cNvSpPr txBox="1"/>
          <p:nvPr/>
        </p:nvSpPr>
        <p:spPr>
          <a:xfrm>
            <a:off x="2111304" y="795585"/>
            <a:ext cx="44201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3"/>
              </a:rPr>
              <a:t>http://bio-bigdata.hrbmu.edu.cn/SORC/Download.jsp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43BD0D-475D-5ADF-1409-239CC9079F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265" y="2190574"/>
            <a:ext cx="11958735" cy="355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32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7E3F1-9375-1FCA-6AC5-7C946CDCE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392" y="212047"/>
            <a:ext cx="10515600" cy="1325563"/>
          </a:xfrm>
        </p:spPr>
        <p:txBody>
          <a:bodyPr/>
          <a:lstStyle/>
          <a:p>
            <a:r>
              <a:rPr lang="en-US" dirty="0" err="1"/>
              <a:t>STOmicsDB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F1F30B-180E-3950-BAAB-43182FDE3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32" y="1410277"/>
            <a:ext cx="11653935" cy="53730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211E37-CBF8-FB8C-697C-2264D6C46E3A}"/>
              </a:ext>
            </a:extLst>
          </p:cNvPr>
          <p:cNvSpPr txBox="1"/>
          <p:nvPr/>
        </p:nvSpPr>
        <p:spPr>
          <a:xfrm>
            <a:off x="3515309" y="790383"/>
            <a:ext cx="24562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effectLst/>
                <a:hlinkClick r:id="rId3"/>
              </a:rPr>
              <a:t>https://db.cngb.org/stomics/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351956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90354-3CBD-288A-B469-78CC33143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SingPro</a:t>
            </a: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BD28C5-E4A5-2260-3E92-83CE96AC5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28155"/>
            <a:ext cx="10217426" cy="50647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6BCAD4-9D6A-13F0-F656-2F49C7739DC8}"/>
              </a:ext>
            </a:extLst>
          </p:cNvPr>
          <p:cNvSpPr txBox="1"/>
          <p:nvPr/>
        </p:nvSpPr>
        <p:spPr>
          <a:xfrm>
            <a:off x="2974285" y="918577"/>
            <a:ext cx="60976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3"/>
              </a:rPr>
              <a:t>http://singpro.idrblab.net/data/ms/details/SCP43381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791644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E6645-1200-1739-F581-DA8063EA0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12773"/>
            <a:ext cx="9144000" cy="1045059"/>
          </a:xfrm>
        </p:spPr>
        <p:txBody>
          <a:bodyPr>
            <a:normAutofit/>
          </a:bodyPr>
          <a:lstStyle/>
          <a:p>
            <a:r>
              <a:rPr lang="en-US" dirty="0"/>
              <a:t>4. Research Ideas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34112-B7F9-FC3C-D839-20AD453B8709}"/>
              </a:ext>
            </a:extLst>
          </p:cNvPr>
          <p:cNvSpPr txBox="1"/>
          <p:nvPr/>
        </p:nvSpPr>
        <p:spPr>
          <a:xfrm>
            <a:off x="4744720" y="2260561"/>
            <a:ext cx="27780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/>
              <a:t>↓ </a:t>
            </a:r>
            <a:r>
              <a:rPr lang="en-US" sz="2400" dirty="0"/>
              <a:t>Public Datasets </a:t>
            </a:r>
            <a:r>
              <a:rPr lang="zh-TW" altLang="en-US" sz="2400" dirty="0"/>
              <a:t>↓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157095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60041-BFFA-8C39-F1FB-C6226BFF5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Research Ideas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5EF0CF-CFE1-C072-EF81-2FDA31D74D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25493"/>
          <a:stretch/>
        </p:blipFill>
        <p:spPr>
          <a:xfrm>
            <a:off x="1167762" y="1690688"/>
            <a:ext cx="10113092" cy="342995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155437-FDF9-EB49-BA10-E56F1317E3D0}"/>
              </a:ext>
            </a:extLst>
          </p:cNvPr>
          <p:cNvSpPr txBox="1"/>
          <p:nvPr/>
        </p:nvSpPr>
        <p:spPr>
          <a:xfrm>
            <a:off x="1625600" y="5583052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表觀遺傳調控網路的建模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7364F2-14E5-0285-0A2F-6DC59F2B586F}"/>
              </a:ext>
            </a:extLst>
          </p:cNvPr>
          <p:cNvSpPr txBox="1"/>
          <p:nvPr/>
        </p:nvSpPr>
        <p:spPr>
          <a:xfrm>
            <a:off x="4826250" y="858944"/>
            <a:ext cx="848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Notion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4588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ig. 1">
            <a:extLst>
              <a:ext uri="{FF2B5EF4-FFF2-40B4-BE49-F238E27FC236}">
                <a16:creationId xmlns:a16="http://schemas.microsoft.com/office/drawing/2014/main" id="{DADE03B1-5D5D-BE6D-CF17-DF63619CE4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" t="-807" r="-16" b="37404"/>
          <a:stretch/>
        </p:blipFill>
        <p:spPr bwMode="auto">
          <a:xfrm>
            <a:off x="4014648" y="319134"/>
            <a:ext cx="7435672" cy="6386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139DF8C-2A14-B0BB-C155-FC34D4F81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40" y="2766218"/>
            <a:ext cx="270764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Workflow</a:t>
            </a:r>
            <a:br>
              <a:rPr lang="en-US" dirty="0"/>
            </a:br>
            <a:r>
              <a:rPr lang="en-US" dirty="0"/>
              <a:t>of </a:t>
            </a:r>
            <a:r>
              <a:rPr lang="en-US" dirty="0" err="1"/>
              <a:t>DeepMAPS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0692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96D42-58CD-300A-EADE-E0DBAB4B5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HGT Layer</a:t>
            </a:r>
          </a:p>
        </p:txBody>
      </p:sp>
      <p:pic>
        <p:nvPicPr>
          <p:cNvPr id="2050" name="Picture 2" descr="Fig. 1">
            <a:extLst>
              <a:ext uri="{FF2B5EF4-FFF2-40B4-BE49-F238E27FC236}">
                <a16:creationId xmlns:a16="http://schemas.microsoft.com/office/drawing/2014/main" id="{0587648A-58AD-D5C8-6D79-A806F2A3BC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815"/>
          <a:stretch/>
        </p:blipFill>
        <p:spPr bwMode="auto">
          <a:xfrm>
            <a:off x="1216978" y="1859915"/>
            <a:ext cx="9197278" cy="463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80527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3C4A9-9760-5F2F-613A-FC9CDEAF7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“Methods”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12979-CB5C-50ED-534A-1BE50AE4F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scGNN</a:t>
            </a:r>
            <a:r>
              <a:rPr lang="en-US" dirty="0"/>
              <a:t>: cell-cell interactions and 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signal transduction pathways</a:t>
            </a:r>
            <a:endParaRPr lang="en-US" dirty="0"/>
          </a:p>
          <a:p>
            <a:r>
              <a:rPr lang="en-US" dirty="0" err="1"/>
              <a:t>scRNN</a:t>
            </a:r>
            <a:r>
              <a:rPr lang="en-US" dirty="0"/>
              <a:t>: identify cell types / states</a:t>
            </a:r>
          </a:p>
          <a:p>
            <a:r>
              <a:rPr lang="en-US" dirty="0" err="1"/>
              <a:t>scGCN</a:t>
            </a:r>
            <a:r>
              <a:rPr lang="en-US" dirty="0"/>
              <a:t>: cell-cell interactions and 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signal transduction pathways</a:t>
            </a:r>
          </a:p>
          <a:p>
            <a:r>
              <a:rPr lang="en-US" altLang="zh-TW" dirty="0" err="1">
                <a:solidFill>
                  <a:srgbClr val="202124"/>
                </a:solidFill>
                <a:latin typeface="Google Sans"/>
              </a:rPr>
              <a:t>scGPT</a:t>
            </a:r>
            <a:endParaRPr lang="en-US" dirty="0"/>
          </a:p>
          <a:p>
            <a:r>
              <a:rPr lang="en-US" dirty="0"/>
              <a:t>LSTM: cell differentiation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69070B41-04C3-B48F-835C-E13900BBD3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4065" b="7175"/>
          <a:stretch/>
        </p:blipFill>
        <p:spPr>
          <a:xfrm>
            <a:off x="497202" y="4683760"/>
            <a:ext cx="10113092" cy="863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A0509C-AD6E-9276-3443-FB8230A815F3}"/>
              </a:ext>
            </a:extLst>
          </p:cNvPr>
          <p:cNvSpPr txBox="1"/>
          <p:nvPr/>
        </p:nvSpPr>
        <p:spPr>
          <a:xfrm>
            <a:off x="924560" y="5785049"/>
            <a:ext cx="3963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Xvolustion</a:t>
            </a:r>
            <a:r>
              <a:rPr lang="en-US" dirty="0"/>
              <a:t> : Convolution</a:t>
            </a:r>
            <a:r>
              <a:rPr lang="zh-TW" altLang="en-US" dirty="0"/>
              <a:t> </a:t>
            </a:r>
            <a:r>
              <a:rPr lang="en-US" altLang="zh-TW" dirty="0"/>
              <a:t>+</a:t>
            </a:r>
            <a:r>
              <a:rPr lang="zh-TW" altLang="en-US" dirty="0"/>
              <a:t> </a:t>
            </a:r>
            <a:r>
              <a:rPr lang="en-US" altLang="zh-TW" dirty="0"/>
              <a:t>Self-attention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852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5349</TotalTime>
  <Words>385</Words>
  <Application>Microsoft Office PowerPoint</Application>
  <PresentationFormat>Widescreen</PresentationFormat>
  <Paragraphs>50</Paragraphs>
  <Slides>25</Slides>
  <Notes>1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Google Sans</vt:lpstr>
      <vt:lpstr>Söhne</vt:lpstr>
      <vt:lpstr>Arial</vt:lpstr>
      <vt:lpstr>Calibri</vt:lpstr>
      <vt:lpstr>Calibri Light</vt:lpstr>
      <vt:lpstr>Office Theme</vt:lpstr>
      <vt:lpstr>Multi-Omics Database for Single Cell Survey</vt:lpstr>
      <vt:lpstr>Outline</vt:lpstr>
      <vt:lpstr>1. scRNA / scATAC</vt:lpstr>
      <vt:lpstr>Database Overview</vt:lpstr>
      <vt:lpstr>CellxGene</vt:lpstr>
      <vt:lpstr>CellxGene</vt:lpstr>
      <vt:lpstr>Single Cell Portal</vt:lpstr>
      <vt:lpstr>Single Cell Portal</vt:lpstr>
      <vt:lpstr>DISCO</vt:lpstr>
      <vt:lpstr>DISCO</vt:lpstr>
      <vt:lpstr>2. scMethylation </vt:lpstr>
      <vt:lpstr>scMethBank</vt:lpstr>
      <vt:lpstr>scMethBank</vt:lpstr>
      <vt:lpstr>PowerPoint Presentation</vt:lpstr>
      <vt:lpstr>3. sc Spatial Transcriptomics </vt:lpstr>
      <vt:lpstr>Database Overview</vt:lpstr>
      <vt:lpstr>SORC</vt:lpstr>
      <vt:lpstr>SORC</vt:lpstr>
      <vt:lpstr>STOmicsDB</vt:lpstr>
      <vt:lpstr>SingPro </vt:lpstr>
      <vt:lpstr>4. Research Ideas </vt:lpstr>
      <vt:lpstr>Research Ideas</vt:lpstr>
      <vt:lpstr>Workflow of DeepMAPS</vt:lpstr>
      <vt:lpstr>HGT Layer</vt:lpstr>
      <vt:lpstr>From “Methods”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scRNA Database Survey</dc:title>
  <dc:creator>Yi Jie Chen</dc:creator>
  <cp:lastModifiedBy>Yi Jie Chen</cp:lastModifiedBy>
  <cp:revision>31</cp:revision>
  <dcterms:created xsi:type="dcterms:W3CDTF">2024-01-07T07:24:15Z</dcterms:created>
  <dcterms:modified xsi:type="dcterms:W3CDTF">2024-01-19T03:26:28Z</dcterms:modified>
</cp:coreProperties>
</file>