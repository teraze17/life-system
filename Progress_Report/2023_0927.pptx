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4" r:id="rId4"/>
    <p:sldId id="269" r:id="rId5"/>
    <p:sldId id="262" r:id="rId6"/>
    <p:sldId id="263" r:id="rId7"/>
    <p:sldId id="267" r:id="rId8"/>
    <p:sldId id="266" r:id="rId9"/>
    <p:sldId id="259" r:id="rId10"/>
    <p:sldId id="268" r:id="rId11"/>
    <p:sldId id="270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7876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outlineViewPr>
    <p:cViewPr>
      <p:scale>
        <a:sx n="33" d="100"/>
        <a:sy n="33" d="100"/>
      </p:scale>
      <p:origin x="0" y="-95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4A67C-BCC7-4B25-B522-59E806593856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5DA1-CBDA-4FAD-B4D6-91B2269F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5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gdc.cncb.ac.cn/methbank/scm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ingle-cell.riken.jp/SCPortalen_Database/Home/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36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針對單細胞分析的趨勢分析 </a:t>
            </a:r>
            <a:r>
              <a:rPr lang="en-US" altLang="zh-TW" dirty="0"/>
              <a:t>https://www.toolsbiotech.com/news_detail.php?id=320</a:t>
            </a:r>
            <a:endParaRPr lang="en-US" altLang="zh-TW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altLang="zh-TW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TW" b="0" i="0" dirty="0" err="1">
                <a:solidFill>
                  <a:srgbClr val="111111"/>
                </a:solidFill>
                <a:effectLst/>
                <a:latin typeface="-apple-system"/>
              </a:rPr>
              <a:t>scDNA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: https://www.nature.com/articles/s41467-019-11857-8</a:t>
            </a: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；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https://genomebiology.biomedcentral.com/articles/10.1186/s13059-021-02583-w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NEW</a:t>
            </a: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altLang="zh-TW" b="0" i="0" dirty="0" err="1">
                <a:solidFill>
                  <a:srgbClr val="111111"/>
                </a:solidFill>
                <a:effectLst/>
                <a:latin typeface="-apple-system"/>
              </a:rPr>
              <a:t>scDNA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 sequencing method (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MPT/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ElsevierGulliver"/>
              </a:rPr>
              <a:t>WES)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: https://www.sciencedirect.com/science/article/pii/S2666979X22001689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altLang="zh-TW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zh-TW" b="0" i="0" dirty="0" err="1">
                <a:solidFill>
                  <a:srgbClr val="111111"/>
                </a:solidFill>
                <a:effectLst/>
                <a:latin typeface="-apple-system"/>
              </a:rPr>
              <a:t>scMetabolism</a:t>
            </a:r>
            <a:endParaRPr lang="en-US" altLang="zh-TW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altLang="zh-TW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差異分析：基因表達、染色質開放度、轉錄因子活性等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Functional Annotation</a:t>
            </a:r>
            <a:endParaRPr lang="en-US" altLang="zh-TW" b="1" i="0" dirty="0">
              <a:solidFill>
                <a:srgbClr val="00000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基因注釋（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Söhne"/>
              </a:rPr>
              <a:t>Gene Annotation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）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：將單細胞數據中的基因與已知的功能性資訊進行關聯。這可以包括確定每個基因的功能、參與的生物學通路、細胞功能等。這通常倚賴基因註釋資料庫，如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Söhne"/>
              </a:rPr>
              <a:t>Gene Ontology (GO)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、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Söhne"/>
              </a:rPr>
              <a:t>KEGG Pathways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、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Söhne"/>
              </a:rPr>
              <a:t>Reactome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等。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通路分析（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Söhne"/>
              </a:rPr>
              <a:t>Pathway Analysis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）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：將單細胞中的基因表達數據映射到生物學通路，以了解哪些通路在特定細胞或細胞群中活躍。通路分析可以幫助確定細胞的生物學功能和參與的生物過程。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網絡分析（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Söhne"/>
              </a:rPr>
              <a:t>Network Analysis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）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：建立基因調控網絡，以揭示基因之間的調控關係。這可以幫助理解哪些基因在調控細胞的功能和狀態中起著關鍵作用。</a:t>
            </a:r>
          </a:p>
          <a:p>
            <a:pPr algn="l">
              <a:buFont typeface="+mj-lt"/>
              <a:buAutoNum type="arabicPeriod"/>
            </a:pP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功能預測（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Söhne"/>
              </a:rPr>
              <a:t>Functional Prediction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Söhne"/>
              </a:rPr>
              <a:t>）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  <a:t>：根據基因表達模式和功能註釋資訊，對單細胞的功能狀態進行預測。這可能包括預測細胞的分化狀態、細胞類型、調控因子的活性等。</a:t>
            </a:r>
            <a:br>
              <a:rPr lang="zh-TW" altLang="en-US" b="0" i="0" dirty="0">
                <a:solidFill>
                  <a:srgbClr val="000000"/>
                </a:solidFill>
                <a:effectLst/>
                <a:latin typeface="Söhne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4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推薦閱讀：</a:t>
            </a:r>
            <a:r>
              <a:rPr lang="en-US" altLang="zh-TW" dirty="0"/>
              <a:t>https://zhuanlan.zhihu.com/p/544443428</a:t>
            </a:r>
            <a:endParaRPr lang="en-US" dirty="0"/>
          </a:p>
          <a:p>
            <a:r>
              <a:rPr lang="en-US" dirty="0"/>
              <a:t>https://www.embopress.org/doi/full/10.15252/msb.20188746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48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Cell Ranger: raw data-&gt; matrix </a:t>
            </a:r>
            <a:r>
              <a:rPr lang="en-US" altLang="zh-TW" dirty="0"/>
              <a:t>(for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alignment, filtering, counting, and clustering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Seurat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QC, normalization, dimensionality reduction, clustering, and differential expression analysis 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b="0" i="0" dirty="0" err="1">
                <a:solidFill>
                  <a:srgbClr val="111111"/>
                </a:solidFill>
                <a:effectLst/>
                <a:latin typeface="-apple-system"/>
              </a:rPr>
              <a:t>SnapATAC</a:t>
            </a: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：這是一個基於 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Python </a:t>
            </a: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語言的軟體，可以對單細胞染色質可及區域測序數據進行品質控制、計數、降維、聚類、差異分析和可視化等，並提供了一種新的數據格式（</a:t>
            </a:r>
            <a:r>
              <a:rPr lang="en-US" altLang="zh-TW" b="0" i="0" dirty="0">
                <a:solidFill>
                  <a:srgbClr val="111111"/>
                </a:solidFill>
                <a:effectLst/>
                <a:latin typeface="-apple-system"/>
              </a:rPr>
              <a:t>SNAP</a:t>
            </a:r>
            <a:r>
              <a:rPr lang="zh-TW" altLang="en-US" b="0" i="0" dirty="0">
                <a:solidFill>
                  <a:srgbClr val="111111"/>
                </a:solidFill>
                <a:effectLst/>
                <a:latin typeface="-apple-system"/>
              </a:rPr>
              <a:t>）來存儲和處理大規模的數據。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8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Ginkgo</a:t>
            </a:r>
            <a:r>
              <a:rPr lang="zh-TW" altLang="en-US" dirty="0"/>
              <a:t>：</a:t>
            </a:r>
            <a:r>
              <a:rPr lang="en-US" altLang="zh-TW" dirty="0"/>
              <a:t>https://www.ncbi.nlm.nih.gov/pmc/articles/PMC4775251/</a:t>
            </a:r>
            <a:endParaRPr lang="zh-TW" altLang="en-US" dirty="0"/>
          </a:p>
          <a:p>
            <a:r>
              <a:rPr lang="en-US" altLang="zh-TW" dirty="0" err="1"/>
              <a:t>Monovar</a:t>
            </a:r>
            <a:r>
              <a:rPr lang="zh-TW" altLang="en-US" dirty="0"/>
              <a:t>：這是一個基於 </a:t>
            </a:r>
            <a:r>
              <a:rPr lang="en-US" altLang="zh-TW" dirty="0"/>
              <a:t>Python </a:t>
            </a:r>
            <a:r>
              <a:rPr lang="zh-TW" altLang="en-US" dirty="0"/>
              <a:t>語言的軟體，可以對單細胞</a:t>
            </a:r>
            <a:r>
              <a:rPr lang="en-US" altLang="zh-TW" dirty="0"/>
              <a:t>DNA</a:t>
            </a:r>
            <a:r>
              <a:rPr lang="zh-TW" altLang="en-US" dirty="0"/>
              <a:t>測序數據進行單核苷酸變異（</a:t>
            </a:r>
            <a:r>
              <a:rPr lang="en-US" altLang="zh-TW" dirty="0"/>
              <a:t>SNV</a:t>
            </a:r>
            <a:r>
              <a:rPr lang="zh-TW" altLang="en-US" dirty="0"/>
              <a:t>）的偵測和分析，並考慮了數據中的深度不均勻性和假陽性率等問題</a:t>
            </a:r>
            <a:r>
              <a:rPr lang="en-US" altLang="zh-TW" dirty="0"/>
              <a:t>5</a:t>
            </a:r>
            <a:r>
              <a:rPr lang="zh-TW" altLang="en-US" dirty="0"/>
              <a:t>。</a:t>
            </a:r>
          </a:p>
          <a:p>
            <a:r>
              <a:rPr lang="en-US" altLang="zh-TW" dirty="0" err="1"/>
              <a:t>SCcaller</a:t>
            </a:r>
            <a:r>
              <a:rPr lang="zh-TW" altLang="en-US" dirty="0"/>
              <a:t>：這是一個基於 </a:t>
            </a:r>
            <a:r>
              <a:rPr lang="en-US" altLang="zh-TW" dirty="0"/>
              <a:t>R </a:t>
            </a:r>
            <a:r>
              <a:rPr lang="zh-TW" altLang="en-US" dirty="0"/>
              <a:t>語言的軟體，也可以對單細胞</a:t>
            </a:r>
            <a:r>
              <a:rPr lang="en-US" altLang="zh-TW" dirty="0"/>
              <a:t>DNA</a:t>
            </a:r>
            <a:r>
              <a:rPr lang="zh-TW" altLang="en-US" dirty="0"/>
              <a:t>測序數據進行</a:t>
            </a:r>
            <a:r>
              <a:rPr lang="en-US" altLang="zh-TW" dirty="0"/>
              <a:t>SNV</a:t>
            </a:r>
            <a:r>
              <a:rPr lang="zh-TW" altLang="en-US" dirty="0"/>
              <a:t>的偵測和分析，並利用了貝氏統計模型來估計每個變異位點的後驗機率</a:t>
            </a:r>
            <a:r>
              <a:rPr lang="en-US" altLang="zh-TW" dirty="0"/>
              <a:t>6</a:t>
            </a:r>
            <a:r>
              <a:rPr lang="zh-TW" altLang="en-US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24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Cell DB.csv: https://docs.google.com/spreadsheets/d/1En7-UV0k0laDiIfjFkdn7dggyR7jIk3WH8QgXaMOZF0/edit?pli=1#gid=0</a:t>
            </a:r>
          </a:p>
          <a:p>
            <a:endParaRPr lang="en-US" dirty="0"/>
          </a:p>
          <a:p>
            <a:r>
              <a:rPr lang="en-US" dirty="0"/>
              <a:t>Single cell genomic center (non-DB): https://scgc.bigelow.org/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4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hlinkClick r:id="rId3"/>
              </a:rPr>
              <a:t>scMethBank</a:t>
            </a:r>
            <a:r>
              <a:rPr lang="en-US" dirty="0"/>
              <a:t>: https://academic.oup.com/nar/article/50/D1/D380/6376025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333333"/>
                </a:solidFill>
                <a:latin typeface="pingfang SC"/>
                <a:hlinkClick r:id="rId4"/>
              </a:rPr>
              <a:t>SC</a:t>
            </a:r>
            <a:r>
              <a:rPr lang="en-US" i="0" dirty="0">
                <a:solidFill>
                  <a:srgbClr val="333333"/>
                </a:solidFill>
                <a:effectLst/>
                <a:latin typeface="pingfang SC"/>
                <a:hlinkClick r:id="rId4"/>
              </a:rPr>
              <a:t>Portalen2</a:t>
            </a:r>
            <a:r>
              <a:rPr lang="en-US" i="0" dirty="0">
                <a:solidFill>
                  <a:srgbClr val="333333"/>
                </a:solidFill>
                <a:effectLst/>
                <a:latin typeface="pingfang SC"/>
              </a:rPr>
              <a:t>: </a:t>
            </a:r>
            <a:r>
              <a:rPr lang="en-US" dirty="0"/>
              <a:t>https://pubmed.ncbi.nlm.nih.gov/29045713/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56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85DA1-CBDA-4FAD-B4D6-91B2269FCA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0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3CE0-A0D1-C9AE-57B5-0FA1D9ECD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7C2BE-E5EE-8D79-7D9D-00DB15A6C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21937-24A5-8690-DF44-8D09D36F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1D08-025C-0F71-4EB6-067C0496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061F4-F9BA-D3D2-6602-C5122E3C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9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88D32-20AD-774A-32B4-FE816D2E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061D-0A00-F118-97CE-CDCB47E9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BD69-89D0-4D81-671F-265B9387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C856F-948C-6C8A-194B-BAB9852D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B1585-6983-48EA-BD41-E1B8145D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2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4A71-42AA-488F-E356-ED50EBD7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B68D-324E-96EF-D7D5-B3B52D4C0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C031C-FAE3-641B-4EDF-2BEFC2B9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F1B7-4324-0235-B669-CDBA2C27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7416A-265B-45F0-2ED6-53DD1F77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9DF6-4538-348A-B507-8690BC86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811B-FA30-7AC0-90CF-0C545EA0B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20E30-3813-7446-AF1A-E8C5B699C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2DE72-F90B-748C-9276-54226755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5468-EEC9-E9AC-5480-35C2A974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1B0CD-26BB-A405-BD7C-25EDDC13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0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E4B0-F356-3A2B-CCC3-30D89E31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9EC30-44EB-8946-2207-6D5F9837D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1C896-FEA8-F77D-9A94-9514B1454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6FF5-3A28-3F78-82AD-7D2E06B28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AAAFD-3585-73CB-9B15-0DFFEE124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73C8A-BADB-78C7-49A3-FF55E3B7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0E8B9-F77A-F385-FC22-690E4C6C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25C37-B827-64B7-8D43-6D8300AC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3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1BB2-C3B6-F42B-7935-48E387E1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C48D6-6F9E-814C-3806-D4B80271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5B306-D704-B9AF-BA79-1016F6BA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B887B-A8E8-6034-7C0A-0C8DA691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6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197B36-F794-02E7-4B14-B922653D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B0123-610F-6810-CB46-192006B3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134E-1FAD-EF1F-14DC-9D3B3B04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0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061B-2603-7C82-BB52-8419450E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E0176-1AAA-68F9-3E44-EA156A46E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FFED5-08DF-428D-4FCD-BA74B00C6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82B78-6B38-F61D-A598-83D6D4A8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1182C-BFBE-F7B6-5439-164C8221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79B3B-2653-D59C-DD5A-34B5FABE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2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24C6-E2C3-1253-79C9-F2A272BA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30194-0E52-1021-0D74-1FEA6964C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C459D-3D50-1B33-22C4-B815A3554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5E6A2-FD04-46D4-10DB-F1859278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77E6C-B515-20A0-CAAB-C34092D2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D250F-0C7F-1998-63DD-0C26AB34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01E8-843D-221D-2984-FE0461E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2EF3D-BF8D-4160-F4E0-C2B5F5CEA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1D9D-9C25-2C5E-7E2C-C5416C8A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2C26-3449-9FCC-8F23-F5AA07B4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0DDC-57BA-3115-08A0-15D1A8EE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29334-5C57-9C4B-711F-890F5CBB3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A1ABC-011E-F7FE-2C7F-85EF42A69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F0C44-FBCC-4F4E-FB2E-DACA6172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FB995-8678-ED71-9D6E-90C6FF0F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EA6A-D0C8-5321-7D03-4C17E9A5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2FCF8B-4D3F-62DE-ABA5-DDF063BC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3CDCA-A2CD-3858-2F97-8D36312A4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7376-DE4C-A809-20D5-A5F6A6EC1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96EC1-5B07-4DC1-A788-5AB78398A80E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62334-7BFF-0177-194D-123DB2B1E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F3C50-3121-C7D2-5DE3-B6D081AD0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6822D-2086-4F25-A40E-8B6B02C4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9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nglecell.broadinstitute.org/single_cell" TargetMode="External"/><Relationship Id="rId7" Type="http://schemas.openxmlformats.org/officeDocument/2006/relationships/hyperlink" Target="https://data.humancellatla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glaodb.se/" TargetMode="External"/><Relationship Id="rId5" Type="http://schemas.openxmlformats.org/officeDocument/2006/relationships/hyperlink" Target="https://bioinfo.uth.edu/scrnaseqdb/" TargetMode="External"/><Relationship Id="rId4" Type="http://schemas.openxmlformats.org/officeDocument/2006/relationships/hyperlink" Target="https://www.ebi.ac.uk/gxa/sc/home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ngdc.cncb.ac.cn/methbank/scm/" TargetMode="External"/><Relationship Id="rId3" Type="http://schemas.openxmlformats.org/officeDocument/2006/relationships/hyperlink" Target="http://tisch.comp-genomics.org/home/" TargetMode="External"/><Relationship Id="rId7" Type="http://schemas.openxmlformats.org/officeDocument/2006/relationships/hyperlink" Target="https://www.ebi.ac.uk/prid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teomicsdb.org/" TargetMode="External"/><Relationship Id="rId5" Type="http://schemas.openxmlformats.org/officeDocument/2006/relationships/hyperlink" Target="https://single-cell.riken.jp/SCPortalen_Database/Home/" TargetMode="External"/><Relationship Id="rId4" Type="http://schemas.openxmlformats.org/officeDocument/2006/relationships/hyperlink" Target="https://db.cngb.org/HCL/" TargetMode="External"/><Relationship Id="rId9" Type="http://schemas.openxmlformats.org/officeDocument/2006/relationships/hyperlink" Target="http://jinglebells.bgu.ac.il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032A-C40F-E744-5B9B-8AA90808F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4855"/>
            <a:ext cx="9144000" cy="975107"/>
          </a:xfrm>
        </p:spPr>
        <p:txBody>
          <a:bodyPr/>
          <a:lstStyle/>
          <a:p>
            <a:r>
              <a:rPr lang="en-US" altLang="zh-TW" dirty="0"/>
              <a:t>Progress Report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EDEF4-6B8E-34F6-9415-B8C556E59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Chen, Yi Jie</a:t>
            </a:r>
          </a:p>
          <a:p>
            <a:r>
              <a:rPr lang="en-US" dirty="0"/>
              <a:t>2023.09.27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55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2D08-45C4-FB8D-FA43-6F853950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08212-4E82-1021-08C7-77746D1C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Single Cell Analysis: Overview</a:t>
            </a:r>
          </a:p>
          <a:p>
            <a:pPr>
              <a:lnSpc>
                <a:spcPct val="150000"/>
              </a:lnSpc>
            </a:pPr>
            <a:r>
              <a:rPr lang="en-US" dirty="0"/>
              <a:t>Single Cell Analysis: Bio-tools</a:t>
            </a:r>
          </a:p>
          <a:p>
            <a:pPr>
              <a:lnSpc>
                <a:spcPct val="150000"/>
              </a:lnSpc>
            </a:pPr>
            <a:r>
              <a:rPr lang="en-US" dirty="0"/>
              <a:t>Single Cell Analysis: Database</a:t>
            </a:r>
          </a:p>
          <a:p>
            <a:pPr>
              <a:lnSpc>
                <a:spcPct val="150000"/>
              </a:lnSpc>
            </a:pPr>
            <a:r>
              <a:rPr lang="en-US" dirty="0"/>
              <a:t>Familiar Tools</a:t>
            </a:r>
          </a:p>
          <a:p>
            <a:pPr>
              <a:lnSpc>
                <a:spcPct val="150000"/>
              </a:lnSpc>
            </a:pPr>
            <a:r>
              <a:rPr lang="en-US" dirty="0"/>
              <a:t>Future Work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81AE-3000-AAD9-AA9B-6FDFAF18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38931"/>
            <a:ext cx="10515600" cy="1325563"/>
          </a:xfrm>
        </p:spPr>
        <p:txBody>
          <a:bodyPr/>
          <a:lstStyle/>
          <a:p>
            <a:r>
              <a:rPr lang="en-US" dirty="0"/>
              <a:t>Single Cell Analysis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F6AA-FA93-7028-0B29-68683EDF5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183"/>
          </a:xfrm>
        </p:spPr>
        <p:txBody>
          <a:bodyPr>
            <a:normAutofit/>
          </a:bodyPr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r>
              <a:rPr lang="en-US" dirty="0" err="1"/>
              <a:t>scATAC</a:t>
            </a:r>
            <a:r>
              <a:rPr lang="en-US" dirty="0"/>
              <a:t>-seq</a:t>
            </a:r>
          </a:p>
          <a:p>
            <a:r>
              <a:rPr lang="en-US" dirty="0" err="1"/>
              <a:t>scDNA</a:t>
            </a:r>
            <a:r>
              <a:rPr lang="en-US" dirty="0"/>
              <a:t>-seq</a:t>
            </a:r>
          </a:p>
          <a:p>
            <a:r>
              <a:rPr lang="en-US" dirty="0" err="1"/>
              <a:t>scProteomics</a:t>
            </a:r>
            <a:r>
              <a:rPr lang="en-US" dirty="0"/>
              <a:t>-seq</a:t>
            </a:r>
          </a:p>
          <a:p>
            <a:r>
              <a:rPr lang="en-US" dirty="0" err="1"/>
              <a:t>scDNA</a:t>
            </a:r>
            <a:r>
              <a:rPr lang="en-US" dirty="0"/>
              <a:t> Methylation-seq</a:t>
            </a:r>
          </a:p>
          <a:p>
            <a:endParaRPr lang="en-US" dirty="0"/>
          </a:p>
          <a:p>
            <a:r>
              <a:rPr lang="en-US" dirty="0" err="1"/>
              <a:t>scTCR</a:t>
            </a:r>
            <a:r>
              <a:rPr lang="en-US" dirty="0"/>
              <a:t>-seq? </a:t>
            </a:r>
          </a:p>
          <a:p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scCUT&amp;Tag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?</a:t>
            </a:r>
          </a:p>
          <a:p>
            <a:r>
              <a:rPr lang="en-US" dirty="0" err="1">
                <a:solidFill>
                  <a:srgbClr val="111111"/>
                </a:solidFill>
                <a:latin typeface="-apple-system"/>
              </a:rPr>
              <a:t>scNTT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-seq?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16F66-FCAD-029C-5F56-35773BDD9D0C}"/>
              </a:ext>
            </a:extLst>
          </p:cNvPr>
          <p:cNvSpPr/>
          <p:nvPr/>
        </p:nvSpPr>
        <p:spPr>
          <a:xfrm>
            <a:off x="6015318" y="2455703"/>
            <a:ext cx="950258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QC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6CF03E-CFEC-4B06-AE24-4F6001CC4529}"/>
              </a:ext>
            </a:extLst>
          </p:cNvPr>
          <p:cNvSpPr/>
          <p:nvPr/>
        </p:nvSpPr>
        <p:spPr>
          <a:xfrm>
            <a:off x="7203140" y="2455703"/>
            <a:ext cx="1618130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Normalization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9DC87C-2DD7-973C-E4C2-F7B7EC8F5FB7}"/>
              </a:ext>
            </a:extLst>
          </p:cNvPr>
          <p:cNvSpPr/>
          <p:nvPr/>
        </p:nvSpPr>
        <p:spPr>
          <a:xfrm>
            <a:off x="6224229" y="3506368"/>
            <a:ext cx="2828366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Dimensionality Reduction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66272C-6063-D827-27ED-104A9B58E6B0}"/>
              </a:ext>
            </a:extLst>
          </p:cNvPr>
          <p:cNvSpPr/>
          <p:nvPr/>
        </p:nvSpPr>
        <p:spPr>
          <a:xfrm>
            <a:off x="9345619" y="3507619"/>
            <a:ext cx="1618130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Clustering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001A15-5CA9-3B3B-9594-D51184A5D610}"/>
              </a:ext>
            </a:extLst>
          </p:cNvPr>
          <p:cNvSpPr/>
          <p:nvPr/>
        </p:nvSpPr>
        <p:spPr>
          <a:xfrm>
            <a:off x="6224229" y="4487983"/>
            <a:ext cx="2290483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Differential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7461BE-9843-B623-860A-8E35888067C6}"/>
              </a:ext>
            </a:extLst>
          </p:cNvPr>
          <p:cNvSpPr/>
          <p:nvPr/>
        </p:nvSpPr>
        <p:spPr>
          <a:xfrm>
            <a:off x="8821270" y="4487983"/>
            <a:ext cx="2716305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Functional Annotation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BA22266-2641-7C86-0AEC-F74FACC378DE}"/>
              </a:ext>
            </a:extLst>
          </p:cNvPr>
          <p:cNvSpPr txBox="1">
            <a:spLocks/>
          </p:cNvSpPr>
          <p:nvPr/>
        </p:nvSpPr>
        <p:spPr>
          <a:xfrm>
            <a:off x="7857004" y="1664494"/>
            <a:ext cx="1928532" cy="509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Analysis SOP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67F692-6F26-440F-21B8-4C38CB077C4E}"/>
              </a:ext>
            </a:extLst>
          </p:cNvPr>
          <p:cNvSpPr/>
          <p:nvPr/>
        </p:nvSpPr>
        <p:spPr>
          <a:xfrm>
            <a:off x="9018114" y="2455703"/>
            <a:ext cx="2042543" cy="5827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121212"/>
                </a:solidFill>
                <a:effectLst/>
                <a:latin typeface="-apple-system"/>
              </a:rPr>
              <a:t>Feature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8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AA7397-371C-BEC7-BF4B-2F656A1BC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06528" y="1664494"/>
            <a:ext cx="6907277" cy="466995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AF05A66-D9BB-E9C1-42BE-66F7315C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38931"/>
            <a:ext cx="10515600" cy="1325563"/>
          </a:xfrm>
        </p:spPr>
        <p:txBody>
          <a:bodyPr/>
          <a:lstStyle/>
          <a:p>
            <a:r>
              <a:rPr lang="en-US" dirty="0"/>
              <a:t>Single Cell RNA Guideline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7F200-FC5E-C83D-417F-99D136AF6FB2}"/>
              </a:ext>
            </a:extLst>
          </p:cNvPr>
          <p:cNvSpPr txBox="1"/>
          <p:nvPr/>
        </p:nvSpPr>
        <p:spPr>
          <a:xfrm>
            <a:off x="6096000" y="648866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https://www.embopress.org/doi/full/10.15252/msb.20188746</a:t>
            </a:r>
          </a:p>
        </p:txBody>
      </p:sp>
    </p:spTree>
    <p:extLst>
      <p:ext uri="{BB962C8B-B14F-4D97-AF65-F5344CB8AC3E}">
        <p14:creationId xmlns:p14="http://schemas.microsoft.com/office/powerpoint/2010/main" val="216835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7C55-776F-F41F-18E1-DD5D8DC6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Cell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F482-B982-6B2E-2389-FF1FF159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64153" cy="4351338"/>
          </a:xfrm>
        </p:spPr>
        <p:txBody>
          <a:bodyPr>
            <a:normAutofit/>
          </a:bodyPr>
          <a:lstStyle/>
          <a:p>
            <a:r>
              <a:rPr lang="en-US" dirty="0" err="1"/>
              <a:t>scRNA</a:t>
            </a:r>
            <a:r>
              <a:rPr lang="en-US" dirty="0"/>
              <a:t>-seq: gene expression/regulation, cell type/subtype</a:t>
            </a:r>
          </a:p>
          <a:p>
            <a:pPr lvl="1"/>
            <a:r>
              <a:rPr lang="en-US" b="1" dirty="0"/>
              <a:t>Cell Ranger</a:t>
            </a:r>
            <a:r>
              <a:rPr lang="en-US" dirty="0"/>
              <a:t>: raw data-&gt; matrix,…</a:t>
            </a:r>
          </a:p>
          <a:p>
            <a:pPr lvl="1"/>
            <a:r>
              <a:rPr lang="en-US" b="1" dirty="0"/>
              <a:t>Seurat®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QC, normalization, dimensionality reduction, clustering etc.</a:t>
            </a:r>
            <a:endParaRPr lang="en-US" dirty="0"/>
          </a:p>
          <a:p>
            <a:pPr lvl="1"/>
            <a:r>
              <a:rPr lang="en-US" b="1" dirty="0" err="1"/>
              <a:t>Scanpy</a:t>
            </a:r>
            <a:r>
              <a:rPr lang="en-US" b="1" dirty="0"/>
              <a:t> </a:t>
            </a:r>
            <a:r>
              <a:rPr lang="en-US" dirty="0"/>
              <a:t>: Seurat in </a:t>
            </a:r>
            <a:r>
              <a:rPr lang="en-US" dirty="0" err="1"/>
              <a:t>py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scATAC</a:t>
            </a:r>
            <a:r>
              <a:rPr lang="en-US" dirty="0"/>
              <a:t>-seq: epigenetic states, TF binding sites</a:t>
            </a:r>
          </a:p>
          <a:p>
            <a:pPr lvl="1"/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SnapATAC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QC, counting, </a:t>
            </a:r>
            <a:r>
              <a:rPr lang="en-US" altLang="zh-TW" dirty="0"/>
              <a:t>dimensionality reduction, clustering etc.</a:t>
            </a:r>
            <a:endParaRPr lang="en-US" dirty="0"/>
          </a:p>
          <a:p>
            <a:pPr lvl="1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(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Cicero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®: Covariance analysis and gene regulation via HMM)</a:t>
            </a:r>
          </a:p>
          <a:p>
            <a:pPr lvl="1"/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ArchR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®: Same work, and providing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integration interfaces to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Seurat、Signac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etc.</a:t>
            </a:r>
          </a:p>
          <a:p>
            <a:pPr lvl="1"/>
            <a:r>
              <a:rPr lang="en-US" b="1" dirty="0">
                <a:solidFill>
                  <a:srgbClr val="111111"/>
                </a:solidFill>
                <a:latin typeface="-apple-system"/>
              </a:rPr>
              <a:t>Signac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®</a:t>
            </a:r>
            <a:r>
              <a:rPr lang="en-US" altLang="zh-TW" dirty="0">
                <a:solidFill>
                  <a:srgbClr val="111111"/>
                </a:solidFill>
                <a:latin typeface="-apple-system"/>
              </a:rPr>
              <a:t>:Same like above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7C55-776F-F41F-18E1-DD5D8DC6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Cell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F482-B982-6B2E-2389-FF1FF159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64153" cy="4351338"/>
          </a:xfrm>
        </p:spPr>
        <p:txBody>
          <a:bodyPr>
            <a:normAutofit/>
          </a:bodyPr>
          <a:lstStyle/>
          <a:p>
            <a:r>
              <a:rPr lang="en-US" dirty="0" err="1"/>
              <a:t>scDNA</a:t>
            </a:r>
            <a:r>
              <a:rPr lang="en-US" dirty="0"/>
              <a:t>-seq: gene variation, CNVs, methylation etc.</a:t>
            </a:r>
          </a:p>
          <a:p>
            <a:pPr lvl="1"/>
            <a:r>
              <a:rPr lang="en-US" b="1" dirty="0"/>
              <a:t>Ginkgo</a:t>
            </a:r>
            <a:r>
              <a:rPr lang="en-US" dirty="0"/>
              <a:t>: CNVs detection and visualization</a:t>
            </a:r>
          </a:p>
          <a:p>
            <a:pPr lvl="1"/>
            <a:r>
              <a:rPr lang="en-US" b="1" dirty="0" err="1"/>
              <a:t>Monovar</a:t>
            </a:r>
            <a:r>
              <a:rPr lang="en-US" dirty="0"/>
              <a:t>: SNV detection</a:t>
            </a:r>
          </a:p>
          <a:p>
            <a:pPr lvl="1"/>
            <a:r>
              <a:rPr lang="en-US" b="1" dirty="0" err="1"/>
              <a:t>Sccaller</a:t>
            </a:r>
            <a:r>
              <a:rPr lang="en-US" altLang="zh-TW" dirty="0"/>
              <a:t>®: SNV detection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scProteomics</a:t>
            </a:r>
            <a:r>
              <a:rPr lang="en-US" dirty="0"/>
              <a:t>-seq: proteins, phosphorylated </a:t>
            </a:r>
            <a:r>
              <a:rPr lang="en-US" dirty="0" err="1"/>
              <a:t>a.a.</a:t>
            </a:r>
            <a:endParaRPr lang="en-US" dirty="0"/>
          </a:p>
          <a:p>
            <a:pPr lvl="1"/>
            <a:r>
              <a:rPr lang="en-US" dirty="0"/>
              <a:t>CITE-seq-Count: raw data -&gt; matrix</a:t>
            </a:r>
          </a:p>
          <a:p>
            <a:pPr lvl="1"/>
            <a:r>
              <a:rPr lang="en-US" dirty="0"/>
              <a:t>CATALYST®</a:t>
            </a:r>
          </a:p>
          <a:p>
            <a:pPr lvl="1"/>
            <a:r>
              <a:rPr lang="en-US" dirty="0"/>
              <a:t>SAVER-X®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61980-EDC0-F261-4328-E1B52BA1945E}"/>
              </a:ext>
            </a:extLst>
          </p:cNvPr>
          <p:cNvSpPr txBox="1"/>
          <p:nvPr/>
        </p:nvSpPr>
        <p:spPr>
          <a:xfrm>
            <a:off x="5567423" y="6488668"/>
            <a:ext cx="699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Ginkgo</a:t>
            </a:r>
            <a:r>
              <a:rPr lang="en-US" b="1" dirty="0"/>
              <a:t>: </a:t>
            </a:r>
            <a:r>
              <a:rPr lang="en-US" altLang="zh-TW" dirty="0"/>
              <a:t>https://www.ncbi.nlm.nih.gov/pmc/articles/PMC4775251/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054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B674-CB71-24E5-EAA0-EE4070BA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for </a:t>
            </a:r>
            <a:r>
              <a:rPr lang="en-US" dirty="0" err="1"/>
              <a:t>scData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6215-09B1-1814-B3E3-7BA811BC6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60925"/>
          </a:xfrm>
        </p:spPr>
        <p:txBody>
          <a:bodyPr>
            <a:normAutofit/>
          </a:bodyPr>
          <a:lstStyle/>
          <a:p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Single Cell Portal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(SCP)</a:t>
            </a:r>
          </a:p>
          <a:p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Single Cell Expression Atlas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(SCEA)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scRNA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r>
              <a:rPr lang="en-US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scRNASeqDB</a:t>
            </a:r>
            <a:endParaRPr lang="en-US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u="none" strike="noStrike" dirty="0" err="1">
                <a:solidFill>
                  <a:srgbClr val="292929"/>
                </a:solidFill>
                <a:effectLst/>
                <a:latin typeface="Arial" panose="020B0604020202020204" pitchFamily="34" charset="0"/>
                <a:hlinkClick r:id="rId6"/>
              </a:rPr>
              <a:t>PanglaoDB</a:t>
            </a:r>
            <a:endParaRPr lang="en-US" b="0" i="0" u="none" strike="noStrike" dirty="0">
              <a:effectLst/>
              <a:latin typeface="-apple-system"/>
            </a:endParaRPr>
          </a:p>
          <a:p>
            <a:r>
              <a:rPr lang="en-US" b="0" i="0" u="none" strike="noStrike" dirty="0">
                <a:solidFill>
                  <a:srgbClr val="292929"/>
                </a:solidFill>
                <a:effectLst/>
                <a:latin typeface="Arial" panose="020B0604020202020204" pitchFamily="34" charset="0"/>
                <a:hlinkClick r:id="rId7"/>
              </a:rPr>
              <a:t>The Human Cell Atlas Data Portal</a:t>
            </a:r>
            <a:endParaRPr lang="en-US" b="0" i="0" u="none" strike="noStrike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9029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B674-CB71-24E5-EAA0-EE4070BA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for specific type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6215-09B1-1814-B3E3-7BA811BC6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927600" cy="4860925"/>
          </a:xfrm>
        </p:spPr>
        <p:txBody>
          <a:bodyPr>
            <a:normAutofit/>
          </a:bodyPr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  <a:p>
            <a:pPr lvl="1"/>
            <a:r>
              <a:rPr lang="en-US" b="0" i="0" u="none" strike="noStrike" dirty="0">
                <a:effectLst/>
                <a:latin typeface="-apple-system"/>
                <a:hlinkClick r:id="rId3"/>
              </a:rPr>
              <a:t>TISCH2</a:t>
            </a:r>
            <a:r>
              <a:rPr lang="en-US" dirty="0">
                <a:latin typeface="-apple-system"/>
              </a:rPr>
              <a:t>: tumor</a:t>
            </a:r>
          </a:p>
          <a:p>
            <a:pPr lvl="1"/>
            <a:r>
              <a:rPr lang="en-US" b="0" i="0" u="none" strike="noStrike" dirty="0">
                <a:effectLst/>
                <a:latin typeface="-apple-system"/>
                <a:hlinkClick r:id="rId4"/>
              </a:rPr>
              <a:t>HC</a:t>
            </a:r>
            <a:r>
              <a:rPr lang="en-US" dirty="0">
                <a:latin typeface="-apple-system"/>
                <a:hlinkClick r:id="rId4"/>
              </a:rPr>
              <a:t>L</a:t>
            </a:r>
            <a:r>
              <a:rPr lang="en-US" altLang="zh-TW" dirty="0">
                <a:latin typeface="-apple-system"/>
              </a:rPr>
              <a:t>:</a:t>
            </a:r>
            <a:r>
              <a:rPr lang="zh-TW" altLang="en-US" dirty="0">
                <a:latin typeface="-apple-system"/>
              </a:rPr>
              <a:t> </a:t>
            </a:r>
            <a:r>
              <a:rPr lang="en-US" altLang="zh-TW" dirty="0">
                <a:latin typeface="-apple-system"/>
              </a:rPr>
              <a:t>human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pingfang SC"/>
                <a:hlinkClick r:id="rId5"/>
              </a:rPr>
              <a:t>SC</a:t>
            </a:r>
            <a:r>
              <a:rPr lang="en-US" i="0" dirty="0">
                <a:solidFill>
                  <a:srgbClr val="333333"/>
                </a:solidFill>
                <a:effectLst/>
                <a:latin typeface="pingfang SC"/>
                <a:hlinkClick r:id="rId5"/>
              </a:rPr>
              <a:t>Portalen2</a:t>
            </a:r>
            <a:r>
              <a:rPr lang="en-US" i="0" dirty="0">
                <a:solidFill>
                  <a:srgbClr val="333333"/>
                </a:solidFill>
                <a:effectLst/>
                <a:latin typeface="pingfang SC"/>
              </a:rPr>
              <a:t>: human/mouse</a:t>
            </a:r>
            <a:endParaRPr lang="en-US" i="0" u="none" strike="noStrike" dirty="0">
              <a:effectLst/>
              <a:latin typeface="-apple-system"/>
            </a:endParaRPr>
          </a:p>
          <a:p>
            <a:pPr lvl="1"/>
            <a:endParaRPr lang="en-US" dirty="0">
              <a:latin typeface="-apple-system"/>
            </a:endParaRPr>
          </a:p>
          <a:p>
            <a:r>
              <a:rPr lang="en-US" dirty="0" err="1">
                <a:latin typeface="-apple-system"/>
              </a:rPr>
              <a:t>scATAC</a:t>
            </a:r>
            <a:r>
              <a:rPr lang="en-US" dirty="0">
                <a:latin typeface="-apple-system"/>
              </a:rPr>
              <a:t>-seq</a:t>
            </a:r>
          </a:p>
          <a:p>
            <a:pPr lvl="1"/>
            <a:r>
              <a:rPr lang="en-US" b="0" i="0" u="none" strike="noStrike" dirty="0">
                <a:effectLst/>
                <a:latin typeface="-apple-system"/>
              </a:rPr>
              <a:t>No specific DB, only tools</a:t>
            </a:r>
          </a:p>
          <a:p>
            <a:pPr lvl="1"/>
            <a:endParaRPr lang="en-US" dirty="0">
              <a:latin typeface="-apple-system"/>
            </a:endParaRPr>
          </a:p>
          <a:p>
            <a:r>
              <a:rPr lang="en-US" b="0" i="0" u="none" strike="noStrike" dirty="0" err="1">
                <a:effectLst/>
                <a:latin typeface="-apple-system"/>
              </a:rPr>
              <a:t>scDNA</a:t>
            </a:r>
            <a:r>
              <a:rPr lang="en-US" b="0" i="0" u="none" strike="noStrike" dirty="0">
                <a:effectLst/>
                <a:latin typeface="-apple-system"/>
              </a:rPr>
              <a:t>-seq</a:t>
            </a:r>
          </a:p>
          <a:p>
            <a:pPr lvl="1"/>
            <a:r>
              <a:rPr lang="en-US" dirty="0">
                <a:latin typeface="-apple-system"/>
              </a:rPr>
              <a:t>No specific DB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CE6527-C7F7-9B27-FF80-BAEF78BCB705}"/>
              </a:ext>
            </a:extLst>
          </p:cNvPr>
          <p:cNvSpPr txBox="1">
            <a:spLocks/>
          </p:cNvSpPr>
          <p:nvPr/>
        </p:nvSpPr>
        <p:spPr>
          <a:xfrm>
            <a:off x="6214753" y="1298804"/>
            <a:ext cx="4208813" cy="3344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b="0" i="0" u="none" strike="noStrike" dirty="0">
              <a:effectLst/>
              <a:latin typeface="-apple-system"/>
            </a:endParaRPr>
          </a:p>
          <a:p>
            <a:r>
              <a:rPr lang="en-US" dirty="0" err="1">
                <a:latin typeface="-apple-system"/>
              </a:rPr>
              <a:t>scProteomics</a:t>
            </a:r>
            <a:r>
              <a:rPr lang="en-US" dirty="0">
                <a:latin typeface="-apple-system"/>
              </a:rPr>
              <a:t>-seq</a:t>
            </a:r>
          </a:p>
          <a:p>
            <a:pPr lvl="1"/>
            <a:r>
              <a:rPr lang="en-US" b="0" i="0" u="none" strike="noStrike" dirty="0" err="1">
                <a:effectLst/>
                <a:latin typeface="-apple-system"/>
                <a:hlinkClick r:id="rId6"/>
              </a:rPr>
              <a:t>ProteomicsDB</a:t>
            </a:r>
            <a:endParaRPr lang="en-US" b="0" i="0" u="none" strike="noStrike" dirty="0">
              <a:effectLst/>
              <a:latin typeface="-apple-system"/>
            </a:endParaRPr>
          </a:p>
          <a:p>
            <a:pPr lvl="1"/>
            <a:r>
              <a:rPr lang="en-US" b="0" i="0" u="none" strike="noStrike" dirty="0">
                <a:effectLst/>
                <a:latin typeface="-apple-system"/>
                <a:hlinkClick r:id="rId7"/>
              </a:rPr>
              <a:t>PRIDE</a:t>
            </a:r>
            <a:r>
              <a:rPr lang="en-US" b="0" i="0" u="none" strike="noStrike" dirty="0">
                <a:effectLst/>
                <a:latin typeface="-apple-system"/>
              </a:rPr>
              <a:t>:</a:t>
            </a:r>
            <a:r>
              <a:rPr lang="zh-TW" altLang="en-US" b="0" i="0" u="none" strike="noStrike" dirty="0">
                <a:effectLst/>
                <a:latin typeface="-apple-system"/>
              </a:rPr>
              <a:t> </a:t>
            </a:r>
            <a:r>
              <a:rPr lang="en-US" altLang="zh-TW" b="0" i="0" u="none" strike="noStrike" dirty="0">
                <a:effectLst/>
                <a:latin typeface="-apple-system"/>
              </a:rPr>
              <a:t>MS data</a:t>
            </a:r>
          </a:p>
          <a:p>
            <a:pPr lvl="1"/>
            <a:endParaRPr lang="en-US" dirty="0">
              <a:latin typeface="-apple-system"/>
            </a:endParaRPr>
          </a:p>
          <a:p>
            <a:r>
              <a:rPr lang="en-US" dirty="0" err="1"/>
              <a:t>scDNA</a:t>
            </a:r>
            <a:r>
              <a:rPr lang="en-US" dirty="0"/>
              <a:t> Methylation-seq</a:t>
            </a:r>
          </a:p>
          <a:p>
            <a:pPr lvl="1"/>
            <a:r>
              <a:rPr lang="en-US" dirty="0" err="1">
                <a:hlinkClick r:id="rId8"/>
              </a:rPr>
              <a:t>scMethBank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scTCR</a:t>
            </a:r>
            <a:r>
              <a:rPr lang="en-US" dirty="0"/>
              <a:t>-seq</a:t>
            </a:r>
          </a:p>
          <a:p>
            <a:pPr lvl="1"/>
            <a:r>
              <a:rPr lang="en-US" b="0" i="0" u="none" strike="noStrike" dirty="0" err="1">
                <a:solidFill>
                  <a:srgbClr val="292929"/>
                </a:solidFill>
                <a:effectLst/>
                <a:latin typeface="Arial" panose="020B0604020202020204" pitchFamily="34" charset="0"/>
                <a:hlinkClick r:id="rId9"/>
              </a:rPr>
              <a:t>JingleBells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33F8C-FF1D-206B-44DC-6610401AE41E}"/>
              </a:ext>
            </a:extLst>
          </p:cNvPr>
          <p:cNvSpPr txBox="1"/>
          <p:nvPr/>
        </p:nvSpPr>
        <p:spPr>
          <a:xfrm>
            <a:off x="4780345" y="6488668"/>
            <a:ext cx="7687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scMethBank</a:t>
            </a:r>
            <a:r>
              <a:rPr lang="en-US" dirty="0"/>
              <a:t>: https://academic.oup.com/nar/article/50/D1/D380/6376025</a:t>
            </a:r>
          </a:p>
        </p:txBody>
      </p:sp>
    </p:spTree>
    <p:extLst>
      <p:ext uri="{BB962C8B-B14F-4D97-AF65-F5344CB8AC3E}">
        <p14:creationId xmlns:p14="http://schemas.microsoft.com/office/powerpoint/2010/main" val="15379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DDC3-3198-36AC-6108-A5430807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Relatively Familiar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9C93-52D9-469A-812C-EBE267D63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Seurat</a:t>
            </a:r>
          </a:p>
          <a:p>
            <a:r>
              <a:rPr lang="en-US" altLang="zh-TW" dirty="0"/>
              <a:t>Monocle3</a:t>
            </a:r>
          </a:p>
          <a:p>
            <a:r>
              <a:rPr lang="en-US" i="0" dirty="0" err="1">
                <a:effectLst/>
                <a:latin typeface="Söhne"/>
              </a:rPr>
              <a:t>Velocyto</a:t>
            </a:r>
            <a:endParaRPr lang="en-US" i="0" dirty="0">
              <a:effectLst/>
              <a:latin typeface="Söhne"/>
            </a:endParaRPr>
          </a:p>
          <a:p>
            <a:r>
              <a:rPr lang="en-US" dirty="0" err="1"/>
              <a:t>SingleR</a:t>
            </a:r>
            <a:endParaRPr lang="en-US" dirty="0"/>
          </a:p>
          <a:p>
            <a:r>
              <a:rPr lang="en-US" dirty="0"/>
              <a:t>SCENIC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Cicero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1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584E-4E52-6313-B7C8-51E9BF40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B78E4-EFEE-5321-E644-CE3100548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Try running different types of analysis tools </a:t>
            </a:r>
            <a:br>
              <a:rPr lang="en-US" sz="3200" dirty="0"/>
            </a:br>
            <a:r>
              <a:rPr lang="en-US" sz="3200" dirty="0"/>
              <a:t>(</a:t>
            </a:r>
            <a:r>
              <a:rPr lang="en-US" sz="3200" dirty="0" err="1"/>
              <a:t>scDNA</a:t>
            </a:r>
            <a:r>
              <a:rPr lang="en-US" sz="3200" dirty="0"/>
              <a:t>, </a:t>
            </a:r>
            <a:r>
              <a:rPr lang="en-US" sz="3200" dirty="0" err="1"/>
              <a:t>scMethylation</a:t>
            </a:r>
            <a:r>
              <a:rPr lang="en-US" sz="3200" dirty="0"/>
              <a:t> etc.)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altLang="zh-TW" sz="3200" dirty="0"/>
              <a:t>Building a p</a:t>
            </a:r>
            <a:r>
              <a:rPr lang="en-US" sz="3200" dirty="0"/>
              <a:t>ipeline (Database A + </a:t>
            </a:r>
            <a:r>
              <a:rPr lang="en-US" sz="3200" dirty="0" err="1"/>
              <a:t>Biotools</a:t>
            </a:r>
            <a:r>
              <a:rPr lang="en-US" sz="3200" dirty="0"/>
              <a:t> B)</a:t>
            </a:r>
          </a:p>
          <a:p>
            <a:pPr lvl="1"/>
            <a:r>
              <a:rPr lang="en-US" sz="2800" dirty="0"/>
              <a:t>Take others pipeline as a reference</a:t>
            </a:r>
          </a:p>
          <a:p>
            <a:pPr lvl="1"/>
            <a:r>
              <a:rPr lang="en-US" sz="2800" dirty="0"/>
              <a:t>(Our own DB for single cell data?)</a:t>
            </a:r>
          </a:p>
        </p:txBody>
      </p:sp>
    </p:spTree>
    <p:extLst>
      <p:ext uri="{BB962C8B-B14F-4D97-AF65-F5344CB8AC3E}">
        <p14:creationId xmlns:p14="http://schemas.microsoft.com/office/powerpoint/2010/main" val="392536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CD63-B6CA-66EA-CE34-5BA569F7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4384-91AA-DB2E-7FA7-D85538951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 </a:t>
            </a:r>
            <a:r>
              <a:rPr lang="zh-TW" altLang="en-US" dirty="0"/>
              <a:t>先不用 </a:t>
            </a:r>
            <a:r>
              <a:rPr lang="en-US" altLang="zh-TW" dirty="0"/>
              <a:t>build</a:t>
            </a:r>
          </a:p>
          <a:p>
            <a:r>
              <a:rPr lang="zh-TW" altLang="en-US" dirty="0"/>
              <a:t>可以先從跑完整的 </a:t>
            </a:r>
            <a:r>
              <a:rPr lang="en-US" altLang="zh-TW" dirty="0" err="1"/>
              <a:t>scRNA</a:t>
            </a:r>
            <a:r>
              <a:rPr lang="en-US" altLang="zh-TW" dirty="0"/>
              <a:t>, </a:t>
            </a:r>
            <a:r>
              <a:rPr lang="en-US" altLang="zh-TW" dirty="0" err="1"/>
              <a:t>scATAC</a:t>
            </a:r>
            <a:r>
              <a:rPr lang="zh-TW" altLang="en-US" dirty="0"/>
              <a:t> 開始，然後學習去說明每個圖的意義，或表現值高高低低之類的東西。</a:t>
            </a:r>
            <a:endParaRPr lang="en-US" altLang="zh-TW" dirty="0"/>
          </a:p>
          <a:p>
            <a:r>
              <a:rPr lang="zh-TW" altLang="en-US" dirty="0"/>
              <a:t>下一次進度報告。可以報一下</a:t>
            </a:r>
            <a:r>
              <a:rPr lang="en-US" dirty="0" err="1"/>
              <a:t>scRNA+TCGA</a:t>
            </a:r>
            <a:r>
              <a:rPr lang="zh-TW" altLang="en-US" dirty="0"/>
              <a:t>這篇論文。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4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3F29-7B65-0DA4-959F-811C8899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important, but can discuss?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21F1-2318-2239-653B-605987A91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Courses</a:t>
            </a:r>
            <a:r>
              <a:rPr lang="en-US" altLang="zh-TW" dirty="0"/>
              <a:t> Loading</a:t>
            </a:r>
          </a:p>
          <a:p>
            <a:pPr marL="0" indent="0">
              <a:buNone/>
            </a:pPr>
            <a:r>
              <a:rPr lang="en-US" dirty="0"/>
              <a:t>- Some interesting ideas</a:t>
            </a:r>
          </a:p>
          <a:p>
            <a:pPr marL="0" indent="0">
              <a:buNone/>
            </a:pPr>
            <a:r>
              <a:rPr lang="en-US" dirty="0"/>
              <a:t>	- Combine Spatial Transcriptome?</a:t>
            </a:r>
          </a:p>
          <a:p>
            <a:pPr marL="0" indent="0">
              <a:buNone/>
            </a:pPr>
            <a:r>
              <a:rPr lang="en-US" dirty="0"/>
              <a:t>	- with GWAS or TCGA</a:t>
            </a:r>
          </a:p>
        </p:txBody>
      </p:sp>
    </p:spTree>
    <p:extLst>
      <p:ext uri="{BB962C8B-B14F-4D97-AF65-F5344CB8AC3E}">
        <p14:creationId xmlns:p14="http://schemas.microsoft.com/office/powerpoint/2010/main" val="93661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1259</Words>
  <Application>Microsoft Office PowerPoint</Application>
  <PresentationFormat>Widescreen</PresentationFormat>
  <Paragraphs>139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-apple-system</vt:lpstr>
      <vt:lpstr>ElsevierGulliver</vt:lpstr>
      <vt:lpstr>pingfang SC</vt:lpstr>
      <vt:lpstr>Söhne</vt:lpstr>
      <vt:lpstr>Arial</vt:lpstr>
      <vt:lpstr>Calibri</vt:lpstr>
      <vt:lpstr>Calibri Light</vt:lpstr>
      <vt:lpstr>Office Theme</vt:lpstr>
      <vt:lpstr>Progress Report</vt:lpstr>
      <vt:lpstr>Outline</vt:lpstr>
      <vt:lpstr>Single Cell Analysis Map</vt:lpstr>
      <vt:lpstr>Single Cell RNA Guideline</vt:lpstr>
      <vt:lpstr>Single Cell Analysis</vt:lpstr>
      <vt:lpstr>Single Cell Analysis</vt:lpstr>
      <vt:lpstr>DB for scData</vt:lpstr>
      <vt:lpstr>DB for specific type data</vt:lpstr>
      <vt:lpstr>Relatively Familiar </vt:lpstr>
      <vt:lpstr>Future Work </vt:lpstr>
      <vt:lpstr>Conclusion</vt:lpstr>
      <vt:lpstr>Not important, but can discuss?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2023.09.27</dc:title>
  <dc:creator>Yi Jie Chen</dc:creator>
  <cp:lastModifiedBy>Yi Jie Chen</cp:lastModifiedBy>
  <cp:revision>38</cp:revision>
  <dcterms:created xsi:type="dcterms:W3CDTF">2023-09-24T07:10:51Z</dcterms:created>
  <dcterms:modified xsi:type="dcterms:W3CDTF">2023-10-12T01:27:18Z</dcterms:modified>
</cp:coreProperties>
</file>