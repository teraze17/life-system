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6"/>
  </p:notesMasterIdLst>
  <p:sldIdLst>
    <p:sldId id="256" r:id="rId2"/>
    <p:sldId id="342" r:id="rId3"/>
    <p:sldId id="378" r:id="rId4"/>
    <p:sldId id="343" r:id="rId5"/>
    <p:sldId id="344" r:id="rId6"/>
    <p:sldId id="376" r:id="rId7"/>
    <p:sldId id="377" r:id="rId8"/>
    <p:sldId id="324" r:id="rId9"/>
    <p:sldId id="263" r:id="rId10"/>
    <p:sldId id="261" r:id="rId11"/>
    <p:sldId id="272" r:id="rId12"/>
    <p:sldId id="320" r:id="rId13"/>
    <p:sldId id="283" r:id="rId14"/>
    <p:sldId id="284" r:id="rId15"/>
    <p:sldId id="285" r:id="rId16"/>
    <p:sldId id="266" r:id="rId17"/>
    <p:sldId id="336" r:id="rId18"/>
    <p:sldId id="337" r:id="rId19"/>
    <p:sldId id="338" r:id="rId20"/>
    <p:sldId id="339" r:id="rId21"/>
    <p:sldId id="340" r:id="rId22"/>
    <p:sldId id="314" r:id="rId23"/>
    <p:sldId id="267" r:id="rId24"/>
    <p:sldId id="335" r:id="rId25"/>
    <p:sldId id="268" r:id="rId26"/>
    <p:sldId id="288" r:id="rId27"/>
    <p:sldId id="269" r:id="rId28"/>
    <p:sldId id="293" r:id="rId29"/>
    <p:sldId id="321" r:id="rId30"/>
    <p:sldId id="322" r:id="rId31"/>
    <p:sldId id="323" r:id="rId32"/>
    <p:sldId id="292" r:id="rId33"/>
    <p:sldId id="270" r:id="rId34"/>
    <p:sldId id="317" r:id="rId35"/>
    <p:sldId id="271" r:id="rId36"/>
    <p:sldId id="295" r:id="rId37"/>
    <p:sldId id="296" r:id="rId38"/>
    <p:sldId id="273" r:id="rId39"/>
    <p:sldId id="276" r:id="rId40"/>
    <p:sldId id="275" r:id="rId41"/>
    <p:sldId id="278" r:id="rId42"/>
    <p:sldId id="277" r:id="rId43"/>
    <p:sldId id="280" r:id="rId44"/>
    <p:sldId id="279" r:id="rId45"/>
    <p:sldId id="281" r:id="rId46"/>
    <p:sldId id="282" r:id="rId47"/>
    <p:sldId id="298" r:id="rId48"/>
    <p:sldId id="297" r:id="rId49"/>
    <p:sldId id="299" r:id="rId50"/>
    <p:sldId id="301" r:id="rId51"/>
    <p:sldId id="302" r:id="rId52"/>
    <p:sldId id="300" r:id="rId53"/>
    <p:sldId id="303" r:id="rId54"/>
    <p:sldId id="306" r:id="rId55"/>
    <p:sldId id="307" r:id="rId56"/>
    <p:sldId id="308" r:id="rId57"/>
    <p:sldId id="371" r:id="rId58"/>
    <p:sldId id="372" r:id="rId59"/>
    <p:sldId id="310" r:id="rId60"/>
    <p:sldId id="309" r:id="rId61"/>
    <p:sldId id="311" r:id="rId62"/>
    <p:sldId id="312" r:id="rId63"/>
    <p:sldId id="370" r:id="rId64"/>
    <p:sldId id="326" r:id="rId65"/>
    <p:sldId id="257" r:id="rId66"/>
    <p:sldId id="264" r:id="rId67"/>
    <p:sldId id="258" r:id="rId68"/>
    <p:sldId id="262" r:id="rId69"/>
    <p:sldId id="327" r:id="rId70"/>
    <p:sldId id="260" r:id="rId71"/>
    <p:sldId id="328" r:id="rId72"/>
    <p:sldId id="259" r:id="rId73"/>
    <p:sldId id="329" r:id="rId74"/>
    <p:sldId id="265" r:id="rId75"/>
    <p:sldId id="330" r:id="rId76"/>
    <p:sldId id="332" r:id="rId77"/>
    <p:sldId id="345" r:id="rId78"/>
    <p:sldId id="334" r:id="rId79"/>
    <p:sldId id="331" r:id="rId80"/>
    <p:sldId id="333" r:id="rId81"/>
    <p:sldId id="346" r:id="rId82"/>
    <p:sldId id="347" r:id="rId83"/>
    <p:sldId id="348" r:id="rId84"/>
    <p:sldId id="349" r:id="rId85"/>
    <p:sldId id="350" r:id="rId86"/>
    <p:sldId id="351" r:id="rId87"/>
    <p:sldId id="352" r:id="rId88"/>
    <p:sldId id="353" r:id="rId89"/>
    <p:sldId id="354" r:id="rId90"/>
    <p:sldId id="355" r:id="rId91"/>
    <p:sldId id="357" r:id="rId92"/>
    <p:sldId id="356" r:id="rId93"/>
    <p:sldId id="358" r:id="rId94"/>
    <p:sldId id="359" r:id="rId95"/>
    <p:sldId id="360" r:id="rId96"/>
    <p:sldId id="362" r:id="rId97"/>
    <p:sldId id="368" r:id="rId98"/>
    <p:sldId id="361" r:id="rId99"/>
    <p:sldId id="363" r:id="rId100"/>
    <p:sldId id="364" r:id="rId101"/>
    <p:sldId id="365" r:id="rId102"/>
    <p:sldId id="366" r:id="rId103"/>
    <p:sldId id="369" r:id="rId104"/>
    <p:sldId id="367"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1939" autoAdjust="0"/>
  </p:normalViewPr>
  <p:slideViewPr>
    <p:cSldViewPr snapToGrid="0">
      <p:cViewPr varScale="1">
        <p:scale>
          <a:sx n="93" d="100"/>
          <a:sy n="93" d="100"/>
        </p:scale>
        <p:origin x="12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ACAA4-6A99-4D92-9E30-E84247B84EF1}" type="datetimeFigureOut">
              <a:rPr lang="en-US" smtClean="0"/>
              <a:t>11/18/2023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5148F-E0CF-4A3E-922E-B1B7AB039E21}" type="slidenum">
              <a:rPr lang="en-US" smtClean="0"/>
              <a:t>‹#›</a:t>
            </a:fld>
            <a:endParaRPr lang="en-US"/>
          </a:p>
        </p:txBody>
      </p:sp>
    </p:spTree>
    <p:extLst>
      <p:ext uri="{BB962C8B-B14F-4D97-AF65-F5344CB8AC3E}">
        <p14:creationId xmlns:p14="http://schemas.microsoft.com/office/powerpoint/2010/main" val="969622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a:t>
            </a:fld>
            <a:endParaRPr lang="en-US"/>
          </a:p>
        </p:txBody>
      </p:sp>
    </p:spTree>
    <p:extLst>
      <p:ext uri="{BB962C8B-B14F-4D97-AF65-F5344CB8AC3E}">
        <p14:creationId xmlns:p14="http://schemas.microsoft.com/office/powerpoint/2010/main" val="264655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TW" b="0" i="0" dirty="0">
                <a:solidFill>
                  <a:srgbClr val="374151"/>
                </a:solidFill>
                <a:effectLst/>
                <a:latin typeface="Söhne"/>
              </a:rPr>
              <a:t>Weight decay</a:t>
            </a:r>
            <a:r>
              <a:rPr lang="zh-TW" altLang="en-US" b="0" i="0" dirty="0">
                <a:solidFill>
                  <a:srgbClr val="374151"/>
                </a:solidFill>
                <a:effectLst/>
                <a:latin typeface="Söhne"/>
              </a:rPr>
              <a:t>的工作原理：</a:t>
            </a:r>
          </a:p>
          <a:p>
            <a:pPr algn="l">
              <a:buFont typeface="Arial" panose="020B0604020202020204" pitchFamily="34" charset="0"/>
              <a:buChar char="•"/>
            </a:pPr>
            <a:r>
              <a:rPr lang="zh-TW" altLang="en-US" b="0" i="0" dirty="0">
                <a:solidFill>
                  <a:srgbClr val="374151"/>
                </a:solidFill>
                <a:effectLst/>
                <a:latin typeface="Söhne"/>
              </a:rPr>
              <a:t>在模型的損失函數中，加上一個與模型權重的平方值成比例的懲罰項。</a:t>
            </a:r>
          </a:p>
          <a:p>
            <a:pPr algn="l">
              <a:buFont typeface="Arial" panose="020B0604020202020204" pitchFamily="34" charset="0"/>
              <a:buChar char="•"/>
            </a:pPr>
            <a:r>
              <a:rPr lang="zh-TW" altLang="en-US" b="0" i="0" dirty="0">
                <a:solidFill>
                  <a:srgbClr val="374151"/>
                </a:solidFill>
                <a:effectLst/>
                <a:latin typeface="Söhne"/>
              </a:rPr>
              <a:t>這個懲罰項鼓勵模型的權重保持較小的值，這通常可以使模型變得更簡單，並減少過度擬合的可能性。</a:t>
            </a:r>
          </a:p>
          <a:p>
            <a:pPr algn="l">
              <a:buFont typeface="Arial" panose="020B0604020202020204" pitchFamily="34" charset="0"/>
              <a:buChar char="•"/>
            </a:pPr>
            <a:r>
              <a:rPr lang="en-US" altLang="zh-TW" b="0" i="0" dirty="0">
                <a:solidFill>
                  <a:srgbClr val="374151"/>
                </a:solidFill>
                <a:effectLst/>
                <a:latin typeface="Söhne"/>
              </a:rPr>
              <a:t>"decay" </a:t>
            </a:r>
            <a:r>
              <a:rPr lang="zh-TW" altLang="en-US" b="0" i="0" dirty="0">
                <a:solidFill>
                  <a:srgbClr val="374151"/>
                </a:solidFill>
                <a:effectLst/>
                <a:latin typeface="Söhne"/>
              </a:rPr>
              <a:t>在這裡意味著隨著訓練的進行，模型的權重會趨向於變小，除非數據有強烈的證據支持更大的權重值</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a:t>
            </a:fld>
            <a:endParaRPr lang="en-US"/>
          </a:p>
        </p:txBody>
      </p:sp>
    </p:spTree>
    <p:extLst>
      <p:ext uri="{BB962C8B-B14F-4D97-AF65-F5344CB8AC3E}">
        <p14:creationId xmlns:p14="http://schemas.microsoft.com/office/powerpoint/2010/main" val="2163937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374151"/>
                </a:solidFill>
                <a:effectLst/>
                <a:latin typeface="Söhne"/>
              </a:rPr>
              <a:t>锚定距离（</a:t>
            </a:r>
            <a:r>
              <a:rPr lang="en-US" b="0" i="0" dirty="0">
                <a:solidFill>
                  <a:srgbClr val="374151"/>
                </a:solidFill>
                <a:effectLst/>
                <a:latin typeface="Söhne"/>
              </a:rPr>
              <a:t>Anchoring Distance）、</a:t>
            </a:r>
            <a:r>
              <a:rPr lang="zh-TW" altLang="en-US" b="0" i="0" dirty="0">
                <a:solidFill>
                  <a:srgbClr val="374151"/>
                </a:solidFill>
                <a:effectLst/>
                <a:latin typeface="Söhne"/>
              </a:rPr>
              <a:t>锚定距离等级（</a:t>
            </a:r>
            <a:r>
              <a:rPr lang="en-US" b="0" i="0" dirty="0">
                <a:solidFill>
                  <a:srgbClr val="374151"/>
                </a:solidFill>
                <a:effectLst/>
                <a:latin typeface="Söhne"/>
              </a:rPr>
              <a:t>Anchoring Distance Rank, ADR）、Silhouette</a:t>
            </a:r>
            <a:r>
              <a:rPr lang="zh-TW" altLang="en-US" b="0" i="0" dirty="0">
                <a:solidFill>
                  <a:srgbClr val="374151"/>
                </a:solidFill>
                <a:effectLst/>
                <a:latin typeface="Söhne"/>
              </a:rPr>
              <a:t>指数和同一簇中的比例（</a:t>
            </a:r>
            <a:r>
              <a:rPr lang="en-US" b="0" i="0" dirty="0">
                <a:solidFill>
                  <a:srgbClr val="374151"/>
                </a:solidFill>
                <a:effectLst/>
                <a:latin typeface="Söhne"/>
              </a:rPr>
              <a:t>Fraction in the Same Cluster）</a:t>
            </a:r>
          </a:p>
          <a:p>
            <a:pPr algn="l"/>
            <a:r>
              <a:rPr lang="zh-CN" altLang="en-US" b="1" i="0" dirty="0">
                <a:effectLst/>
                <a:latin typeface="Söhne"/>
              </a:rPr>
              <a:t>锚定距离（</a:t>
            </a:r>
            <a:r>
              <a:rPr lang="en-US" altLang="zh-CN" b="1" i="0" dirty="0">
                <a:effectLst/>
                <a:latin typeface="Söhne"/>
              </a:rPr>
              <a:t>Anchoring Distance</a:t>
            </a:r>
            <a:r>
              <a:rPr lang="zh-CN" altLang="en-US" b="1" i="0" dirty="0">
                <a:effectLst/>
                <a:latin typeface="Söhne"/>
              </a:rPr>
              <a:t>）</a:t>
            </a:r>
          </a:p>
          <a:p>
            <a:pPr algn="l">
              <a:buFont typeface="Arial" panose="020B0604020202020204" pitchFamily="34" charset="0"/>
              <a:buChar char="•"/>
            </a:pPr>
            <a:r>
              <a:rPr lang="zh-CN" altLang="en-US" b="1" i="0" dirty="0">
                <a:solidFill>
                  <a:srgbClr val="374151"/>
                </a:solidFill>
                <a:effectLst/>
                <a:latin typeface="Söhne"/>
              </a:rPr>
              <a:t>定义</a:t>
            </a:r>
            <a:r>
              <a:rPr lang="zh-CN" altLang="en-US" b="0" i="0" dirty="0">
                <a:solidFill>
                  <a:srgbClr val="374151"/>
                </a:solidFill>
                <a:effectLst/>
                <a:latin typeface="Söhne"/>
              </a:rPr>
              <a:t>：</a:t>
            </a:r>
            <a:r>
              <a:rPr lang="en-US" altLang="zh-CN" b="0" i="0" dirty="0">
                <a:solidFill>
                  <a:srgbClr val="374151"/>
                </a:solidFill>
                <a:effectLst/>
                <a:latin typeface="Söhne"/>
              </a:rPr>
              <a:t>Dou</a:t>
            </a:r>
            <a:r>
              <a:rPr lang="zh-CN" altLang="en-US" b="0" i="0" dirty="0">
                <a:solidFill>
                  <a:srgbClr val="374151"/>
                </a:solidFill>
                <a:effectLst/>
                <a:latin typeface="Söhne"/>
              </a:rPr>
              <a:t>等人（</a:t>
            </a:r>
            <a:r>
              <a:rPr lang="en-US" altLang="zh-CN" b="0" i="0" dirty="0">
                <a:solidFill>
                  <a:srgbClr val="374151"/>
                </a:solidFill>
                <a:effectLst/>
                <a:latin typeface="Söhne"/>
              </a:rPr>
              <a:t>2020</a:t>
            </a:r>
            <a:r>
              <a:rPr lang="zh-CN" altLang="en-US" b="0" i="0" dirty="0">
                <a:solidFill>
                  <a:srgbClr val="374151"/>
                </a:solidFill>
                <a:effectLst/>
                <a:latin typeface="Söhne"/>
              </a:rPr>
              <a:t>）提出的一种指标，用于测量两种模态（例如 </a:t>
            </a:r>
            <a:r>
              <a:rPr lang="en-US" altLang="zh-CN" b="0" i="0" dirty="0">
                <a:solidFill>
                  <a:srgbClr val="374151"/>
                </a:solidFill>
                <a:effectLst/>
                <a:latin typeface="Söhne"/>
              </a:rPr>
              <a:t>RNA </a:t>
            </a:r>
            <a:r>
              <a:rPr lang="zh-CN" altLang="en-US" b="0" i="0" dirty="0">
                <a:solidFill>
                  <a:srgbClr val="374151"/>
                </a:solidFill>
                <a:effectLst/>
                <a:latin typeface="Söhne"/>
              </a:rPr>
              <a:t>和 </a:t>
            </a:r>
            <a:r>
              <a:rPr lang="en-US" altLang="zh-CN" b="0" i="0" dirty="0">
                <a:solidFill>
                  <a:srgbClr val="374151"/>
                </a:solidFill>
                <a:effectLst/>
                <a:latin typeface="Söhne"/>
              </a:rPr>
              <a:t>ATAC</a:t>
            </a:r>
            <a:r>
              <a:rPr lang="zh-CN" altLang="en-US" b="0" i="0" dirty="0">
                <a:solidFill>
                  <a:srgbClr val="374151"/>
                </a:solidFill>
                <a:effectLst/>
                <a:latin typeface="Söhne"/>
              </a:rPr>
              <a:t>）中匹配细胞之间的归一化距离。</a:t>
            </a:r>
          </a:p>
          <a:p>
            <a:pPr algn="l">
              <a:buFont typeface="Arial" panose="020B0604020202020204" pitchFamily="34" charset="0"/>
              <a:buChar char="•"/>
            </a:pPr>
            <a:r>
              <a:rPr lang="zh-CN" altLang="en-US" b="1" i="0" dirty="0">
                <a:solidFill>
                  <a:srgbClr val="374151"/>
                </a:solidFill>
                <a:effectLst/>
                <a:latin typeface="Söhne"/>
              </a:rPr>
              <a:t>计算方式</a:t>
            </a:r>
            <a:r>
              <a:rPr lang="zh-CN" altLang="en-US" b="0" i="0" dirty="0">
                <a:solidFill>
                  <a:srgbClr val="374151"/>
                </a:solidFill>
                <a:effectLst/>
                <a:latin typeface="Söhne"/>
              </a:rPr>
              <a:t>：考虑欧几里得距离，并通过与随机细胞对之间计算的距离的平均值进行归一化。随机采样的细胞对数设置为细胞总数的</a:t>
            </a:r>
            <a:r>
              <a:rPr lang="en-US" altLang="zh-CN" b="0" i="0" dirty="0">
                <a:solidFill>
                  <a:srgbClr val="374151"/>
                </a:solidFill>
                <a:effectLst/>
                <a:latin typeface="Söhne"/>
              </a:rPr>
              <a:t>10%</a:t>
            </a:r>
            <a:r>
              <a:rPr lang="zh-CN" altLang="en-US" b="0" i="0" dirty="0">
                <a:solidFill>
                  <a:srgbClr val="374151"/>
                </a:solidFill>
                <a:effectLst/>
                <a:latin typeface="Söhne"/>
              </a:rPr>
              <a:t>。</a:t>
            </a:r>
            <a:endParaRPr lang="en-US" altLang="zh-CN" b="0" i="0" dirty="0">
              <a:solidFill>
                <a:srgbClr val="374151"/>
              </a:solidFill>
              <a:effectLst/>
              <a:latin typeface="Söhne"/>
            </a:endParaRPr>
          </a:p>
          <a:p>
            <a:pPr algn="l">
              <a:buFont typeface="Arial" panose="020B0604020202020204" pitchFamily="34" charset="0"/>
              <a:buChar char="•"/>
            </a:pPr>
            <a:endParaRPr lang="zh-CN" altLang="en-US" b="0" i="0" dirty="0">
              <a:solidFill>
                <a:srgbClr val="374151"/>
              </a:solidFill>
              <a:effectLst/>
              <a:latin typeface="Söhne"/>
            </a:endParaRPr>
          </a:p>
          <a:p>
            <a:pPr algn="l"/>
            <a:r>
              <a:rPr lang="zh-CN" altLang="en-US" b="1" i="0" dirty="0">
                <a:effectLst/>
                <a:latin typeface="Söhne"/>
              </a:rPr>
              <a:t>锚定距离等级（</a:t>
            </a:r>
            <a:r>
              <a:rPr lang="en-US" altLang="zh-CN" b="1" i="0" dirty="0">
                <a:effectLst/>
                <a:latin typeface="Söhne"/>
              </a:rPr>
              <a:t>Anchoring Distance Rank, ADR</a:t>
            </a:r>
            <a:r>
              <a:rPr lang="zh-CN" altLang="en-US" b="1" i="0" dirty="0">
                <a:effectLst/>
                <a:latin typeface="Söhne"/>
              </a:rPr>
              <a:t>）</a:t>
            </a:r>
          </a:p>
          <a:p>
            <a:pPr algn="l">
              <a:buFont typeface="Arial" panose="020B0604020202020204" pitchFamily="34" charset="0"/>
              <a:buChar char="•"/>
            </a:pPr>
            <a:r>
              <a:rPr lang="zh-CN" altLang="en-US" b="1" i="0" dirty="0">
                <a:solidFill>
                  <a:srgbClr val="374151"/>
                </a:solidFill>
                <a:effectLst/>
                <a:latin typeface="Söhne"/>
              </a:rPr>
              <a:t>定义</a:t>
            </a:r>
            <a:r>
              <a:rPr lang="zh-CN" altLang="en-US" b="0" i="0" dirty="0">
                <a:solidFill>
                  <a:srgbClr val="374151"/>
                </a:solidFill>
                <a:effectLst/>
                <a:latin typeface="Söhne"/>
              </a:rPr>
              <a:t>：考虑到锚定距离没有考虑细胞的局部密度，提出了一种新的度量方法 </a:t>
            </a:r>
            <a:r>
              <a:rPr lang="en-US" altLang="zh-CN" b="0" i="0" dirty="0">
                <a:solidFill>
                  <a:srgbClr val="374151"/>
                </a:solidFill>
                <a:effectLst/>
                <a:latin typeface="Söhne"/>
              </a:rPr>
              <a:t>ADR</a:t>
            </a:r>
            <a:r>
              <a:rPr lang="zh-CN" altLang="en-US" b="0" i="0" dirty="0">
                <a:solidFill>
                  <a:srgbClr val="374151"/>
                </a:solidFill>
                <a:effectLst/>
                <a:latin typeface="Söhne"/>
              </a:rPr>
              <a:t>。</a:t>
            </a:r>
          </a:p>
          <a:p>
            <a:pPr algn="l">
              <a:buFont typeface="Arial" panose="020B0604020202020204" pitchFamily="34" charset="0"/>
              <a:buChar char="•"/>
            </a:pPr>
            <a:r>
              <a:rPr lang="zh-CN" altLang="en-US" b="1" i="0" dirty="0">
                <a:solidFill>
                  <a:srgbClr val="374151"/>
                </a:solidFill>
                <a:effectLst/>
                <a:latin typeface="Söhne"/>
              </a:rPr>
              <a:t>计算方式</a:t>
            </a:r>
            <a:r>
              <a:rPr lang="zh-CN" altLang="en-US" b="0" i="0" dirty="0">
                <a:solidFill>
                  <a:srgbClr val="374151"/>
                </a:solidFill>
                <a:effectLst/>
                <a:latin typeface="Söhne"/>
              </a:rPr>
              <a:t>：对于每个细胞 </a:t>
            </a:r>
            <a:r>
              <a:rPr lang="en-US" altLang="zh-CN" b="0" i="1" dirty="0">
                <a:solidFill>
                  <a:srgbClr val="374151"/>
                </a:solidFill>
                <a:effectLst/>
                <a:latin typeface="KaTeX_Math"/>
              </a:rPr>
              <a:t>Xi</a:t>
            </a:r>
            <a:r>
              <a:rPr lang="zh-CN" altLang="en-US" b="0" i="0" dirty="0">
                <a:solidFill>
                  <a:srgbClr val="374151"/>
                </a:solidFill>
                <a:effectLst/>
                <a:latin typeface="KaTeX_Main"/>
              </a:rPr>
              <a:t>​</a:t>
            </a:r>
            <a:r>
              <a:rPr lang="zh-CN" altLang="en-US" b="0" i="0" dirty="0">
                <a:solidFill>
                  <a:srgbClr val="374151"/>
                </a:solidFill>
                <a:effectLst/>
                <a:latin typeface="Söhne"/>
              </a:rPr>
              <a:t>（具有细胞标识 </a:t>
            </a:r>
            <a:r>
              <a:rPr lang="en-US" altLang="zh-CN" b="0" i="0" dirty="0" err="1">
                <a:solidFill>
                  <a:srgbClr val="374151"/>
                </a:solidFill>
                <a:effectLst/>
                <a:latin typeface="Söhne"/>
              </a:rPr>
              <a:t>i</a:t>
            </a:r>
            <a:r>
              <a:rPr lang="en-US" altLang="zh-CN" b="0" i="0" dirty="0">
                <a:solidFill>
                  <a:srgbClr val="374151"/>
                </a:solidFill>
                <a:effectLst/>
                <a:latin typeface="Söhne"/>
              </a:rPr>
              <a:t> </a:t>
            </a:r>
            <a:r>
              <a:rPr lang="zh-CN" altLang="en-US" b="0" i="0" dirty="0">
                <a:solidFill>
                  <a:srgbClr val="374151"/>
                </a:solidFill>
                <a:effectLst/>
                <a:latin typeface="Söhne"/>
              </a:rPr>
              <a:t>和模态 </a:t>
            </a:r>
            <a:r>
              <a:rPr lang="en-US" altLang="zh-CN" b="0" i="0" dirty="0">
                <a:solidFill>
                  <a:srgbClr val="374151"/>
                </a:solidFill>
                <a:effectLst/>
                <a:latin typeface="Söhne"/>
              </a:rPr>
              <a:t>j</a:t>
            </a:r>
            <a:r>
              <a:rPr lang="zh-CN" altLang="en-US" b="0" i="0" dirty="0">
                <a:solidFill>
                  <a:srgbClr val="374151"/>
                </a:solidFill>
                <a:effectLst/>
                <a:latin typeface="Söhne"/>
              </a:rPr>
              <a:t>），计算该细胞与另一模态 </a:t>
            </a:r>
            <a:r>
              <a:rPr lang="en-US" altLang="zh-CN" b="0" i="0" dirty="0">
                <a:solidFill>
                  <a:srgbClr val="374151"/>
                </a:solidFill>
                <a:effectLst/>
                <a:latin typeface="KaTeX_Main"/>
              </a:rPr>
              <a:t>′</a:t>
            </a:r>
            <a:r>
              <a:rPr lang="en-US" altLang="zh-CN" b="0" i="1" dirty="0">
                <a:solidFill>
                  <a:srgbClr val="374151"/>
                </a:solidFill>
                <a:effectLst/>
                <a:latin typeface="KaTeX_Math"/>
              </a:rPr>
              <a:t>j</a:t>
            </a:r>
            <a:r>
              <a:rPr lang="en-US" altLang="zh-CN" b="0" i="0" dirty="0">
                <a:solidFill>
                  <a:srgbClr val="374151"/>
                </a:solidFill>
                <a:effectLst/>
                <a:latin typeface="KaTeX_Main"/>
              </a:rPr>
              <a:t>′</a:t>
            </a:r>
            <a:r>
              <a:rPr lang="zh-CN" altLang="en-US" b="0" i="0" dirty="0">
                <a:solidFill>
                  <a:srgbClr val="374151"/>
                </a:solidFill>
                <a:effectLst/>
                <a:latin typeface="Söhne"/>
              </a:rPr>
              <a:t> 中所有其他细胞的距离</a:t>
            </a:r>
            <a:r>
              <a:rPr lang="zh-TW" altLang="en-US" b="0" i="0" dirty="0">
                <a:solidFill>
                  <a:srgbClr val="374151"/>
                </a:solidFill>
                <a:effectLst/>
                <a:latin typeface="Söhne"/>
              </a:rPr>
              <a:t>。</a:t>
            </a:r>
            <a:r>
              <a:rPr lang="zh-CN" altLang="en-US" b="0" i="0" dirty="0">
                <a:solidFill>
                  <a:srgbClr val="374151"/>
                </a:solidFill>
                <a:effectLst/>
                <a:latin typeface="Söhne"/>
              </a:rPr>
              <a:t>其中 </a:t>
            </a:r>
            <a:r>
              <a:rPr lang="en-US" altLang="zh-CN" b="0" i="0" dirty="0">
                <a:solidFill>
                  <a:srgbClr val="374151"/>
                </a:solidFill>
                <a:effectLst/>
                <a:latin typeface="Söhne"/>
              </a:rPr>
              <a:t>N </a:t>
            </a:r>
            <a:r>
              <a:rPr lang="zh-CN" altLang="en-US" b="0" i="0" dirty="0">
                <a:solidFill>
                  <a:srgbClr val="374151"/>
                </a:solidFill>
                <a:effectLst/>
                <a:latin typeface="Söhne"/>
              </a:rPr>
              <a:t>是细胞总数。然后，将 </a:t>
            </a:r>
            <a:r>
              <a:rPr lang="en-US" altLang="zh-CN" b="0" i="1" dirty="0">
                <a:solidFill>
                  <a:srgbClr val="374151"/>
                </a:solidFill>
                <a:effectLst/>
                <a:latin typeface="KaTeX_Math"/>
              </a:rPr>
              <a:t>Xi</a:t>
            </a:r>
            <a:r>
              <a:rPr lang="zh-CN" altLang="en-US" b="0" i="0" dirty="0">
                <a:solidFill>
                  <a:srgbClr val="374151"/>
                </a:solidFill>
                <a:effectLst/>
                <a:latin typeface="KaTeX_Main"/>
              </a:rPr>
              <a:t>​</a:t>
            </a:r>
            <a:r>
              <a:rPr lang="zh-CN" altLang="en-US" b="0" i="0" dirty="0">
                <a:solidFill>
                  <a:srgbClr val="374151"/>
                </a:solidFill>
                <a:effectLst/>
                <a:latin typeface="Söhne"/>
              </a:rPr>
              <a:t> 与 </a:t>
            </a:r>
            <a:r>
              <a:rPr lang="en-US" altLang="zh-CN" b="0" i="0" dirty="0">
                <a:solidFill>
                  <a:srgbClr val="374151"/>
                </a:solidFill>
                <a:effectLst/>
                <a:latin typeface="KaTeX_Main"/>
              </a:rPr>
              <a:t>′</a:t>
            </a:r>
            <a:r>
              <a:rPr lang="en-US" altLang="zh-CN" b="0" i="1" dirty="0" err="1">
                <a:solidFill>
                  <a:srgbClr val="374151"/>
                </a:solidFill>
                <a:effectLst/>
                <a:latin typeface="KaTeX_Math"/>
              </a:rPr>
              <a:t>Xj</a:t>
            </a:r>
            <a:r>
              <a:rPr lang="en-US" altLang="zh-CN" b="0" i="0" dirty="0">
                <a:solidFill>
                  <a:srgbClr val="374151"/>
                </a:solidFill>
                <a:effectLst/>
                <a:latin typeface="KaTeX_Main"/>
              </a:rPr>
              <a:t>′​</a:t>
            </a:r>
            <a:r>
              <a:rPr lang="zh-CN" altLang="en-US" b="0" i="0" dirty="0">
                <a:solidFill>
                  <a:srgbClr val="374151"/>
                </a:solidFill>
                <a:effectLst/>
                <a:latin typeface="Söhne"/>
              </a:rPr>
              <a:t> 之间的距离在计算出的距离中的排名归一化，归一化的排名即为 </a:t>
            </a:r>
            <a:r>
              <a:rPr lang="en-US" altLang="zh-CN" b="0" i="0" dirty="0">
                <a:solidFill>
                  <a:srgbClr val="374151"/>
                </a:solidFill>
                <a:effectLst/>
                <a:latin typeface="Söhne"/>
              </a:rPr>
              <a:t>ADR</a:t>
            </a:r>
            <a:r>
              <a:rPr lang="zh-CN" altLang="en-US" b="0" i="0" dirty="0">
                <a:solidFill>
                  <a:srgbClr val="374151"/>
                </a:solidFill>
                <a:effectLst/>
                <a:latin typeface="Söhne"/>
              </a:rPr>
              <a:t>。</a:t>
            </a:r>
            <a:endParaRPr lang="en-US" altLang="zh-CN" b="0" i="0" dirty="0">
              <a:solidFill>
                <a:srgbClr val="374151"/>
              </a:solidFill>
              <a:effectLst/>
              <a:latin typeface="Söhne"/>
            </a:endParaRPr>
          </a:p>
          <a:p>
            <a:pPr algn="l">
              <a:buFont typeface="Arial" panose="020B0604020202020204" pitchFamily="34" charset="0"/>
              <a:buChar char="•"/>
            </a:pPr>
            <a:r>
              <a:rPr lang="zh-CN" altLang="en-US" b="1" i="0" dirty="0">
                <a:solidFill>
                  <a:srgbClr val="374151"/>
                </a:solidFill>
                <a:effectLst/>
                <a:latin typeface="Söhne"/>
              </a:rPr>
              <a:t>意义</a:t>
            </a:r>
            <a:r>
              <a:rPr lang="zh-CN" altLang="en-US" b="0" i="0" dirty="0">
                <a:solidFill>
                  <a:srgbClr val="374151"/>
                </a:solidFill>
                <a:effectLst/>
                <a:latin typeface="Söhne"/>
              </a:rPr>
              <a:t>：对于每个细胞，锚定排名为 </a:t>
            </a:r>
            <a:r>
              <a:rPr lang="en-US" altLang="zh-CN" b="0" i="0" dirty="0">
                <a:solidFill>
                  <a:srgbClr val="374151"/>
                </a:solidFill>
                <a:effectLst/>
                <a:latin typeface="Söhne"/>
              </a:rPr>
              <a:t>0 </a:t>
            </a:r>
            <a:r>
              <a:rPr lang="zh-CN" altLang="en-US" b="0" i="0" dirty="0">
                <a:solidFill>
                  <a:srgbClr val="374151"/>
                </a:solidFill>
                <a:effectLst/>
                <a:latin typeface="Söhne"/>
              </a:rPr>
              <a:t>表示理想的模态整合性能，因为匹配的细胞在嵌入空间中彼此最接近。</a:t>
            </a:r>
          </a:p>
          <a:p>
            <a:pPr algn="l"/>
            <a:endParaRPr lang="en-US" altLang="zh-CN" b="1" i="0" dirty="0">
              <a:effectLst/>
              <a:latin typeface="Söhne"/>
            </a:endParaRPr>
          </a:p>
          <a:p>
            <a:pPr algn="l"/>
            <a:r>
              <a:rPr lang="en-US" altLang="zh-CN" b="1" i="0" dirty="0">
                <a:effectLst/>
                <a:latin typeface="Söhne"/>
              </a:rPr>
              <a:t>Silhouette </a:t>
            </a:r>
            <a:r>
              <a:rPr lang="zh-CN" altLang="en-US" b="1" i="0" dirty="0">
                <a:effectLst/>
                <a:latin typeface="Söhne"/>
              </a:rPr>
              <a:t>指数</a:t>
            </a:r>
          </a:p>
          <a:p>
            <a:pPr algn="l">
              <a:buFont typeface="Arial" panose="020B0604020202020204" pitchFamily="34" charset="0"/>
              <a:buChar char="•"/>
            </a:pPr>
            <a:r>
              <a:rPr lang="zh-CN" altLang="en-US" b="1" i="0" dirty="0">
                <a:solidFill>
                  <a:srgbClr val="374151"/>
                </a:solidFill>
                <a:effectLst/>
                <a:latin typeface="Söhne"/>
              </a:rPr>
              <a:t>计算方式</a:t>
            </a:r>
            <a:r>
              <a:rPr lang="zh-CN" altLang="en-US" b="0" i="0" dirty="0">
                <a:solidFill>
                  <a:srgbClr val="374151"/>
                </a:solidFill>
                <a:effectLst/>
                <a:latin typeface="Söhne"/>
              </a:rPr>
              <a:t>：基于簇分配计算。其中每个簇包含来自 </a:t>
            </a:r>
            <a:r>
              <a:rPr lang="en-US" altLang="zh-CN" b="0" i="0" dirty="0" err="1">
                <a:solidFill>
                  <a:srgbClr val="374151"/>
                </a:solidFill>
                <a:effectLst/>
                <a:latin typeface="Söhne"/>
              </a:rPr>
              <a:t>scRNA</a:t>
            </a:r>
            <a:r>
              <a:rPr lang="en-US" altLang="zh-CN" b="0" i="0" dirty="0">
                <a:solidFill>
                  <a:srgbClr val="374151"/>
                </a:solidFill>
                <a:effectLst/>
                <a:latin typeface="Söhne"/>
              </a:rPr>
              <a:t>-seq </a:t>
            </a:r>
            <a:r>
              <a:rPr lang="zh-CN" altLang="en-US" b="0" i="0" dirty="0">
                <a:solidFill>
                  <a:srgbClr val="374151"/>
                </a:solidFill>
                <a:effectLst/>
                <a:latin typeface="Söhne"/>
              </a:rPr>
              <a:t>数据集和 </a:t>
            </a:r>
            <a:r>
              <a:rPr lang="en-US" altLang="zh-CN" b="0" i="0" dirty="0" err="1">
                <a:solidFill>
                  <a:srgbClr val="374151"/>
                </a:solidFill>
                <a:effectLst/>
                <a:latin typeface="Söhne"/>
              </a:rPr>
              <a:t>scATAC</a:t>
            </a:r>
            <a:r>
              <a:rPr lang="en-US" altLang="zh-CN" b="0" i="0" dirty="0">
                <a:solidFill>
                  <a:srgbClr val="374151"/>
                </a:solidFill>
                <a:effectLst/>
                <a:latin typeface="Söhne"/>
              </a:rPr>
              <a:t>-seq </a:t>
            </a:r>
            <a:r>
              <a:rPr lang="zh-CN" altLang="en-US" b="0" i="0" dirty="0">
                <a:solidFill>
                  <a:srgbClr val="374151"/>
                </a:solidFill>
                <a:effectLst/>
                <a:latin typeface="Söhne"/>
              </a:rPr>
              <a:t>数据集的两个细胞。</a:t>
            </a:r>
          </a:p>
          <a:p>
            <a:pPr algn="l"/>
            <a:endParaRPr lang="en-US" altLang="zh-CN" b="1" i="0" dirty="0">
              <a:effectLst/>
              <a:latin typeface="Söhne"/>
            </a:endParaRPr>
          </a:p>
          <a:p>
            <a:pPr algn="l"/>
            <a:r>
              <a:rPr lang="zh-CN" altLang="en-US" b="1" i="0" dirty="0">
                <a:effectLst/>
                <a:latin typeface="Söhne"/>
              </a:rPr>
              <a:t>同一簇中的比例（</a:t>
            </a:r>
            <a:r>
              <a:rPr lang="en-US" altLang="zh-CN" b="1" i="0" dirty="0">
                <a:effectLst/>
                <a:latin typeface="Söhne"/>
              </a:rPr>
              <a:t>Fraction in the Same Cluster</a:t>
            </a:r>
            <a:r>
              <a:rPr lang="zh-CN" altLang="en-US" b="1" i="0" dirty="0">
                <a:effectLst/>
                <a:latin typeface="Söhne"/>
              </a:rPr>
              <a:t>）</a:t>
            </a:r>
          </a:p>
          <a:p>
            <a:pPr algn="l">
              <a:buFont typeface="Arial" panose="020B0604020202020204" pitchFamily="34" charset="0"/>
              <a:buChar char="•"/>
            </a:pPr>
            <a:r>
              <a:rPr lang="zh-CN" altLang="en-US" b="1" i="0" dirty="0">
                <a:solidFill>
                  <a:srgbClr val="374151"/>
                </a:solidFill>
                <a:effectLst/>
                <a:latin typeface="Söhne"/>
              </a:rPr>
              <a:t>计算方式</a:t>
            </a:r>
            <a:r>
              <a:rPr lang="zh-CN" altLang="en-US" b="0" i="0" dirty="0">
                <a:solidFill>
                  <a:srgbClr val="374151"/>
                </a:solidFill>
                <a:effectLst/>
                <a:latin typeface="Söhne"/>
              </a:rPr>
              <a:t>：计算两种模态中匹配细胞处于同一簇中的比例。细胞的簇通过使用 </a:t>
            </a:r>
            <a:r>
              <a:rPr lang="en-US" altLang="zh-CN" b="0" i="0" dirty="0">
                <a:solidFill>
                  <a:srgbClr val="374151"/>
                </a:solidFill>
                <a:effectLst/>
                <a:latin typeface="Söhne"/>
              </a:rPr>
              <a:t>Louvain </a:t>
            </a:r>
            <a:r>
              <a:rPr lang="zh-CN" altLang="en-US" b="0" i="0" dirty="0">
                <a:solidFill>
                  <a:srgbClr val="374151"/>
                </a:solidFill>
                <a:effectLst/>
                <a:latin typeface="Söhne"/>
              </a:rPr>
              <a:t>算法生成，簇的数量等于数据集中细胞类型的数量</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a:t>
            </a:fld>
            <a:endParaRPr lang="en-US"/>
          </a:p>
        </p:txBody>
      </p:sp>
    </p:spTree>
    <p:extLst>
      <p:ext uri="{BB962C8B-B14F-4D97-AF65-F5344CB8AC3E}">
        <p14:creationId xmlns:p14="http://schemas.microsoft.com/office/powerpoint/2010/main" val="2986939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zh-TW" altLang="en-US" b="1" i="0" dirty="0">
                <a:effectLst/>
                <a:latin typeface="Söhne"/>
              </a:rPr>
              <a:t>不同類型的實體可能位於潛在空間的不同流形上</a:t>
            </a:r>
            <a:r>
              <a:rPr lang="zh-TW" altLang="en-US" b="0" i="0" dirty="0">
                <a:solidFill>
                  <a:srgbClr val="374151"/>
                </a:solidFill>
                <a:effectLst/>
                <a:latin typeface="Söhne"/>
              </a:rPr>
              <a:t>：由於不同類型的實體（例如細胞與峰值，或不同批次或模式的細胞）在圖中有不同的邊分佈，因此它們在潛在空間中可能有不同的表示</a:t>
            </a:r>
            <a:endParaRPr lang="en-US" altLang="zh-TW" b="0" i="0" dirty="0">
              <a:solidFill>
                <a:srgbClr val="374151"/>
              </a:solidFill>
              <a:effectLst/>
              <a:latin typeface="Söhne"/>
            </a:endParaRPr>
          </a:p>
          <a:p>
            <a:pPr marL="228600" indent="-228600">
              <a:buAutoNum type="arabicPeriod"/>
            </a:pPr>
            <a:r>
              <a:rPr lang="zh-TW" altLang="en-US" b="1" i="0" dirty="0">
                <a:effectLst/>
                <a:latin typeface="Söhne"/>
              </a:rPr>
              <a:t>為使不同類型的實體嵌入可比較，對功能嵌入進行了</a:t>
            </a:r>
            <a:r>
              <a:rPr lang="en-US" altLang="zh-TW" b="1" i="0" dirty="0" err="1">
                <a:effectLst/>
                <a:latin typeface="Söhne"/>
              </a:rPr>
              <a:t>Softmax</a:t>
            </a:r>
            <a:r>
              <a:rPr lang="zh-TW" altLang="en-US" b="1" i="0" dirty="0">
                <a:effectLst/>
                <a:latin typeface="Söhne"/>
              </a:rPr>
              <a:t>變換</a:t>
            </a:r>
            <a:r>
              <a:rPr lang="zh-TW" altLang="en-US" b="0" i="0" dirty="0">
                <a:solidFill>
                  <a:srgbClr val="374151"/>
                </a:solidFill>
                <a:effectLst/>
                <a:latin typeface="Söhne"/>
              </a:rPr>
              <a:t>：使用</a:t>
            </a:r>
            <a:r>
              <a:rPr lang="en-US" altLang="zh-TW" b="0" i="0" dirty="0" err="1">
                <a:solidFill>
                  <a:srgbClr val="374151"/>
                </a:solidFill>
                <a:effectLst/>
                <a:latin typeface="Söhne"/>
              </a:rPr>
              <a:t>Softmax</a:t>
            </a:r>
            <a:r>
              <a:rPr lang="zh-TW" altLang="en-US" b="0" i="0" dirty="0">
                <a:solidFill>
                  <a:srgbClr val="374151"/>
                </a:solidFill>
                <a:effectLst/>
                <a:latin typeface="Söhne"/>
              </a:rPr>
              <a:t>函數對特徵嵌入進行變換。變換基於細胞（參考）與特徵（查詢）之間的一階相似性</a:t>
            </a:r>
            <a:endParaRPr lang="en-US" altLang="zh-TW" b="0" i="0" dirty="0">
              <a:solidFill>
                <a:srgbClr val="374151"/>
              </a:solidFill>
              <a:effectLst/>
              <a:latin typeface="Söhne"/>
            </a:endParaRPr>
          </a:p>
          <a:p>
            <a:pPr marL="228600" indent="-228600">
              <a:buAutoNum type="arabicPeriod"/>
            </a:pPr>
            <a:r>
              <a:rPr lang="zh-TW" altLang="en-US" b="1" i="0" dirty="0">
                <a:effectLst/>
                <a:latin typeface="Söhne"/>
              </a:rPr>
              <a:t>在批次校正或多維集成的情況下，也根據不同批次或模式的細胞之間的一階相似性執行</a:t>
            </a:r>
            <a:r>
              <a:rPr lang="en-US" altLang="zh-TW" b="1" i="0" dirty="0">
                <a:effectLst/>
                <a:latin typeface="Söhne"/>
              </a:rPr>
              <a:t>SoftMax</a:t>
            </a:r>
            <a:r>
              <a:rPr lang="zh-TW" altLang="en-US" b="1" i="0" dirty="0">
                <a:effectLst/>
                <a:latin typeface="Söhne"/>
              </a:rPr>
              <a:t>變換</a:t>
            </a:r>
            <a:r>
              <a:rPr lang="zh-TW" altLang="en-US" b="0" i="0" dirty="0">
                <a:solidFill>
                  <a:srgbClr val="374151"/>
                </a:solidFill>
                <a:effectLst/>
                <a:latin typeface="Söhne"/>
              </a:rPr>
              <a:t>：當處理來自不同來源（例如不同的批次或技術）的數據時，為了使這些數據在同一潛在空間中可比較，也對其進行了</a:t>
            </a:r>
            <a:r>
              <a:rPr lang="en-US" altLang="zh-TW" b="0" i="0" dirty="0" err="1">
                <a:solidFill>
                  <a:srgbClr val="374151"/>
                </a:solidFill>
                <a:effectLst/>
                <a:latin typeface="Söhne"/>
              </a:rPr>
              <a:t>Softmax</a:t>
            </a:r>
            <a:r>
              <a:rPr lang="zh-TW" altLang="en-US" b="0" i="0" dirty="0">
                <a:solidFill>
                  <a:srgbClr val="374151"/>
                </a:solidFill>
                <a:effectLst/>
                <a:latin typeface="Söhne"/>
              </a:rPr>
              <a:t>變換</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a:t>
            </a:fld>
            <a:endParaRPr lang="en-US"/>
          </a:p>
        </p:txBody>
      </p:sp>
    </p:spTree>
    <p:extLst>
      <p:ext uri="{BB962C8B-B14F-4D97-AF65-F5344CB8AC3E}">
        <p14:creationId xmlns:p14="http://schemas.microsoft.com/office/powerpoint/2010/main" val="3154969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And many of us know, papers published in 'Nature Methods' are based on methodologies, so their citation numbers are naturally higher, leading to very high impact factors.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9</a:t>
            </a:fld>
            <a:endParaRPr lang="en-US"/>
          </a:p>
        </p:txBody>
      </p:sp>
    </p:spTree>
    <p:extLst>
      <p:ext uri="{BB962C8B-B14F-4D97-AF65-F5344CB8AC3E}">
        <p14:creationId xmlns:p14="http://schemas.microsoft.com/office/powerpoint/2010/main" val="1058192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introducing SIMBA. I would like to first discuss the current challenges in single-cell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one is “Most current single-cell analysis pipelines rely heavily on </a:t>
            </a:r>
            <a:r>
              <a:rPr lang="en-US" dirty="0">
                <a:solidFill>
                  <a:srgbClr val="FF0000"/>
                </a:solidFill>
                <a:effectLst/>
              </a:rPr>
              <a:t>clustering</a:t>
            </a:r>
            <a:r>
              <a:rPr lang="en-US" altLang="zh-TW" dirty="0">
                <a:solidFill>
                  <a:srgbClr val="FF0000"/>
                </a:solidFill>
                <a:effectLst/>
              </a:rPr>
              <a:t>”, it may lead to False Discovery.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What is false discovery? It is like you group two genes together based on some similar characteristics, for example, high expression level.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However, this can be a random error. It is possible that two genes are not related.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The similarity you see might just be a coincidence, rather than the reason you explained.</a:t>
            </a:r>
            <a:endParaRPr lang="en-US" altLang="zh-TW" b="0" i="0" dirty="0">
              <a:solidFill>
                <a:srgbClr val="FF0000"/>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The second challenge is many computational methods nowadays in single-cell analysis are developed for one modality.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One modality means there is only one data type. For example, the computational method is only suitable for RNA data, or for proteomics data, or for methylation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So actually, we don’t have suitable methods to analyze </a:t>
            </a:r>
            <a:r>
              <a:rPr lang="en-US" b="0" i="0" dirty="0">
                <a:solidFill>
                  <a:srgbClr val="374151"/>
                </a:solidFill>
                <a:effectLst/>
                <a:latin typeface="Söhne"/>
              </a:rPr>
              <a:t>multiple different types of data simultaneously.</a:t>
            </a:r>
            <a:r>
              <a:rPr lang="en-US" altLang="zh-TW" b="0" i="0" dirty="0">
                <a:solidFill>
                  <a:srgbClr val="374151"/>
                </a:solidFill>
                <a:effectLst/>
                <a:latin typeface="Söhne"/>
              </a:rPr>
              <a:t> </a:t>
            </a:r>
          </a:p>
        </p:txBody>
      </p:sp>
      <p:sp>
        <p:nvSpPr>
          <p:cNvPr id="4" name="Slide Number Placeholder 3"/>
          <p:cNvSpPr>
            <a:spLocks noGrp="1"/>
          </p:cNvSpPr>
          <p:nvPr>
            <p:ph type="sldNum" sz="quarter" idx="5"/>
          </p:nvPr>
        </p:nvSpPr>
        <p:spPr/>
        <p:txBody>
          <a:bodyPr/>
          <a:lstStyle/>
          <a:p>
            <a:fld id="{FBF5148F-E0CF-4A3E-922E-B1B7AB039E21}" type="slidenum">
              <a:rPr lang="en-US" smtClean="0"/>
              <a:t>10</a:t>
            </a:fld>
            <a:endParaRPr lang="en-US"/>
          </a:p>
        </p:txBody>
      </p:sp>
    </p:spTree>
    <p:extLst>
      <p:ext uri="{BB962C8B-B14F-4D97-AF65-F5344CB8AC3E}">
        <p14:creationId xmlns:p14="http://schemas.microsoft.com/office/powerpoint/2010/main" val="2034573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picture captured by a paper which </a:t>
            </a:r>
            <a:r>
              <a:rPr lang="en-US" b="0" i="0" dirty="0">
                <a:solidFill>
                  <a:srgbClr val="374151"/>
                </a:solidFill>
                <a:effectLst/>
                <a:latin typeface="Söhne"/>
              </a:rPr>
              <a:t>summarizes the steps of mainstream </a:t>
            </a:r>
            <a:r>
              <a:rPr lang="en-US" b="0" i="0" dirty="0" err="1">
                <a:solidFill>
                  <a:srgbClr val="374151"/>
                </a:solidFill>
                <a:effectLst/>
                <a:latin typeface="Söhne"/>
              </a:rPr>
              <a:t>scRNA</a:t>
            </a:r>
            <a:r>
              <a:rPr lang="en-US" b="0" i="0" dirty="0">
                <a:solidFill>
                  <a:srgbClr val="374151"/>
                </a:solidFill>
                <a:effectLst/>
                <a:latin typeface="Söhne"/>
              </a:rPr>
              <a:t> analysis currently in use.</a:t>
            </a:r>
          </a:p>
          <a:p>
            <a:r>
              <a:rPr lang="en-US" b="0" i="0" dirty="0">
                <a:solidFill>
                  <a:srgbClr val="374151"/>
                </a:solidFill>
                <a:effectLst/>
                <a:latin typeface="Söhne"/>
              </a:rPr>
              <a:t>You can clearly see that the cluster analysis is right above.</a:t>
            </a:r>
          </a:p>
          <a:p>
            <a:r>
              <a:rPr lang="en-US" b="0" i="0" dirty="0">
                <a:solidFill>
                  <a:srgbClr val="374151"/>
                </a:solidFill>
                <a:effectLst/>
                <a:latin typeface="Söhne"/>
              </a:rPr>
              <a:t>You can regard clustering as an important step for </a:t>
            </a:r>
            <a:r>
              <a:rPr lang="en-US" b="0" i="0" dirty="0" err="1">
                <a:solidFill>
                  <a:srgbClr val="374151"/>
                </a:solidFill>
                <a:effectLst/>
                <a:latin typeface="Söhne"/>
              </a:rPr>
              <a:t>scRNA</a:t>
            </a:r>
            <a:r>
              <a:rPr lang="en-US" b="0" i="0" dirty="0">
                <a:solidFill>
                  <a:srgbClr val="374151"/>
                </a:solidFill>
                <a:effectLst/>
                <a:latin typeface="Söhne"/>
              </a:rPr>
              <a:t> </a:t>
            </a:r>
            <a:r>
              <a:rPr lang="en-US" b="0" i="0" dirty="0" err="1">
                <a:solidFill>
                  <a:srgbClr val="374151"/>
                </a:solidFill>
                <a:effectLst/>
                <a:latin typeface="Söhne"/>
              </a:rPr>
              <a:t>alaysis</a:t>
            </a:r>
            <a:r>
              <a:rPr lang="en-US" b="0" i="0" dirty="0">
                <a:solidFill>
                  <a:srgbClr val="374151"/>
                </a:solidFill>
                <a:effectLst/>
                <a:latin typeface="Söhne"/>
              </a:rPr>
              <a:t>.</a:t>
            </a:r>
          </a:p>
        </p:txBody>
      </p:sp>
      <p:sp>
        <p:nvSpPr>
          <p:cNvPr id="4" name="Slide Number Placeholder 3"/>
          <p:cNvSpPr>
            <a:spLocks noGrp="1"/>
          </p:cNvSpPr>
          <p:nvPr>
            <p:ph type="sldNum" sz="quarter" idx="5"/>
          </p:nvPr>
        </p:nvSpPr>
        <p:spPr/>
        <p:txBody>
          <a:bodyPr/>
          <a:lstStyle/>
          <a:p>
            <a:fld id="{FBF5148F-E0CF-4A3E-922E-B1B7AB039E21}" type="slidenum">
              <a:rPr lang="en-US" smtClean="0"/>
              <a:t>11</a:t>
            </a:fld>
            <a:endParaRPr lang="en-US"/>
          </a:p>
        </p:txBody>
      </p:sp>
    </p:spTree>
    <p:extLst>
      <p:ext uri="{BB962C8B-B14F-4D97-AF65-F5344CB8AC3E}">
        <p14:creationId xmlns:p14="http://schemas.microsoft.com/office/powerpoint/2010/main" val="1572617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there are so many information in single cell. For instance, (methylation, genome sequence, chromatin accessibility and also mRNA.)</a:t>
            </a:r>
          </a:p>
        </p:txBody>
      </p:sp>
      <p:sp>
        <p:nvSpPr>
          <p:cNvPr id="4" name="Slide Number Placeholder 3"/>
          <p:cNvSpPr>
            <a:spLocks noGrp="1"/>
          </p:cNvSpPr>
          <p:nvPr>
            <p:ph type="sldNum" sz="quarter" idx="5"/>
          </p:nvPr>
        </p:nvSpPr>
        <p:spPr/>
        <p:txBody>
          <a:bodyPr/>
          <a:lstStyle/>
          <a:p>
            <a:fld id="{FBF5148F-E0CF-4A3E-922E-B1B7AB039E21}" type="slidenum">
              <a:rPr lang="en-US" smtClean="0"/>
              <a:t>13</a:t>
            </a:fld>
            <a:endParaRPr lang="en-US"/>
          </a:p>
        </p:txBody>
      </p:sp>
    </p:spTree>
    <p:extLst>
      <p:ext uri="{BB962C8B-B14F-4D97-AF65-F5344CB8AC3E}">
        <p14:creationId xmlns:p14="http://schemas.microsoft.com/office/powerpoint/2010/main" val="3959649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collect </a:t>
            </a:r>
            <a:r>
              <a:rPr lang="en-US" b="0" i="0" dirty="0">
                <a:solidFill>
                  <a:srgbClr val="374151"/>
                </a:solidFill>
                <a:effectLst/>
                <a:latin typeface="Söhne"/>
              </a:rPr>
              <a:t>multiple different types of data, we regard them as a feature. And we input this feature, embedding them on a 2D graph.</a:t>
            </a:r>
          </a:p>
          <a:p>
            <a:r>
              <a:rPr lang="en-US" b="0" i="0" dirty="0">
                <a:solidFill>
                  <a:srgbClr val="374151"/>
                </a:solidFill>
                <a:effectLst/>
                <a:latin typeface="Söhne"/>
              </a:rPr>
              <a:t>We employ some techniques and computational methods to identify the relationships between these features, and then we connect these features, these nodes together.</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15</a:t>
            </a:fld>
            <a:endParaRPr lang="en-US"/>
          </a:p>
        </p:txBody>
      </p:sp>
    </p:spTree>
    <p:extLst>
      <p:ext uri="{BB962C8B-B14F-4D97-AF65-F5344CB8AC3E}">
        <p14:creationId xmlns:p14="http://schemas.microsoft.com/office/powerpoint/2010/main" val="70452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the analysis workflow of SIMBA, five types of data are collected. </a:t>
            </a:r>
          </a:p>
          <a:p>
            <a:r>
              <a:rPr lang="en-US" b="0" i="0" dirty="0">
                <a:solidFill>
                  <a:srgbClr val="374151"/>
                </a:solidFill>
                <a:effectLst/>
                <a:latin typeface="Söhne"/>
              </a:rPr>
              <a:t>Let me spend a little time to explain these data format. I think you guys are familiar with cells and gene expression, but maybe not that familiar with these three types.</a:t>
            </a:r>
          </a:p>
          <a:p>
            <a:r>
              <a:rPr lang="en-US" b="0" i="0" dirty="0">
                <a:solidFill>
                  <a:srgbClr val="374151"/>
                </a:solidFill>
                <a:effectLst/>
                <a:latin typeface="Söhne"/>
              </a:rPr>
              <a:t>Let’s explain TF motif first, TF refers to “Transcription Factor”, transcription factors are specialized proteins that play a crucial role in turning genes on or off. </a:t>
            </a:r>
          </a:p>
          <a:p>
            <a:r>
              <a:rPr lang="en-US" b="0" i="0" dirty="0">
                <a:solidFill>
                  <a:srgbClr val="374151"/>
                </a:solidFill>
                <a:effectLst/>
                <a:latin typeface="Söhne"/>
              </a:rPr>
              <a:t>They do so by recognizing and binding to specific short sequences of DNA, referred to as "TF motifs“, a specific sequence of DNA that can be bound by transcription factors</a:t>
            </a:r>
          </a:p>
          <a:p>
            <a:endParaRPr lang="en-US" b="0" i="0" dirty="0">
              <a:solidFill>
                <a:srgbClr val="374151"/>
              </a:solidFill>
              <a:effectLst/>
              <a:latin typeface="Söhne"/>
            </a:endParaRPr>
          </a:p>
          <a:p>
            <a:r>
              <a:rPr lang="en-US" b="0" i="0" dirty="0">
                <a:solidFill>
                  <a:srgbClr val="374151"/>
                </a:solidFill>
                <a:effectLst/>
                <a:latin typeface="Söhne"/>
              </a:rPr>
              <a:t>Chromatin accessibility, reveals which regions of the DNA within a cell are accessible to transcription factors. If there is a high peak, means the region is accessible for transcription factors.</a:t>
            </a:r>
          </a:p>
          <a:p>
            <a:r>
              <a:rPr lang="en-US" b="0" i="0" dirty="0">
                <a:solidFill>
                  <a:srgbClr val="374151"/>
                </a:solidFill>
                <a:effectLst/>
                <a:latin typeface="Söhne"/>
              </a:rPr>
              <a:t>k-</a:t>
            </a:r>
            <a:r>
              <a:rPr lang="en-US" b="0" i="0" dirty="0" err="1">
                <a:solidFill>
                  <a:srgbClr val="374151"/>
                </a:solidFill>
                <a:effectLst/>
                <a:latin typeface="Söhne"/>
              </a:rPr>
              <a:t>mer</a:t>
            </a:r>
            <a:r>
              <a:rPr lang="en-US" b="0" i="0" dirty="0">
                <a:solidFill>
                  <a:srgbClr val="374151"/>
                </a:solidFill>
                <a:effectLst/>
                <a:latin typeface="Söhne"/>
              </a:rPr>
              <a:t>, </a:t>
            </a:r>
            <a:r>
              <a:rPr lang="en-US" b="0" i="0" dirty="0" err="1">
                <a:solidFill>
                  <a:srgbClr val="374151"/>
                </a:solidFill>
                <a:effectLst/>
                <a:latin typeface="Söhne"/>
              </a:rPr>
              <a:t>ummm</a:t>
            </a:r>
            <a:r>
              <a:rPr lang="en-US" b="0" i="0" dirty="0">
                <a:solidFill>
                  <a:srgbClr val="374151"/>
                </a:solidFill>
                <a:effectLst/>
                <a:latin typeface="Söhne"/>
              </a:rPr>
              <a:t>….k refers to number, so "k-</a:t>
            </a:r>
            <a:r>
              <a:rPr lang="en-US" b="0" i="0" dirty="0" err="1">
                <a:solidFill>
                  <a:srgbClr val="374151"/>
                </a:solidFill>
                <a:effectLst/>
                <a:latin typeface="Söhne"/>
              </a:rPr>
              <a:t>mer</a:t>
            </a:r>
            <a:r>
              <a:rPr lang="en-US" b="0" i="0" dirty="0">
                <a:solidFill>
                  <a:srgbClr val="374151"/>
                </a:solidFill>
                <a:effectLst/>
                <a:latin typeface="Söhne"/>
              </a:rPr>
              <a:t>" refers to a substring of DNA that is "k" nucleotides long. Basically, k-</a:t>
            </a:r>
            <a:r>
              <a:rPr lang="en-US" b="0" i="0" dirty="0" err="1">
                <a:solidFill>
                  <a:srgbClr val="374151"/>
                </a:solidFill>
                <a:effectLst/>
                <a:latin typeface="Söhne"/>
              </a:rPr>
              <a:t>mer</a:t>
            </a:r>
            <a:r>
              <a:rPr lang="en-US" b="0" i="0" dirty="0">
                <a:solidFill>
                  <a:srgbClr val="374151"/>
                </a:solidFill>
                <a:effectLst/>
                <a:latin typeface="Söhne"/>
              </a:rPr>
              <a:t> can let us know the frequency, how many times these fragments had shown up.</a:t>
            </a:r>
          </a:p>
          <a:p>
            <a:r>
              <a:rPr lang="en-US" b="0" i="0" dirty="0">
                <a:solidFill>
                  <a:srgbClr val="374151"/>
                </a:solidFill>
                <a:effectLst/>
                <a:latin typeface="Söhne"/>
              </a:rPr>
              <a:t>And knowing this we can assess the similarities between sequences.</a:t>
            </a:r>
          </a:p>
          <a:p>
            <a:endParaRPr lang="en-US" b="0" i="0" dirty="0">
              <a:solidFill>
                <a:srgbClr val="374151"/>
              </a:solidFill>
              <a:effectLst/>
              <a:latin typeface="Söhne"/>
            </a:endParaRPr>
          </a:p>
          <a:p>
            <a:r>
              <a:rPr lang="en-US" b="0" i="0" dirty="0">
                <a:solidFill>
                  <a:srgbClr val="374151"/>
                </a:solidFill>
                <a:effectLst/>
                <a:latin typeface="Söhne"/>
              </a:rPr>
              <a:t>These Data will be transformed to different signature, which means these nodes. Then be placed onto a graph, and certain computational methods are utilized to find associations, then connecting these nodes. We call this process “Embedding”. After Embedding, we employ </a:t>
            </a:r>
            <a:r>
              <a:rPr lang="en-US" b="0" i="0" dirty="0" err="1">
                <a:solidFill>
                  <a:srgbClr val="374151"/>
                </a:solidFill>
                <a:effectLst/>
                <a:latin typeface="Söhne"/>
              </a:rPr>
              <a:t>softmax</a:t>
            </a:r>
            <a:r>
              <a:rPr lang="en-US" b="0" i="0" dirty="0">
                <a:solidFill>
                  <a:srgbClr val="374151"/>
                </a:solidFill>
                <a:effectLst/>
                <a:latin typeface="Söhne"/>
              </a:rPr>
              <a:t> transformation,  we are able to identify the relationship between these cells, genes, chromatin accessibility, TF motif, and k-mer. Dividing different cells and features to different groups based on their association.</a:t>
            </a:r>
          </a:p>
          <a:p>
            <a:endParaRPr lang="en-US" b="0" i="0" dirty="0">
              <a:solidFill>
                <a:srgbClr val="374151"/>
              </a:solidFill>
              <a:effectLst/>
              <a:latin typeface="Söhne"/>
            </a:endParaRPr>
          </a:p>
          <a:p>
            <a:r>
              <a:rPr lang="en-US" b="0" i="0" dirty="0">
                <a:solidFill>
                  <a:srgbClr val="374151"/>
                </a:solidFill>
                <a:effectLst/>
                <a:latin typeface="Söhne"/>
              </a:rPr>
              <a:t>And this kind of embedding, or this kind of method. Could be used to multiple single-cell tasks. RNA, ATAC, multimodal, batch correction and multi-omics integration.</a:t>
            </a:r>
          </a:p>
        </p:txBody>
      </p:sp>
      <p:sp>
        <p:nvSpPr>
          <p:cNvPr id="4" name="Slide Number Placeholder 3"/>
          <p:cNvSpPr>
            <a:spLocks noGrp="1"/>
          </p:cNvSpPr>
          <p:nvPr>
            <p:ph type="sldNum" sz="quarter" idx="5"/>
          </p:nvPr>
        </p:nvSpPr>
        <p:spPr/>
        <p:txBody>
          <a:bodyPr/>
          <a:lstStyle/>
          <a:p>
            <a:fld id="{FBF5148F-E0CF-4A3E-922E-B1B7AB039E21}" type="slidenum">
              <a:rPr lang="en-US" smtClean="0"/>
              <a:t>16</a:t>
            </a:fld>
            <a:endParaRPr lang="en-US"/>
          </a:p>
        </p:txBody>
      </p:sp>
    </p:spTree>
    <p:extLst>
      <p:ext uri="{BB962C8B-B14F-4D97-AF65-F5344CB8AC3E}">
        <p14:creationId xmlns:p14="http://schemas.microsoft.com/office/powerpoint/2010/main" val="4239776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17</a:t>
            </a:fld>
            <a:endParaRPr lang="en-US"/>
          </a:p>
        </p:txBody>
      </p:sp>
    </p:spTree>
    <p:extLst>
      <p:ext uri="{BB962C8B-B14F-4D97-AF65-F5344CB8AC3E}">
        <p14:creationId xmlns:p14="http://schemas.microsoft.com/office/powerpoint/2010/main" val="3546597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explaining so much, let’s move to result. </a:t>
            </a:r>
          </a:p>
        </p:txBody>
      </p:sp>
      <p:sp>
        <p:nvSpPr>
          <p:cNvPr id="4" name="Slide Number Placeholder 3"/>
          <p:cNvSpPr>
            <a:spLocks noGrp="1"/>
          </p:cNvSpPr>
          <p:nvPr>
            <p:ph type="sldNum" sz="quarter" idx="5"/>
          </p:nvPr>
        </p:nvSpPr>
        <p:spPr/>
        <p:txBody>
          <a:bodyPr/>
          <a:lstStyle/>
          <a:p>
            <a:fld id="{FBF5148F-E0CF-4A3E-922E-B1B7AB039E21}" type="slidenum">
              <a:rPr lang="en-US" smtClean="0"/>
              <a:t>22</a:t>
            </a:fld>
            <a:endParaRPr lang="en-US"/>
          </a:p>
        </p:txBody>
      </p:sp>
    </p:spTree>
    <p:extLst>
      <p:ext uri="{BB962C8B-B14F-4D97-AF65-F5344CB8AC3E}">
        <p14:creationId xmlns:p14="http://schemas.microsoft.com/office/powerpoint/2010/main" val="601421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for SIMBA, I think result may not be the most important. Because comparing to result, the </a:t>
            </a:r>
            <a:r>
              <a:rPr lang="en-US" b="0" i="0" dirty="0">
                <a:solidFill>
                  <a:srgbClr val="374151"/>
                </a:solidFill>
                <a:effectLst/>
                <a:latin typeface="Söhne"/>
              </a:rPr>
              <a:t>methodology, method is somewhat more important. Therefore, I won't spend too much time on the results.</a:t>
            </a:r>
          </a:p>
          <a:p>
            <a:endParaRPr lang="en-US" b="0" i="0" dirty="0">
              <a:solidFill>
                <a:srgbClr val="374151"/>
              </a:solidFill>
              <a:effectLst/>
              <a:latin typeface="Söhne"/>
            </a:endParaRPr>
          </a:p>
          <a:p>
            <a:r>
              <a:rPr lang="en-US" b="0" i="0" dirty="0">
                <a:solidFill>
                  <a:srgbClr val="374151"/>
                </a:solidFill>
                <a:effectLst/>
                <a:latin typeface="Söhne"/>
              </a:rPr>
              <a:t>This is an example of SIMBA being used for single-cell RNA-seq analysis.</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23</a:t>
            </a:fld>
            <a:endParaRPr lang="en-US"/>
          </a:p>
        </p:txBody>
      </p:sp>
    </p:spTree>
    <p:extLst>
      <p:ext uri="{BB962C8B-B14F-4D97-AF65-F5344CB8AC3E}">
        <p14:creationId xmlns:p14="http://schemas.microsoft.com/office/powerpoint/2010/main" val="980922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TW" b="1" i="0" dirty="0">
                <a:solidFill>
                  <a:srgbClr val="374151"/>
                </a:solidFill>
                <a:effectLst/>
                <a:latin typeface="Söhne"/>
              </a:rPr>
              <a:t>(b) SIMBA (cells) </a:t>
            </a:r>
            <a:r>
              <a:rPr lang="zh-TW" altLang="en-US" b="1" i="0" dirty="0">
                <a:solidFill>
                  <a:srgbClr val="374151"/>
                </a:solidFill>
                <a:effectLst/>
                <a:latin typeface="Söhne"/>
              </a:rPr>
              <a:t>投影</a:t>
            </a:r>
            <a:r>
              <a:rPr lang="en-US" altLang="zh-TW" b="0" i="0" dirty="0">
                <a:solidFill>
                  <a:srgbClr val="374151"/>
                </a:solidFill>
                <a:effectLst/>
                <a:latin typeface="Söhne"/>
              </a:rPr>
              <a:t>:</a:t>
            </a:r>
          </a:p>
          <a:p>
            <a:pPr marL="742950" lvl="1" indent="-285750" algn="l">
              <a:buFont typeface="+mj-lt"/>
              <a:buAutoNum type="arabicPeriod"/>
            </a:pPr>
            <a:r>
              <a:rPr lang="zh-TW" altLang="en-US" b="0" i="0" dirty="0">
                <a:solidFill>
                  <a:srgbClr val="374151"/>
                </a:solidFill>
                <a:effectLst/>
                <a:latin typeface="Söhne"/>
              </a:rPr>
              <a:t>這是一個</a:t>
            </a:r>
            <a:r>
              <a:rPr lang="en-US" altLang="zh-TW" b="0" i="0" dirty="0">
                <a:solidFill>
                  <a:srgbClr val="374151"/>
                </a:solidFill>
                <a:effectLst/>
                <a:latin typeface="Söhne"/>
              </a:rPr>
              <a:t>UMAP</a:t>
            </a:r>
            <a:r>
              <a:rPr lang="zh-TW" altLang="en-US" b="0" i="0" dirty="0">
                <a:solidFill>
                  <a:srgbClr val="374151"/>
                </a:solidFill>
                <a:effectLst/>
                <a:latin typeface="Söhne"/>
              </a:rPr>
              <a:t>可視化，它展示了基於</a:t>
            </a:r>
            <a:r>
              <a:rPr lang="en-US" altLang="zh-TW" b="0" i="0" dirty="0">
                <a:solidFill>
                  <a:srgbClr val="374151"/>
                </a:solidFill>
                <a:effectLst/>
                <a:latin typeface="Söhne"/>
              </a:rPr>
              <a:t>SIMBA</a:t>
            </a:r>
            <a:r>
              <a:rPr lang="zh-TW" altLang="en-US" b="0" i="0" dirty="0">
                <a:solidFill>
                  <a:srgbClr val="374151"/>
                </a:solidFill>
                <a:effectLst/>
                <a:latin typeface="Söhne"/>
              </a:rPr>
              <a:t>嵌入方法的細胞的</a:t>
            </a:r>
            <a:r>
              <a:rPr lang="en-US" altLang="zh-TW" b="0" i="0" dirty="0">
                <a:solidFill>
                  <a:srgbClr val="374151"/>
                </a:solidFill>
                <a:effectLst/>
                <a:latin typeface="Söhne"/>
              </a:rPr>
              <a:t>2D</a:t>
            </a:r>
            <a:r>
              <a:rPr lang="zh-TW" altLang="en-US" b="0" i="0" dirty="0">
                <a:solidFill>
                  <a:srgbClr val="374151"/>
                </a:solidFill>
                <a:effectLst/>
                <a:latin typeface="Söhne"/>
              </a:rPr>
              <a:t>投影。</a:t>
            </a:r>
          </a:p>
          <a:p>
            <a:pPr marL="742950" lvl="1" indent="-285750" algn="l">
              <a:buFont typeface="+mj-lt"/>
              <a:buAutoNum type="arabicPeriod"/>
            </a:pPr>
            <a:r>
              <a:rPr lang="zh-TW" altLang="en-US" b="0" i="0" dirty="0">
                <a:solidFill>
                  <a:srgbClr val="374151"/>
                </a:solidFill>
                <a:effectLst/>
                <a:latin typeface="Söhne"/>
              </a:rPr>
              <a:t>每個點代表一個單獨的細胞，顏色代表細胞的類型或標籤。</a:t>
            </a:r>
          </a:p>
          <a:p>
            <a:pPr marL="742950" lvl="1" indent="-285750" algn="l">
              <a:buFont typeface="+mj-lt"/>
              <a:buAutoNum type="arabicPeriod"/>
            </a:pPr>
            <a:r>
              <a:rPr lang="zh-TW" altLang="en-US" b="0" i="0" dirty="0">
                <a:solidFill>
                  <a:srgbClr val="374151"/>
                </a:solidFill>
                <a:effectLst/>
                <a:latin typeface="Söhne"/>
              </a:rPr>
              <a:t>該圖顯示了不同細胞類型的空間分佈，這有助於我們理解細胞間的關係和相似性。</a:t>
            </a:r>
          </a:p>
          <a:p>
            <a:pPr algn="l">
              <a:buFont typeface="+mj-lt"/>
              <a:buAutoNum type="arabicPeriod"/>
            </a:pPr>
            <a:r>
              <a:rPr lang="en-US" altLang="zh-TW" b="1" i="0" dirty="0">
                <a:solidFill>
                  <a:srgbClr val="374151"/>
                </a:solidFill>
                <a:effectLst/>
                <a:latin typeface="Söhne"/>
              </a:rPr>
              <a:t>(c) SIMBA (cells + variable genes) </a:t>
            </a:r>
            <a:r>
              <a:rPr lang="zh-TW" altLang="en-US" b="1" i="0" dirty="0">
                <a:solidFill>
                  <a:srgbClr val="374151"/>
                </a:solidFill>
                <a:effectLst/>
                <a:latin typeface="Söhne"/>
              </a:rPr>
              <a:t>投影</a:t>
            </a:r>
            <a:r>
              <a:rPr lang="en-US" altLang="zh-TW" b="0" i="0" dirty="0">
                <a:solidFill>
                  <a:srgbClr val="374151"/>
                </a:solidFill>
                <a:effectLst/>
                <a:latin typeface="Söhne"/>
              </a:rPr>
              <a:t>:</a:t>
            </a:r>
          </a:p>
          <a:p>
            <a:pPr marL="742950" lvl="1" indent="-285750" algn="l">
              <a:buFont typeface="+mj-lt"/>
              <a:buAutoNum type="arabicPeriod"/>
            </a:pPr>
            <a:r>
              <a:rPr lang="zh-TW" altLang="en-US" b="0" i="0" dirty="0">
                <a:solidFill>
                  <a:srgbClr val="374151"/>
                </a:solidFill>
                <a:effectLst/>
                <a:latin typeface="Söhne"/>
              </a:rPr>
              <a:t>這個投影不僅顯示了細胞，還展示了變異基因的位置。</a:t>
            </a:r>
          </a:p>
          <a:p>
            <a:pPr marL="742950" lvl="1" indent="-285750" algn="l">
              <a:buFont typeface="+mj-lt"/>
              <a:buAutoNum type="arabicPeriod"/>
            </a:pPr>
            <a:r>
              <a:rPr lang="zh-TW" altLang="en-US" b="0" i="0" dirty="0">
                <a:solidFill>
                  <a:srgbClr val="374151"/>
                </a:solidFill>
                <a:effectLst/>
                <a:latin typeface="Söhne"/>
              </a:rPr>
              <a:t>這幫助我們理解特定基因如何與特定細胞群體相關聯。</a:t>
            </a:r>
          </a:p>
          <a:p>
            <a:pPr algn="l">
              <a:buFont typeface="+mj-lt"/>
              <a:buAutoNum type="arabicPeriod"/>
            </a:pPr>
            <a:r>
              <a:rPr lang="en-US" altLang="zh-TW" b="1" i="0" dirty="0">
                <a:solidFill>
                  <a:srgbClr val="374151"/>
                </a:solidFill>
                <a:effectLst/>
                <a:latin typeface="Söhne"/>
              </a:rPr>
              <a:t>(d) </a:t>
            </a:r>
            <a:r>
              <a:rPr lang="zh-TW" altLang="en-US" b="1" i="0" dirty="0">
                <a:solidFill>
                  <a:srgbClr val="374151"/>
                </a:solidFill>
                <a:effectLst/>
                <a:latin typeface="Söhne"/>
              </a:rPr>
              <a:t>基因表達概率分佈</a:t>
            </a:r>
            <a:r>
              <a:rPr lang="en-US" altLang="zh-TW" b="0" i="0" dirty="0">
                <a:solidFill>
                  <a:srgbClr val="374151"/>
                </a:solidFill>
                <a:effectLst/>
                <a:latin typeface="Söhne"/>
              </a:rPr>
              <a:t>:</a:t>
            </a:r>
          </a:p>
          <a:p>
            <a:pPr marL="742950" lvl="1" indent="-285750" algn="l">
              <a:buFont typeface="+mj-lt"/>
              <a:buAutoNum type="arabicPeriod"/>
            </a:pPr>
            <a:r>
              <a:rPr lang="zh-TW" altLang="en-US" b="0" i="0" dirty="0">
                <a:solidFill>
                  <a:srgbClr val="374151"/>
                </a:solidFill>
                <a:effectLst/>
                <a:latin typeface="Söhne"/>
              </a:rPr>
              <a:t>這四個圖展示了特定基因（如</a:t>
            </a:r>
            <a:r>
              <a:rPr lang="en-US" altLang="zh-TW" b="0" i="0" dirty="0">
                <a:solidFill>
                  <a:srgbClr val="374151"/>
                </a:solidFill>
                <a:effectLst/>
                <a:latin typeface="Söhne"/>
              </a:rPr>
              <a:t>CST3, MS4A1</a:t>
            </a:r>
            <a:r>
              <a:rPr lang="zh-TW" altLang="en-US" b="0" i="0" dirty="0">
                <a:solidFill>
                  <a:srgbClr val="374151"/>
                </a:solidFill>
                <a:effectLst/>
                <a:latin typeface="Söhne"/>
              </a:rPr>
              <a:t>等）的表達概率。</a:t>
            </a:r>
          </a:p>
          <a:p>
            <a:pPr marL="742950" lvl="1" indent="-285750" algn="l">
              <a:buFont typeface="+mj-lt"/>
              <a:buAutoNum type="arabicPeriod"/>
            </a:pPr>
            <a:r>
              <a:rPr lang="en-US" altLang="zh-TW" b="0" i="0" dirty="0">
                <a:solidFill>
                  <a:srgbClr val="374151"/>
                </a:solidFill>
                <a:effectLst/>
                <a:latin typeface="Söhne"/>
              </a:rPr>
              <a:t>Y</a:t>
            </a:r>
            <a:r>
              <a:rPr lang="zh-TW" altLang="en-US" b="0" i="0" dirty="0">
                <a:solidFill>
                  <a:srgbClr val="374151"/>
                </a:solidFill>
                <a:effectLst/>
                <a:latin typeface="Söhne"/>
              </a:rPr>
              <a:t>軸表示概率，而</a:t>
            </a:r>
            <a:r>
              <a:rPr lang="en-US" altLang="zh-TW" b="0" i="0" dirty="0">
                <a:solidFill>
                  <a:srgbClr val="374151"/>
                </a:solidFill>
                <a:effectLst/>
                <a:latin typeface="Söhne"/>
              </a:rPr>
              <a:t>X</a:t>
            </a:r>
            <a:r>
              <a:rPr lang="zh-TW" altLang="en-US" b="0" i="0" dirty="0">
                <a:solidFill>
                  <a:srgbClr val="374151"/>
                </a:solidFill>
                <a:effectLst/>
                <a:latin typeface="Söhne"/>
              </a:rPr>
              <a:t>軸表示基於該基因表達量的細胞排名。</a:t>
            </a:r>
          </a:p>
          <a:p>
            <a:pPr marL="742950" lvl="1" indent="-285750" algn="l">
              <a:buFont typeface="+mj-lt"/>
              <a:buAutoNum type="arabicPeriod"/>
            </a:pPr>
            <a:r>
              <a:rPr lang="zh-TW" altLang="en-US" b="0" i="0" dirty="0">
                <a:solidFill>
                  <a:srgbClr val="374151"/>
                </a:solidFill>
                <a:effectLst/>
                <a:latin typeface="Söhne"/>
              </a:rPr>
              <a:t>這些圖表幫助我們理解這些基因在所有細胞中的表達情況，並識別哪些細胞在這些基因上有高或低的表達。</a:t>
            </a:r>
          </a:p>
          <a:p>
            <a:pPr algn="l">
              <a:buFont typeface="+mj-lt"/>
              <a:buAutoNum type="arabicPeriod"/>
            </a:pPr>
            <a:r>
              <a:rPr lang="en-US" altLang="zh-TW" b="1" i="0" dirty="0">
                <a:solidFill>
                  <a:srgbClr val="374151"/>
                </a:solidFill>
                <a:effectLst/>
                <a:latin typeface="Söhne"/>
              </a:rPr>
              <a:t>(e) Gini index </a:t>
            </a:r>
            <a:r>
              <a:rPr lang="zh-TW" altLang="en-US" b="1" i="0" dirty="0">
                <a:solidFill>
                  <a:srgbClr val="374151"/>
                </a:solidFill>
                <a:effectLst/>
                <a:latin typeface="Söhne"/>
              </a:rPr>
              <a:t>投影</a:t>
            </a:r>
            <a:r>
              <a:rPr lang="en-US" altLang="zh-TW" b="0" i="0" dirty="0">
                <a:solidFill>
                  <a:srgbClr val="374151"/>
                </a:solidFill>
                <a:effectLst/>
                <a:latin typeface="Söhne"/>
              </a:rPr>
              <a:t>:</a:t>
            </a:r>
          </a:p>
          <a:p>
            <a:pPr marL="742950" lvl="1" indent="-285750" algn="l">
              <a:buFont typeface="+mj-lt"/>
              <a:buAutoNum type="arabicPeriod"/>
            </a:pPr>
            <a:r>
              <a:rPr lang="zh-TW" altLang="en-US" b="0" i="0" dirty="0">
                <a:solidFill>
                  <a:srgbClr val="374151"/>
                </a:solidFill>
                <a:effectLst/>
                <a:latin typeface="Söhne"/>
              </a:rPr>
              <a:t>這個</a:t>
            </a:r>
            <a:r>
              <a:rPr lang="en-US" altLang="zh-TW" b="0" i="0" dirty="0">
                <a:solidFill>
                  <a:srgbClr val="374151"/>
                </a:solidFill>
                <a:effectLst/>
                <a:latin typeface="Söhne"/>
              </a:rPr>
              <a:t>UMAP</a:t>
            </a:r>
            <a:r>
              <a:rPr lang="zh-TW" altLang="en-US" b="0" i="0" dirty="0">
                <a:solidFill>
                  <a:srgbClr val="374151"/>
                </a:solidFill>
                <a:effectLst/>
                <a:latin typeface="Söhne"/>
              </a:rPr>
              <a:t>投影展示了基於</a:t>
            </a:r>
            <a:r>
              <a:rPr lang="en-US" altLang="zh-TW" b="0" i="0" dirty="0">
                <a:solidFill>
                  <a:srgbClr val="374151"/>
                </a:solidFill>
                <a:effectLst/>
                <a:latin typeface="Söhne"/>
              </a:rPr>
              <a:t>Gini</a:t>
            </a:r>
            <a:r>
              <a:rPr lang="zh-TW" altLang="en-US" b="0" i="0" dirty="0">
                <a:solidFill>
                  <a:srgbClr val="374151"/>
                </a:solidFill>
                <a:effectLst/>
                <a:latin typeface="Söhne"/>
              </a:rPr>
              <a:t>指數的細胞投影。</a:t>
            </a:r>
          </a:p>
          <a:p>
            <a:pPr marL="742950" lvl="1" indent="-285750" algn="l">
              <a:buFont typeface="+mj-lt"/>
              <a:buAutoNum type="arabicPeriod"/>
            </a:pPr>
            <a:r>
              <a:rPr lang="en-US" altLang="zh-TW" b="0" i="0" dirty="0">
                <a:solidFill>
                  <a:srgbClr val="374151"/>
                </a:solidFill>
                <a:effectLst/>
                <a:latin typeface="Söhne"/>
              </a:rPr>
              <a:t>Gini</a:t>
            </a:r>
            <a:r>
              <a:rPr lang="zh-TW" altLang="en-US" b="0" i="0" dirty="0">
                <a:solidFill>
                  <a:srgbClr val="374151"/>
                </a:solidFill>
                <a:effectLst/>
                <a:latin typeface="Söhne"/>
              </a:rPr>
              <a:t>指數通常用於衡量不均等性，這裡可能用於評估基因表達的異質性。</a:t>
            </a:r>
          </a:p>
          <a:p>
            <a:pPr marL="742950" lvl="1" indent="-285750" algn="l">
              <a:buFont typeface="+mj-lt"/>
              <a:buAutoNum type="arabicPeriod"/>
            </a:pPr>
            <a:r>
              <a:rPr lang="zh-TW" altLang="en-US" b="0" i="0" dirty="0">
                <a:solidFill>
                  <a:srgbClr val="374151"/>
                </a:solidFill>
                <a:effectLst/>
                <a:latin typeface="Söhne"/>
              </a:rPr>
              <a:t>顏色的變化可能表示</a:t>
            </a:r>
            <a:r>
              <a:rPr lang="en-US" altLang="zh-TW" b="0" i="0" dirty="0">
                <a:solidFill>
                  <a:srgbClr val="374151"/>
                </a:solidFill>
                <a:effectLst/>
                <a:latin typeface="Söhne"/>
              </a:rPr>
              <a:t>Gini</a:t>
            </a:r>
            <a:r>
              <a:rPr lang="zh-TW" altLang="en-US" b="0" i="0" dirty="0">
                <a:solidFill>
                  <a:srgbClr val="374151"/>
                </a:solidFill>
                <a:effectLst/>
                <a:latin typeface="Söhne"/>
              </a:rPr>
              <a:t>指數的大小，這有助於我們了解哪些細胞或區域在基因表達上更加異質。</a:t>
            </a:r>
          </a:p>
          <a:p>
            <a:pPr algn="l">
              <a:buFont typeface="+mj-lt"/>
              <a:buAutoNum type="arabicPeriod"/>
            </a:pPr>
            <a:r>
              <a:rPr lang="en-US" altLang="zh-TW" b="1" i="0" dirty="0">
                <a:solidFill>
                  <a:srgbClr val="374151"/>
                </a:solidFill>
                <a:effectLst/>
                <a:latin typeface="Söhne"/>
              </a:rPr>
              <a:t>(f) </a:t>
            </a:r>
            <a:r>
              <a:rPr lang="zh-TW" altLang="en-US" b="1" i="0" dirty="0">
                <a:solidFill>
                  <a:srgbClr val="374151"/>
                </a:solidFill>
                <a:effectLst/>
                <a:latin typeface="Söhne"/>
              </a:rPr>
              <a:t>特定基因在</a:t>
            </a:r>
            <a:r>
              <a:rPr lang="en-US" altLang="zh-TW" b="1" i="0" dirty="0">
                <a:solidFill>
                  <a:srgbClr val="374151"/>
                </a:solidFill>
                <a:effectLst/>
                <a:latin typeface="Söhne"/>
              </a:rPr>
              <a:t>UMAP</a:t>
            </a:r>
            <a:r>
              <a:rPr lang="zh-TW" altLang="en-US" b="1" i="0" dirty="0">
                <a:solidFill>
                  <a:srgbClr val="374151"/>
                </a:solidFill>
                <a:effectLst/>
                <a:latin typeface="Söhne"/>
              </a:rPr>
              <a:t>上的表達</a:t>
            </a:r>
            <a:r>
              <a:rPr lang="en-US" altLang="zh-TW" b="0" i="0" dirty="0">
                <a:solidFill>
                  <a:srgbClr val="374151"/>
                </a:solidFill>
                <a:effectLst/>
                <a:latin typeface="Söhne"/>
              </a:rPr>
              <a:t>:</a:t>
            </a:r>
          </a:p>
          <a:p>
            <a:pPr marL="742950" lvl="1" indent="-285750" algn="l">
              <a:buFont typeface="+mj-lt"/>
              <a:buAutoNum type="arabicPeriod"/>
            </a:pPr>
            <a:r>
              <a:rPr lang="zh-TW" altLang="en-US" b="0" i="0" dirty="0">
                <a:solidFill>
                  <a:srgbClr val="374151"/>
                </a:solidFill>
                <a:effectLst/>
                <a:latin typeface="Söhne"/>
              </a:rPr>
              <a:t>這些圖展示了在</a:t>
            </a:r>
            <a:r>
              <a:rPr lang="en-US" altLang="zh-TW" b="0" i="0" dirty="0">
                <a:solidFill>
                  <a:srgbClr val="374151"/>
                </a:solidFill>
                <a:effectLst/>
                <a:latin typeface="Söhne"/>
              </a:rPr>
              <a:t>UMAP</a:t>
            </a:r>
            <a:r>
              <a:rPr lang="zh-TW" altLang="en-US" b="0" i="0" dirty="0">
                <a:solidFill>
                  <a:srgbClr val="374151"/>
                </a:solidFill>
                <a:effectLst/>
                <a:latin typeface="Söhne"/>
              </a:rPr>
              <a:t>空間中特定基因的表達模式。</a:t>
            </a:r>
          </a:p>
          <a:p>
            <a:pPr marL="742950" lvl="1" indent="-285750" algn="l">
              <a:buFont typeface="+mj-lt"/>
              <a:buAutoNum type="arabicPeriod"/>
            </a:pPr>
            <a:r>
              <a:rPr lang="zh-TW" altLang="en-US" b="0" i="0" dirty="0">
                <a:solidFill>
                  <a:srgbClr val="374151"/>
                </a:solidFill>
                <a:effectLst/>
                <a:latin typeface="Söhne"/>
              </a:rPr>
              <a:t>顏色的深淺表示基因的表達量，這有助於我們理解這些基因在不同細胞群體中的表達情況。</a:t>
            </a:r>
          </a:p>
        </p:txBody>
      </p:sp>
      <p:sp>
        <p:nvSpPr>
          <p:cNvPr id="4" name="Slide Number Placeholder 3"/>
          <p:cNvSpPr>
            <a:spLocks noGrp="1"/>
          </p:cNvSpPr>
          <p:nvPr>
            <p:ph type="sldNum" sz="quarter" idx="5"/>
          </p:nvPr>
        </p:nvSpPr>
        <p:spPr/>
        <p:txBody>
          <a:bodyPr/>
          <a:lstStyle/>
          <a:p>
            <a:fld id="{FBF5148F-E0CF-4A3E-922E-B1B7AB039E21}" type="slidenum">
              <a:rPr lang="en-US" smtClean="0"/>
              <a:t>24</a:t>
            </a:fld>
            <a:endParaRPr lang="en-US"/>
          </a:p>
        </p:txBody>
      </p:sp>
    </p:spTree>
    <p:extLst>
      <p:ext uri="{BB962C8B-B14F-4D97-AF65-F5344CB8AC3E}">
        <p14:creationId xmlns:p14="http://schemas.microsoft.com/office/powerpoint/2010/main" val="1300355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The next application is single-cell ATAC-seq analysis.</a:t>
            </a:r>
          </a:p>
          <a:p>
            <a:pPr algn="l"/>
            <a:endParaRPr lang="en-US" b="0" i="0" dirty="0">
              <a:solidFill>
                <a:srgbClr val="374151"/>
              </a:solidFill>
              <a:effectLst/>
              <a:latin typeface="Söhne"/>
            </a:endParaRPr>
          </a:p>
          <a:p>
            <a:pPr algn="l"/>
            <a:r>
              <a:rPr lang="en-US" sz="1200" dirty="0" err="1">
                <a:solidFill>
                  <a:schemeClr val="tx1"/>
                </a:solidFill>
              </a:rPr>
              <a:t>Uhh</a:t>
            </a:r>
            <a:r>
              <a:rPr lang="en-US" sz="1200" dirty="0">
                <a:solidFill>
                  <a:schemeClr val="tx1"/>
                </a:solidFill>
              </a:rPr>
              <a:t>..ATAC-seq</a:t>
            </a:r>
            <a:r>
              <a:rPr lang="en-US" sz="1200" b="0" i="0" dirty="0">
                <a:solidFill>
                  <a:srgbClr val="374151"/>
                </a:solidFill>
                <a:effectLst/>
                <a:latin typeface="Söhne"/>
              </a:rPr>
              <a:t> is a sequencing method which can provides insights </a:t>
            </a:r>
            <a:r>
              <a:rPr lang="en-US" b="0" i="0" dirty="0">
                <a:solidFill>
                  <a:srgbClr val="374151"/>
                </a:solidFill>
                <a:effectLst/>
                <a:latin typeface="Söhne"/>
              </a:rPr>
              <a:t>into the chromatin accessibility landscape of individual cells.</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25</a:t>
            </a:fld>
            <a:endParaRPr lang="en-US"/>
          </a:p>
        </p:txBody>
      </p:sp>
    </p:spTree>
    <p:extLst>
      <p:ext uri="{BB962C8B-B14F-4D97-AF65-F5344CB8AC3E}">
        <p14:creationId xmlns:p14="http://schemas.microsoft.com/office/powerpoint/2010/main" val="47802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26</a:t>
            </a:fld>
            <a:endParaRPr lang="en-US"/>
          </a:p>
        </p:txBody>
      </p:sp>
    </p:spTree>
    <p:extLst>
      <p:ext uri="{BB962C8B-B14F-4D97-AF65-F5344CB8AC3E}">
        <p14:creationId xmlns:p14="http://schemas.microsoft.com/office/powerpoint/2010/main" val="1256794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application of SIMBA, is Multimodal analysis, which means considering more than one data type in single cell analysis.</a:t>
            </a:r>
          </a:p>
          <a:p>
            <a:pPr algn="l"/>
            <a:r>
              <a:rPr lang="en-US" b="0" i="0" dirty="0">
                <a:solidFill>
                  <a:srgbClr val="374151"/>
                </a:solidFill>
                <a:effectLst/>
                <a:latin typeface="Söhne"/>
              </a:rPr>
              <a:t>For instance, you can consider both Single-cell RNA and ATAC sequencing data, incorporating them into a unified analytical framework."</a:t>
            </a:r>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0" i="0" dirty="0">
                <a:solidFill>
                  <a:srgbClr val="374151"/>
                </a:solidFill>
                <a:effectLst/>
                <a:latin typeface="Söhne"/>
              </a:rPr>
              <a:t>SHARE-seq enables simultaneous measurement of the RNA data and ATAC data in single cells. </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27</a:t>
            </a:fld>
            <a:endParaRPr lang="en-US"/>
          </a:p>
        </p:txBody>
      </p:sp>
    </p:spTree>
    <p:extLst>
      <p:ext uri="{BB962C8B-B14F-4D97-AF65-F5344CB8AC3E}">
        <p14:creationId xmlns:p14="http://schemas.microsoft.com/office/powerpoint/2010/main" val="1067096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sample used here is hair follicles, so …</a:t>
            </a:r>
          </a:p>
          <a:p>
            <a:r>
              <a:rPr lang="en-US" b="0" i="0" dirty="0">
                <a:solidFill>
                  <a:srgbClr val="374151"/>
                </a:solidFill>
                <a:effectLst/>
                <a:latin typeface="Söhne"/>
              </a:rPr>
              <a:t>Through cell annotation and marker gene, we can get the differentiation  information from hair follicle </a:t>
            </a:r>
          </a:p>
          <a:p>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28</a:t>
            </a:fld>
            <a:endParaRPr lang="en-US"/>
          </a:p>
        </p:txBody>
      </p:sp>
    </p:spTree>
    <p:extLst>
      <p:ext uri="{BB962C8B-B14F-4D97-AF65-F5344CB8AC3E}">
        <p14:creationId xmlns:p14="http://schemas.microsoft.com/office/powerpoint/2010/main" val="3032606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sample used here is hair follicles, so …</a:t>
            </a:r>
          </a:p>
          <a:p>
            <a:r>
              <a:rPr lang="en-US" b="0" i="0" dirty="0">
                <a:solidFill>
                  <a:srgbClr val="374151"/>
                </a:solidFill>
                <a:effectLst/>
                <a:latin typeface="Söhne"/>
              </a:rPr>
              <a:t>Through cell annotation and marker gene, we can get the differentiation  information from hair follicle </a:t>
            </a:r>
          </a:p>
          <a:p>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29</a:t>
            </a:fld>
            <a:endParaRPr lang="en-US"/>
          </a:p>
        </p:txBody>
      </p:sp>
    </p:spTree>
    <p:extLst>
      <p:ext uri="{BB962C8B-B14F-4D97-AF65-F5344CB8AC3E}">
        <p14:creationId xmlns:p14="http://schemas.microsoft.com/office/powerpoint/2010/main" val="2690649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sample used here is hair follicles, so …</a:t>
            </a:r>
          </a:p>
          <a:p>
            <a:r>
              <a:rPr lang="en-US" b="0" i="0" dirty="0">
                <a:solidFill>
                  <a:srgbClr val="374151"/>
                </a:solidFill>
                <a:effectLst/>
                <a:latin typeface="Söhne"/>
              </a:rPr>
              <a:t>Through cell annotation and marker gene, we can get the differentiation  information from hair follicle </a:t>
            </a:r>
          </a:p>
          <a:p>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30</a:t>
            </a:fld>
            <a:endParaRPr lang="en-US"/>
          </a:p>
        </p:txBody>
      </p:sp>
    </p:spTree>
    <p:extLst>
      <p:ext uri="{BB962C8B-B14F-4D97-AF65-F5344CB8AC3E}">
        <p14:creationId xmlns:p14="http://schemas.microsoft.com/office/powerpoint/2010/main" val="1428160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sample used here is hair follicles, so …</a:t>
            </a:r>
          </a:p>
          <a:p>
            <a:r>
              <a:rPr lang="en-US" b="0" i="0" dirty="0">
                <a:solidFill>
                  <a:srgbClr val="374151"/>
                </a:solidFill>
                <a:effectLst/>
                <a:latin typeface="Söhne"/>
              </a:rPr>
              <a:t>Through cell annotation and marker gene, we can get the differentiation  information from hair follicle </a:t>
            </a:r>
          </a:p>
          <a:p>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31</a:t>
            </a:fld>
            <a:endParaRPr lang="en-US"/>
          </a:p>
        </p:txBody>
      </p:sp>
    </p:spTree>
    <p:extLst>
      <p:ext uri="{BB962C8B-B14F-4D97-AF65-F5344CB8AC3E}">
        <p14:creationId xmlns:p14="http://schemas.microsoft.com/office/powerpoint/2010/main" val="1555124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Okay, so we move to Batch correction analysis.</a:t>
            </a:r>
          </a:p>
          <a:p>
            <a:endParaRPr lang="en-US" b="0" i="0" dirty="0">
              <a:solidFill>
                <a:srgbClr val="374151"/>
              </a:solidFill>
              <a:effectLst/>
              <a:latin typeface="Söhne"/>
            </a:endParaRPr>
          </a:p>
          <a:p>
            <a:r>
              <a:rPr lang="en-US" b="0" i="0" dirty="0">
                <a:solidFill>
                  <a:srgbClr val="374151"/>
                </a:solidFill>
                <a:effectLst/>
                <a:latin typeface="Söhne"/>
              </a:rPr>
              <a:t>The top figure presents the UMAP visualization before batch correction. </a:t>
            </a:r>
          </a:p>
          <a:p>
            <a:r>
              <a:rPr lang="en-US" b="0" i="0" dirty="0">
                <a:solidFill>
                  <a:srgbClr val="374151"/>
                </a:solidFill>
                <a:effectLst/>
                <a:latin typeface="Söhne"/>
              </a:rPr>
              <a:t>The bottom figure displays the UMAP visualization after batch correction using SIMBA.</a:t>
            </a:r>
          </a:p>
          <a:p>
            <a:endParaRPr lang="en-US" altLang="zh-TW" b="0" i="0" dirty="0">
              <a:solidFill>
                <a:srgbClr val="374151"/>
              </a:solidFill>
              <a:effectLst/>
              <a:latin typeface="Söhne"/>
            </a:endParaRPr>
          </a:p>
          <a:p>
            <a:endParaRPr lang="en-US" altLang="zh-TW" b="0" i="0" dirty="0">
              <a:solidFill>
                <a:srgbClr val="374151"/>
              </a:solidFill>
              <a:effectLst/>
              <a:latin typeface="Söhne"/>
            </a:endParaRPr>
          </a:p>
          <a:p>
            <a:endParaRPr lang="en-US" altLang="zh-TW" b="0" i="0" dirty="0">
              <a:solidFill>
                <a:srgbClr val="374151"/>
              </a:solidFill>
              <a:effectLst/>
              <a:latin typeface="Söhne"/>
            </a:endParaRPr>
          </a:p>
          <a:p>
            <a:r>
              <a:rPr lang="zh-TW" altLang="en-US" b="0" i="0" dirty="0">
                <a:solidFill>
                  <a:srgbClr val="222222"/>
                </a:solidFill>
                <a:effectLst/>
                <a:latin typeface="Harding"/>
              </a:rPr>
              <a:t>一個由兩個批次組成的小鼠組織圖譜數據集 </a:t>
            </a:r>
            <a:r>
              <a:rPr lang="en-US" altLang="zh-TW" b="0" i="0" dirty="0">
                <a:solidFill>
                  <a:srgbClr val="222222"/>
                </a:solidFill>
                <a:effectLst/>
                <a:latin typeface="Harding"/>
              </a:rPr>
              <a:t>(</a:t>
            </a:r>
            <a:r>
              <a:rPr lang="zh-TW" altLang="en-US" b="0" i="0" dirty="0">
                <a:solidFill>
                  <a:srgbClr val="222222"/>
                </a:solidFill>
                <a:effectLst/>
                <a:latin typeface="Harding"/>
              </a:rPr>
              <a:t>小鼠組織圖譜數據集包含來自不同测序平台的共享細胞類型的兩個單細胞</a:t>
            </a:r>
            <a:r>
              <a:rPr lang="en-US" altLang="zh-TW" b="0" i="0" dirty="0">
                <a:solidFill>
                  <a:srgbClr val="222222"/>
                </a:solidFill>
                <a:effectLst/>
                <a:latin typeface="Harding"/>
              </a:rPr>
              <a:t>RNA</a:t>
            </a:r>
            <a:r>
              <a:rPr lang="zh-TW" altLang="en-US" b="0" i="0" dirty="0">
                <a:solidFill>
                  <a:srgbClr val="222222"/>
                </a:solidFill>
                <a:effectLst/>
                <a:latin typeface="Harding"/>
              </a:rPr>
              <a:t>序列數據集</a:t>
            </a:r>
            <a:r>
              <a:rPr lang="en-US" altLang="zh-TW" b="0" i="0" dirty="0">
                <a:solidFill>
                  <a:srgbClr val="222222"/>
                </a:solidFill>
                <a:effectLst/>
                <a:latin typeface="Harding"/>
              </a:rPr>
              <a:t>)</a:t>
            </a:r>
          </a:p>
          <a:p>
            <a:r>
              <a:rPr lang="zh-TW" altLang="en-US" b="0" i="0" dirty="0">
                <a:solidFill>
                  <a:srgbClr val="222222"/>
                </a:solidFill>
                <a:effectLst/>
                <a:latin typeface="Harding"/>
              </a:rPr>
              <a:t>，以及一個包含五個批次的人類胰臟數據集 </a:t>
            </a:r>
            <a:r>
              <a:rPr lang="en-US" altLang="zh-TW" b="0" i="0" dirty="0">
                <a:solidFill>
                  <a:srgbClr val="222222"/>
                </a:solidFill>
                <a:effectLst/>
                <a:latin typeface="Harding"/>
              </a:rPr>
              <a:t>(</a:t>
            </a:r>
            <a:r>
              <a:rPr lang="zh-TW" altLang="en-US" b="0" i="0" dirty="0">
                <a:solidFill>
                  <a:srgbClr val="222222"/>
                </a:solidFill>
                <a:effectLst/>
                <a:latin typeface="Harding"/>
              </a:rPr>
              <a:t>人類胰臟數據集包含從五個來源中使用四種测序技術混合的五個樣本</a:t>
            </a:r>
            <a:r>
              <a:rPr lang="en-US" altLang="zh-TW" b="0" i="0" dirty="0">
                <a:solidFill>
                  <a:srgbClr val="222222"/>
                </a:solidFill>
                <a:effectLst/>
                <a:latin typeface="Harding"/>
              </a:rPr>
              <a:t>)</a:t>
            </a:r>
            <a:endParaRPr lang="en-US" altLang="zh-TW" dirty="0"/>
          </a:p>
        </p:txBody>
      </p:sp>
      <p:sp>
        <p:nvSpPr>
          <p:cNvPr id="4" name="Slide Number Placeholder 3"/>
          <p:cNvSpPr>
            <a:spLocks noGrp="1"/>
          </p:cNvSpPr>
          <p:nvPr>
            <p:ph type="sldNum" sz="quarter" idx="5"/>
          </p:nvPr>
        </p:nvSpPr>
        <p:spPr/>
        <p:txBody>
          <a:bodyPr/>
          <a:lstStyle/>
          <a:p>
            <a:fld id="{FBF5148F-E0CF-4A3E-922E-B1B7AB039E21}" type="slidenum">
              <a:rPr lang="en-US" smtClean="0"/>
              <a:t>33</a:t>
            </a:fld>
            <a:endParaRPr lang="en-US"/>
          </a:p>
        </p:txBody>
      </p:sp>
    </p:spTree>
    <p:extLst>
      <p:ext uri="{BB962C8B-B14F-4D97-AF65-F5344CB8AC3E}">
        <p14:creationId xmlns:p14="http://schemas.microsoft.com/office/powerpoint/2010/main" val="1619720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And here we have known marker genes highlighted.</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34</a:t>
            </a:fld>
            <a:endParaRPr lang="en-US"/>
          </a:p>
        </p:txBody>
      </p:sp>
    </p:spTree>
    <p:extLst>
      <p:ext uri="{BB962C8B-B14F-4D97-AF65-F5344CB8AC3E}">
        <p14:creationId xmlns:p14="http://schemas.microsoft.com/office/powerpoint/2010/main" val="17124750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last, is </a:t>
            </a:r>
            <a:r>
              <a:rPr lang="en-US" sz="1200" dirty="0">
                <a:solidFill>
                  <a:schemeClr val="tx1"/>
                </a:solidFill>
              </a:rPr>
              <a:t>Multi-omics integration.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r>
              <a:rPr lang="en-US" b="0" i="0" dirty="0">
                <a:solidFill>
                  <a:srgbClr val="374151"/>
                </a:solidFill>
                <a:effectLst/>
                <a:latin typeface="Söhne"/>
              </a:rPr>
              <a:t>The top figure presents the UMAP visualization before integration. </a:t>
            </a:r>
          </a:p>
          <a:p>
            <a:r>
              <a:rPr lang="en-US" b="0" i="0" dirty="0">
                <a:solidFill>
                  <a:srgbClr val="374151"/>
                </a:solidFill>
                <a:effectLst/>
                <a:latin typeface="Söhne"/>
              </a:rPr>
              <a:t>The bottom figure displays the UMAP visualization after integration using SIMBA.</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35</a:t>
            </a:fld>
            <a:endParaRPr lang="en-US"/>
          </a:p>
        </p:txBody>
      </p:sp>
    </p:spTree>
    <p:extLst>
      <p:ext uri="{BB962C8B-B14F-4D97-AF65-F5344CB8AC3E}">
        <p14:creationId xmlns:p14="http://schemas.microsoft.com/office/powerpoint/2010/main" val="35034757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We have finally arrived at the highlight of this paper.</a:t>
            </a:r>
          </a:p>
          <a:p>
            <a:r>
              <a:rPr lang="en-US" b="0" i="0" dirty="0">
                <a:solidFill>
                  <a:srgbClr val="374151"/>
                </a:solidFill>
                <a:effectLst/>
                <a:latin typeface="Söhne"/>
              </a:rPr>
              <a:t>In summary, it is divided into three steps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36</a:t>
            </a:fld>
            <a:endParaRPr lang="en-US"/>
          </a:p>
        </p:txBody>
      </p:sp>
    </p:spTree>
    <p:extLst>
      <p:ext uri="{BB962C8B-B14F-4D97-AF65-F5344CB8AC3E}">
        <p14:creationId xmlns:p14="http://schemas.microsoft.com/office/powerpoint/2010/main" val="2675988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 will discuss the first and second steps together, as the first and second steps in the five applications are very similar.</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37</a:t>
            </a:fld>
            <a:endParaRPr lang="en-US"/>
          </a:p>
        </p:txBody>
      </p:sp>
    </p:spTree>
    <p:extLst>
      <p:ext uri="{BB962C8B-B14F-4D97-AF65-F5344CB8AC3E}">
        <p14:creationId xmlns:p14="http://schemas.microsoft.com/office/powerpoint/2010/main" val="3075660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t>
            </a:r>
            <a:r>
              <a:rPr lang="en-US" b="0" i="0" dirty="0">
                <a:solidFill>
                  <a:srgbClr val="374151"/>
                </a:solidFill>
                <a:effectLst/>
                <a:latin typeface="Söhne"/>
              </a:rPr>
              <a:t>You can always see three steps. – Preprocessing, Graph Construction, and Embedding.</a:t>
            </a:r>
          </a:p>
          <a:p>
            <a:endParaRPr lang="en-US" b="0" i="0" dirty="0">
              <a:solidFill>
                <a:srgbClr val="374151"/>
              </a:solidFill>
              <a:effectLst/>
              <a:latin typeface="Söhne"/>
            </a:endParaRPr>
          </a:p>
          <a:p>
            <a:r>
              <a:rPr lang="en-US" b="0" i="0" dirty="0">
                <a:solidFill>
                  <a:srgbClr val="374151"/>
                </a:solidFill>
                <a:effectLst/>
                <a:latin typeface="Söhne"/>
              </a:rPr>
              <a:t>Preprocessing is simple, </a:t>
            </a:r>
            <a:r>
              <a:rPr lang="en-US" b="0" i="0" dirty="0" err="1">
                <a:solidFill>
                  <a:srgbClr val="374151"/>
                </a:solidFill>
                <a:effectLst/>
                <a:latin typeface="Söhne"/>
              </a:rPr>
              <a:t>ehen</a:t>
            </a:r>
            <a:r>
              <a:rPr lang="en-US" b="0" i="0" dirty="0">
                <a:solidFill>
                  <a:srgbClr val="374151"/>
                </a:solidFill>
                <a:effectLst/>
                <a:latin typeface="Söhne"/>
              </a:rPr>
              <a:t> we obtain the gene expression levels of cells, we tend to transform them into a gene expression matrix.</a:t>
            </a:r>
            <a:br>
              <a:rPr lang="en-US" b="0" i="0" dirty="0">
                <a:solidFill>
                  <a:srgbClr val="374151"/>
                </a:solidFill>
                <a:effectLst/>
                <a:latin typeface="Söhne"/>
              </a:rPr>
            </a:br>
            <a:r>
              <a:rPr lang="en-US" b="0" i="0" dirty="0">
                <a:solidFill>
                  <a:srgbClr val="374151"/>
                </a:solidFill>
                <a:effectLst/>
                <a:latin typeface="Söhne"/>
              </a:rPr>
              <a:t>You can see that, on this gene expression matrix, the values are continuous and include decimal points.</a:t>
            </a:r>
          </a:p>
          <a:p>
            <a:endParaRPr lang="en-US" b="0" i="0" dirty="0">
              <a:solidFill>
                <a:srgbClr val="374151"/>
              </a:solidFill>
              <a:effectLst/>
              <a:latin typeface="Söhne"/>
            </a:endParaRPr>
          </a:p>
          <a:p>
            <a:r>
              <a:rPr lang="en-US" b="0" i="0" dirty="0">
                <a:solidFill>
                  <a:srgbClr val="374151"/>
                </a:solidFill>
                <a:effectLst/>
                <a:latin typeface="Söhne"/>
              </a:rPr>
              <a:t>To simplify, we will transform these continuous values through a discrete conversion. We divide these values into five groups.</a:t>
            </a:r>
          </a:p>
          <a:p>
            <a:r>
              <a:rPr lang="en-US" b="0" i="0" dirty="0">
                <a:solidFill>
                  <a:srgbClr val="374151"/>
                </a:solidFill>
                <a:effectLst/>
                <a:latin typeface="Söhne"/>
              </a:rPr>
              <a:t>Each group here implies that the gene expression levels within the same group are relatively similar</a:t>
            </a:r>
          </a:p>
          <a:p>
            <a:endParaRPr lang="en-US" b="0" i="0" dirty="0">
              <a:solidFill>
                <a:srgbClr val="374151"/>
              </a:solidFill>
              <a:effectLst/>
              <a:latin typeface="Söhne"/>
            </a:endParaRPr>
          </a:p>
          <a:p>
            <a:r>
              <a:rPr lang="en-US" b="0" i="0" dirty="0">
                <a:solidFill>
                  <a:srgbClr val="374151"/>
                </a:solidFill>
                <a:effectLst/>
                <a:latin typeface="Söhne"/>
              </a:rPr>
              <a:t>After completing the conversion of discrete values, we can do the graph construction. </a:t>
            </a:r>
          </a:p>
          <a:p>
            <a:r>
              <a:rPr lang="en-US" b="0" i="0" dirty="0">
                <a:solidFill>
                  <a:srgbClr val="374151"/>
                </a:solidFill>
                <a:effectLst/>
                <a:latin typeface="Söhne"/>
              </a:rPr>
              <a:t>Graph construction is very easy, you put cells and genes on a graph. Circles represent Cells, and Squares represent Genes. </a:t>
            </a:r>
          </a:p>
          <a:p>
            <a:r>
              <a:rPr lang="en-US" b="0" i="0" dirty="0">
                <a:solidFill>
                  <a:srgbClr val="374151"/>
                </a:solidFill>
                <a:effectLst/>
                <a:latin typeface="Söhne"/>
              </a:rPr>
              <a:t>You know their relationship, you know which genes expressed in which cells, and you also know the value, the value is their expression level. </a:t>
            </a:r>
          </a:p>
          <a:p>
            <a:r>
              <a:rPr lang="en-US" b="0" i="0" dirty="0">
                <a:solidFill>
                  <a:srgbClr val="374151"/>
                </a:solidFill>
                <a:effectLst/>
                <a:latin typeface="Söhne"/>
              </a:rPr>
              <a:t>So based on their association, you can line them up. And this, is graph construction! </a:t>
            </a:r>
          </a:p>
          <a:p>
            <a:endParaRPr lang="en-US" b="0" i="0" dirty="0">
              <a:solidFill>
                <a:srgbClr val="374151"/>
              </a:solidFill>
              <a:effectLst/>
              <a:latin typeface="Söhne"/>
            </a:endParaRPr>
          </a:p>
          <a:p>
            <a:r>
              <a:rPr lang="en-US" b="0" i="0" dirty="0">
                <a:solidFill>
                  <a:srgbClr val="374151"/>
                </a:solidFill>
                <a:effectLst/>
                <a:latin typeface="Söhne"/>
              </a:rPr>
              <a:t>We will discuss SIMBA embedding later.</a:t>
            </a:r>
          </a:p>
        </p:txBody>
      </p:sp>
      <p:sp>
        <p:nvSpPr>
          <p:cNvPr id="4" name="Slide Number Placeholder 3"/>
          <p:cNvSpPr>
            <a:spLocks noGrp="1"/>
          </p:cNvSpPr>
          <p:nvPr>
            <p:ph type="sldNum" sz="quarter" idx="5"/>
          </p:nvPr>
        </p:nvSpPr>
        <p:spPr/>
        <p:txBody>
          <a:bodyPr/>
          <a:lstStyle/>
          <a:p>
            <a:fld id="{FBF5148F-E0CF-4A3E-922E-B1B7AB039E21}" type="slidenum">
              <a:rPr lang="en-US" smtClean="0"/>
              <a:t>38</a:t>
            </a:fld>
            <a:endParaRPr lang="en-US"/>
          </a:p>
        </p:txBody>
      </p:sp>
    </p:spTree>
    <p:extLst>
      <p:ext uri="{BB962C8B-B14F-4D97-AF65-F5344CB8AC3E}">
        <p14:creationId xmlns:p14="http://schemas.microsoft.com/office/powerpoint/2010/main" val="2231962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It's quite clever that, as we just mentioned, the first five applications we discussed all follow a similar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If we now take another look at the ATAC data, they also conducted data preprocessing beforehand.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However, the conversion of values here is a bit different. They performed binarization.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Because they only wanted to categorize chromatin accessibility as either 'open' or 'closed.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And Here, you can do the same thing to TF motif data and k-mer. After transformation, </a:t>
            </a:r>
            <a:r>
              <a:rPr lang="en-US" b="0" i="0" dirty="0">
                <a:solidFill>
                  <a:srgbClr val="374151"/>
                </a:solidFill>
                <a:effectLst/>
                <a:latin typeface="Söhne"/>
              </a:rPr>
              <a:t>You can perform graph construction similar to the previous one.</a:t>
            </a: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Peak selection (truncated-SVD) </a:t>
            </a:r>
            <a:r>
              <a:rPr lang="zh-TW" altLang="en-US" sz="1200" dirty="0"/>
              <a:t>包括 </a:t>
            </a:r>
            <a:r>
              <a:rPr lang="en-US" altLang="zh-TW" sz="1200" dirty="0"/>
              <a:t>find main peak (elbow plot</a:t>
            </a:r>
            <a:r>
              <a:rPr lang="zh-TW" altLang="en-US" sz="1200" dirty="0"/>
              <a:t>，前</a:t>
            </a:r>
            <a:r>
              <a:rPr lang="en-US" altLang="zh-TW" sz="1200" dirty="0"/>
              <a:t>k</a:t>
            </a:r>
            <a:r>
              <a:rPr lang="zh-TW" altLang="en-US" sz="1200" dirty="0"/>
              <a:t>個</a:t>
            </a:r>
            <a:r>
              <a:rPr lang="en-US" altLang="zh-TW" sz="1200" dirty="0"/>
              <a:t>Pcs)</a:t>
            </a:r>
            <a:r>
              <a:rPr lang="zh-TW" altLang="en-US" sz="1200" dirty="0"/>
              <a:t>、</a:t>
            </a:r>
            <a:r>
              <a:rPr lang="en-US" altLang="zh-TW" sz="1200" dirty="0"/>
              <a:t>pick peak (knee point detection algorithm)</a:t>
            </a:r>
            <a:r>
              <a:rPr lang="zh-TW" altLang="en-US" sz="1200" dirty="0"/>
              <a:t>、</a:t>
            </a:r>
            <a:r>
              <a:rPr lang="en-US" altLang="zh-TW" sz="1200" dirty="0"/>
              <a:t>combine peak (variable peaks)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truncated-SVD</a:t>
            </a:r>
            <a:r>
              <a:rPr lang="zh-TW" altLang="en-US" sz="1200" dirty="0"/>
              <a:t>：只保留具有信息的</a:t>
            </a:r>
            <a:r>
              <a:rPr lang="en-US" altLang="zh-TW" sz="1200" dirty="0"/>
              <a:t>peak</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PCs selection</a:t>
            </a:r>
            <a:r>
              <a:rPr lang="en-US" altLang="zh-TW" sz="1200" dirty="0"/>
              <a:t>(</a:t>
            </a:r>
            <a:r>
              <a:rPr lang="en-US" altLang="zh-TW" sz="1200" b="1" dirty="0"/>
              <a:t>elbow</a:t>
            </a:r>
            <a:r>
              <a:rPr lang="en-US" altLang="zh-TW" sz="1200" dirty="0"/>
              <a:t>)</a:t>
            </a:r>
            <a:r>
              <a:rPr lang="en-US" sz="1200" dirty="0"/>
              <a:t>: </a:t>
            </a:r>
            <a:r>
              <a:rPr lang="zh-TW" altLang="en-US" sz="1200" dirty="0"/>
              <a:t>降維，把主幹挑出來，同時達到去噪</a:t>
            </a:r>
            <a:endParaRPr lang="en-US" altLang="zh-TW" sz="120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peak pick</a:t>
            </a:r>
            <a:r>
              <a:rPr lang="zh-TW" altLang="en-US" sz="1200" dirty="0"/>
              <a:t> </a:t>
            </a:r>
            <a:r>
              <a:rPr lang="en-US" altLang="zh-TW" sz="1200" b="1" dirty="0"/>
              <a:t>(knee point detection algo</a:t>
            </a:r>
            <a:r>
              <a:rPr lang="en-US" altLang="zh-TW" sz="1200"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Variable peaks combination</a:t>
            </a:r>
          </a:p>
        </p:txBody>
      </p:sp>
      <p:sp>
        <p:nvSpPr>
          <p:cNvPr id="4" name="Slide Number Placeholder 3"/>
          <p:cNvSpPr>
            <a:spLocks noGrp="1"/>
          </p:cNvSpPr>
          <p:nvPr>
            <p:ph type="sldNum" sz="quarter" idx="5"/>
          </p:nvPr>
        </p:nvSpPr>
        <p:spPr/>
        <p:txBody>
          <a:bodyPr/>
          <a:lstStyle/>
          <a:p>
            <a:fld id="{FBF5148F-E0CF-4A3E-922E-B1B7AB039E21}" type="slidenum">
              <a:rPr lang="en-US" smtClean="0"/>
              <a:t>39</a:t>
            </a:fld>
            <a:endParaRPr lang="en-US"/>
          </a:p>
        </p:txBody>
      </p:sp>
    </p:spTree>
    <p:extLst>
      <p:ext uri="{BB962C8B-B14F-4D97-AF65-F5344CB8AC3E}">
        <p14:creationId xmlns:p14="http://schemas.microsoft.com/office/powerpoint/2010/main" val="40715333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concept of multimodal analysis is essentially the combination of the two previous approaches.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40</a:t>
            </a:fld>
            <a:endParaRPr lang="en-US"/>
          </a:p>
        </p:txBody>
      </p:sp>
    </p:spTree>
    <p:extLst>
      <p:ext uri="{BB962C8B-B14F-4D97-AF65-F5344CB8AC3E}">
        <p14:creationId xmlns:p14="http://schemas.microsoft.com/office/powerpoint/2010/main" val="124105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374151"/>
                </a:solidFill>
                <a:effectLst/>
                <a:latin typeface="Söhne"/>
              </a:rPr>
              <a:t>On the left, we have the approach for processing RNA data, while on the right, we have the approach for processing ATAC data</a:t>
            </a:r>
            <a:endParaRPr lang="zh-CN" alt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41</a:t>
            </a:fld>
            <a:endParaRPr lang="en-US"/>
          </a:p>
        </p:txBody>
      </p:sp>
    </p:spTree>
    <p:extLst>
      <p:ext uri="{BB962C8B-B14F-4D97-AF65-F5344CB8AC3E}">
        <p14:creationId xmlns:p14="http://schemas.microsoft.com/office/powerpoint/2010/main" val="1179303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Batch correction analysis is essentially the same, but it involves constructing different graphs for different batches</a:t>
            </a:r>
          </a:p>
          <a:p>
            <a:r>
              <a:rPr lang="en-US" b="0" i="0" dirty="0">
                <a:solidFill>
                  <a:srgbClr val="374151"/>
                </a:solidFill>
                <a:effectLst/>
                <a:latin typeface="Söhne"/>
              </a:rPr>
              <a:t>So, here you can see many graphs</a:t>
            </a:r>
          </a:p>
          <a:p>
            <a:endParaRPr lang="en-US" b="0" i="0" dirty="0">
              <a:solidFill>
                <a:srgbClr val="374151"/>
              </a:solidFill>
              <a:effectLst/>
              <a:latin typeface="Söhne"/>
            </a:endParaRP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truncated randomized SVD</a:t>
            </a:r>
            <a:endParaRPr lang="en-US" sz="1200" dirty="0"/>
          </a:p>
          <a:p>
            <a:endParaRPr lang="en-US" b="0" dirty="0"/>
          </a:p>
        </p:txBody>
      </p:sp>
      <p:sp>
        <p:nvSpPr>
          <p:cNvPr id="4" name="Slide Number Placeholder 3"/>
          <p:cNvSpPr>
            <a:spLocks noGrp="1"/>
          </p:cNvSpPr>
          <p:nvPr>
            <p:ph type="sldNum" sz="quarter" idx="5"/>
          </p:nvPr>
        </p:nvSpPr>
        <p:spPr/>
        <p:txBody>
          <a:bodyPr/>
          <a:lstStyle/>
          <a:p>
            <a:fld id="{FBF5148F-E0CF-4A3E-922E-B1B7AB039E21}" type="slidenum">
              <a:rPr lang="en-US" smtClean="0"/>
              <a:t>42</a:t>
            </a:fld>
            <a:endParaRPr lang="en-US"/>
          </a:p>
        </p:txBody>
      </p:sp>
    </p:spTree>
    <p:extLst>
      <p:ext uri="{BB962C8B-B14F-4D97-AF65-F5344CB8AC3E}">
        <p14:creationId xmlns:p14="http://schemas.microsoft.com/office/powerpoint/2010/main" val="15254688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öhne"/>
              </a:rPr>
              <a:t>Truncated-SVD based vs. Truncated randomized SVD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öhne"/>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Söhne"/>
              </a:rPr>
              <a:t>Truncated-SVD based</a:t>
            </a:r>
            <a:r>
              <a:rPr lang="zh-TW" altLang="en-US" b="0" i="0" dirty="0">
                <a:effectLst/>
                <a:latin typeface="Söhne"/>
              </a:rPr>
              <a:t>：</a:t>
            </a:r>
            <a:r>
              <a:rPr lang="zh-CN" altLang="en-US" b="0" i="0" dirty="0">
                <a:solidFill>
                  <a:srgbClr val="374151"/>
                </a:solidFill>
                <a:effectLst/>
                <a:latin typeface="Söhne"/>
              </a:rPr>
              <a:t>用于降维和特征选择的方法。在这种情况下，</a:t>
            </a:r>
            <a:r>
              <a:rPr lang="en-US" altLang="zh-CN" b="0" i="0" dirty="0">
                <a:solidFill>
                  <a:srgbClr val="374151"/>
                </a:solidFill>
                <a:effectLst/>
                <a:latin typeface="Söhne"/>
              </a:rPr>
              <a:t>Truncated-SVD</a:t>
            </a:r>
            <a:r>
              <a:rPr lang="zh-CN" altLang="en-US" b="0" i="0" dirty="0">
                <a:solidFill>
                  <a:srgbClr val="374151"/>
                </a:solidFill>
                <a:effectLst/>
                <a:latin typeface="Söhne"/>
              </a:rPr>
              <a:t>用于选择和保留最重要的峰（</a:t>
            </a:r>
            <a:r>
              <a:rPr lang="en-US" altLang="zh-CN" b="0" i="0" dirty="0">
                <a:solidFill>
                  <a:srgbClr val="374151"/>
                </a:solidFill>
                <a:effectLst/>
                <a:latin typeface="Söhne"/>
              </a:rPr>
              <a:t>peak</a:t>
            </a:r>
            <a:r>
              <a:rPr lang="zh-CN" altLang="en-US" b="0" i="0" dirty="0">
                <a:solidFill>
                  <a:srgbClr val="374151"/>
                </a:solidFill>
                <a:effectLst/>
                <a:latin typeface="Söhne"/>
              </a:rPr>
              <a:t>）或箱子（</a:t>
            </a:r>
            <a:r>
              <a:rPr lang="en-US" altLang="zh-CN" b="0" i="0" dirty="0">
                <a:solidFill>
                  <a:srgbClr val="374151"/>
                </a:solidFill>
                <a:effectLst/>
                <a:latin typeface="Söhne"/>
              </a:rPr>
              <a:t>bin</a:t>
            </a:r>
            <a:r>
              <a:rPr lang="zh-CN" altLang="en-US" b="0" i="0" dirty="0">
                <a:solidFill>
                  <a:srgbClr val="374151"/>
                </a:solidFill>
                <a:effectLst/>
                <a:latin typeface="Söhne"/>
              </a:rPr>
              <a:t>），以加速分析并减少维度</a:t>
            </a:r>
            <a:endParaRPr lang="en-US" altLang="zh-CN" sz="1200" b="0" i="0" dirty="0">
              <a:solidFill>
                <a:srgbClr val="374151"/>
              </a:solidFill>
              <a:effectLst/>
              <a:latin typeface="Söhne"/>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dirty="0">
                <a:solidFill>
                  <a:srgbClr val="374151"/>
                </a:solidFill>
                <a:effectLst/>
                <a:latin typeface="Söhne"/>
              </a:rPr>
              <a:t>Truncated randomized SVD</a:t>
            </a:r>
            <a:r>
              <a:rPr lang="zh-TW" altLang="en-US" sz="1200" b="0" i="0" dirty="0">
                <a:solidFill>
                  <a:srgbClr val="374151"/>
                </a:solidFill>
                <a:effectLst/>
                <a:latin typeface="Söhne"/>
              </a:rPr>
              <a:t>：</a:t>
            </a:r>
            <a:r>
              <a:rPr lang="zh-CN" altLang="en-US" b="0" i="0" dirty="0">
                <a:solidFill>
                  <a:srgbClr val="374151"/>
                </a:solidFill>
                <a:effectLst/>
                <a:latin typeface="Söhne"/>
              </a:rPr>
              <a:t>用于整合不同批次（</a:t>
            </a:r>
            <a:r>
              <a:rPr lang="en-US" altLang="zh-CN" b="0" i="0" dirty="0">
                <a:solidFill>
                  <a:srgbClr val="374151"/>
                </a:solidFill>
                <a:effectLst/>
                <a:latin typeface="Söhne"/>
              </a:rPr>
              <a:t>batch</a:t>
            </a:r>
            <a:r>
              <a:rPr lang="zh-CN" altLang="en-US" b="0" i="0" dirty="0">
                <a:solidFill>
                  <a:srgbClr val="374151"/>
                </a:solidFill>
                <a:effectLst/>
                <a:latin typeface="Söhne"/>
              </a:rPr>
              <a:t>）之间的单细胞</a:t>
            </a:r>
            <a:r>
              <a:rPr lang="en-US" altLang="zh-CN" b="0" i="0" dirty="0">
                <a:solidFill>
                  <a:srgbClr val="374151"/>
                </a:solidFill>
                <a:effectLst/>
                <a:latin typeface="Söhne"/>
              </a:rPr>
              <a:t>RNA-seq</a:t>
            </a:r>
            <a:r>
              <a:rPr lang="zh-CN" altLang="en-US" b="0" i="0" dirty="0">
                <a:solidFill>
                  <a:srgbClr val="374151"/>
                </a:solidFill>
                <a:effectLst/>
                <a:latin typeface="Söhne"/>
              </a:rPr>
              <a:t>数据。目的是</a:t>
            </a:r>
            <a:r>
              <a:rPr lang="zh-CN" altLang="en-US" b="1" i="0" dirty="0">
                <a:solidFill>
                  <a:srgbClr val="374151"/>
                </a:solidFill>
                <a:effectLst/>
                <a:latin typeface="Söhne"/>
              </a:rPr>
              <a:t>通过分析共享特征来推断不同批次之间细胞之间的关系</a:t>
            </a:r>
            <a:endParaRPr lang="en-US" sz="1200" b="1" dirty="0"/>
          </a:p>
          <a:p>
            <a:endParaRPr lang="en-US" b="0" dirty="0"/>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43</a:t>
            </a:fld>
            <a:endParaRPr lang="en-US"/>
          </a:p>
        </p:txBody>
      </p:sp>
    </p:spTree>
    <p:extLst>
      <p:ext uri="{BB962C8B-B14F-4D97-AF65-F5344CB8AC3E}">
        <p14:creationId xmlns:p14="http://schemas.microsoft.com/office/powerpoint/2010/main" val="11504058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Let’s not go into further about Multi-omics Integration; it's the same concept.</a:t>
            </a: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Gene activity calculation</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truncated randomized SVD</a:t>
            </a:r>
            <a:endParaRPr lang="en-US" sz="1200" dirty="0"/>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44</a:t>
            </a:fld>
            <a:endParaRPr lang="en-US"/>
          </a:p>
        </p:txBody>
      </p:sp>
    </p:spTree>
    <p:extLst>
      <p:ext uri="{BB962C8B-B14F-4D97-AF65-F5344CB8AC3E}">
        <p14:creationId xmlns:p14="http://schemas.microsoft.com/office/powerpoint/2010/main" val="37429705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fact, the most important part of this paper is the SIMBA embedding.</a:t>
            </a:r>
          </a:p>
          <a:p>
            <a:endParaRPr lang="en-US" b="0" i="0" dirty="0">
              <a:solidFill>
                <a:srgbClr val="374151"/>
              </a:solidFill>
              <a:effectLst/>
              <a:latin typeface="Söhne"/>
            </a:endParaRPr>
          </a:p>
          <a:p>
            <a:r>
              <a:rPr lang="en-US" b="0" i="0" dirty="0">
                <a:solidFill>
                  <a:srgbClr val="374151"/>
                </a:solidFill>
                <a:effectLst/>
                <a:latin typeface="Söhne"/>
              </a:rPr>
              <a:t>You may want to ask, how is the data normalized across different batches?</a:t>
            </a:r>
          </a:p>
          <a:p>
            <a:r>
              <a:rPr lang="en-US" b="0" i="0" dirty="0">
                <a:solidFill>
                  <a:srgbClr val="374151"/>
                </a:solidFill>
                <a:effectLst/>
                <a:latin typeface="Söhne"/>
              </a:rPr>
              <a:t>How do you integrate different datasets together?</a:t>
            </a:r>
          </a:p>
          <a:p>
            <a:r>
              <a:rPr lang="en-US" b="0" i="0" dirty="0">
                <a:solidFill>
                  <a:srgbClr val="374151"/>
                </a:solidFill>
                <a:effectLst/>
                <a:latin typeface="Söhne"/>
              </a:rPr>
              <a:t>or Why does using SIMBA embedding enable the construction of a world that lining up different features together?</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45</a:t>
            </a:fld>
            <a:endParaRPr lang="en-US"/>
          </a:p>
        </p:txBody>
      </p:sp>
    </p:spTree>
    <p:extLst>
      <p:ext uri="{BB962C8B-B14F-4D97-AF65-F5344CB8AC3E}">
        <p14:creationId xmlns:p14="http://schemas.microsoft.com/office/powerpoint/2010/main" val="1999940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Ok, so for SIMBA embedding…</a:t>
            </a:r>
          </a:p>
          <a:p>
            <a:r>
              <a:rPr lang="en-US" b="0" i="0" dirty="0">
                <a:solidFill>
                  <a:srgbClr val="374151"/>
                </a:solidFill>
                <a:effectLst/>
                <a:latin typeface="Söhne"/>
              </a:rPr>
              <a:t>First, we need to create a vector. Vectors are our input for SIMBA embedding.</a:t>
            </a:r>
          </a:p>
          <a:p>
            <a:r>
              <a:rPr lang="en-US" b="0" i="0" dirty="0">
                <a:solidFill>
                  <a:srgbClr val="374151"/>
                </a:solidFill>
                <a:effectLst/>
                <a:latin typeface="Söhne"/>
              </a:rPr>
              <a:t>We represent each edge existing in this space with a set of vectors.</a:t>
            </a: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 edge connects a starting position to an ending position. We call the node at starting position as “</a:t>
            </a:r>
            <a:r>
              <a:rPr lang="en-US" dirty="0"/>
              <a:t>source entity”, and we call the node at </a:t>
            </a:r>
            <a:r>
              <a:rPr lang="en-US" b="0" i="0" dirty="0">
                <a:solidFill>
                  <a:srgbClr val="374151"/>
                </a:solidFill>
                <a:effectLst/>
                <a:latin typeface="Söhne"/>
              </a:rPr>
              <a:t>ending position as “</a:t>
            </a:r>
            <a:r>
              <a:rPr lang="en-US" dirty="0"/>
              <a:t>destination entity”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And then, we calculate an edge score for each edge. The score is related to the two nodes connected by the edge. This score reflects our aim to find a method to effectively capture the connectivity relationships between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we calculate the loss. </a:t>
            </a:r>
            <a:r>
              <a:rPr lang="en-US" b="0" i="0" dirty="0">
                <a:solidFill>
                  <a:srgbClr val="374151"/>
                </a:solidFill>
                <a:effectLst/>
                <a:latin typeface="Söhne"/>
              </a:rPr>
              <a:t>Loss is a method used to assess whether these scores are sufficiently good. It is an evaluation for these scores.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Find the overall best score means, we will </a:t>
            </a:r>
            <a:r>
              <a:rPr lang="en-US" b="0" i="0" dirty="0">
                <a:solidFill>
                  <a:srgbClr val="374151"/>
                </a:solidFill>
                <a:effectLst/>
                <a:latin typeface="Söhne"/>
              </a:rPr>
              <a:t>adjust our score and seeing if these scores become increasingly better, meaning they approach the true connectivity relationships more closely.</a:t>
            </a:r>
            <a:endParaRPr lang="en-US" dirty="0">
              <a:solidFill>
                <a:schemeClr val="tx1"/>
              </a:solidFill>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46</a:t>
            </a:fld>
            <a:endParaRPr lang="en-US"/>
          </a:p>
        </p:txBody>
      </p:sp>
    </p:spTree>
    <p:extLst>
      <p:ext uri="{BB962C8B-B14F-4D97-AF65-F5344CB8AC3E}">
        <p14:creationId xmlns:p14="http://schemas.microsoft.com/office/powerpoint/2010/main" val="8109502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next step we need to do is to create some wrong edges, </a:t>
            </a:r>
            <a:r>
              <a:rPr lang="en-US" b="0" i="0" dirty="0">
                <a:solidFill>
                  <a:srgbClr val="374151"/>
                </a:solidFill>
                <a:effectLst/>
                <a:latin typeface="Söhne"/>
              </a:rPr>
              <a:t>It means those edges that shouldn't exist in the reality at all.</a:t>
            </a:r>
          </a:p>
          <a:p>
            <a:r>
              <a:rPr lang="en-US" b="0" i="0" dirty="0">
                <a:solidFill>
                  <a:srgbClr val="374151"/>
                </a:solidFill>
                <a:effectLst/>
                <a:latin typeface="Söhne"/>
              </a:rPr>
              <a:t>But why do we need to do this?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47</a:t>
            </a:fld>
            <a:endParaRPr lang="en-US"/>
          </a:p>
        </p:txBody>
      </p:sp>
    </p:spTree>
    <p:extLst>
      <p:ext uri="{BB962C8B-B14F-4D97-AF65-F5344CB8AC3E}">
        <p14:creationId xmlns:p14="http://schemas.microsoft.com/office/powerpoint/2010/main" val="31709628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Imagine you have a lot of food today. You want to teach your robot to distinguish whether food is tasty or not.</a:t>
            </a:r>
          </a:p>
          <a:p>
            <a:r>
              <a:rPr lang="en-US" b="0" i="0" dirty="0">
                <a:solidFill>
                  <a:srgbClr val="374151"/>
                </a:solidFill>
                <a:effectLst/>
                <a:latin typeface="Söhne"/>
              </a:rPr>
              <a:t>But if, during the teaching process, you only tell it that these are tasty foods without informing it that some foods are actually inedible, they are rotten, no one should eat it.</a:t>
            </a:r>
          </a:p>
          <a:p>
            <a:r>
              <a:rPr lang="en-US" b="0" i="0" dirty="0">
                <a:solidFill>
                  <a:srgbClr val="374151"/>
                </a:solidFill>
                <a:effectLst/>
                <a:latin typeface="Söhne"/>
              </a:rPr>
              <a:t>It will still perceive these as tasty foods.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48</a:t>
            </a:fld>
            <a:endParaRPr lang="en-US"/>
          </a:p>
        </p:txBody>
      </p:sp>
    </p:spTree>
    <p:extLst>
      <p:ext uri="{BB962C8B-B14F-4D97-AF65-F5344CB8AC3E}">
        <p14:creationId xmlns:p14="http://schemas.microsoft.com/office/powerpoint/2010/main" val="39349285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So, it's crucial to inform it that some foods are inedible, they are disgusting. </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49</a:t>
            </a:fld>
            <a:endParaRPr lang="en-US"/>
          </a:p>
        </p:txBody>
      </p:sp>
    </p:spTree>
    <p:extLst>
      <p:ext uri="{BB962C8B-B14F-4D97-AF65-F5344CB8AC3E}">
        <p14:creationId xmlns:p14="http://schemas.microsoft.com/office/powerpoint/2010/main" val="33044307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This is the key point of negative sampling, not only creating incorrect connections to indicate which connections should not exist. For points with stronger associations, we should also assign higher weights to reflect their strong relevance. Finally, based on the strength or absence of these relationships, compute the corresponding scores.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50</a:t>
            </a:fld>
            <a:endParaRPr lang="en-US"/>
          </a:p>
        </p:txBody>
      </p:sp>
    </p:spTree>
    <p:extLst>
      <p:ext uri="{BB962C8B-B14F-4D97-AF65-F5344CB8AC3E}">
        <p14:creationId xmlns:p14="http://schemas.microsoft.com/office/powerpoint/2010/main" val="19299927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Let's now talk about how to determine if this machine is good or not</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51</a:t>
            </a:fld>
            <a:endParaRPr lang="en-US"/>
          </a:p>
        </p:txBody>
      </p:sp>
    </p:spTree>
    <p:extLst>
      <p:ext uri="{BB962C8B-B14F-4D97-AF65-F5344CB8AC3E}">
        <p14:creationId xmlns:p14="http://schemas.microsoft.com/office/powerpoint/2010/main" val="37556755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We might all wonder, how do we know if what this machine says is correct? Is it accurate enough to predict the connections between different features?</a:t>
            </a:r>
          </a:p>
          <a:p>
            <a:r>
              <a:rPr lang="en-US" b="0" i="0" dirty="0">
                <a:solidFill>
                  <a:srgbClr val="374151"/>
                </a:solidFill>
                <a:effectLst/>
                <a:latin typeface="Söhne"/>
              </a:rPr>
              <a:t>Therefore, SIMBA adopts five metrics to evaluate the goodness of a model.</a:t>
            </a:r>
          </a:p>
          <a:p>
            <a:endParaRPr lang="en-US" b="0" i="0" dirty="0">
              <a:solidFill>
                <a:srgbClr val="374151"/>
              </a:solidFill>
              <a:effectLst/>
              <a:latin typeface="Söhne"/>
            </a:endParaRPr>
          </a:p>
          <a:p>
            <a:r>
              <a:rPr lang="en-US" sz="1200" b="0" i="0" dirty="0">
                <a:solidFill>
                  <a:srgbClr val="FF0000"/>
                </a:solidFill>
                <a:effectLst/>
                <a:latin typeface="Söhne"/>
              </a:rPr>
              <a:t>The first one is “Mean Reciprocal Rank”. </a:t>
            </a:r>
          </a:p>
          <a:p>
            <a:r>
              <a:rPr lang="en-US" sz="1200" b="0" i="0" dirty="0">
                <a:solidFill>
                  <a:srgbClr val="FF0000"/>
                </a:solidFill>
                <a:effectLst/>
                <a:latin typeface="Söhne"/>
              </a:rPr>
              <a:t>Because I want to be simple. So </a:t>
            </a:r>
            <a:r>
              <a:rPr lang="en-US" b="0" i="0" dirty="0">
                <a:solidFill>
                  <a:srgbClr val="374151"/>
                </a:solidFill>
                <a:effectLst/>
                <a:latin typeface="Söhne"/>
              </a:rPr>
              <a:t>Imagine this, you search for a question on Google, and Google provides you with a bunch of answers. The correct answer might be the first one, or the second one, or possibly further down the list. MRR is a method that measures, on average, how many answers you need to look at before finding the correct one.</a:t>
            </a:r>
          </a:p>
          <a:p>
            <a:endParaRPr lang="en-US" b="0" i="0" dirty="0">
              <a:solidFill>
                <a:srgbClr val="374151"/>
              </a:solidFill>
              <a:effectLst/>
              <a:latin typeface="Söhne"/>
            </a:endParaRPr>
          </a:p>
          <a:p>
            <a:r>
              <a:rPr lang="en-US" b="0" i="0" dirty="0">
                <a:solidFill>
                  <a:srgbClr val="374151"/>
                </a:solidFill>
                <a:effectLst/>
                <a:latin typeface="Söhne"/>
              </a:rPr>
              <a:t>The "R1" focuses specifically on the first item in that list. Each time you seek the correct answer, how high is the probability that the correct answer is the first one?</a:t>
            </a:r>
          </a:p>
          <a:p>
            <a:r>
              <a:rPr lang="en-US" b="0" i="0" dirty="0">
                <a:solidFill>
                  <a:srgbClr val="374151"/>
                </a:solidFill>
                <a:effectLst/>
                <a:latin typeface="Söhne"/>
              </a:rPr>
              <a:t>Same as R10 and R50, how high </a:t>
            </a:r>
            <a:r>
              <a:rPr lang="en-US" b="0" i="0" dirty="0" err="1">
                <a:solidFill>
                  <a:srgbClr val="374151"/>
                </a:solidFill>
                <a:effectLst/>
                <a:latin typeface="Söhne"/>
              </a:rPr>
              <a:t>high</a:t>
            </a:r>
            <a:r>
              <a:rPr lang="en-US" b="0" i="0" dirty="0">
                <a:solidFill>
                  <a:srgbClr val="374151"/>
                </a:solidFill>
                <a:effectLst/>
                <a:latin typeface="Söhne"/>
              </a:rPr>
              <a:t> is the probability that the correct answers shows within 10% or 50%</a:t>
            </a:r>
          </a:p>
          <a:p>
            <a:endParaRPr lang="en-US" b="0" i="0" dirty="0">
              <a:solidFill>
                <a:srgbClr val="374151"/>
              </a:solidFill>
              <a:effectLst/>
              <a:latin typeface="Söhne"/>
            </a:endParaRPr>
          </a:p>
          <a:p>
            <a:r>
              <a:rPr lang="en-US" b="0" i="0" dirty="0">
                <a:solidFill>
                  <a:srgbClr val="374151"/>
                </a:solidFill>
                <a:effectLst/>
                <a:latin typeface="Söhne"/>
              </a:rPr>
              <a:t>AUC, most of us are familiar with this. An important metric used to evaluate the performance of classification models. Judging an edge to truly exist in the world, and that edge does indeed exist, results in a high AUC.</a:t>
            </a:r>
          </a:p>
          <a:p>
            <a:r>
              <a:rPr lang="en-US" b="0" i="0" dirty="0">
                <a:solidFill>
                  <a:srgbClr val="374151"/>
                </a:solidFill>
                <a:effectLst/>
                <a:latin typeface="Söhne"/>
              </a:rPr>
              <a:t>On</a:t>
            </a:r>
            <a:r>
              <a:rPr lang="zh-TW" altLang="en-US" b="0" i="0" dirty="0">
                <a:solidFill>
                  <a:srgbClr val="374151"/>
                </a:solidFill>
                <a:effectLst/>
                <a:latin typeface="Söhne"/>
              </a:rPr>
              <a:t> </a:t>
            </a:r>
            <a:r>
              <a:rPr lang="en-US" altLang="zh-TW" b="0" i="0" dirty="0">
                <a:solidFill>
                  <a:srgbClr val="374151"/>
                </a:solidFill>
                <a:effectLst/>
                <a:latin typeface="Söhne"/>
              </a:rPr>
              <a:t>the</a:t>
            </a:r>
            <a:r>
              <a:rPr lang="zh-TW" altLang="en-US" b="0" i="0" dirty="0">
                <a:solidFill>
                  <a:srgbClr val="374151"/>
                </a:solidFill>
                <a:effectLst/>
                <a:latin typeface="Söhne"/>
              </a:rPr>
              <a:t> </a:t>
            </a:r>
            <a:r>
              <a:rPr lang="en-US" altLang="zh-TW" b="0" i="0" dirty="0">
                <a:solidFill>
                  <a:srgbClr val="374151"/>
                </a:solidFill>
                <a:effectLst/>
                <a:latin typeface="Söhne"/>
              </a:rPr>
              <a:t>contrary,</a:t>
            </a:r>
            <a:r>
              <a:rPr lang="zh-TW" altLang="en-US" b="0" i="0" dirty="0">
                <a:solidFill>
                  <a:srgbClr val="374151"/>
                </a:solidFill>
                <a:effectLst/>
                <a:latin typeface="Söhne"/>
              </a:rPr>
              <a:t> </a:t>
            </a:r>
            <a:r>
              <a:rPr lang="en-US" altLang="zh-TW" b="0" i="0" dirty="0">
                <a:solidFill>
                  <a:srgbClr val="374151"/>
                </a:solidFill>
                <a:effectLst/>
                <a:latin typeface="Söhne"/>
              </a:rPr>
              <a:t>predict </a:t>
            </a:r>
            <a:r>
              <a:rPr lang="en-US" altLang="zh-TW" b="0" i="0" dirty="0" err="1">
                <a:solidFill>
                  <a:srgbClr val="374151"/>
                </a:solidFill>
                <a:effectLst/>
                <a:latin typeface="Söhne"/>
              </a:rPr>
              <a:t>wronly</a:t>
            </a:r>
            <a:r>
              <a:rPr lang="en-US" altLang="zh-TW" b="0" i="0" dirty="0">
                <a:solidFill>
                  <a:srgbClr val="374151"/>
                </a:solidFill>
                <a:effectLst/>
                <a:latin typeface="Söhne"/>
              </a:rPr>
              <a:t>, </a:t>
            </a:r>
            <a:r>
              <a:rPr lang="en-US" b="0" i="0" dirty="0">
                <a:solidFill>
                  <a:srgbClr val="374151"/>
                </a:solidFill>
                <a:effectLst/>
                <a:latin typeface="Söhne"/>
              </a:rPr>
              <a:t>indicate that the model does not classify well, resulting in a low AUC</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52</a:t>
            </a:fld>
            <a:endParaRPr lang="en-US"/>
          </a:p>
        </p:txBody>
      </p:sp>
    </p:spTree>
    <p:extLst>
      <p:ext uri="{BB962C8B-B14F-4D97-AF65-F5344CB8AC3E}">
        <p14:creationId xmlns:p14="http://schemas.microsoft.com/office/powerpoint/2010/main" val="706620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53</a:t>
            </a:fld>
            <a:endParaRPr lang="en-US"/>
          </a:p>
        </p:txBody>
      </p:sp>
    </p:spTree>
    <p:extLst>
      <p:ext uri="{BB962C8B-B14F-4D97-AF65-F5344CB8AC3E}">
        <p14:creationId xmlns:p14="http://schemas.microsoft.com/office/powerpoint/2010/main" val="363638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https://zhuanlan.zhihu.com/p/108441063</a:t>
            </a:r>
          </a:p>
        </p:txBody>
      </p:sp>
      <p:sp>
        <p:nvSpPr>
          <p:cNvPr id="4" name="Slide Number Placeholder 3"/>
          <p:cNvSpPr>
            <a:spLocks noGrp="1"/>
          </p:cNvSpPr>
          <p:nvPr>
            <p:ph type="sldNum" sz="quarter" idx="5"/>
          </p:nvPr>
        </p:nvSpPr>
        <p:spPr/>
        <p:txBody>
          <a:bodyPr/>
          <a:lstStyle/>
          <a:p>
            <a:fld id="{FBF5148F-E0CF-4A3E-922E-B1B7AB039E21}" type="slidenum">
              <a:rPr lang="en-US" smtClean="0"/>
              <a:t>58</a:t>
            </a:fld>
            <a:endParaRPr lang="en-US"/>
          </a:p>
        </p:txBody>
      </p:sp>
    </p:spTree>
    <p:extLst>
      <p:ext uri="{BB962C8B-B14F-4D97-AF65-F5344CB8AC3E}">
        <p14:creationId xmlns:p14="http://schemas.microsoft.com/office/powerpoint/2010/main" val="29906813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Before we dive into the discussion, I'd like to make a declaration. Due to time constraints, there are many mathematical concepts and details behind SIMBA that I have not mentioned. If anyone is interested, you can just come to seek me out for further discussion</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59</a:t>
            </a:fld>
            <a:endParaRPr lang="en-US"/>
          </a:p>
        </p:txBody>
      </p:sp>
    </p:spTree>
    <p:extLst>
      <p:ext uri="{BB962C8B-B14F-4D97-AF65-F5344CB8AC3E}">
        <p14:creationId xmlns:p14="http://schemas.microsoft.com/office/powerpoint/2010/main" val="36347605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the discussion, SIMBA believes it has successfully accomplished two things. First, through SIMBA, we can clearly differentiate various cell types. Secondly, it allows us to understand the regulatory mechanisms among genes, transcription, and chromatin factors within a single cell.</a:t>
            </a:r>
          </a:p>
          <a:p>
            <a:endParaRPr lang="en-US" b="0" i="0" dirty="0">
              <a:solidFill>
                <a:srgbClr val="374151"/>
              </a:solidFill>
              <a:effectLst/>
              <a:latin typeface="Söhne"/>
            </a:endParaRPr>
          </a:p>
          <a:p>
            <a:r>
              <a:rPr lang="en-US" b="0" i="0" dirty="0">
                <a:solidFill>
                  <a:srgbClr val="374151"/>
                </a:solidFill>
                <a:effectLst/>
                <a:latin typeface="Söhne"/>
              </a:rPr>
              <a:t>However, is there a chance to incorporate more variables in the future?</a:t>
            </a:r>
          </a:p>
          <a:p>
            <a:r>
              <a:rPr lang="en-US" b="0" i="0" dirty="0">
                <a:solidFill>
                  <a:srgbClr val="374151"/>
                </a:solidFill>
                <a:effectLst/>
                <a:latin typeface="Söhne"/>
              </a:rPr>
              <a:t>For instance, time points, or some interfering factors</a:t>
            </a:r>
            <a:r>
              <a:rPr lang="zh-TW" altLang="en-US" b="0" i="0" dirty="0">
                <a:solidFill>
                  <a:srgbClr val="374151"/>
                </a:solidFill>
                <a:effectLst/>
                <a:latin typeface="Söhne"/>
              </a:rPr>
              <a:t>？</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en-US" b="0" i="0" dirty="0">
                <a:solidFill>
                  <a:srgbClr val="374151"/>
                </a:solidFill>
                <a:effectLst/>
                <a:latin typeface="Söhne"/>
              </a:rPr>
              <a:t>Indeed, with each additional variable, we are essentially adding another dimension to the data, which may complicate the analysis significantly. However, it‘s a matter worth considering</a:t>
            </a:r>
            <a:r>
              <a:rPr lang="zh-TW" altLang="en-US" b="0" i="0" dirty="0">
                <a:solidFill>
                  <a:srgbClr val="374151"/>
                </a:solidFill>
                <a:effectLst/>
                <a:latin typeface="Söhne"/>
              </a:rPr>
              <a:t> </a:t>
            </a:r>
            <a:r>
              <a:rPr lang="en-US" altLang="zh-TW" b="0" i="0" dirty="0">
                <a:solidFill>
                  <a:srgbClr val="374151"/>
                </a:solidFill>
                <a:effectLst/>
                <a:latin typeface="Söhne"/>
              </a:rPr>
              <a:t>for everyone. </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61</a:t>
            </a:fld>
            <a:endParaRPr lang="en-US"/>
          </a:p>
        </p:txBody>
      </p:sp>
    </p:spTree>
    <p:extLst>
      <p:ext uri="{BB962C8B-B14F-4D97-AF65-F5344CB8AC3E}">
        <p14:creationId xmlns:p14="http://schemas.microsoft.com/office/powerpoint/2010/main" val="36897984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your listening, this is the end of my presentation. Do you guys have any question?</a:t>
            </a:r>
          </a:p>
        </p:txBody>
      </p:sp>
      <p:sp>
        <p:nvSpPr>
          <p:cNvPr id="4" name="Slide Number Placeholder 3"/>
          <p:cNvSpPr>
            <a:spLocks noGrp="1"/>
          </p:cNvSpPr>
          <p:nvPr>
            <p:ph type="sldNum" sz="quarter" idx="5"/>
          </p:nvPr>
        </p:nvSpPr>
        <p:spPr/>
        <p:txBody>
          <a:bodyPr/>
          <a:lstStyle/>
          <a:p>
            <a:fld id="{FBF5148F-E0CF-4A3E-922E-B1B7AB039E21}" type="slidenum">
              <a:rPr lang="en-US" smtClean="0"/>
              <a:t>62</a:t>
            </a:fld>
            <a:endParaRPr lang="en-US"/>
          </a:p>
        </p:txBody>
      </p:sp>
    </p:spTree>
    <p:extLst>
      <p:ext uri="{BB962C8B-B14F-4D97-AF65-F5344CB8AC3E}">
        <p14:creationId xmlns:p14="http://schemas.microsoft.com/office/powerpoint/2010/main" val="28111627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simba</a:t>
            </a:r>
            <a:r>
              <a:rPr lang="en-US" b="0" i="0" dirty="0">
                <a:solidFill>
                  <a:srgbClr val="374151"/>
                </a:solidFill>
                <a:effectLst/>
                <a:latin typeface="Söhne"/>
              </a:rPr>
              <a:t> </a:t>
            </a:r>
            <a:r>
              <a:rPr lang="zh-TW" altLang="en-US" b="0" i="0" dirty="0">
                <a:solidFill>
                  <a:srgbClr val="374151"/>
                </a:solidFill>
                <a:effectLst/>
                <a:latin typeface="Söhne"/>
              </a:rPr>
              <a:t>如果沒有 </a:t>
            </a:r>
            <a:r>
              <a:rPr lang="en-US" altLang="zh-TW" b="0" i="0" dirty="0" err="1">
                <a:solidFill>
                  <a:srgbClr val="374151"/>
                </a:solidFill>
                <a:effectLst/>
                <a:latin typeface="Söhne"/>
              </a:rPr>
              <a:t>Bioconda</a:t>
            </a:r>
            <a:r>
              <a:rPr lang="en-US" altLang="zh-TW" b="0" i="0" dirty="0">
                <a:solidFill>
                  <a:srgbClr val="374151"/>
                </a:solidFill>
                <a:effectLst/>
                <a:latin typeface="Söhne"/>
              </a:rPr>
              <a:t> </a:t>
            </a:r>
            <a:r>
              <a:rPr lang="zh-TW" altLang="en-US" b="0" i="0" dirty="0">
                <a:solidFill>
                  <a:srgbClr val="374151"/>
                </a:solidFill>
                <a:effectLst/>
                <a:latin typeface="Söhne"/>
              </a:rPr>
              <a:t>不可用。你需要添加 </a:t>
            </a:r>
            <a:r>
              <a:rPr lang="en-US" dirty="0" err="1"/>
              <a:t>bioconda</a:t>
            </a:r>
            <a:r>
              <a:rPr lang="en-US" b="0" i="0" dirty="0">
                <a:solidFill>
                  <a:srgbClr val="374151"/>
                </a:solidFill>
                <a:effectLst/>
                <a:latin typeface="Söhne"/>
              </a:rPr>
              <a:t> </a:t>
            </a:r>
            <a:r>
              <a:rPr lang="zh-TW" altLang="en-US" b="0" i="0" dirty="0">
                <a:solidFill>
                  <a:srgbClr val="374151"/>
                </a:solidFill>
                <a:effectLst/>
                <a:latin typeface="Söhne"/>
              </a:rPr>
              <a:t>頻道到你的 </a:t>
            </a:r>
            <a:r>
              <a:rPr lang="en-US" b="0" i="0" dirty="0" err="1">
                <a:solidFill>
                  <a:srgbClr val="374151"/>
                </a:solidFill>
                <a:effectLst/>
                <a:latin typeface="Söhne"/>
              </a:rPr>
              <a:t>conda</a:t>
            </a:r>
            <a:r>
              <a:rPr lang="en-US" b="0" i="0" dirty="0">
                <a:solidFill>
                  <a:srgbClr val="374151"/>
                </a:solidFill>
                <a:effectLst/>
                <a:latin typeface="Söhne"/>
              </a:rPr>
              <a:t> </a:t>
            </a:r>
            <a:r>
              <a:rPr lang="zh-TW" altLang="en-US" b="0" i="0" dirty="0">
                <a:solidFill>
                  <a:srgbClr val="374151"/>
                </a:solidFill>
                <a:effectLst/>
                <a:latin typeface="Söhne"/>
              </a:rPr>
              <a:t>頻道列表中，因為 </a:t>
            </a:r>
            <a:r>
              <a:rPr lang="en-US" dirty="0" err="1"/>
              <a:t>simba</a:t>
            </a:r>
            <a:r>
              <a:rPr lang="en-US" b="0" i="0" dirty="0">
                <a:solidFill>
                  <a:srgbClr val="374151"/>
                </a:solidFill>
                <a:effectLst/>
                <a:latin typeface="Söhne"/>
              </a:rPr>
              <a:t> </a:t>
            </a:r>
            <a:r>
              <a:rPr lang="zh-TW" altLang="en-US" b="0" i="0" dirty="0">
                <a:solidFill>
                  <a:srgbClr val="374151"/>
                </a:solidFill>
                <a:effectLst/>
                <a:latin typeface="Söhne"/>
              </a:rPr>
              <a:t>是從 </a:t>
            </a:r>
            <a:r>
              <a:rPr lang="en-US" dirty="0" err="1"/>
              <a:t>bioconda</a:t>
            </a:r>
            <a:r>
              <a:rPr lang="en-US" b="0" i="0" dirty="0">
                <a:solidFill>
                  <a:srgbClr val="374151"/>
                </a:solidFill>
                <a:effectLst/>
                <a:latin typeface="Söhne"/>
              </a:rPr>
              <a:t> </a:t>
            </a:r>
            <a:r>
              <a:rPr lang="zh-TW" altLang="en-US" b="0" i="0" dirty="0">
                <a:solidFill>
                  <a:srgbClr val="374151"/>
                </a:solidFill>
                <a:effectLst/>
                <a:latin typeface="Söhne"/>
              </a:rPr>
              <a:t>頻道提供的</a:t>
            </a:r>
            <a:endParaRPr lang="en-US" dirty="0"/>
          </a:p>
        </p:txBody>
      </p:sp>
      <p:sp>
        <p:nvSpPr>
          <p:cNvPr id="4" name="Slide Number Placeholder 3"/>
          <p:cNvSpPr>
            <a:spLocks noGrp="1"/>
          </p:cNvSpPr>
          <p:nvPr>
            <p:ph type="sldNum" sz="quarter" idx="5"/>
          </p:nvPr>
        </p:nvSpPr>
        <p:spPr/>
        <p:txBody>
          <a:bodyPr/>
          <a:lstStyle/>
          <a:p>
            <a:fld id="{7AC7CC76-339A-4079-A670-4ACE7A5FC064}" type="slidenum">
              <a:rPr lang="en-US" smtClean="0"/>
              <a:t>67</a:t>
            </a:fld>
            <a:endParaRPr lang="en-US"/>
          </a:p>
        </p:txBody>
      </p:sp>
    </p:spTree>
    <p:extLst>
      <p:ext uri="{BB962C8B-B14F-4D97-AF65-F5344CB8AC3E}">
        <p14:creationId xmlns:p14="http://schemas.microsoft.com/office/powerpoint/2010/main" val="14054945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TW" b="1" i="0" dirty="0">
                <a:solidFill>
                  <a:srgbClr val="374151"/>
                </a:solidFill>
                <a:effectLst/>
                <a:latin typeface="Söhne"/>
              </a:rPr>
              <a:t>dpi=80</a:t>
            </a:r>
            <a:endParaRPr lang="zh-TW" altLang="en-US" b="0" i="0" dirty="0">
              <a:solidFill>
                <a:srgbClr val="374151"/>
              </a:solidFill>
              <a:effectLst/>
              <a:latin typeface="Söhne"/>
            </a:endParaRPr>
          </a:p>
          <a:p>
            <a:pPr marL="457200" lvl="1" indent="0" algn="l">
              <a:buFont typeface="+mj-lt"/>
              <a:buNone/>
            </a:pPr>
            <a:r>
              <a:rPr lang="en-US" altLang="zh-TW" b="0" i="0" dirty="0">
                <a:solidFill>
                  <a:srgbClr val="374151"/>
                </a:solidFill>
                <a:effectLst/>
                <a:latin typeface="Söhne"/>
              </a:rPr>
              <a:t>dpi </a:t>
            </a:r>
            <a:r>
              <a:rPr lang="zh-TW" altLang="en-US" b="0" i="0" dirty="0">
                <a:solidFill>
                  <a:srgbClr val="374151"/>
                </a:solidFill>
                <a:effectLst/>
                <a:latin typeface="Söhne"/>
              </a:rPr>
              <a:t>代表 </a:t>
            </a:r>
            <a:r>
              <a:rPr lang="en-US" altLang="zh-TW" b="0" i="0" dirty="0">
                <a:solidFill>
                  <a:srgbClr val="374151"/>
                </a:solidFill>
                <a:effectLst/>
                <a:latin typeface="Söhne"/>
              </a:rPr>
              <a:t>"dots per inch"</a:t>
            </a:r>
            <a:r>
              <a:rPr lang="zh-TW" altLang="en-US" b="0" i="0" dirty="0">
                <a:solidFill>
                  <a:srgbClr val="374151"/>
                </a:solidFill>
                <a:effectLst/>
                <a:latin typeface="Söhne"/>
              </a:rPr>
              <a:t>，即每英寸的點數。此參數設置圖形的解析度。</a:t>
            </a:r>
            <a:r>
              <a:rPr lang="en-US" altLang="zh-TW" b="0" i="0" dirty="0">
                <a:solidFill>
                  <a:srgbClr val="374151"/>
                </a:solidFill>
                <a:effectLst/>
                <a:latin typeface="Söhne"/>
              </a:rPr>
              <a:t>80 </a:t>
            </a:r>
            <a:r>
              <a:rPr lang="zh-TW" altLang="en-US" b="0" i="0" dirty="0">
                <a:solidFill>
                  <a:srgbClr val="374151"/>
                </a:solidFill>
                <a:effectLst/>
                <a:latin typeface="Söhne"/>
              </a:rPr>
              <a:t>是一個常見的</a:t>
            </a:r>
            <a:r>
              <a:rPr lang="en-US" altLang="zh-TW" b="0" i="0" dirty="0">
                <a:solidFill>
                  <a:srgbClr val="374151"/>
                </a:solidFill>
                <a:effectLst/>
                <a:latin typeface="Söhne"/>
              </a:rPr>
              <a:t>dpi</a:t>
            </a:r>
            <a:r>
              <a:rPr lang="zh-TW" altLang="en-US" b="0" i="0" dirty="0">
                <a:solidFill>
                  <a:srgbClr val="374151"/>
                </a:solidFill>
                <a:effectLst/>
                <a:latin typeface="Söhne"/>
              </a:rPr>
              <a:t>值，意味著每英寸有</a:t>
            </a:r>
            <a:r>
              <a:rPr lang="en-US" altLang="zh-TW" b="0" i="0" dirty="0">
                <a:solidFill>
                  <a:srgbClr val="374151"/>
                </a:solidFill>
                <a:effectLst/>
                <a:latin typeface="Söhne"/>
              </a:rPr>
              <a:t>80</a:t>
            </a:r>
            <a:r>
              <a:rPr lang="zh-TW" altLang="en-US" b="0" i="0" dirty="0">
                <a:solidFill>
                  <a:srgbClr val="374151"/>
                </a:solidFill>
                <a:effectLst/>
                <a:latin typeface="Söhne"/>
              </a:rPr>
              <a:t>個點。</a:t>
            </a:r>
          </a:p>
          <a:p>
            <a:pPr algn="l">
              <a:buFont typeface="+mj-lt"/>
              <a:buAutoNum type="arabicPeriod"/>
            </a:pPr>
            <a:r>
              <a:rPr lang="en-US" altLang="zh-TW" b="1" i="0" dirty="0">
                <a:solidFill>
                  <a:srgbClr val="374151"/>
                </a:solidFill>
                <a:effectLst/>
                <a:latin typeface="Söhne"/>
              </a:rPr>
              <a:t>style='white'</a:t>
            </a:r>
            <a:endParaRPr lang="zh-TW" altLang="en-US" b="0" i="0" dirty="0">
              <a:solidFill>
                <a:srgbClr val="374151"/>
              </a:solidFill>
              <a:effectLst/>
              <a:latin typeface="Söhne"/>
            </a:endParaRPr>
          </a:p>
          <a:p>
            <a:pPr marL="457200" lvl="1" indent="0" algn="l">
              <a:buFont typeface="+mj-lt"/>
              <a:buNone/>
            </a:pPr>
            <a:r>
              <a:rPr lang="zh-TW" altLang="en-US" b="0" i="0" dirty="0">
                <a:solidFill>
                  <a:srgbClr val="374151"/>
                </a:solidFill>
                <a:effectLst/>
                <a:latin typeface="Söhne"/>
              </a:rPr>
              <a:t>這可能是設置圖形背景的颜色或樣式。在這裡，背景樣式被設置為</a:t>
            </a:r>
            <a:r>
              <a:rPr lang="en-US" altLang="zh-TW" b="0" i="0" dirty="0">
                <a:solidFill>
                  <a:srgbClr val="374151"/>
                </a:solidFill>
                <a:effectLst/>
                <a:latin typeface="Söhne"/>
              </a:rPr>
              <a:t>'white'</a:t>
            </a:r>
            <a:r>
              <a:rPr lang="zh-TW" altLang="en-US" b="0" i="0" dirty="0">
                <a:solidFill>
                  <a:srgbClr val="374151"/>
                </a:solidFill>
                <a:effectLst/>
                <a:latin typeface="Söhne"/>
              </a:rPr>
              <a:t>。</a:t>
            </a:r>
          </a:p>
          <a:p>
            <a:pPr algn="l">
              <a:buFont typeface="+mj-lt"/>
              <a:buAutoNum type="arabicPeriod"/>
            </a:pPr>
            <a:r>
              <a:rPr lang="en-US" altLang="zh-TW" b="1" i="0" dirty="0" err="1">
                <a:solidFill>
                  <a:srgbClr val="374151"/>
                </a:solidFill>
                <a:effectLst/>
                <a:latin typeface="Söhne"/>
              </a:rPr>
              <a:t>fig_size</a:t>
            </a:r>
            <a:r>
              <a:rPr lang="en-US" altLang="zh-TW" b="1" i="0" dirty="0">
                <a:solidFill>
                  <a:srgbClr val="374151"/>
                </a:solidFill>
                <a:effectLst/>
                <a:latin typeface="Söhne"/>
              </a:rPr>
              <a:t>=[5,5]</a:t>
            </a:r>
            <a:endParaRPr lang="zh-TW" altLang="en-US" b="0" i="0" dirty="0">
              <a:solidFill>
                <a:srgbClr val="374151"/>
              </a:solidFill>
              <a:effectLst/>
              <a:latin typeface="Söhne"/>
            </a:endParaRPr>
          </a:p>
          <a:p>
            <a:pPr marL="457200" lvl="1" indent="0" algn="l">
              <a:buFont typeface="+mj-lt"/>
              <a:buNone/>
            </a:pPr>
            <a:r>
              <a:rPr lang="en-US" altLang="zh-TW" b="0" i="0" dirty="0" err="1">
                <a:solidFill>
                  <a:srgbClr val="374151"/>
                </a:solidFill>
                <a:effectLst/>
                <a:latin typeface="Söhne"/>
              </a:rPr>
              <a:t>fig_size</a:t>
            </a:r>
            <a:r>
              <a:rPr lang="en-US" altLang="zh-TW" b="0" i="0" dirty="0">
                <a:solidFill>
                  <a:srgbClr val="374151"/>
                </a:solidFill>
                <a:effectLst/>
                <a:latin typeface="Söhne"/>
              </a:rPr>
              <a:t> </a:t>
            </a:r>
            <a:r>
              <a:rPr lang="zh-TW" altLang="en-US" b="0" i="0" dirty="0">
                <a:solidFill>
                  <a:srgbClr val="374151"/>
                </a:solidFill>
                <a:effectLst/>
                <a:latin typeface="Söhne"/>
              </a:rPr>
              <a:t>可能是用於設置圖形的大小。在這裡，圖形的寬度和高度都被設置為</a:t>
            </a:r>
            <a:r>
              <a:rPr lang="en-US" altLang="zh-TW" b="0" i="0" dirty="0">
                <a:solidFill>
                  <a:srgbClr val="374151"/>
                </a:solidFill>
                <a:effectLst/>
                <a:latin typeface="Söhne"/>
              </a:rPr>
              <a:t>5</a:t>
            </a:r>
            <a:r>
              <a:rPr lang="zh-TW" altLang="en-US" b="0" i="0" dirty="0">
                <a:solidFill>
                  <a:srgbClr val="374151"/>
                </a:solidFill>
                <a:effectLst/>
                <a:latin typeface="Söhne"/>
              </a:rPr>
              <a:t>（可能是英寸或其他單位）。</a:t>
            </a:r>
          </a:p>
          <a:p>
            <a:pPr algn="l">
              <a:buFont typeface="+mj-lt"/>
              <a:buAutoNum type="arabicPeriod"/>
            </a:pPr>
            <a:r>
              <a:rPr lang="en-US" altLang="zh-TW" b="1" i="0" dirty="0" err="1">
                <a:solidFill>
                  <a:srgbClr val="374151"/>
                </a:solidFill>
                <a:effectLst/>
                <a:latin typeface="Söhne"/>
              </a:rPr>
              <a:t>rc</a:t>
            </a:r>
            <a:r>
              <a:rPr lang="en-US" altLang="zh-TW" b="1" i="0" dirty="0">
                <a:solidFill>
                  <a:srgbClr val="374151"/>
                </a:solidFill>
                <a:effectLst/>
                <a:latin typeface="Söhne"/>
              </a:rPr>
              <a:t>={'</a:t>
            </a:r>
            <a:r>
              <a:rPr lang="en-US" altLang="zh-TW" b="1" i="0" dirty="0" err="1">
                <a:solidFill>
                  <a:srgbClr val="374151"/>
                </a:solidFill>
                <a:effectLst/>
                <a:latin typeface="Söhne"/>
              </a:rPr>
              <a:t>image.cmap</a:t>
            </a:r>
            <a:r>
              <a:rPr lang="en-US" altLang="zh-TW" b="1" i="0" dirty="0">
                <a:solidFill>
                  <a:srgbClr val="374151"/>
                </a:solidFill>
                <a:effectLst/>
                <a:latin typeface="Söhne"/>
              </a:rPr>
              <a:t>': '</a:t>
            </a:r>
            <a:r>
              <a:rPr lang="en-US" altLang="zh-TW" b="1" i="0" dirty="0" err="1">
                <a:solidFill>
                  <a:srgbClr val="374151"/>
                </a:solidFill>
                <a:effectLst/>
                <a:latin typeface="Söhne"/>
              </a:rPr>
              <a:t>viridis</a:t>
            </a:r>
            <a:r>
              <a:rPr lang="en-US" altLang="zh-TW" b="1" i="0" dirty="0">
                <a:solidFill>
                  <a:srgbClr val="374151"/>
                </a:solidFill>
                <a:effectLst/>
                <a:latin typeface="Söhne"/>
              </a:rPr>
              <a:t>'}</a:t>
            </a:r>
            <a:endParaRPr lang="zh-TW" altLang="en-US" b="0" i="0" dirty="0">
              <a:solidFill>
                <a:srgbClr val="374151"/>
              </a:solidFill>
              <a:effectLst/>
              <a:latin typeface="Söhne"/>
            </a:endParaRPr>
          </a:p>
          <a:p>
            <a:pPr marL="742950" lvl="1" indent="-285750" algn="l">
              <a:buFont typeface="+mj-lt"/>
              <a:buAutoNum type="arabicPeriod"/>
            </a:pPr>
            <a:r>
              <a:rPr lang="en-US" altLang="zh-TW" b="0" i="0" dirty="0" err="1">
                <a:solidFill>
                  <a:srgbClr val="374151"/>
                </a:solidFill>
                <a:effectLst/>
                <a:latin typeface="Söhne"/>
              </a:rPr>
              <a:t>rc</a:t>
            </a:r>
            <a:r>
              <a:rPr lang="en-US" altLang="zh-TW" b="0" i="0" dirty="0">
                <a:solidFill>
                  <a:srgbClr val="374151"/>
                </a:solidFill>
                <a:effectLst/>
                <a:latin typeface="Söhne"/>
              </a:rPr>
              <a:t> </a:t>
            </a:r>
            <a:r>
              <a:rPr lang="zh-TW" altLang="en-US" b="0" i="0" dirty="0">
                <a:solidFill>
                  <a:srgbClr val="374151"/>
                </a:solidFill>
                <a:effectLst/>
                <a:latin typeface="Söhne"/>
              </a:rPr>
              <a:t>可能是用於設置或更新 </a:t>
            </a:r>
            <a:r>
              <a:rPr lang="en-US" altLang="zh-TW" b="0" i="0" dirty="0">
                <a:solidFill>
                  <a:srgbClr val="374151"/>
                </a:solidFill>
                <a:effectLst/>
                <a:latin typeface="Söhne"/>
              </a:rPr>
              <a:t>matplotlib </a:t>
            </a:r>
            <a:r>
              <a:rPr lang="zh-TW" altLang="en-US" b="0" i="0" dirty="0">
                <a:solidFill>
                  <a:srgbClr val="374151"/>
                </a:solidFill>
                <a:effectLst/>
                <a:latin typeface="Söhne"/>
              </a:rPr>
              <a:t>的運行時配置參數。</a:t>
            </a:r>
          </a:p>
          <a:p>
            <a:pPr marL="742950" lvl="1" indent="-285750" algn="l">
              <a:buFont typeface="+mj-lt"/>
              <a:buAutoNum type="arabicPeriod"/>
            </a:pPr>
            <a:r>
              <a:rPr lang="zh-TW" altLang="en-US" b="0" i="0" dirty="0">
                <a:solidFill>
                  <a:srgbClr val="374151"/>
                </a:solidFill>
                <a:effectLst/>
                <a:latin typeface="Söhne"/>
              </a:rPr>
              <a:t>在這個字典中，</a:t>
            </a:r>
            <a:r>
              <a:rPr lang="en-US" altLang="zh-TW" b="0" i="0" dirty="0">
                <a:solidFill>
                  <a:srgbClr val="374151"/>
                </a:solidFill>
                <a:effectLst/>
                <a:latin typeface="Söhne"/>
              </a:rPr>
              <a:t>'</a:t>
            </a:r>
            <a:r>
              <a:rPr lang="en-US" altLang="zh-TW" b="0" i="0" dirty="0" err="1">
                <a:solidFill>
                  <a:srgbClr val="374151"/>
                </a:solidFill>
                <a:effectLst/>
                <a:latin typeface="Söhne"/>
              </a:rPr>
              <a:t>image.cmap</a:t>
            </a:r>
            <a:r>
              <a:rPr lang="en-US" altLang="zh-TW" b="0" i="0" dirty="0">
                <a:solidFill>
                  <a:srgbClr val="374151"/>
                </a:solidFill>
                <a:effectLst/>
                <a:latin typeface="Söhne"/>
              </a:rPr>
              <a:t>': '</a:t>
            </a:r>
            <a:r>
              <a:rPr lang="en-US" altLang="zh-TW" b="0" i="0" dirty="0" err="1">
                <a:solidFill>
                  <a:srgbClr val="374151"/>
                </a:solidFill>
                <a:effectLst/>
                <a:latin typeface="Söhne"/>
              </a:rPr>
              <a:t>viridis</a:t>
            </a:r>
            <a:r>
              <a:rPr lang="en-US" altLang="zh-TW" b="0" i="0" dirty="0">
                <a:solidFill>
                  <a:srgbClr val="374151"/>
                </a:solidFill>
                <a:effectLst/>
                <a:latin typeface="Söhne"/>
              </a:rPr>
              <a:t>' </a:t>
            </a:r>
            <a:r>
              <a:rPr lang="zh-TW" altLang="en-US" b="0" i="0" dirty="0">
                <a:solidFill>
                  <a:srgbClr val="374151"/>
                </a:solidFill>
                <a:effectLst/>
                <a:latin typeface="Söhne"/>
              </a:rPr>
              <a:t>設置了圖像的</a:t>
            </a:r>
            <a:r>
              <a:rPr lang="en-US" altLang="zh-TW" b="0" i="0" dirty="0">
                <a:solidFill>
                  <a:srgbClr val="374151"/>
                </a:solidFill>
                <a:effectLst/>
                <a:latin typeface="Söhne"/>
              </a:rPr>
              <a:t>colormap</a:t>
            </a:r>
            <a:r>
              <a:rPr lang="zh-TW" altLang="en-US" b="0" i="0" dirty="0">
                <a:solidFill>
                  <a:srgbClr val="374151"/>
                </a:solidFill>
                <a:effectLst/>
                <a:latin typeface="Söhne"/>
              </a:rPr>
              <a:t>（顏色映射）為 </a:t>
            </a:r>
            <a:r>
              <a:rPr lang="en-US" altLang="zh-TW" b="0" i="0" dirty="0">
                <a:solidFill>
                  <a:srgbClr val="374151"/>
                </a:solidFill>
                <a:effectLst/>
                <a:latin typeface="Söhne"/>
              </a:rPr>
              <a:t>'</a:t>
            </a:r>
            <a:r>
              <a:rPr lang="en-US" altLang="zh-TW" b="0" i="0" dirty="0" err="1">
                <a:solidFill>
                  <a:srgbClr val="374151"/>
                </a:solidFill>
                <a:effectLst/>
                <a:latin typeface="Söhne"/>
              </a:rPr>
              <a:t>viridis</a:t>
            </a:r>
            <a:r>
              <a:rPr lang="en-US" altLang="zh-TW" b="0" i="0" dirty="0">
                <a:solidFill>
                  <a:srgbClr val="374151"/>
                </a:solidFill>
                <a:effectLst/>
                <a:latin typeface="Söhne"/>
              </a:rPr>
              <a:t>'</a:t>
            </a:r>
            <a:r>
              <a:rPr lang="zh-TW" altLang="en-US" b="0" i="0" dirty="0">
                <a:solidFill>
                  <a:srgbClr val="374151"/>
                </a:solidFill>
                <a:effectLst/>
                <a:latin typeface="Söhne"/>
              </a:rPr>
              <a:t>。</a:t>
            </a:r>
            <a:r>
              <a:rPr lang="en-US" altLang="zh-TW" b="0" i="0" dirty="0">
                <a:solidFill>
                  <a:srgbClr val="374151"/>
                </a:solidFill>
                <a:effectLst/>
                <a:latin typeface="Söhne"/>
              </a:rPr>
              <a:t>'</a:t>
            </a:r>
            <a:r>
              <a:rPr lang="en-US" altLang="zh-TW" b="0" i="0" dirty="0" err="1">
                <a:solidFill>
                  <a:srgbClr val="374151"/>
                </a:solidFill>
                <a:effectLst/>
                <a:latin typeface="Söhne"/>
              </a:rPr>
              <a:t>viridis</a:t>
            </a:r>
            <a:r>
              <a:rPr lang="en-US" altLang="zh-TW" b="0" i="0" dirty="0">
                <a:solidFill>
                  <a:srgbClr val="374151"/>
                </a:solidFill>
                <a:effectLst/>
                <a:latin typeface="Söhne"/>
              </a:rPr>
              <a:t>' </a:t>
            </a:r>
            <a:r>
              <a:rPr lang="zh-TW" altLang="en-US" b="0" i="0" dirty="0">
                <a:solidFill>
                  <a:srgbClr val="374151"/>
                </a:solidFill>
                <a:effectLst/>
                <a:latin typeface="Söhne"/>
              </a:rPr>
              <a:t>是一個在</a:t>
            </a:r>
            <a:r>
              <a:rPr lang="en-US" altLang="zh-TW" b="0" i="0" dirty="0">
                <a:solidFill>
                  <a:srgbClr val="374151"/>
                </a:solidFill>
                <a:effectLst/>
                <a:latin typeface="Söhne"/>
              </a:rPr>
              <a:t>matplotlib</a:t>
            </a:r>
            <a:r>
              <a:rPr lang="zh-TW" altLang="en-US" b="0" i="0" dirty="0">
                <a:solidFill>
                  <a:srgbClr val="374151"/>
                </a:solidFill>
                <a:effectLst/>
                <a:latin typeface="Söhne"/>
              </a:rPr>
              <a:t>中常見的</a:t>
            </a:r>
            <a:r>
              <a:rPr lang="en-US" altLang="zh-TW" b="0" i="0" dirty="0">
                <a:solidFill>
                  <a:srgbClr val="374151"/>
                </a:solidFill>
                <a:effectLst/>
                <a:latin typeface="Söhne"/>
              </a:rPr>
              <a:t>colormap</a:t>
            </a:r>
            <a:r>
              <a:rPr lang="zh-TW" altLang="en-US" b="0" i="0" dirty="0">
                <a:solidFill>
                  <a:srgbClr val="374151"/>
                </a:solidFill>
                <a:effectLst/>
                <a:latin typeface="Söhne"/>
              </a:rPr>
              <a:t>，它是一個從藍色到黃色的顏色範圍。</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81</a:t>
            </a:fld>
            <a:endParaRPr lang="en-US"/>
          </a:p>
        </p:txBody>
      </p:sp>
    </p:spTree>
    <p:extLst>
      <p:ext uri="{BB962C8B-B14F-4D97-AF65-F5344CB8AC3E}">
        <p14:creationId xmlns:p14="http://schemas.microsoft.com/office/powerpoint/2010/main" val="21647601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from </a:t>
            </a:r>
            <a:r>
              <a:rPr lang="en-US" b="1" i="0" dirty="0" err="1">
                <a:solidFill>
                  <a:srgbClr val="374151"/>
                </a:solidFill>
                <a:effectLst/>
                <a:latin typeface="Söhne"/>
              </a:rPr>
              <a:t>matplotlib_inline.backend_inline</a:t>
            </a:r>
            <a:r>
              <a:rPr lang="en-US" b="1" i="0" dirty="0">
                <a:solidFill>
                  <a:srgbClr val="374151"/>
                </a:solidFill>
                <a:effectLst/>
                <a:latin typeface="Söhne"/>
              </a:rPr>
              <a:t> import </a:t>
            </a:r>
            <a:r>
              <a:rPr lang="en-US" b="1" i="0" dirty="0" err="1">
                <a:solidFill>
                  <a:srgbClr val="374151"/>
                </a:solidFill>
                <a:effectLst/>
                <a:latin typeface="Söhne"/>
              </a:rPr>
              <a:t>set_matplotlib_formats</a:t>
            </a:r>
            <a:endParaRPr lang="en-US" b="0" i="0" dirty="0">
              <a:solidFill>
                <a:srgbClr val="374151"/>
              </a:solidFill>
              <a:effectLst/>
              <a:latin typeface="Söhne"/>
            </a:endParaRPr>
          </a:p>
          <a:p>
            <a:pPr marL="457200" lvl="1" indent="0" algn="l">
              <a:buFont typeface="+mj-lt"/>
              <a:buNone/>
            </a:pPr>
            <a:r>
              <a:rPr lang="zh-TW" altLang="en-US" b="0" i="0" dirty="0">
                <a:solidFill>
                  <a:srgbClr val="374151"/>
                </a:solidFill>
                <a:effectLst/>
                <a:latin typeface="Söhne"/>
              </a:rPr>
              <a:t>從</a:t>
            </a:r>
            <a:r>
              <a:rPr lang="en-US" b="0" i="0" dirty="0" err="1">
                <a:solidFill>
                  <a:srgbClr val="374151"/>
                </a:solidFill>
                <a:effectLst/>
                <a:latin typeface="Söhne"/>
              </a:rPr>
              <a:t>matplotlib_inline.backend_inline</a:t>
            </a:r>
            <a:r>
              <a:rPr lang="zh-TW" altLang="en-US" b="0" i="0" dirty="0">
                <a:solidFill>
                  <a:srgbClr val="374151"/>
                </a:solidFill>
                <a:effectLst/>
                <a:latin typeface="Söhne"/>
              </a:rPr>
              <a:t>模組導入了</a:t>
            </a:r>
            <a:r>
              <a:rPr lang="en-US" b="0" i="0" dirty="0" err="1">
                <a:solidFill>
                  <a:srgbClr val="374151"/>
                </a:solidFill>
                <a:effectLst/>
                <a:latin typeface="Söhne"/>
              </a:rPr>
              <a:t>set_matplotlib_formats</a:t>
            </a:r>
            <a:r>
              <a:rPr lang="zh-TW" altLang="en-US" b="0" i="0" dirty="0">
                <a:solidFill>
                  <a:srgbClr val="374151"/>
                </a:solidFill>
                <a:effectLst/>
                <a:latin typeface="Söhne"/>
              </a:rPr>
              <a:t>函數。</a:t>
            </a:r>
            <a:r>
              <a:rPr lang="en-US" b="0" i="0" dirty="0" err="1">
                <a:solidFill>
                  <a:srgbClr val="374151"/>
                </a:solidFill>
                <a:effectLst/>
                <a:latin typeface="Söhne"/>
              </a:rPr>
              <a:t>matplotlib_inline</a:t>
            </a:r>
            <a:r>
              <a:rPr lang="zh-TW" altLang="en-US" b="0" i="0" dirty="0">
                <a:solidFill>
                  <a:srgbClr val="374151"/>
                </a:solidFill>
                <a:effectLst/>
                <a:latin typeface="Söhne"/>
              </a:rPr>
              <a:t>是</a:t>
            </a:r>
            <a:r>
              <a:rPr lang="en-US" b="0" i="0" dirty="0" err="1">
                <a:solidFill>
                  <a:srgbClr val="374151"/>
                </a:solidFill>
                <a:effectLst/>
                <a:latin typeface="Söhne"/>
              </a:rPr>
              <a:t>Jupyter</a:t>
            </a:r>
            <a:r>
              <a:rPr lang="en-US" b="0" i="0" dirty="0">
                <a:solidFill>
                  <a:srgbClr val="374151"/>
                </a:solidFill>
                <a:effectLst/>
                <a:latin typeface="Söhne"/>
              </a:rPr>
              <a:t> Notebook</a:t>
            </a:r>
            <a:r>
              <a:rPr lang="zh-TW" altLang="en-US" b="0" i="0" dirty="0">
                <a:solidFill>
                  <a:srgbClr val="374151"/>
                </a:solidFill>
                <a:effectLst/>
                <a:latin typeface="Söhne"/>
              </a:rPr>
              <a:t>和</a:t>
            </a:r>
            <a:r>
              <a:rPr lang="en-US" b="0" i="0" dirty="0" err="1">
                <a:solidFill>
                  <a:srgbClr val="374151"/>
                </a:solidFill>
                <a:effectLst/>
                <a:latin typeface="Söhne"/>
              </a:rPr>
              <a:t>Jupyter</a:t>
            </a:r>
            <a:r>
              <a:rPr lang="en-US" b="0" i="0" dirty="0">
                <a:solidFill>
                  <a:srgbClr val="374151"/>
                </a:solidFill>
                <a:effectLst/>
                <a:latin typeface="Söhne"/>
              </a:rPr>
              <a:t> Lab</a:t>
            </a:r>
            <a:r>
              <a:rPr lang="zh-TW" altLang="en-US" b="0" i="0" dirty="0">
                <a:solidFill>
                  <a:srgbClr val="374151"/>
                </a:solidFill>
                <a:effectLst/>
                <a:latin typeface="Söhne"/>
              </a:rPr>
              <a:t>中用於顯示</a:t>
            </a:r>
            <a:r>
              <a:rPr lang="en-US" b="0" i="0" dirty="0">
                <a:solidFill>
                  <a:srgbClr val="374151"/>
                </a:solidFill>
                <a:effectLst/>
                <a:latin typeface="Söhne"/>
              </a:rPr>
              <a:t>matplotlib</a:t>
            </a:r>
            <a:r>
              <a:rPr lang="zh-TW" altLang="en-US" b="0" i="0" dirty="0">
                <a:solidFill>
                  <a:srgbClr val="374151"/>
                </a:solidFill>
                <a:effectLst/>
                <a:latin typeface="Söhne"/>
              </a:rPr>
              <a:t>圖形的</a:t>
            </a:r>
            <a:r>
              <a:rPr lang="en-US" b="0" i="0" dirty="0">
                <a:solidFill>
                  <a:srgbClr val="374151"/>
                </a:solidFill>
                <a:effectLst/>
                <a:latin typeface="Söhne"/>
              </a:rPr>
              <a:t>backend。</a:t>
            </a:r>
          </a:p>
          <a:p>
            <a:pPr algn="l">
              <a:buFont typeface="+mj-lt"/>
              <a:buAutoNum type="arabicPeriod"/>
            </a:pPr>
            <a:r>
              <a:rPr lang="en-US" b="1" i="0" dirty="0" err="1">
                <a:solidFill>
                  <a:srgbClr val="374151"/>
                </a:solidFill>
                <a:effectLst/>
                <a:latin typeface="Söhne"/>
              </a:rPr>
              <a:t>set_matplotlib_formats</a:t>
            </a:r>
            <a:r>
              <a:rPr lang="en-US" b="1" i="0" dirty="0">
                <a:solidFill>
                  <a:srgbClr val="374151"/>
                </a:solidFill>
                <a:effectLst/>
                <a:latin typeface="Söhne"/>
              </a:rPr>
              <a:t>('retina')</a:t>
            </a:r>
            <a:endParaRPr lang="en-US" b="0" i="0" dirty="0">
              <a:solidFill>
                <a:srgbClr val="374151"/>
              </a:solidFill>
              <a:effectLst/>
              <a:latin typeface="Söhne"/>
            </a:endParaRPr>
          </a:p>
          <a:p>
            <a:pPr marL="742950" lvl="1" indent="-285750" algn="l">
              <a:buFont typeface="+mj-lt"/>
              <a:buAutoNum type="arabicPeriod"/>
            </a:pPr>
            <a:r>
              <a:rPr lang="zh-TW" altLang="en-US" b="0" i="0" dirty="0">
                <a:solidFill>
                  <a:srgbClr val="374151"/>
                </a:solidFill>
                <a:effectLst/>
                <a:latin typeface="Söhne"/>
              </a:rPr>
              <a:t>這行代碼呼叫</a:t>
            </a:r>
            <a:r>
              <a:rPr lang="en-US" b="0" i="0" dirty="0" err="1">
                <a:solidFill>
                  <a:srgbClr val="374151"/>
                </a:solidFill>
                <a:effectLst/>
                <a:latin typeface="Söhne"/>
              </a:rPr>
              <a:t>set_matplotlib_formats</a:t>
            </a:r>
            <a:r>
              <a:rPr lang="zh-TW" altLang="en-US" b="0" i="0" dirty="0">
                <a:solidFill>
                  <a:srgbClr val="374151"/>
                </a:solidFill>
                <a:effectLst/>
                <a:latin typeface="Söhne"/>
              </a:rPr>
              <a:t>函數，並將格式設為</a:t>
            </a:r>
            <a:r>
              <a:rPr lang="en-US" altLang="zh-TW" b="0" i="0" dirty="0">
                <a:solidFill>
                  <a:srgbClr val="374151"/>
                </a:solidFill>
                <a:effectLst/>
                <a:latin typeface="Söhne"/>
              </a:rPr>
              <a:t>'</a:t>
            </a:r>
            <a:r>
              <a:rPr lang="en-US" b="0" i="0" dirty="0">
                <a:solidFill>
                  <a:srgbClr val="374151"/>
                </a:solidFill>
                <a:effectLst/>
                <a:latin typeface="Söhne"/>
              </a:rPr>
              <a:t>retina'。</a:t>
            </a:r>
          </a:p>
          <a:p>
            <a:pPr marL="742950" lvl="1" indent="-285750" algn="l">
              <a:buFont typeface="+mj-lt"/>
              <a:buAutoNum type="arabicPeriod"/>
            </a:pPr>
            <a:r>
              <a:rPr lang="en-US" b="0" i="0" dirty="0">
                <a:solidFill>
                  <a:srgbClr val="374151"/>
                </a:solidFill>
                <a:effectLst/>
                <a:latin typeface="Söhne"/>
              </a:rPr>
              <a:t>'retina'</a:t>
            </a:r>
            <a:r>
              <a:rPr lang="zh-TW" altLang="en-US" b="0" i="0" dirty="0">
                <a:solidFill>
                  <a:srgbClr val="374151"/>
                </a:solidFill>
                <a:effectLst/>
                <a:latin typeface="Söhne"/>
              </a:rPr>
              <a:t>格式是針對具有高解析度（如</a:t>
            </a:r>
            <a:r>
              <a:rPr lang="en-US" b="0" i="0" dirty="0">
                <a:solidFill>
                  <a:srgbClr val="374151"/>
                </a:solidFill>
                <a:effectLst/>
                <a:latin typeface="Söhne"/>
              </a:rPr>
              <a:t>Apple</a:t>
            </a:r>
            <a:r>
              <a:rPr lang="zh-TW" altLang="en-US" b="0" i="0" dirty="0">
                <a:solidFill>
                  <a:srgbClr val="374151"/>
                </a:solidFill>
                <a:effectLst/>
                <a:latin typeface="Söhne"/>
              </a:rPr>
              <a:t>的</a:t>
            </a:r>
            <a:r>
              <a:rPr lang="en-US" b="0" i="0" dirty="0">
                <a:solidFill>
                  <a:srgbClr val="374151"/>
                </a:solidFill>
                <a:effectLst/>
                <a:latin typeface="Söhne"/>
              </a:rPr>
              <a:t>Retina</a:t>
            </a:r>
            <a:r>
              <a:rPr lang="zh-TW" altLang="en-US" b="0" i="0" dirty="0">
                <a:solidFill>
                  <a:srgbClr val="374151"/>
                </a:solidFill>
                <a:effectLst/>
                <a:latin typeface="Söhne"/>
              </a:rPr>
              <a:t>顯示）的顯示器而設計的。該格式使圖形在這些顯示器上看起來更加銳利和清晰</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82</a:t>
            </a:fld>
            <a:endParaRPr lang="en-US"/>
          </a:p>
        </p:txBody>
      </p:sp>
    </p:spTree>
    <p:extLst>
      <p:ext uri="{BB962C8B-B14F-4D97-AF65-F5344CB8AC3E}">
        <p14:creationId xmlns:p14="http://schemas.microsoft.com/office/powerpoint/2010/main" val="32232351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TW" b="0" i="0" dirty="0" err="1">
                <a:solidFill>
                  <a:srgbClr val="374151"/>
                </a:solidFill>
                <a:effectLst/>
                <a:latin typeface="Söhne"/>
              </a:rPr>
              <a:t>list_CG</a:t>
            </a:r>
            <a:r>
              <a:rPr lang="en-US" altLang="zh-TW" b="0" i="0" dirty="0">
                <a:solidFill>
                  <a:srgbClr val="374151"/>
                </a:solidFill>
                <a:effectLst/>
                <a:latin typeface="Söhne"/>
              </a:rPr>
              <a:t>=[</a:t>
            </a:r>
            <a:r>
              <a:rPr lang="en-US" altLang="zh-TW" b="0" i="0" dirty="0" err="1">
                <a:solidFill>
                  <a:srgbClr val="374151"/>
                </a:solidFill>
                <a:effectLst/>
                <a:latin typeface="Söhne"/>
              </a:rPr>
              <a:t>adata_CG</a:t>
            </a:r>
            <a:r>
              <a:rPr lang="en-US" altLang="zh-TW" b="0" i="0" dirty="0">
                <a:solidFill>
                  <a:srgbClr val="374151"/>
                </a:solidFill>
                <a:effectLst/>
                <a:latin typeface="Söhne"/>
              </a:rPr>
              <a:t>]: </a:t>
            </a:r>
            <a:r>
              <a:rPr lang="zh-TW" altLang="en-US" b="0" i="0" dirty="0">
                <a:solidFill>
                  <a:srgbClr val="374151"/>
                </a:solidFill>
                <a:effectLst/>
                <a:latin typeface="Söhne"/>
              </a:rPr>
              <a:t>這個參數接受一個列表，其中包含</a:t>
            </a:r>
            <a:r>
              <a:rPr lang="en-US" altLang="zh-TW" b="0" i="0" dirty="0" err="1">
                <a:solidFill>
                  <a:srgbClr val="374151"/>
                </a:solidFill>
                <a:effectLst/>
                <a:latin typeface="Söhne"/>
              </a:rPr>
              <a:t>adata_CG</a:t>
            </a:r>
            <a:r>
              <a:rPr lang="zh-TW" altLang="en-US" b="0" i="0" dirty="0">
                <a:solidFill>
                  <a:srgbClr val="374151"/>
                </a:solidFill>
                <a:effectLst/>
                <a:latin typeface="Söhne"/>
              </a:rPr>
              <a:t>，即前面加載的</a:t>
            </a:r>
            <a:r>
              <a:rPr lang="en-US" altLang="zh-TW" b="0" i="0" dirty="0">
                <a:solidFill>
                  <a:srgbClr val="374151"/>
                </a:solidFill>
                <a:effectLst/>
                <a:latin typeface="Söhne"/>
              </a:rPr>
              <a:t>RNA</a:t>
            </a:r>
            <a:r>
              <a:rPr lang="zh-TW" altLang="en-US" b="0" i="0" dirty="0">
                <a:solidFill>
                  <a:srgbClr val="374151"/>
                </a:solidFill>
                <a:effectLst/>
                <a:latin typeface="Söhne"/>
              </a:rPr>
              <a:t>數據集。</a:t>
            </a:r>
          </a:p>
          <a:p>
            <a:pPr algn="l">
              <a:buFont typeface="+mj-lt"/>
              <a:buAutoNum type="arabicPeriod"/>
            </a:pPr>
            <a:r>
              <a:rPr lang="en-US" altLang="zh-TW" b="0" i="0" dirty="0">
                <a:solidFill>
                  <a:srgbClr val="374151"/>
                </a:solidFill>
                <a:effectLst/>
                <a:latin typeface="Söhne"/>
              </a:rPr>
              <a:t>layer='</a:t>
            </a:r>
            <a:r>
              <a:rPr lang="en-US" altLang="zh-TW" b="0" i="0" dirty="0" err="1">
                <a:solidFill>
                  <a:srgbClr val="374151"/>
                </a:solidFill>
                <a:effectLst/>
                <a:latin typeface="Söhne"/>
              </a:rPr>
              <a:t>simba</a:t>
            </a:r>
            <a:r>
              <a:rPr lang="en-US" altLang="zh-TW" b="0" i="0" dirty="0">
                <a:solidFill>
                  <a:srgbClr val="374151"/>
                </a:solidFill>
                <a:effectLst/>
                <a:latin typeface="Söhne"/>
              </a:rPr>
              <a:t>': </a:t>
            </a:r>
            <a:r>
              <a:rPr lang="zh-TW" altLang="en-US" b="0" i="0" dirty="0">
                <a:solidFill>
                  <a:srgbClr val="374151"/>
                </a:solidFill>
                <a:effectLst/>
                <a:latin typeface="Söhne"/>
              </a:rPr>
              <a:t>這可能是指示函數使用哪個數據層來生成圖的參數。在這裡，它被設置為</a:t>
            </a:r>
            <a:r>
              <a:rPr lang="en-US" altLang="zh-TW" b="0" i="0" dirty="0">
                <a:solidFill>
                  <a:srgbClr val="374151"/>
                </a:solidFill>
                <a:effectLst/>
                <a:latin typeface="Söhne"/>
              </a:rPr>
              <a:t>'</a:t>
            </a:r>
            <a:r>
              <a:rPr lang="en-US" altLang="zh-TW" b="0" i="0" dirty="0" err="1">
                <a:solidFill>
                  <a:srgbClr val="374151"/>
                </a:solidFill>
                <a:effectLst/>
                <a:latin typeface="Söhne"/>
              </a:rPr>
              <a:t>simba</a:t>
            </a:r>
            <a:r>
              <a:rPr lang="en-US" altLang="zh-TW" b="0" i="0" dirty="0">
                <a:solidFill>
                  <a:srgbClr val="374151"/>
                </a:solidFill>
                <a:effectLst/>
                <a:latin typeface="Söhne"/>
              </a:rPr>
              <a:t>'</a:t>
            </a:r>
            <a:r>
              <a:rPr lang="zh-TW" altLang="en-US" b="0" i="0" dirty="0">
                <a:solidFill>
                  <a:srgbClr val="374151"/>
                </a:solidFill>
                <a:effectLst/>
                <a:latin typeface="Söhne"/>
              </a:rPr>
              <a:t>。</a:t>
            </a:r>
          </a:p>
          <a:p>
            <a:pPr algn="l">
              <a:buFont typeface="+mj-lt"/>
              <a:buAutoNum type="arabicPeriod"/>
            </a:pPr>
            <a:r>
              <a:rPr lang="en-US" altLang="zh-TW" b="0" i="0" dirty="0" err="1">
                <a:solidFill>
                  <a:srgbClr val="374151"/>
                </a:solidFill>
                <a:effectLst/>
                <a:latin typeface="Söhne"/>
              </a:rPr>
              <a:t>use_highly_variable</a:t>
            </a:r>
            <a:r>
              <a:rPr lang="en-US" altLang="zh-TW" b="0" i="0" dirty="0">
                <a:solidFill>
                  <a:srgbClr val="374151"/>
                </a:solidFill>
                <a:effectLst/>
                <a:latin typeface="Söhne"/>
              </a:rPr>
              <a:t>=False: </a:t>
            </a:r>
            <a:r>
              <a:rPr lang="zh-TW" altLang="en-US" b="0" i="0" dirty="0">
                <a:solidFill>
                  <a:srgbClr val="374151"/>
                </a:solidFill>
                <a:effectLst/>
                <a:latin typeface="Söhne"/>
              </a:rPr>
              <a:t>這個參數可能控制是否只使用高度變異的基因或特征來生成圖。在這裡，它被設置為</a:t>
            </a:r>
            <a:r>
              <a:rPr lang="en-US" altLang="zh-TW" b="0" i="0" dirty="0">
                <a:solidFill>
                  <a:srgbClr val="374151"/>
                </a:solidFill>
                <a:effectLst/>
                <a:latin typeface="Söhne"/>
              </a:rPr>
              <a:t>False</a:t>
            </a:r>
            <a:r>
              <a:rPr lang="zh-TW" altLang="en-US" b="0" i="0" dirty="0">
                <a:solidFill>
                  <a:srgbClr val="374151"/>
                </a:solidFill>
                <a:effectLst/>
                <a:latin typeface="Söhne"/>
              </a:rPr>
              <a:t>，這意味著它將使用所有的基因或特征，而不僅僅是高度變異的那些。</a:t>
            </a:r>
          </a:p>
          <a:p>
            <a:pPr algn="l">
              <a:buFont typeface="+mj-lt"/>
              <a:buAutoNum type="arabicPeriod"/>
            </a:pPr>
            <a:r>
              <a:rPr lang="en-US" altLang="zh-TW" b="0" i="0" dirty="0" err="1">
                <a:solidFill>
                  <a:srgbClr val="374151"/>
                </a:solidFill>
                <a:effectLst/>
                <a:latin typeface="Söhne"/>
              </a:rPr>
              <a:t>dirname</a:t>
            </a:r>
            <a:r>
              <a:rPr lang="en-US" altLang="zh-TW" b="0" i="0" dirty="0">
                <a:solidFill>
                  <a:srgbClr val="374151"/>
                </a:solidFill>
                <a:effectLst/>
                <a:latin typeface="Söhne"/>
              </a:rPr>
              <a:t>='graph0': </a:t>
            </a:r>
            <a:r>
              <a:rPr lang="zh-TW" altLang="en-US" b="0" i="0" dirty="0">
                <a:solidFill>
                  <a:srgbClr val="374151"/>
                </a:solidFill>
                <a:effectLst/>
                <a:latin typeface="Söhne"/>
              </a:rPr>
              <a:t>這個參數可能是指示生成的圖應該被保存在哪個目錄中的。在這裡，它被設置為</a:t>
            </a:r>
            <a:r>
              <a:rPr lang="en-US" altLang="zh-TW" b="0" i="0" dirty="0">
                <a:solidFill>
                  <a:srgbClr val="374151"/>
                </a:solidFill>
                <a:effectLst/>
                <a:latin typeface="Söhne"/>
              </a:rPr>
              <a:t>'graph0'</a:t>
            </a:r>
            <a:r>
              <a:rPr lang="zh-TW" altLang="en-US" b="0" i="0" dirty="0">
                <a:solidFill>
                  <a:srgbClr val="374151"/>
                </a:solidFill>
                <a:effectLst/>
                <a:latin typeface="Söhne"/>
              </a:rPr>
              <a:t>，所以生成的圖應該會被保存在名為</a:t>
            </a:r>
            <a:r>
              <a:rPr lang="en-US" altLang="zh-TW" b="0" i="0" dirty="0">
                <a:solidFill>
                  <a:srgbClr val="374151"/>
                </a:solidFill>
                <a:effectLst/>
                <a:latin typeface="Söhne"/>
              </a:rPr>
              <a:t>'graph0'</a:t>
            </a:r>
            <a:r>
              <a:rPr lang="zh-TW" altLang="en-US" b="0" i="0" dirty="0">
                <a:solidFill>
                  <a:srgbClr val="374151"/>
                </a:solidFill>
                <a:effectLst/>
                <a:latin typeface="Söhne"/>
              </a:rPr>
              <a:t>的目錄中。</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87</a:t>
            </a:fld>
            <a:endParaRPr lang="en-US"/>
          </a:p>
        </p:txBody>
      </p:sp>
    </p:spTree>
    <p:extLst>
      <p:ext uri="{BB962C8B-B14F-4D97-AF65-F5344CB8AC3E}">
        <p14:creationId xmlns:p14="http://schemas.microsoft.com/office/powerpoint/2010/main" val="24160481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a:t>
            </a:r>
            <a:r>
              <a:rPr lang="en-US" b="1" i="0" dirty="0" err="1">
                <a:solidFill>
                  <a:srgbClr val="374151"/>
                </a:solidFill>
                <a:effectLst/>
                <a:latin typeface="Söhne"/>
              </a:rPr>
              <a:t>entity_path</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存儲</a:t>
            </a:r>
            <a:r>
              <a:rPr lang="en-US" altLang="zh-TW" b="0" i="0" dirty="0">
                <a:solidFill>
                  <a:srgbClr val="374151"/>
                </a:solidFill>
                <a:effectLst/>
                <a:latin typeface="Söhne"/>
              </a:rPr>
              <a:t>entity</a:t>
            </a:r>
            <a:r>
              <a:rPr lang="zh-TW" altLang="en-US" b="0" i="0" dirty="0">
                <a:solidFill>
                  <a:srgbClr val="374151"/>
                </a:solidFill>
                <a:effectLst/>
                <a:latin typeface="Söhne"/>
              </a:rPr>
              <a:t>數據的路徑。</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edge_paths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存儲</a:t>
            </a:r>
            <a:r>
              <a:rPr lang="en-US" altLang="zh-TW" b="0" i="0" dirty="0">
                <a:solidFill>
                  <a:srgbClr val="374151"/>
                </a:solidFill>
                <a:effectLst/>
                <a:latin typeface="Söhne"/>
              </a:rPr>
              <a:t>edge</a:t>
            </a:r>
            <a:r>
              <a:rPr lang="zh-TW" altLang="en-US" b="0" i="0" dirty="0">
                <a:solidFill>
                  <a:srgbClr val="374151"/>
                </a:solidFill>
                <a:effectLst/>
                <a:latin typeface="Söhne"/>
              </a:rPr>
              <a:t>數據的路徑列表。</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checkpoint_path</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可能是保存模型訓練過程中的中間檢查點的路徑。</a:t>
            </a:r>
          </a:p>
          <a:p>
            <a:pPr algn="l">
              <a:buFont typeface="+mj-lt"/>
              <a:buAutoNum type="arabicPeriod"/>
            </a:pPr>
            <a:r>
              <a:rPr lang="en-US" altLang="zh-TW" b="1" i="0" dirty="0">
                <a:solidFill>
                  <a:srgbClr val="374151"/>
                </a:solidFill>
                <a:effectLst/>
                <a:latin typeface="Söhne"/>
              </a:rPr>
              <a:t>'</a:t>
            </a:r>
            <a:r>
              <a:rPr lang="en-US" b="1" i="0" dirty="0">
                <a:solidFill>
                  <a:srgbClr val="374151"/>
                </a:solidFill>
                <a:effectLst/>
                <a:latin typeface="Söhne"/>
              </a:rPr>
              <a:t>entities'</a:t>
            </a:r>
            <a:r>
              <a:rPr lang="en-US" b="0" i="0" dirty="0">
                <a:solidFill>
                  <a:srgbClr val="374151"/>
                </a:solidFill>
                <a:effectLst/>
                <a:latin typeface="Söhne"/>
              </a:rPr>
              <a:t>: </a:t>
            </a:r>
            <a:r>
              <a:rPr lang="zh-TW" altLang="en-US" b="0" i="0" dirty="0">
                <a:solidFill>
                  <a:srgbClr val="374151"/>
                </a:solidFill>
                <a:effectLst/>
                <a:latin typeface="Söhne"/>
              </a:rPr>
              <a:t>描述不同類型的實體及其分區。</a:t>
            </a:r>
          </a:p>
          <a:p>
            <a:pPr algn="l">
              <a:buFont typeface="+mj-lt"/>
              <a:buAutoNum type="arabicPeriod"/>
            </a:pPr>
            <a:r>
              <a:rPr lang="en-US" altLang="zh-TW" b="1" i="0" dirty="0">
                <a:solidFill>
                  <a:srgbClr val="374151"/>
                </a:solidFill>
                <a:effectLst/>
                <a:latin typeface="Söhne"/>
              </a:rPr>
              <a:t>'</a:t>
            </a:r>
            <a:r>
              <a:rPr lang="en-US" b="1" i="0" dirty="0">
                <a:solidFill>
                  <a:srgbClr val="374151"/>
                </a:solidFill>
                <a:effectLst/>
                <a:latin typeface="Söhne"/>
              </a:rPr>
              <a:t>relations'</a:t>
            </a:r>
            <a:r>
              <a:rPr lang="en-US" b="0" i="0" dirty="0">
                <a:solidFill>
                  <a:srgbClr val="374151"/>
                </a:solidFill>
                <a:effectLst/>
                <a:latin typeface="Söhne"/>
              </a:rPr>
              <a:t>: </a:t>
            </a:r>
            <a:r>
              <a:rPr lang="zh-TW" altLang="en-US" b="0" i="0" dirty="0">
                <a:solidFill>
                  <a:srgbClr val="374151"/>
                </a:solidFill>
                <a:effectLst/>
                <a:latin typeface="Söhne"/>
              </a:rPr>
              <a:t>定義了不同的關係，每個關係都有名稱、左邊實體、右邊實體、運算符和權重。</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dynamic_relations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表示關係是否是動態的。</a:t>
            </a:r>
          </a:p>
          <a:p>
            <a:pPr algn="l">
              <a:buFont typeface="+mj-lt"/>
              <a:buAutoNum type="arabicPeriod"/>
            </a:pPr>
            <a:r>
              <a:rPr lang="en-US" altLang="zh-TW" b="1" i="0" dirty="0">
                <a:solidFill>
                  <a:srgbClr val="374151"/>
                </a:solidFill>
                <a:effectLst/>
                <a:latin typeface="Söhne"/>
              </a:rPr>
              <a:t>'</a:t>
            </a:r>
            <a:r>
              <a:rPr lang="en-US" b="1" i="0" dirty="0">
                <a:solidFill>
                  <a:srgbClr val="374151"/>
                </a:solidFill>
                <a:effectLst/>
                <a:latin typeface="Söhne"/>
              </a:rPr>
              <a:t>dimension'</a:t>
            </a:r>
            <a:r>
              <a:rPr lang="en-US" b="0" i="0" dirty="0">
                <a:solidFill>
                  <a:srgbClr val="374151"/>
                </a:solidFill>
                <a:effectLst/>
                <a:latin typeface="Söhne"/>
              </a:rPr>
              <a:t>: </a:t>
            </a:r>
            <a:r>
              <a:rPr lang="zh-TW" altLang="en-US" b="0" i="0" dirty="0">
                <a:solidFill>
                  <a:srgbClr val="374151"/>
                </a:solidFill>
                <a:effectLst/>
                <a:latin typeface="Söhne"/>
              </a:rPr>
              <a:t>嵌入的維度或大小。</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global_emb</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是否使用全局嵌入。</a:t>
            </a:r>
          </a:p>
          <a:p>
            <a:pPr algn="l">
              <a:buFont typeface="+mj-lt"/>
              <a:buAutoNum type="arabicPeriod"/>
            </a:pPr>
            <a:r>
              <a:rPr lang="en-US" altLang="zh-TW" b="1" i="0" dirty="0">
                <a:solidFill>
                  <a:srgbClr val="374151"/>
                </a:solidFill>
                <a:effectLst/>
                <a:latin typeface="Söhne"/>
              </a:rPr>
              <a:t>'</a:t>
            </a:r>
            <a:r>
              <a:rPr lang="en-US" b="1" i="0" dirty="0">
                <a:solidFill>
                  <a:srgbClr val="374151"/>
                </a:solidFill>
                <a:effectLst/>
                <a:latin typeface="Söhne"/>
              </a:rPr>
              <a:t>comparator'</a:t>
            </a:r>
            <a:r>
              <a:rPr lang="en-US" b="0" i="0" dirty="0">
                <a:solidFill>
                  <a:srgbClr val="374151"/>
                </a:solidFill>
                <a:effectLst/>
                <a:latin typeface="Söhne"/>
              </a:rPr>
              <a:t>: </a:t>
            </a:r>
            <a:r>
              <a:rPr lang="zh-TW" altLang="en-US" b="0" i="0" dirty="0">
                <a:solidFill>
                  <a:srgbClr val="374151"/>
                </a:solidFill>
                <a:effectLst/>
                <a:latin typeface="Söhne"/>
              </a:rPr>
              <a:t>比較嵌入的方法，這裡是“</a:t>
            </a:r>
            <a:r>
              <a:rPr lang="en-US" b="0" i="0" dirty="0">
                <a:solidFill>
                  <a:srgbClr val="374151"/>
                </a:solidFill>
                <a:effectLst/>
                <a:latin typeface="Söhne"/>
              </a:rPr>
              <a:t>dot”</a:t>
            </a:r>
            <a:r>
              <a:rPr lang="zh-TW" altLang="en-US" b="0" i="0" dirty="0">
                <a:solidFill>
                  <a:srgbClr val="374151"/>
                </a:solidFill>
                <a:effectLst/>
                <a:latin typeface="Söhne"/>
              </a:rPr>
              <a:t>即點積。</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num_epochs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訓練的總迭代次數。</a:t>
            </a:r>
          </a:p>
          <a:p>
            <a:pPr algn="l">
              <a:buFont typeface="+mj-lt"/>
              <a:buAutoNum type="arabicPeriod"/>
            </a:pPr>
            <a:r>
              <a:rPr lang="en-US" altLang="zh-TW" b="1" i="0" dirty="0">
                <a:solidFill>
                  <a:srgbClr val="374151"/>
                </a:solidFill>
                <a:effectLst/>
                <a:latin typeface="Söhne"/>
              </a:rPr>
              <a:t>'</a:t>
            </a:r>
            <a:r>
              <a:rPr lang="en-US" b="1" i="0" dirty="0">
                <a:solidFill>
                  <a:srgbClr val="374151"/>
                </a:solidFill>
                <a:effectLst/>
                <a:latin typeface="Söhne"/>
              </a:rPr>
              <a:t>workers'</a:t>
            </a:r>
            <a:r>
              <a:rPr lang="en-US" b="0" i="0" dirty="0">
                <a:solidFill>
                  <a:srgbClr val="374151"/>
                </a:solidFill>
                <a:effectLst/>
                <a:latin typeface="Söhne"/>
              </a:rPr>
              <a:t>: </a:t>
            </a:r>
            <a:r>
              <a:rPr lang="zh-TW" altLang="en-US" b="0" i="0" dirty="0">
                <a:solidFill>
                  <a:srgbClr val="374151"/>
                </a:solidFill>
                <a:effectLst/>
                <a:latin typeface="Söhne"/>
              </a:rPr>
              <a:t>用於數據加載和計算的工作線程數。</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num_batch_negs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每批數據的負樣本數量。</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num_uniform_negs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從均勻分佈中抽取的負樣本數。</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loss_fn</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損失函數的類型，這裡是“</a:t>
            </a:r>
            <a:r>
              <a:rPr lang="en-US" b="0" i="0" dirty="0" err="1">
                <a:solidFill>
                  <a:srgbClr val="374151"/>
                </a:solidFill>
                <a:effectLst/>
                <a:latin typeface="Söhne"/>
              </a:rPr>
              <a:t>softmax</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a:t>
            </a:r>
            <a:r>
              <a:rPr lang="en-US" b="1" i="0" dirty="0" err="1">
                <a:solidFill>
                  <a:srgbClr val="374151"/>
                </a:solidFill>
                <a:effectLst/>
                <a:latin typeface="Söhne"/>
              </a:rPr>
              <a:t>lr</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學習率。</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early_stopping</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是否使用早期停止以防止過度擬合。</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regularization_coef</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正則化係數。</a:t>
            </a:r>
          </a:p>
          <a:p>
            <a:pPr algn="l">
              <a:buFont typeface="+mj-lt"/>
              <a:buAutoNum type="arabicPeriod"/>
            </a:pPr>
            <a:r>
              <a:rPr lang="en-US" altLang="zh-TW" b="1" i="0" dirty="0">
                <a:solidFill>
                  <a:srgbClr val="374151"/>
                </a:solidFill>
                <a:effectLst/>
                <a:latin typeface="Söhne"/>
              </a:rPr>
              <a:t>'</a:t>
            </a:r>
            <a:r>
              <a:rPr lang="en-US" b="1" i="0" dirty="0">
                <a:solidFill>
                  <a:srgbClr val="374151"/>
                </a:solidFill>
                <a:effectLst/>
                <a:latin typeface="Söhne"/>
              </a:rPr>
              <a:t>wd'</a:t>
            </a:r>
            <a:r>
              <a:rPr lang="en-US" b="0" i="0" dirty="0">
                <a:solidFill>
                  <a:srgbClr val="374151"/>
                </a:solidFill>
                <a:effectLst/>
                <a:latin typeface="Söhne"/>
              </a:rPr>
              <a:t>: </a:t>
            </a:r>
            <a:r>
              <a:rPr lang="zh-TW" altLang="en-US" b="0" i="0" dirty="0">
                <a:solidFill>
                  <a:srgbClr val="374151"/>
                </a:solidFill>
                <a:effectLst/>
                <a:latin typeface="Söhne"/>
              </a:rPr>
              <a:t>權重衰減。</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wd_interval</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權重衰減的間隔。</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eval_fraction</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用於評估的數據分數。</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eval_num_batch_negs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評估時每批的負樣本數。</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eval_num_uniform_negs</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評估時從均勻分佈中抽取的負樣本數。</a:t>
            </a:r>
          </a:p>
          <a:p>
            <a:pPr algn="l">
              <a:buFont typeface="+mj-lt"/>
              <a:buAutoNum type="arabicPeriod"/>
            </a:pPr>
            <a:r>
              <a:rPr lang="en-US" altLang="zh-TW" b="1" i="0" dirty="0">
                <a:solidFill>
                  <a:srgbClr val="374151"/>
                </a:solidFill>
                <a:effectLst/>
                <a:latin typeface="Söhne"/>
              </a:rPr>
              <a:t>'</a:t>
            </a:r>
            <a:r>
              <a:rPr lang="en-US" b="1" i="0" dirty="0" err="1">
                <a:solidFill>
                  <a:srgbClr val="374151"/>
                </a:solidFill>
                <a:effectLst/>
                <a:latin typeface="Söhne"/>
              </a:rPr>
              <a:t>checkpoint_preservation_interval</a:t>
            </a:r>
            <a:r>
              <a:rPr lang="en-US" b="1" i="0" dirty="0">
                <a:solidFill>
                  <a:srgbClr val="374151"/>
                </a:solidFill>
                <a:effectLst/>
                <a:latin typeface="Söhne"/>
              </a:rPr>
              <a:t>'</a:t>
            </a:r>
            <a:r>
              <a:rPr lang="en-US" b="0" i="0" dirty="0">
                <a:solidFill>
                  <a:srgbClr val="374151"/>
                </a:solidFill>
                <a:effectLst/>
                <a:latin typeface="Söhne"/>
              </a:rPr>
              <a:t>: </a:t>
            </a:r>
            <a:r>
              <a:rPr lang="zh-TW" altLang="en-US" b="0" i="0" dirty="0">
                <a:solidFill>
                  <a:srgbClr val="374151"/>
                </a:solidFill>
                <a:effectLst/>
                <a:latin typeface="Söhne"/>
              </a:rPr>
              <a:t>保存檢查點的間隔</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88</a:t>
            </a:fld>
            <a:endParaRPr lang="en-US"/>
          </a:p>
        </p:txBody>
      </p:sp>
    </p:spTree>
    <p:extLst>
      <p:ext uri="{BB962C8B-B14F-4D97-AF65-F5344CB8AC3E}">
        <p14:creationId xmlns:p14="http://schemas.microsoft.com/office/powerpoint/2010/main" val="12708715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Plotting training metrics to monitor overfitting and evaluate the final model.</a:t>
            </a:r>
            <a:endParaRPr lang="en-US" b="0" i="0" dirty="0">
              <a:solidFill>
                <a:srgbClr val="374151"/>
              </a:solidFill>
              <a:effectLst/>
              <a:latin typeface="Söhne"/>
            </a:endParaRPr>
          </a:p>
          <a:p>
            <a:pPr marL="457200" lvl="1" indent="0" algn="l">
              <a:buFont typeface="+mj-lt"/>
              <a:buNone/>
            </a:pPr>
            <a:r>
              <a:rPr lang="zh-TW" altLang="en-US" b="0" i="0" dirty="0">
                <a:solidFill>
                  <a:srgbClr val="374151"/>
                </a:solidFill>
                <a:effectLst/>
                <a:latin typeface="Söhne"/>
              </a:rPr>
              <a:t>繪製訓練指標（如損失或準確率）的圖形可以幫助監控模型是否過度擬合。過度擬合發生在模型在訓練數據上表現得很好，但在沒見過的驗證或測試數據上表現不佳的情況。</a:t>
            </a:r>
          </a:p>
          <a:p>
            <a:pPr algn="l">
              <a:buFont typeface="+mj-lt"/>
              <a:buAutoNum type="arabicPeriod"/>
            </a:pPr>
            <a:r>
              <a:rPr lang="en-US" b="1" i="0" dirty="0">
                <a:solidFill>
                  <a:srgbClr val="374151"/>
                </a:solidFill>
                <a:effectLst/>
                <a:latin typeface="Söhne"/>
              </a:rPr>
              <a:t>Ideally, after a certain number of epochs, the metric curve should stabilize and remain steady.</a:t>
            </a:r>
            <a:endParaRPr lang="en-US" b="0" i="0" dirty="0">
              <a:solidFill>
                <a:srgbClr val="374151"/>
              </a:solidFill>
              <a:effectLst/>
              <a:latin typeface="Söhne"/>
            </a:endParaRPr>
          </a:p>
          <a:p>
            <a:pPr marL="457200" lvl="1" indent="0" algn="l">
              <a:buFont typeface="+mj-lt"/>
              <a:buNone/>
            </a:pPr>
            <a:r>
              <a:rPr lang="zh-TW" altLang="en-US" b="0" i="0" dirty="0">
                <a:solidFill>
                  <a:srgbClr val="374151"/>
                </a:solidFill>
                <a:effectLst/>
                <a:latin typeface="Söhne"/>
              </a:rPr>
              <a:t>在一定數量的訓練迭代（或稱為</a:t>
            </a:r>
            <a:r>
              <a:rPr lang="en-US" b="0" i="0" dirty="0">
                <a:solidFill>
                  <a:srgbClr val="374151"/>
                </a:solidFill>
                <a:effectLst/>
                <a:latin typeface="Söhne"/>
              </a:rPr>
              <a:t>epochs）</a:t>
            </a:r>
            <a:r>
              <a:rPr lang="zh-TW" altLang="en-US" b="0" i="0" dirty="0">
                <a:solidFill>
                  <a:srgbClr val="374151"/>
                </a:solidFill>
                <a:effectLst/>
                <a:latin typeface="Söhne"/>
              </a:rPr>
              <a:t>之後，期望指標曲線（如損失或準確率）穩定下來，不再有顯著的變化。這通常意味著模型已經學到了它可以從數據中學到的所有信息。</a:t>
            </a:r>
          </a:p>
          <a:p>
            <a:pPr algn="l">
              <a:buFont typeface="+mj-lt"/>
              <a:buAutoNum type="arabicPeriod"/>
            </a:pPr>
            <a:r>
              <a:rPr lang="en-US" b="1" i="0" dirty="0">
                <a:solidFill>
                  <a:srgbClr val="374151"/>
                </a:solidFill>
                <a:effectLst/>
                <a:latin typeface="Söhne"/>
              </a:rPr>
              <a:t>By default, training loss (lower is better) along with validation loss (lower is better) and MRR (higher is better) are shown.</a:t>
            </a:r>
            <a:endParaRPr lang="en-US" b="0" i="0" dirty="0">
              <a:solidFill>
                <a:srgbClr val="374151"/>
              </a:solidFill>
              <a:effectLst/>
              <a:latin typeface="Söhne"/>
            </a:endParaRPr>
          </a:p>
          <a:p>
            <a:pPr marL="457200" lvl="1" indent="0" algn="l">
              <a:buFont typeface="+mj-lt"/>
              <a:buNone/>
            </a:pPr>
            <a:r>
              <a:rPr lang="zh-TW" altLang="en-US" b="0" i="0" dirty="0">
                <a:solidFill>
                  <a:srgbClr val="374151"/>
                </a:solidFill>
                <a:effectLst/>
                <a:latin typeface="Söhne"/>
              </a:rPr>
              <a:t>三個常見的訓練指標：</a:t>
            </a:r>
          </a:p>
          <a:p>
            <a:pPr marL="1143000" lvl="2" indent="-228600" algn="l">
              <a:buFont typeface="+mj-lt"/>
              <a:buAutoNum type="arabicPeriod"/>
            </a:pPr>
            <a:r>
              <a:rPr lang="en-US" b="1" i="0" dirty="0">
                <a:solidFill>
                  <a:srgbClr val="374151"/>
                </a:solidFill>
                <a:effectLst/>
                <a:latin typeface="Söhne"/>
              </a:rPr>
              <a:t>training loss</a:t>
            </a:r>
            <a:r>
              <a:rPr lang="en-US" b="0" i="0" dirty="0">
                <a:solidFill>
                  <a:srgbClr val="374151"/>
                </a:solidFill>
                <a:effectLst/>
                <a:latin typeface="Söhne"/>
              </a:rPr>
              <a:t>: </a:t>
            </a:r>
            <a:r>
              <a:rPr lang="zh-TW" altLang="en-US" b="0" i="0" dirty="0">
                <a:solidFill>
                  <a:srgbClr val="374151"/>
                </a:solidFill>
                <a:effectLst/>
                <a:latin typeface="Söhne"/>
              </a:rPr>
              <a:t>在訓練數據上的損失值。損失值越低，模型的預測就越接近真實值，所以這是一個“越低越好”的指標。</a:t>
            </a:r>
          </a:p>
          <a:p>
            <a:pPr marL="1143000" lvl="2" indent="-228600" algn="l">
              <a:buFont typeface="+mj-lt"/>
              <a:buAutoNum type="arabicPeriod"/>
            </a:pPr>
            <a:r>
              <a:rPr lang="en-US" b="1" i="0" dirty="0">
                <a:solidFill>
                  <a:srgbClr val="374151"/>
                </a:solidFill>
                <a:effectLst/>
                <a:latin typeface="Söhne"/>
              </a:rPr>
              <a:t>validation loss</a:t>
            </a:r>
            <a:r>
              <a:rPr lang="en-US" b="0" i="0" dirty="0">
                <a:solidFill>
                  <a:srgbClr val="374151"/>
                </a:solidFill>
                <a:effectLst/>
                <a:latin typeface="Söhne"/>
              </a:rPr>
              <a:t>: </a:t>
            </a:r>
            <a:r>
              <a:rPr lang="zh-TW" altLang="en-US" b="0" i="0" dirty="0">
                <a:solidFill>
                  <a:srgbClr val="374151"/>
                </a:solidFill>
                <a:effectLst/>
                <a:latin typeface="Söhne"/>
              </a:rPr>
              <a:t>在驗證數據集上的損失值。這個指標也是“越低越好”。</a:t>
            </a:r>
          </a:p>
          <a:p>
            <a:pPr marL="1143000" lvl="2" indent="-228600" algn="l">
              <a:buFont typeface="+mj-lt"/>
              <a:buAutoNum type="arabicPeriod"/>
            </a:pPr>
            <a:r>
              <a:rPr lang="en-US" b="1" i="0" dirty="0">
                <a:solidFill>
                  <a:srgbClr val="374151"/>
                </a:solidFill>
                <a:effectLst/>
                <a:latin typeface="Söhne"/>
              </a:rPr>
              <a:t>MRR (Mean Reciprocal Rank)</a:t>
            </a:r>
            <a:r>
              <a:rPr lang="en-US" b="0" i="0" dirty="0">
                <a:solidFill>
                  <a:srgbClr val="374151"/>
                </a:solidFill>
                <a:effectLst/>
                <a:latin typeface="Söhne"/>
              </a:rPr>
              <a:t>: </a:t>
            </a:r>
            <a:r>
              <a:rPr lang="zh-TW" altLang="en-US" b="0" i="0" dirty="0">
                <a:solidFill>
                  <a:srgbClr val="374151"/>
                </a:solidFill>
                <a:effectLst/>
                <a:latin typeface="Söhne"/>
              </a:rPr>
              <a:t>這是一種評估模型性能的指標，常用於評估推薦系統或搜索排名等任務。對於</a:t>
            </a:r>
            <a:r>
              <a:rPr lang="en-US" b="0" i="0" dirty="0">
                <a:solidFill>
                  <a:srgbClr val="374151"/>
                </a:solidFill>
                <a:effectLst/>
                <a:latin typeface="Söhne"/>
              </a:rPr>
              <a:t>MRR，</a:t>
            </a:r>
            <a:r>
              <a:rPr lang="zh-TW" altLang="en-US" b="0" i="0" dirty="0">
                <a:solidFill>
                  <a:srgbClr val="374151"/>
                </a:solidFill>
                <a:effectLst/>
                <a:latin typeface="Söhne"/>
              </a:rPr>
              <a:t>越高越好，因為它代表模型在首次正確推薦或排名中的性能</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90</a:t>
            </a:fld>
            <a:endParaRPr lang="en-US"/>
          </a:p>
        </p:txBody>
      </p:sp>
    </p:spTree>
    <p:extLst>
      <p:ext uri="{BB962C8B-B14F-4D97-AF65-F5344CB8AC3E}">
        <p14:creationId xmlns:p14="http://schemas.microsoft.com/office/powerpoint/2010/main" val="12015304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374151"/>
                </a:solidFill>
                <a:effectLst/>
                <a:latin typeface="Söhne"/>
              </a:rPr>
              <a:t>r-essentials: </a:t>
            </a:r>
            <a:r>
              <a:rPr lang="zh-TW" altLang="en-US" b="0" i="0" dirty="0">
                <a:solidFill>
                  <a:srgbClr val="374151"/>
                </a:solidFill>
                <a:effectLst/>
                <a:latin typeface="Söhne"/>
              </a:rPr>
              <a:t>包含許多常用的</a:t>
            </a:r>
            <a:r>
              <a:rPr lang="en-US" b="0" i="0" dirty="0">
                <a:solidFill>
                  <a:srgbClr val="374151"/>
                </a:solidFill>
                <a:effectLst/>
                <a:latin typeface="Söhne"/>
              </a:rPr>
              <a:t>R</a:t>
            </a:r>
            <a:r>
              <a:rPr lang="zh-TW" altLang="en-US" b="0" i="0" dirty="0">
                <a:solidFill>
                  <a:srgbClr val="374151"/>
                </a:solidFill>
                <a:effectLst/>
                <a:latin typeface="Söhne"/>
              </a:rPr>
              <a:t>包的集合，這些包在</a:t>
            </a:r>
            <a:r>
              <a:rPr lang="en-US" b="0" i="0" dirty="0">
                <a:solidFill>
                  <a:srgbClr val="374151"/>
                </a:solidFill>
                <a:effectLst/>
                <a:latin typeface="Söhne"/>
              </a:rPr>
              <a:t>R</a:t>
            </a:r>
            <a:r>
              <a:rPr lang="zh-TW" altLang="en-US" b="0" i="0" dirty="0">
                <a:solidFill>
                  <a:srgbClr val="374151"/>
                </a:solidFill>
                <a:effectLst/>
                <a:latin typeface="Söhne"/>
              </a:rPr>
              <a:t>的日常數據分析中非常有用。</a:t>
            </a:r>
          </a:p>
          <a:p>
            <a:pPr algn="l">
              <a:buFont typeface="Arial" panose="020B0604020202020204" pitchFamily="34" charset="0"/>
              <a:buChar char="•"/>
            </a:pPr>
            <a:r>
              <a:rPr lang="en-US" b="0" i="0" dirty="0">
                <a:solidFill>
                  <a:srgbClr val="374151"/>
                </a:solidFill>
                <a:effectLst/>
                <a:latin typeface="Söhne"/>
              </a:rPr>
              <a:t>r-</a:t>
            </a:r>
            <a:r>
              <a:rPr lang="en-US" b="0" i="0" dirty="0" err="1">
                <a:solidFill>
                  <a:srgbClr val="374151"/>
                </a:solidFill>
                <a:effectLst/>
                <a:latin typeface="Söhne"/>
              </a:rPr>
              <a:t>optparse</a:t>
            </a:r>
            <a:r>
              <a:rPr lang="en-US" b="0" i="0" dirty="0">
                <a:solidFill>
                  <a:srgbClr val="374151"/>
                </a:solidFill>
                <a:effectLst/>
                <a:latin typeface="Söhne"/>
              </a:rPr>
              <a:t>: </a:t>
            </a:r>
            <a:r>
              <a:rPr lang="zh-TW" altLang="en-US" b="0" i="0" dirty="0">
                <a:solidFill>
                  <a:srgbClr val="374151"/>
                </a:solidFill>
                <a:effectLst/>
                <a:latin typeface="Söhne"/>
              </a:rPr>
              <a:t>一個</a:t>
            </a:r>
            <a:r>
              <a:rPr lang="en-US" b="0" i="0" dirty="0">
                <a:solidFill>
                  <a:srgbClr val="374151"/>
                </a:solidFill>
                <a:effectLst/>
                <a:latin typeface="Söhne"/>
              </a:rPr>
              <a:t>R</a:t>
            </a:r>
            <a:r>
              <a:rPr lang="zh-TW" altLang="en-US" b="0" i="0" dirty="0">
                <a:solidFill>
                  <a:srgbClr val="374151"/>
                </a:solidFill>
                <a:effectLst/>
                <a:latin typeface="Söhne"/>
              </a:rPr>
              <a:t>包，用於從命令行選項解析函數參數。</a:t>
            </a:r>
          </a:p>
          <a:p>
            <a:pPr algn="l">
              <a:buFont typeface="Arial" panose="020B0604020202020204" pitchFamily="34" charset="0"/>
              <a:buChar char="•"/>
            </a:pPr>
            <a:r>
              <a:rPr lang="en-US" b="0" i="0" dirty="0">
                <a:solidFill>
                  <a:srgbClr val="374151"/>
                </a:solidFill>
                <a:effectLst/>
                <a:latin typeface="Söhne"/>
              </a:rPr>
              <a:t>bioconductor-jaspar2020: Bioconductor</a:t>
            </a:r>
            <a:r>
              <a:rPr lang="zh-TW" altLang="en-US" b="0" i="0" dirty="0">
                <a:solidFill>
                  <a:srgbClr val="374151"/>
                </a:solidFill>
                <a:effectLst/>
                <a:latin typeface="Söhne"/>
              </a:rPr>
              <a:t>包，提供了</a:t>
            </a:r>
            <a:r>
              <a:rPr lang="en-US" b="0" i="0" dirty="0">
                <a:solidFill>
                  <a:srgbClr val="374151"/>
                </a:solidFill>
                <a:effectLst/>
                <a:latin typeface="Söhne"/>
              </a:rPr>
              <a:t>JASPAR 2020</a:t>
            </a:r>
            <a:r>
              <a:rPr lang="zh-TW" altLang="en-US" b="0" i="0" dirty="0">
                <a:solidFill>
                  <a:srgbClr val="374151"/>
                </a:solidFill>
                <a:effectLst/>
                <a:latin typeface="Söhne"/>
              </a:rPr>
              <a:t>數據庫的數據，這是一個廣泛使用的轉錄因子結合位點模型的集合。</a:t>
            </a:r>
          </a:p>
          <a:p>
            <a:pPr algn="l">
              <a:buFont typeface="Arial" panose="020B0604020202020204" pitchFamily="34" charset="0"/>
              <a:buChar char="•"/>
            </a:pPr>
            <a:r>
              <a:rPr lang="en-US" b="0" i="0" dirty="0" err="1">
                <a:solidFill>
                  <a:srgbClr val="374151"/>
                </a:solidFill>
                <a:effectLst/>
                <a:latin typeface="Söhne"/>
              </a:rPr>
              <a:t>bioconductor-biostrings</a:t>
            </a:r>
            <a:r>
              <a:rPr lang="en-US" b="0" i="0" dirty="0">
                <a:solidFill>
                  <a:srgbClr val="374151"/>
                </a:solidFill>
                <a:effectLst/>
                <a:latin typeface="Söhne"/>
              </a:rPr>
              <a:t>: </a:t>
            </a:r>
            <a:r>
              <a:rPr lang="zh-TW" altLang="en-US" b="0" i="0" dirty="0">
                <a:solidFill>
                  <a:srgbClr val="374151"/>
                </a:solidFill>
                <a:effectLst/>
                <a:latin typeface="Söhne"/>
              </a:rPr>
              <a:t>用於操作生物學中的字符串數據（例如</a:t>
            </a:r>
            <a:r>
              <a:rPr lang="en-US" b="0" i="0" dirty="0">
                <a:solidFill>
                  <a:srgbClr val="374151"/>
                </a:solidFill>
                <a:effectLst/>
                <a:latin typeface="Söhne"/>
              </a:rPr>
              <a:t>DNA、RNA</a:t>
            </a:r>
            <a:r>
              <a:rPr lang="zh-TW" altLang="en-US" b="0" i="0" dirty="0">
                <a:solidFill>
                  <a:srgbClr val="374151"/>
                </a:solidFill>
                <a:effectLst/>
                <a:latin typeface="Söhne"/>
              </a:rPr>
              <a:t>和蛋白質序列）的</a:t>
            </a:r>
            <a:r>
              <a:rPr lang="en-US" b="0" i="0" dirty="0">
                <a:solidFill>
                  <a:srgbClr val="374151"/>
                </a:solidFill>
                <a:effectLst/>
                <a:latin typeface="Söhne"/>
              </a:rPr>
              <a:t>Bioconductor</a:t>
            </a:r>
            <a:r>
              <a:rPr lang="zh-TW" altLang="en-US" b="0" i="0" dirty="0">
                <a:solidFill>
                  <a:srgbClr val="374151"/>
                </a:solidFill>
                <a:effectLst/>
                <a:latin typeface="Söhne"/>
              </a:rPr>
              <a:t>包。</a:t>
            </a:r>
          </a:p>
          <a:p>
            <a:pPr algn="l">
              <a:buFont typeface="Arial" panose="020B0604020202020204" pitchFamily="34" charset="0"/>
              <a:buChar char="•"/>
            </a:pPr>
            <a:r>
              <a:rPr lang="en-US" b="0" i="0" dirty="0" err="1">
                <a:solidFill>
                  <a:srgbClr val="374151"/>
                </a:solidFill>
                <a:effectLst/>
                <a:latin typeface="Söhne"/>
              </a:rPr>
              <a:t>bioconductor-tfbstools</a:t>
            </a:r>
            <a:r>
              <a:rPr lang="en-US" b="0" i="0" dirty="0">
                <a:solidFill>
                  <a:srgbClr val="374151"/>
                </a:solidFill>
                <a:effectLst/>
                <a:latin typeface="Söhne"/>
              </a:rPr>
              <a:t>: Bioconductor</a:t>
            </a:r>
            <a:r>
              <a:rPr lang="zh-TW" altLang="en-US" b="0" i="0" dirty="0">
                <a:solidFill>
                  <a:srgbClr val="374151"/>
                </a:solidFill>
                <a:effectLst/>
                <a:latin typeface="Söhne"/>
              </a:rPr>
              <a:t>包，用於轉錄因子結合位點的分析和視覺化。</a:t>
            </a:r>
          </a:p>
          <a:p>
            <a:pPr algn="l">
              <a:buFont typeface="Arial" panose="020B0604020202020204" pitchFamily="34" charset="0"/>
              <a:buChar char="•"/>
            </a:pPr>
            <a:r>
              <a:rPr lang="en-US" b="0" i="0" dirty="0" err="1">
                <a:solidFill>
                  <a:srgbClr val="374151"/>
                </a:solidFill>
                <a:effectLst/>
                <a:latin typeface="Söhne"/>
              </a:rPr>
              <a:t>bioconductor-motifmatchr</a:t>
            </a:r>
            <a:r>
              <a:rPr lang="en-US" b="0" i="0" dirty="0">
                <a:solidFill>
                  <a:srgbClr val="374151"/>
                </a:solidFill>
                <a:effectLst/>
                <a:latin typeface="Söhne"/>
              </a:rPr>
              <a:t>: </a:t>
            </a:r>
            <a:r>
              <a:rPr lang="zh-TW" altLang="en-US" b="0" i="0" dirty="0">
                <a:solidFill>
                  <a:srgbClr val="374151"/>
                </a:solidFill>
                <a:effectLst/>
                <a:latin typeface="Söhne"/>
              </a:rPr>
              <a:t>用於獲取轉錄因子結合到基因組的位置的</a:t>
            </a:r>
            <a:r>
              <a:rPr lang="en-US" b="0" i="0" dirty="0">
                <a:solidFill>
                  <a:srgbClr val="374151"/>
                </a:solidFill>
                <a:effectLst/>
                <a:latin typeface="Söhne"/>
              </a:rPr>
              <a:t>Bioconductor</a:t>
            </a:r>
            <a:r>
              <a:rPr lang="zh-TW" altLang="en-US" b="0" i="0" dirty="0">
                <a:solidFill>
                  <a:srgbClr val="374151"/>
                </a:solidFill>
                <a:effectLst/>
                <a:latin typeface="Söhne"/>
              </a:rPr>
              <a:t>包。</a:t>
            </a:r>
          </a:p>
          <a:p>
            <a:pPr algn="l">
              <a:buFont typeface="Arial" panose="020B0604020202020204" pitchFamily="34" charset="0"/>
              <a:buChar char="•"/>
            </a:pPr>
            <a:r>
              <a:rPr lang="en-US" b="0" i="0" dirty="0" err="1">
                <a:solidFill>
                  <a:srgbClr val="374151"/>
                </a:solidFill>
                <a:effectLst/>
                <a:latin typeface="Söhne"/>
              </a:rPr>
              <a:t>bioconductor-summarizedexperiment</a:t>
            </a:r>
            <a:r>
              <a:rPr lang="en-US" b="0" i="0" dirty="0">
                <a:solidFill>
                  <a:srgbClr val="374151"/>
                </a:solidFill>
                <a:effectLst/>
                <a:latin typeface="Söhne"/>
              </a:rPr>
              <a:t>: </a:t>
            </a:r>
            <a:r>
              <a:rPr lang="zh-TW" altLang="en-US" b="0" i="0" dirty="0">
                <a:solidFill>
                  <a:srgbClr val="374151"/>
                </a:solidFill>
                <a:effectLst/>
                <a:latin typeface="Söhne"/>
              </a:rPr>
              <a:t>提供一個容器，用於存儲和操作生物學的數據集的</a:t>
            </a:r>
            <a:r>
              <a:rPr lang="en-US" b="0" i="0" dirty="0">
                <a:solidFill>
                  <a:srgbClr val="374151"/>
                </a:solidFill>
                <a:effectLst/>
                <a:latin typeface="Söhne"/>
              </a:rPr>
              <a:t>Bioconductor</a:t>
            </a:r>
            <a:r>
              <a:rPr lang="zh-TW" altLang="en-US" b="0" i="0" dirty="0">
                <a:solidFill>
                  <a:srgbClr val="374151"/>
                </a:solidFill>
                <a:effectLst/>
                <a:latin typeface="Söhne"/>
              </a:rPr>
              <a:t>包。</a:t>
            </a:r>
          </a:p>
          <a:p>
            <a:pPr algn="l">
              <a:buFont typeface="Arial" panose="020B0604020202020204" pitchFamily="34" charset="0"/>
              <a:buChar char="•"/>
            </a:pPr>
            <a:r>
              <a:rPr lang="en-US" b="0" i="0" dirty="0">
                <a:solidFill>
                  <a:srgbClr val="374151"/>
                </a:solidFill>
                <a:effectLst/>
                <a:latin typeface="Söhne"/>
              </a:rPr>
              <a:t>r-</a:t>
            </a:r>
            <a:r>
              <a:rPr lang="en-US" b="0" i="0" dirty="0" err="1">
                <a:solidFill>
                  <a:srgbClr val="374151"/>
                </a:solidFill>
                <a:effectLst/>
                <a:latin typeface="Söhne"/>
              </a:rPr>
              <a:t>doparallel</a:t>
            </a:r>
            <a:r>
              <a:rPr lang="en-US" b="0" i="0" dirty="0">
                <a:solidFill>
                  <a:srgbClr val="374151"/>
                </a:solidFill>
                <a:effectLst/>
                <a:latin typeface="Söhne"/>
              </a:rPr>
              <a:t>: R</a:t>
            </a:r>
            <a:r>
              <a:rPr lang="zh-TW" altLang="en-US" b="0" i="0" dirty="0">
                <a:solidFill>
                  <a:srgbClr val="374151"/>
                </a:solidFill>
                <a:effectLst/>
                <a:latin typeface="Söhne"/>
              </a:rPr>
              <a:t>包，提供了一個簡單的</a:t>
            </a:r>
            <a:r>
              <a:rPr lang="en-US" b="0" i="0" dirty="0">
                <a:solidFill>
                  <a:srgbClr val="374151"/>
                </a:solidFill>
                <a:effectLst/>
                <a:latin typeface="Söhne"/>
              </a:rPr>
              <a:t>API，</a:t>
            </a:r>
            <a:r>
              <a:rPr lang="zh-TW" altLang="en-US" b="0" i="0" dirty="0">
                <a:solidFill>
                  <a:srgbClr val="374151"/>
                </a:solidFill>
                <a:effectLst/>
                <a:latin typeface="Söhne"/>
              </a:rPr>
              <a:t>用於在</a:t>
            </a:r>
            <a:r>
              <a:rPr lang="en-US" b="0" i="0" dirty="0">
                <a:solidFill>
                  <a:srgbClr val="374151"/>
                </a:solidFill>
                <a:effectLst/>
                <a:latin typeface="Söhne"/>
              </a:rPr>
              <a:t>R</a:t>
            </a:r>
            <a:r>
              <a:rPr lang="zh-TW" altLang="en-US" b="0" i="0" dirty="0">
                <a:solidFill>
                  <a:srgbClr val="374151"/>
                </a:solidFill>
                <a:effectLst/>
                <a:latin typeface="Söhne"/>
              </a:rPr>
              <a:t>中進行並行計算。</a:t>
            </a:r>
          </a:p>
          <a:p>
            <a:pPr algn="l">
              <a:buFont typeface="Arial" panose="020B0604020202020204" pitchFamily="34" charset="0"/>
              <a:buChar char="•"/>
            </a:pPr>
            <a:r>
              <a:rPr lang="en-US" b="0" i="0" dirty="0">
                <a:solidFill>
                  <a:srgbClr val="374151"/>
                </a:solidFill>
                <a:effectLst/>
                <a:latin typeface="Söhne"/>
              </a:rPr>
              <a:t>bioconductor-rhdf5: </a:t>
            </a:r>
            <a:r>
              <a:rPr lang="zh-TW" altLang="en-US" b="0" i="0" dirty="0">
                <a:solidFill>
                  <a:srgbClr val="374151"/>
                </a:solidFill>
                <a:effectLst/>
                <a:latin typeface="Söhne"/>
              </a:rPr>
              <a:t>用於讀寫</a:t>
            </a:r>
            <a:r>
              <a:rPr lang="en-US" b="0" i="0" dirty="0">
                <a:solidFill>
                  <a:srgbClr val="374151"/>
                </a:solidFill>
                <a:effectLst/>
                <a:latin typeface="Söhne"/>
              </a:rPr>
              <a:t>HDF5</a:t>
            </a:r>
            <a:r>
              <a:rPr lang="zh-TW" altLang="en-US" b="0" i="0" dirty="0">
                <a:solidFill>
                  <a:srgbClr val="374151"/>
                </a:solidFill>
                <a:effectLst/>
                <a:latin typeface="Söhne"/>
              </a:rPr>
              <a:t>文件的</a:t>
            </a:r>
            <a:r>
              <a:rPr lang="en-US" b="0" i="0" dirty="0">
                <a:solidFill>
                  <a:srgbClr val="374151"/>
                </a:solidFill>
                <a:effectLst/>
                <a:latin typeface="Söhne"/>
              </a:rPr>
              <a:t>Bioconductor</a:t>
            </a:r>
            <a:r>
              <a:rPr lang="zh-TW" altLang="en-US" b="0" i="0" dirty="0">
                <a:solidFill>
                  <a:srgbClr val="374151"/>
                </a:solidFill>
                <a:effectLst/>
                <a:latin typeface="Söhne"/>
              </a:rPr>
              <a:t>包。</a:t>
            </a:r>
          </a:p>
          <a:p>
            <a:pPr algn="l">
              <a:buFont typeface="Arial" panose="020B0604020202020204" pitchFamily="34" charset="0"/>
              <a:buChar char="•"/>
            </a:pPr>
            <a:r>
              <a:rPr lang="en-US" b="0" i="0" dirty="0">
                <a:solidFill>
                  <a:srgbClr val="374151"/>
                </a:solidFill>
                <a:effectLst/>
                <a:latin typeface="Söhne"/>
              </a:rPr>
              <a:t>bioconductor-hdf5array: Bioconductor</a:t>
            </a:r>
            <a:r>
              <a:rPr lang="zh-TW" altLang="en-US" b="0" i="0" dirty="0">
                <a:solidFill>
                  <a:srgbClr val="374151"/>
                </a:solidFill>
                <a:effectLst/>
                <a:latin typeface="Söhne"/>
              </a:rPr>
              <a:t>包，提供了一種用於存儲在</a:t>
            </a:r>
            <a:r>
              <a:rPr lang="en-US" b="0" i="0" dirty="0">
                <a:solidFill>
                  <a:srgbClr val="374151"/>
                </a:solidFill>
                <a:effectLst/>
                <a:latin typeface="Söhne"/>
              </a:rPr>
              <a:t>HDF5</a:t>
            </a:r>
            <a:r>
              <a:rPr lang="zh-TW" altLang="en-US" b="0" i="0" dirty="0">
                <a:solidFill>
                  <a:srgbClr val="374151"/>
                </a:solidFill>
                <a:effectLst/>
                <a:latin typeface="Söhne"/>
              </a:rPr>
              <a:t>文件中的大數據集的數據結構。</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97</a:t>
            </a:fld>
            <a:endParaRPr lang="en-US"/>
          </a:p>
        </p:txBody>
      </p:sp>
    </p:spTree>
    <p:extLst>
      <p:ext uri="{BB962C8B-B14F-4D97-AF65-F5344CB8AC3E}">
        <p14:creationId xmlns:p14="http://schemas.microsoft.com/office/powerpoint/2010/main" val="21809187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04040"/>
                </a:solidFill>
                <a:effectLst/>
                <a:latin typeface="Lato" panose="020F0502020204030203" pitchFamily="34" charset="0"/>
              </a:rPr>
              <a:t>It will speed up the </a:t>
            </a:r>
            <a:r>
              <a:rPr lang="en-US" b="0" i="0" dirty="0" err="1">
                <a:solidFill>
                  <a:srgbClr val="404040"/>
                </a:solidFill>
                <a:effectLst/>
                <a:latin typeface="Lato" panose="020F0502020204030203" pitchFamily="34" charset="0"/>
              </a:rPr>
              <a:t>trainning</a:t>
            </a:r>
            <a:r>
              <a:rPr lang="en-US" b="0" i="0" dirty="0">
                <a:solidFill>
                  <a:srgbClr val="404040"/>
                </a:solidFill>
                <a:effectLst/>
                <a:latin typeface="Lato" panose="020F0502020204030203" pitchFamily="34" charset="0"/>
              </a:rPr>
              <a:t> process by only keeping peaks associated with top PCs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100</a:t>
            </a:fld>
            <a:endParaRPr lang="en-US"/>
          </a:p>
        </p:txBody>
      </p:sp>
    </p:spTree>
    <p:extLst>
      <p:ext uri="{BB962C8B-B14F-4D97-AF65-F5344CB8AC3E}">
        <p14:creationId xmlns:p14="http://schemas.microsoft.com/office/powerpoint/2010/main" val="742148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04040"/>
                </a:solidFill>
                <a:effectLst/>
                <a:latin typeface="Lato" panose="020F0502020204030203" pitchFamily="34" charset="0"/>
              </a:rPr>
              <a:t>Select features associated with each of these PCs. The number of features for each PC will be automatically decided</a:t>
            </a:r>
          </a:p>
          <a:p>
            <a:pPr algn="l">
              <a:buFont typeface="+mj-lt"/>
              <a:buAutoNum type="arabicPeriod"/>
            </a:pPr>
            <a:r>
              <a:rPr lang="zh-TW" altLang="en-US" b="1" i="0" dirty="0">
                <a:solidFill>
                  <a:srgbClr val="374151"/>
                </a:solidFill>
                <a:effectLst/>
                <a:latin typeface="Söhne"/>
              </a:rPr>
              <a:t>主成分（</a:t>
            </a:r>
            <a:r>
              <a:rPr lang="en-US" altLang="zh-TW" b="1" i="0" dirty="0">
                <a:solidFill>
                  <a:srgbClr val="374151"/>
                </a:solidFill>
                <a:effectLst/>
                <a:latin typeface="Söhne"/>
              </a:rPr>
              <a:t>PC</a:t>
            </a:r>
            <a:r>
              <a:rPr lang="zh-TW" altLang="en-US" b="1" i="0" dirty="0">
                <a:solidFill>
                  <a:srgbClr val="374151"/>
                </a:solidFill>
                <a:effectLst/>
                <a:latin typeface="Söhne"/>
              </a:rPr>
              <a:t>）</a:t>
            </a:r>
            <a:r>
              <a:rPr lang="zh-TW" altLang="en-US" b="0" i="0" dirty="0">
                <a:solidFill>
                  <a:srgbClr val="374151"/>
                </a:solidFill>
                <a:effectLst/>
                <a:latin typeface="Söhne"/>
              </a:rPr>
              <a:t>：每一小格的標題顯示了哪個主成分的特徵負荷被展示。例如，“</a:t>
            </a:r>
            <a:r>
              <a:rPr lang="en-US" altLang="zh-TW" b="0" i="0" dirty="0">
                <a:solidFill>
                  <a:srgbClr val="374151"/>
                </a:solidFill>
                <a:effectLst/>
                <a:latin typeface="Söhne"/>
              </a:rPr>
              <a:t>PC 0”</a:t>
            </a:r>
            <a:r>
              <a:rPr lang="zh-TW" altLang="en-US" b="0" i="0" dirty="0">
                <a:solidFill>
                  <a:srgbClr val="374151"/>
                </a:solidFill>
                <a:effectLst/>
                <a:latin typeface="Söhne"/>
              </a:rPr>
              <a:t>表示第一主成分。</a:t>
            </a:r>
          </a:p>
          <a:p>
            <a:pPr algn="l">
              <a:buFont typeface="+mj-lt"/>
              <a:buAutoNum type="arabicPeriod"/>
            </a:pPr>
            <a:r>
              <a:rPr lang="zh-TW" altLang="en-US" b="1" i="0" dirty="0">
                <a:solidFill>
                  <a:srgbClr val="374151"/>
                </a:solidFill>
                <a:effectLst/>
                <a:latin typeface="Söhne"/>
              </a:rPr>
              <a:t>特徵 </a:t>
            </a:r>
            <a:r>
              <a:rPr lang="en-US" altLang="zh-TW" b="1" i="0" dirty="0">
                <a:solidFill>
                  <a:srgbClr val="374151"/>
                </a:solidFill>
                <a:effectLst/>
                <a:latin typeface="Söhne"/>
              </a:rPr>
              <a:t>(Features)</a:t>
            </a:r>
            <a:r>
              <a:rPr lang="zh-TW" altLang="en-US" b="0" i="0" dirty="0">
                <a:solidFill>
                  <a:srgbClr val="374151"/>
                </a:solidFill>
                <a:effectLst/>
                <a:latin typeface="Söhne"/>
              </a:rPr>
              <a:t>：</a:t>
            </a:r>
            <a:r>
              <a:rPr lang="en-US" altLang="zh-TW" b="0" i="0" dirty="0">
                <a:solidFill>
                  <a:srgbClr val="374151"/>
                </a:solidFill>
                <a:effectLst/>
                <a:latin typeface="Söhne"/>
              </a:rPr>
              <a:t>X</a:t>
            </a:r>
            <a:r>
              <a:rPr lang="zh-TW" altLang="en-US" b="0" i="0" dirty="0">
                <a:solidFill>
                  <a:srgbClr val="374151"/>
                </a:solidFill>
                <a:effectLst/>
                <a:latin typeface="Söhne"/>
              </a:rPr>
              <a:t>軸表示特徵的數量。從這個圖可以看出，特徵的數量達到了數十萬。</a:t>
            </a:r>
          </a:p>
          <a:p>
            <a:pPr algn="l">
              <a:buFont typeface="+mj-lt"/>
              <a:buAutoNum type="arabicPeriod"/>
            </a:pPr>
            <a:r>
              <a:rPr lang="zh-TW" altLang="en-US" b="1" i="0" dirty="0">
                <a:solidFill>
                  <a:srgbClr val="374151"/>
                </a:solidFill>
                <a:effectLst/>
                <a:latin typeface="Söhne"/>
              </a:rPr>
              <a:t>負荷 </a:t>
            </a:r>
            <a:r>
              <a:rPr lang="en-US" altLang="zh-TW" b="1" i="0" dirty="0">
                <a:solidFill>
                  <a:srgbClr val="374151"/>
                </a:solidFill>
                <a:effectLst/>
                <a:latin typeface="Söhne"/>
              </a:rPr>
              <a:t>(Loadings)</a:t>
            </a:r>
            <a:r>
              <a:rPr lang="zh-TW" altLang="en-US" b="0" i="0" dirty="0">
                <a:solidFill>
                  <a:srgbClr val="374151"/>
                </a:solidFill>
                <a:effectLst/>
                <a:latin typeface="Söhne"/>
              </a:rPr>
              <a:t>：</a:t>
            </a:r>
            <a:r>
              <a:rPr lang="en-US" altLang="zh-TW" b="0" i="0" dirty="0">
                <a:solidFill>
                  <a:srgbClr val="374151"/>
                </a:solidFill>
                <a:effectLst/>
                <a:latin typeface="Söhne"/>
              </a:rPr>
              <a:t>Y</a:t>
            </a:r>
            <a:r>
              <a:rPr lang="zh-TW" altLang="en-US" b="0" i="0" dirty="0">
                <a:solidFill>
                  <a:srgbClr val="374151"/>
                </a:solidFill>
                <a:effectLst/>
                <a:latin typeface="Söhne"/>
              </a:rPr>
              <a:t>軸代表了特徵在該主成分中的負荷值。負荷值告訴我們該特徵在該主成分中的重要性。</a:t>
            </a:r>
          </a:p>
          <a:p>
            <a:pPr algn="l">
              <a:buFont typeface="+mj-lt"/>
              <a:buAutoNum type="arabicPeriod"/>
            </a:pPr>
            <a:r>
              <a:rPr lang="zh-TW" altLang="en-US" b="1" i="0" dirty="0">
                <a:solidFill>
                  <a:srgbClr val="374151"/>
                </a:solidFill>
                <a:effectLst/>
                <a:latin typeface="Söhne"/>
              </a:rPr>
              <a:t>紅色虛線</a:t>
            </a:r>
            <a:r>
              <a:rPr lang="zh-TW" altLang="en-US" b="0" i="0" dirty="0">
                <a:solidFill>
                  <a:srgbClr val="374151"/>
                </a:solidFill>
                <a:effectLst/>
                <a:latin typeface="Söhne"/>
              </a:rPr>
              <a:t>：這些虛線似乎是用來標記某些特定的特徵或負荷值閾值</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102</a:t>
            </a:fld>
            <a:endParaRPr lang="en-US"/>
          </a:p>
        </p:txBody>
      </p:sp>
    </p:spTree>
    <p:extLst>
      <p:ext uri="{BB962C8B-B14F-4D97-AF65-F5344CB8AC3E}">
        <p14:creationId xmlns:p14="http://schemas.microsoft.com/office/powerpoint/2010/main" val="2775489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A1E2-B67A-A249-4E1D-180AFBF227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1D9AAB-C53F-62A7-0272-E116D3C0BC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19D3BA-21CE-7623-4963-BA51D27D4AA3}"/>
              </a:ext>
            </a:extLst>
          </p:cNvPr>
          <p:cNvSpPr>
            <a:spLocks noGrp="1"/>
          </p:cNvSpPr>
          <p:nvPr>
            <p:ph type="dt" sz="half" idx="10"/>
          </p:nvPr>
        </p:nvSpPr>
        <p:spPr/>
        <p:txBody>
          <a:bodyPr/>
          <a:lstStyle/>
          <a:p>
            <a:fld id="{9FFEFD38-BF19-4C61-B69F-685488D8B6E2}" type="datetime1">
              <a:rPr lang="en-US" smtClean="0"/>
              <a:t>11/18/2023</a:t>
            </a:fld>
            <a:endParaRPr lang="en-US"/>
          </a:p>
        </p:txBody>
      </p:sp>
      <p:sp>
        <p:nvSpPr>
          <p:cNvPr id="5" name="Footer Placeholder 4">
            <a:extLst>
              <a:ext uri="{FF2B5EF4-FFF2-40B4-BE49-F238E27FC236}">
                <a16:creationId xmlns:a16="http://schemas.microsoft.com/office/drawing/2014/main" id="{1DDA42AF-A697-F21C-551A-1230677FC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634175-3BB2-BC0F-6974-A87C7FDF37CA}"/>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3447404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ED5ED-01C9-6134-F208-CD26BCC2E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DF697D-ACDC-D9D6-4337-D5A0CFD4DC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4C176-2CDB-5ED2-8353-81D6317925FA}"/>
              </a:ext>
            </a:extLst>
          </p:cNvPr>
          <p:cNvSpPr>
            <a:spLocks noGrp="1"/>
          </p:cNvSpPr>
          <p:nvPr>
            <p:ph type="dt" sz="half" idx="10"/>
          </p:nvPr>
        </p:nvSpPr>
        <p:spPr/>
        <p:txBody>
          <a:bodyPr/>
          <a:lstStyle/>
          <a:p>
            <a:fld id="{40E12AA1-83B6-448E-9209-1983D95FCEC5}" type="datetime1">
              <a:rPr lang="en-US" smtClean="0"/>
              <a:t>11/18/2023</a:t>
            </a:fld>
            <a:endParaRPr lang="en-US"/>
          </a:p>
        </p:txBody>
      </p:sp>
      <p:sp>
        <p:nvSpPr>
          <p:cNvPr id="5" name="Footer Placeholder 4">
            <a:extLst>
              <a:ext uri="{FF2B5EF4-FFF2-40B4-BE49-F238E27FC236}">
                <a16:creationId xmlns:a16="http://schemas.microsoft.com/office/drawing/2014/main" id="{A0250744-34AD-5A87-C9B3-16FEEAA21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0CF8E-DA58-6CB9-941E-DAAFCE860E34}"/>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412491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7818-C96C-DAA4-5F5F-FCBE771E97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2C019F-446A-76BC-E459-B317AE625D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32E486-4A74-B8DD-C012-3FDA148CB6CD}"/>
              </a:ext>
            </a:extLst>
          </p:cNvPr>
          <p:cNvSpPr>
            <a:spLocks noGrp="1"/>
          </p:cNvSpPr>
          <p:nvPr>
            <p:ph type="dt" sz="half" idx="10"/>
          </p:nvPr>
        </p:nvSpPr>
        <p:spPr/>
        <p:txBody>
          <a:bodyPr/>
          <a:lstStyle/>
          <a:p>
            <a:fld id="{EB06EDF5-D56E-44D7-B86A-12C6FB7B0E5F}" type="datetime1">
              <a:rPr lang="en-US" smtClean="0"/>
              <a:t>11/18/2023</a:t>
            </a:fld>
            <a:endParaRPr lang="en-US"/>
          </a:p>
        </p:txBody>
      </p:sp>
      <p:sp>
        <p:nvSpPr>
          <p:cNvPr id="5" name="Footer Placeholder 4">
            <a:extLst>
              <a:ext uri="{FF2B5EF4-FFF2-40B4-BE49-F238E27FC236}">
                <a16:creationId xmlns:a16="http://schemas.microsoft.com/office/drawing/2014/main" id="{1B3981D9-A52F-5E93-8A57-42F830D634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D2AE3-6F0C-73C7-44EA-AAA60100C716}"/>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641713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280E-327F-B2D2-0B39-A133B3D4F6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35A5C8-568A-C528-EAEC-8A5630A059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01B89-9C76-5B8F-6608-7E198836F2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689955-FB25-C68B-BB1C-8FF05648E492}"/>
              </a:ext>
            </a:extLst>
          </p:cNvPr>
          <p:cNvSpPr>
            <a:spLocks noGrp="1"/>
          </p:cNvSpPr>
          <p:nvPr>
            <p:ph type="dt" sz="half" idx="10"/>
          </p:nvPr>
        </p:nvSpPr>
        <p:spPr/>
        <p:txBody>
          <a:bodyPr/>
          <a:lstStyle/>
          <a:p>
            <a:fld id="{1CE27A09-1423-4EE8-98D2-ABBA83D38B41}" type="datetime1">
              <a:rPr lang="en-US" smtClean="0"/>
              <a:t>11/18/2023</a:t>
            </a:fld>
            <a:endParaRPr lang="en-US"/>
          </a:p>
        </p:txBody>
      </p:sp>
      <p:sp>
        <p:nvSpPr>
          <p:cNvPr id="6" name="Footer Placeholder 5">
            <a:extLst>
              <a:ext uri="{FF2B5EF4-FFF2-40B4-BE49-F238E27FC236}">
                <a16:creationId xmlns:a16="http://schemas.microsoft.com/office/drawing/2014/main" id="{1F23D584-A0A3-1C54-1CA0-5C7B6EA4A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7A756F-83F0-5262-7F2F-477245C3B541}"/>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638851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20889-AA1D-F249-3A28-1E0149C25D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06C568-F290-654E-0A54-7F2660727C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80387A-5F7B-6954-7C37-1B8BEBFD40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56BB35-D302-4739-B5AB-3F3A9B2FD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2BE1E5-657B-4291-DDB5-F5E5BDA0BA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118042-02FE-72D4-5FB8-F7D1AD838E41}"/>
              </a:ext>
            </a:extLst>
          </p:cNvPr>
          <p:cNvSpPr>
            <a:spLocks noGrp="1"/>
          </p:cNvSpPr>
          <p:nvPr>
            <p:ph type="dt" sz="half" idx="10"/>
          </p:nvPr>
        </p:nvSpPr>
        <p:spPr/>
        <p:txBody>
          <a:bodyPr/>
          <a:lstStyle/>
          <a:p>
            <a:fld id="{E531D5FD-4D63-4C73-BA66-2B10FD65087F}" type="datetime1">
              <a:rPr lang="en-US" smtClean="0"/>
              <a:t>11/18/2023</a:t>
            </a:fld>
            <a:endParaRPr lang="en-US"/>
          </a:p>
        </p:txBody>
      </p:sp>
      <p:sp>
        <p:nvSpPr>
          <p:cNvPr id="8" name="Footer Placeholder 7">
            <a:extLst>
              <a:ext uri="{FF2B5EF4-FFF2-40B4-BE49-F238E27FC236}">
                <a16:creationId xmlns:a16="http://schemas.microsoft.com/office/drawing/2014/main" id="{EC9E48DC-D303-379B-F60F-E0329EE767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98D151-8A67-5E1C-C04D-6ADE3C655A85}"/>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343898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7340-FDFE-82D0-D66E-C58C59675F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6777D6-BFDF-27A9-E9E5-1BC9289DF08A}"/>
              </a:ext>
            </a:extLst>
          </p:cNvPr>
          <p:cNvSpPr>
            <a:spLocks noGrp="1"/>
          </p:cNvSpPr>
          <p:nvPr>
            <p:ph type="dt" sz="half" idx="10"/>
          </p:nvPr>
        </p:nvSpPr>
        <p:spPr/>
        <p:txBody>
          <a:bodyPr/>
          <a:lstStyle/>
          <a:p>
            <a:fld id="{B3F5A8A4-8862-4BD7-B687-934EDE2F02A7}" type="datetime1">
              <a:rPr lang="en-US" smtClean="0"/>
              <a:t>11/18/2023</a:t>
            </a:fld>
            <a:endParaRPr lang="en-US"/>
          </a:p>
        </p:txBody>
      </p:sp>
      <p:sp>
        <p:nvSpPr>
          <p:cNvPr id="4" name="Footer Placeholder 3">
            <a:extLst>
              <a:ext uri="{FF2B5EF4-FFF2-40B4-BE49-F238E27FC236}">
                <a16:creationId xmlns:a16="http://schemas.microsoft.com/office/drawing/2014/main" id="{1944516C-D64B-495C-176E-D1F77A2FCA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91082E-C101-5FDC-179A-92C4D15905CC}"/>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291278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B88822-CFDB-C9D2-8BDE-9BD24CDBA4A4}"/>
              </a:ext>
            </a:extLst>
          </p:cNvPr>
          <p:cNvSpPr>
            <a:spLocks noGrp="1"/>
          </p:cNvSpPr>
          <p:nvPr>
            <p:ph type="dt" sz="half" idx="10"/>
          </p:nvPr>
        </p:nvSpPr>
        <p:spPr/>
        <p:txBody>
          <a:bodyPr/>
          <a:lstStyle/>
          <a:p>
            <a:fld id="{71CF2FF9-FD6A-4545-BDE3-57266CEC2395}" type="datetime1">
              <a:rPr lang="en-US" smtClean="0"/>
              <a:t>11/18/2023</a:t>
            </a:fld>
            <a:endParaRPr lang="en-US"/>
          </a:p>
        </p:txBody>
      </p:sp>
      <p:sp>
        <p:nvSpPr>
          <p:cNvPr id="3" name="Footer Placeholder 2">
            <a:extLst>
              <a:ext uri="{FF2B5EF4-FFF2-40B4-BE49-F238E27FC236}">
                <a16:creationId xmlns:a16="http://schemas.microsoft.com/office/drawing/2014/main" id="{A45E432D-3F72-DE06-388C-E6D0C0FC06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34BE1F-DF8D-2999-1C21-287FFD54601C}"/>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479668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09D7-A626-244B-9713-C29F11C4B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A0327E-6797-E754-8558-F5DE40F94F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1A165C-27FF-670F-AC47-B95A27CCF2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D05D6F-2D30-898C-6D87-06FC33742C8D}"/>
              </a:ext>
            </a:extLst>
          </p:cNvPr>
          <p:cNvSpPr>
            <a:spLocks noGrp="1"/>
          </p:cNvSpPr>
          <p:nvPr>
            <p:ph type="dt" sz="half" idx="10"/>
          </p:nvPr>
        </p:nvSpPr>
        <p:spPr/>
        <p:txBody>
          <a:bodyPr/>
          <a:lstStyle/>
          <a:p>
            <a:fld id="{600BD559-BEEE-4ED7-A8F3-B1F102D48313}" type="datetime1">
              <a:rPr lang="en-US" smtClean="0"/>
              <a:t>11/18/2023</a:t>
            </a:fld>
            <a:endParaRPr lang="en-US"/>
          </a:p>
        </p:txBody>
      </p:sp>
      <p:sp>
        <p:nvSpPr>
          <p:cNvPr id="6" name="Footer Placeholder 5">
            <a:extLst>
              <a:ext uri="{FF2B5EF4-FFF2-40B4-BE49-F238E27FC236}">
                <a16:creationId xmlns:a16="http://schemas.microsoft.com/office/drawing/2014/main" id="{C7E8CB48-478B-28B1-231B-7EDC455D3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0C7E7-93EC-14F2-B23E-04D8B150C873}"/>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9231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FD83-60A4-A678-3EAD-7F0523C684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352410-22C1-4262-FF38-4594CAE55E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B45293-3049-2889-1935-B47B65B59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665846-1334-1A8A-7BCB-282AB92E83F7}"/>
              </a:ext>
            </a:extLst>
          </p:cNvPr>
          <p:cNvSpPr>
            <a:spLocks noGrp="1"/>
          </p:cNvSpPr>
          <p:nvPr>
            <p:ph type="dt" sz="half" idx="10"/>
          </p:nvPr>
        </p:nvSpPr>
        <p:spPr/>
        <p:txBody>
          <a:bodyPr/>
          <a:lstStyle/>
          <a:p>
            <a:fld id="{D46DC4E0-0BFD-4279-B1D6-EDB73BBE331F}" type="datetime1">
              <a:rPr lang="en-US" smtClean="0"/>
              <a:t>11/18/2023</a:t>
            </a:fld>
            <a:endParaRPr lang="en-US"/>
          </a:p>
        </p:txBody>
      </p:sp>
      <p:sp>
        <p:nvSpPr>
          <p:cNvPr id="6" name="Footer Placeholder 5">
            <a:extLst>
              <a:ext uri="{FF2B5EF4-FFF2-40B4-BE49-F238E27FC236}">
                <a16:creationId xmlns:a16="http://schemas.microsoft.com/office/drawing/2014/main" id="{C0772550-8F68-FD10-18D1-35D34AF8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16D2C-AADF-0DCC-EE36-92B9C77DCB33}"/>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69494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9FFC-5E22-0D88-D94F-70BE1792EE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9A3FAA-44FA-688B-6B41-DA8CB6FBCC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801A9-B17B-C90B-63CF-67BB325DEE47}"/>
              </a:ext>
            </a:extLst>
          </p:cNvPr>
          <p:cNvSpPr>
            <a:spLocks noGrp="1"/>
          </p:cNvSpPr>
          <p:nvPr>
            <p:ph type="dt" sz="half" idx="10"/>
          </p:nvPr>
        </p:nvSpPr>
        <p:spPr/>
        <p:txBody>
          <a:bodyPr/>
          <a:lstStyle/>
          <a:p>
            <a:fld id="{D4FD6020-CE1A-42BC-A742-2C28340B6EBF}" type="datetime1">
              <a:rPr lang="en-US" smtClean="0"/>
              <a:t>11/18/2023</a:t>
            </a:fld>
            <a:endParaRPr lang="en-US"/>
          </a:p>
        </p:txBody>
      </p:sp>
      <p:sp>
        <p:nvSpPr>
          <p:cNvPr id="5" name="Footer Placeholder 4">
            <a:extLst>
              <a:ext uri="{FF2B5EF4-FFF2-40B4-BE49-F238E27FC236}">
                <a16:creationId xmlns:a16="http://schemas.microsoft.com/office/drawing/2014/main" id="{87164CF7-9D0C-26E9-7908-46CA1027A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46FE37-151F-1186-6767-597ADAD62920}"/>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341546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237E1-D9FA-8DC2-C66D-B3D909F34F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FE1A05-DBDF-7607-1B34-88399B96E0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8081C-79E3-DBC3-E810-532DB5A88E6E}"/>
              </a:ext>
            </a:extLst>
          </p:cNvPr>
          <p:cNvSpPr>
            <a:spLocks noGrp="1"/>
          </p:cNvSpPr>
          <p:nvPr>
            <p:ph type="dt" sz="half" idx="10"/>
          </p:nvPr>
        </p:nvSpPr>
        <p:spPr/>
        <p:txBody>
          <a:bodyPr/>
          <a:lstStyle/>
          <a:p>
            <a:fld id="{0964CBE5-EB4C-4EB8-919C-550B3D8E3CC2}" type="datetime1">
              <a:rPr lang="en-US" smtClean="0"/>
              <a:t>11/18/2023</a:t>
            </a:fld>
            <a:endParaRPr lang="en-US"/>
          </a:p>
        </p:txBody>
      </p:sp>
      <p:sp>
        <p:nvSpPr>
          <p:cNvPr id="5" name="Footer Placeholder 4">
            <a:extLst>
              <a:ext uri="{FF2B5EF4-FFF2-40B4-BE49-F238E27FC236}">
                <a16:creationId xmlns:a16="http://schemas.microsoft.com/office/drawing/2014/main" id="{8325B75D-0B0C-AFC2-0A85-3E482A1CA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DAA45-89D0-D895-8AF9-90C66D1BB63C}"/>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03976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F4794F-C420-CDEA-76F5-AD2D875B00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265051-79F6-56D4-B1FA-005CDAB815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19FEC4-FBA3-29F1-907F-6494E0930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C89B5-6272-4390-8686-926803CDBF45}" type="datetime1">
              <a:rPr lang="en-US" smtClean="0"/>
              <a:t>11/18/2023</a:t>
            </a:fld>
            <a:endParaRPr lang="en-US"/>
          </a:p>
        </p:txBody>
      </p:sp>
      <p:sp>
        <p:nvSpPr>
          <p:cNvPr id="5" name="Footer Placeholder 4">
            <a:extLst>
              <a:ext uri="{FF2B5EF4-FFF2-40B4-BE49-F238E27FC236}">
                <a16:creationId xmlns:a16="http://schemas.microsoft.com/office/drawing/2014/main" id="{150C36DA-8CE0-C9F6-7A4D-6C60E8FEF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983AFA-BF69-94FB-A92A-CDFD1CE80D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2C209-72C5-4BD6-83FD-73557975086B}" type="slidenum">
              <a:rPr lang="en-US" smtClean="0"/>
              <a:t>‹#›</a:t>
            </a:fld>
            <a:endParaRPr lang="en-US"/>
          </a:p>
        </p:txBody>
      </p:sp>
    </p:spTree>
    <p:extLst>
      <p:ext uri="{BB962C8B-B14F-4D97-AF65-F5344CB8AC3E}">
        <p14:creationId xmlns:p14="http://schemas.microsoft.com/office/powerpoint/2010/main" val="1794038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hat.openai.com/share/09a2f970-566f-4be9-b8db-0b3829d0c12d"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jpe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github.com/pinellolab/simba"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github.com/huidongchen/simba" TargetMode="Externa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75.xml.rels><?xml version="1.0" encoding="UTF-8" standalone="yes"?>
<Relationships xmlns="http://schemas.openxmlformats.org/package/2006/relationships"><Relationship Id="rId3" Type="http://schemas.openxmlformats.org/officeDocument/2006/relationships/hyperlink" Target="https://github.com/pinellolab/simba/tree/master/simba/datasets"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8AC6-E937-7003-2335-0505BB05E005}"/>
              </a:ext>
            </a:extLst>
          </p:cNvPr>
          <p:cNvSpPr>
            <a:spLocks noGrp="1"/>
          </p:cNvSpPr>
          <p:nvPr>
            <p:ph type="ctrTitle"/>
          </p:nvPr>
        </p:nvSpPr>
        <p:spPr/>
        <p:txBody>
          <a:bodyPr>
            <a:normAutofit fontScale="90000"/>
          </a:bodyPr>
          <a:lstStyle/>
          <a:p>
            <a:r>
              <a:rPr lang="en-US" dirty="0"/>
              <a:t>SIMBA</a:t>
            </a:r>
            <a:r>
              <a:rPr lang="en-US" altLang="zh-TW" dirty="0"/>
              <a:t>:</a:t>
            </a:r>
            <a:r>
              <a:rPr lang="zh-TW" altLang="en-US" dirty="0"/>
              <a:t> </a:t>
            </a:r>
            <a:r>
              <a:rPr lang="en-US" altLang="zh-TW" dirty="0"/>
              <a:t>single-cell embedding along with features</a:t>
            </a:r>
            <a:endParaRPr lang="en-US" dirty="0"/>
          </a:p>
        </p:txBody>
      </p:sp>
      <p:sp>
        <p:nvSpPr>
          <p:cNvPr id="3" name="Subtitle 2">
            <a:extLst>
              <a:ext uri="{FF2B5EF4-FFF2-40B4-BE49-F238E27FC236}">
                <a16:creationId xmlns:a16="http://schemas.microsoft.com/office/drawing/2014/main" id="{1127F540-E472-90A1-C813-C1FC181F6D14}"/>
              </a:ext>
            </a:extLst>
          </p:cNvPr>
          <p:cNvSpPr>
            <a:spLocks noGrp="1"/>
          </p:cNvSpPr>
          <p:nvPr>
            <p:ph type="subTitle" idx="1"/>
          </p:nvPr>
        </p:nvSpPr>
        <p:spPr>
          <a:xfrm>
            <a:off x="1524000" y="5459413"/>
            <a:ext cx="9144000" cy="1655762"/>
          </a:xfrm>
        </p:spPr>
        <p:txBody>
          <a:bodyPr/>
          <a:lstStyle/>
          <a:p>
            <a:r>
              <a:rPr lang="en-US" altLang="zh-TW" dirty="0"/>
              <a:t>Chen, Yi-Jie</a:t>
            </a:r>
            <a:endParaRPr lang="en-US" dirty="0"/>
          </a:p>
          <a:p>
            <a:r>
              <a:rPr lang="en-US" altLang="zh-TW" dirty="0"/>
              <a:t>2023/11/20</a:t>
            </a:r>
            <a:endParaRPr lang="en-US" dirty="0"/>
          </a:p>
        </p:txBody>
      </p:sp>
      <p:sp>
        <p:nvSpPr>
          <p:cNvPr id="17" name="TextBox 16">
            <a:extLst>
              <a:ext uri="{FF2B5EF4-FFF2-40B4-BE49-F238E27FC236}">
                <a16:creationId xmlns:a16="http://schemas.microsoft.com/office/drawing/2014/main" id="{80EC7C19-98BA-15CF-4509-AF09598C49F5}"/>
              </a:ext>
            </a:extLst>
          </p:cNvPr>
          <p:cNvSpPr txBox="1"/>
          <p:nvPr/>
        </p:nvSpPr>
        <p:spPr>
          <a:xfrm>
            <a:off x="2136070" y="3841710"/>
            <a:ext cx="8052717" cy="369332"/>
          </a:xfrm>
          <a:prstGeom prst="rect">
            <a:avLst/>
          </a:prstGeom>
          <a:noFill/>
        </p:spPr>
        <p:txBody>
          <a:bodyPr wrap="none" rtlCol="0">
            <a:spAutoFit/>
          </a:bodyPr>
          <a:lstStyle/>
          <a:p>
            <a:r>
              <a:rPr lang="en-US" b="1" dirty="0" err="1"/>
              <a:t>Huidong</a:t>
            </a:r>
            <a:r>
              <a:rPr lang="en-US" b="1" dirty="0"/>
              <a:t> Chen, </a:t>
            </a:r>
            <a:r>
              <a:rPr lang="en-US" b="1" dirty="0" err="1"/>
              <a:t>Jayoung</a:t>
            </a:r>
            <a:r>
              <a:rPr lang="en-US" b="1" dirty="0"/>
              <a:t> Ryu, Michael E. </a:t>
            </a:r>
            <a:r>
              <a:rPr lang="en-US" b="1" dirty="0" err="1"/>
              <a:t>Vinyard</a:t>
            </a:r>
            <a:r>
              <a:rPr lang="en-US" b="1" dirty="0"/>
              <a:t>, Adam </a:t>
            </a:r>
            <a:r>
              <a:rPr lang="en-US" b="1" dirty="0" err="1"/>
              <a:t>Lerer</a:t>
            </a:r>
            <a:r>
              <a:rPr lang="en-US" b="1" dirty="0"/>
              <a:t> &amp; Luca </a:t>
            </a:r>
            <a:r>
              <a:rPr lang="en-US" b="1" dirty="0" err="1"/>
              <a:t>Pinello</a:t>
            </a:r>
            <a:r>
              <a:rPr lang="en-US" b="1" dirty="0"/>
              <a:t> (2023) </a:t>
            </a:r>
          </a:p>
        </p:txBody>
      </p:sp>
      <p:sp>
        <p:nvSpPr>
          <p:cNvPr id="22" name="TextBox 21">
            <a:extLst>
              <a:ext uri="{FF2B5EF4-FFF2-40B4-BE49-F238E27FC236}">
                <a16:creationId xmlns:a16="http://schemas.microsoft.com/office/drawing/2014/main" id="{B155AA2B-759C-9316-5252-DAA023AAF7C6}"/>
              </a:ext>
            </a:extLst>
          </p:cNvPr>
          <p:cNvSpPr txBox="1"/>
          <p:nvPr/>
        </p:nvSpPr>
        <p:spPr>
          <a:xfrm>
            <a:off x="5217329" y="4531877"/>
            <a:ext cx="1757341" cy="369332"/>
          </a:xfrm>
          <a:prstGeom prst="rect">
            <a:avLst/>
          </a:prstGeom>
          <a:noFill/>
        </p:spPr>
        <p:txBody>
          <a:bodyPr wrap="none" rtlCol="0">
            <a:spAutoFit/>
          </a:bodyPr>
          <a:lstStyle/>
          <a:p>
            <a:r>
              <a:rPr lang="en-US" b="1" dirty="0"/>
              <a:t>Nature Methods</a:t>
            </a:r>
          </a:p>
        </p:txBody>
      </p:sp>
      <p:sp>
        <p:nvSpPr>
          <p:cNvPr id="4" name="Slide Number Placeholder 3">
            <a:extLst>
              <a:ext uri="{FF2B5EF4-FFF2-40B4-BE49-F238E27FC236}">
                <a16:creationId xmlns:a16="http://schemas.microsoft.com/office/drawing/2014/main" id="{85AE2280-DA50-883C-1E65-7F1ECFCC552A}"/>
              </a:ext>
            </a:extLst>
          </p:cNvPr>
          <p:cNvSpPr>
            <a:spLocks noGrp="1"/>
          </p:cNvSpPr>
          <p:nvPr>
            <p:ph type="sldNum" sz="quarter" idx="12"/>
          </p:nvPr>
        </p:nvSpPr>
        <p:spPr/>
        <p:txBody>
          <a:bodyPr/>
          <a:lstStyle/>
          <a:p>
            <a:fld id="{7DF2C209-72C5-4BD6-83FD-73557975086B}" type="slidenum">
              <a:rPr lang="en-US" smtClean="0"/>
              <a:t>1</a:t>
            </a:fld>
            <a:endParaRPr lang="en-US" dirty="0"/>
          </a:p>
        </p:txBody>
      </p:sp>
    </p:spTree>
    <p:extLst>
      <p:ext uri="{BB962C8B-B14F-4D97-AF65-F5344CB8AC3E}">
        <p14:creationId xmlns:p14="http://schemas.microsoft.com/office/powerpoint/2010/main" val="421117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2C677-3C71-E967-A209-3A079857EFA7}"/>
              </a:ext>
            </a:extLst>
          </p:cNvPr>
          <p:cNvSpPr>
            <a:spLocks noGrp="1"/>
          </p:cNvSpPr>
          <p:nvPr>
            <p:ph type="title"/>
          </p:nvPr>
        </p:nvSpPr>
        <p:spPr/>
        <p:txBody>
          <a:bodyPr/>
          <a:lstStyle/>
          <a:p>
            <a:r>
              <a:rPr lang="zh-TW" altLang="en-US" dirty="0"/>
              <a:t>先前沒讀到的細節補充</a:t>
            </a:r>
            <a:endParaRPr lang="en-US" dirty="0"/>
          </a:p>
        </p:txBody>
      </p:sp>
      <p:sp>
        <p:nvSpPr>
          <p:cNvPr id="3" name="Content Placeholder 2">
            <a:extLst>
              <a:ext uri="{FF2B5EF4-FFF2-40B4-BE49-F238E27FC236}">
                <a16:creationId xmlns:a16="http://schemas.microsoft.com/office/drawing/2014/main" id="{26712928-7B1E-0990-50B3-E8D6CA0CDB55}"/>
              </a:ext>
            </a:extLst>
          </p:cNvPr>
          <p:cNvSpPr>
            <a:spLocks noGrp="1"/>
          </p:cNvSpPr>
          <p:nvPr>
            <p:ph idx="1"/>
          </p:nvPr>
        </p:nvSpPr>
        <p:spPr/>
        <p:txBody>
          <a:bodyPr>
            <a:normAutofit/>
          </a:bodyPr>
          <a:lstStyle/>
          <a:p>
            <a:pPr>
              <a:lnSpc>
                <a:spcPct val="150000"/>
              </a:lnSpc>
            </a:pPr>
            <a:r>
              <a:rPr lang="zh-TW" altLang="en-US" sz="2400" dirty="0"/>
              <a:t>連接 </a:t>
            </a:r>
            <a:r>
              <a:rPr lang="en-US" altLang="zh-TW" sz="2400" dirty="0" err="1"/>
              <a:t>scRNA</a:t>
            </a:r>
            <a:r>
              <a:rPr lang="en-US" altLang="zh-TW" sz="2400" dirty="0"/>
              <a:t> </a:t>
            </a:r>
            <a:r>
              <a:rPr lang="zh-TW" altLang="en-US" sz="2400" dirty="0"/>
              <a:t>和 </a:t>
            </a:r>
            <a:r>
              <a:rPr lang="en-US" altLang="zh-TW" sz="2400" dirty="0" err="1"/>
              <a:t>scATAC</a:t>
            </a:r>
            <a:r>
              <a:rPr lang="zh-TW" altLang="en-US" sz="2400" dirty="0"/>
              <a:t> 數據，是先總結 </a:t>
            </a:r>
            <a:r>
              <a:rPr lang="en-US" altLang="zh-TW" sz="2400" dirty="0" err="1"/>
              <a:t>scATAC</a:t>
            </a:r>
            <a:r>
              <a:rPr lang="en-US" altLang="zh-TW" sz="2400" dirty="0"/>
              <a:t> </a:t>
            </a:r>
            <a:r>
              <a:rPr lang="zh-TW" altLang="en-US" sz="2400" dirty="0"/>
              <a:t>數據中的 </a:t>
            </a:r>
            <a:r>
              <a:rPr lang="en-US" altLang="zh-TW" sz="2400" dirty="0"/>
              <a:t>accessible </a:t>
            </a:r>
            <a:r>
              <a:rPr lang="zh-TW" altLang="en-US" sz="2400" dirty="0"/>
              <a:t>區域來計算基因得分，再透過類似批次校正的過程，在不同組學的細胞之間推斷共享基因表達模塊的邊緣</a:t>
            </a:r>
            <a:endParaRPr lang="en-US" altLang="zh-TW" sz="2400" dirty="0"/>
          </a:p>
          <a:p>
            <a:pPr>
              <a:lnSpc>
                <a:spcPct val="150000"/>
              </a:lnSpc>
            </a:pPr>
            <a:endParaRPr lang="en-US" sz="2400" dirty="0"/>
          </a:p>
          <a:p>
            <a:pPr>
              <a:lnSpc>
                <a:spcPct val="150000"/>
              </a:lnSpc>
            </a:pPr>
            <a:r>
              <a:rPr lang="zh-TW" altLang="en-US" sz="2400" dirty="0"/>
              <a:t>圖構建之後，使用 </a:t>
            </a:r>
            <a:r>
              <a:rPr lang="en-US" altLang="zh-TW" sz="2400" dirty="0" err="1"/>
              <a:t>PyTorch</a:t>
            </a:r>
            <a:r>
              <a:rPr lang="en-US" altLang="zh-TW" sz="2400" dirty="0"/>
              <a:t> </a:t>
            </a:r>
            <a:r>
              <a:rPr lang="zh-TW" altLang="en-US" sz="2400" dirty="0"/>
              <a:t>，去進行 </a:t>
            </a:r>
            <a:r>
              <a:rPr lang="en-US" altLang="zh-TW" sz="2400" dirty="0"/>
              <a:t>PBG(</a:t>
            </a:r>
            <a:r>
              <a:rPr lang="en-US" altLang="zh-TW" sz="2400" dirty="0" err="1"/>
              <a:t>PyTorch-BigGraph</a:t>
            </a:r>
            <a:r>
              <a:rPr lang="en-US" altLang="zh-TW" sz="2400" dirty="0"/>
              <a:t>)  Training</a:t>
            </a:r>
            <a:r>
              <a:rPr lang="zh-TW" altLang="en-US" sz="2400" dirty="0"/>
              <a:t>，不過</a:t>
            </a:r>
            <a:r>
              <a:rPr lang="en-US" altLang="zh-TW" sz="2400" dirty="0"/>
              <a:t>SIMBA</a:t>
            </a:r>
            <a:r>
              <a:rPr lang="zh-TW" altLang="en-US" sz="2400" dirty="0"/>
              <a:t>的技術是基於 </a:t>
            </a:r>
            <a:r>
              <a:rPr lang="en-US" altLang="zh-TW" sz="2400" dirty="0"/>
              <a:t>PBG </a:t>
            </a:r>
            <a:r>
              <a:rPr lang="zh-TW" altLang="en-US" sz="2400" dirty="0"/>
              <a:t>框架去修改的 </a:t>
            </a:r>
            <a:r>
              <a:rPr lang="en-US" altLang="zh-TW" sz="2400" dirty="0"/>
              <a:t>(1) Type-</a:t>
            </a:r>
            <a:r>
              <a:rPr lang="en-US" altLang="zh-TW" sz="2400" dirty="0" err="1"/>
              <a:t>constrainted</a:t>
            </a:r>
            <a:r>
              <a:rPr lang="en-US" altLang="zh-TW" sz="2400" dirty="0"/>
              <a:t> negative sampling (2) Introducing a weight decay procedure to solve overfitting problem</a:t>
            </a:r>
            <a:endParaRPr lang="en-US" sz="2400" dirty="0"/>
          </a:p>
        </p:txBody>
      </p:sp>
      <p:sp>
        <p:nvSpPr>
          <p:cNvPr id="4" name="Slide Number Placeholder 3">
            <a:extLst>
              <a:ext uri="{FF2B5EF4-FFF2-40B4-BE49-F238E27FC236}">
                <a16:creationId xmlns:a16="http://schemas.microsoft.com/office/drawing/2014/main" id="{58B1E6DF-39BB-1F79-9E75-13EFE96186DB}"/>
              </a:ext>
            </a:extLst>
          </p:cNvPr>
          <p:cNvSpPr>
            <a:spLocks noGrp="1"/>
          </p:cNvSpPr>
          <p:nvPr>
            <p:ph type="sldNum" sz="quarter" idx="12"/>
          </p:nvPr>
        </p:nvSpPr>
        <p:spPr/>
        <p:txBody>
          <a:bodyPr/>
          <a:lstStyle/>
          <a:p>
            <a:fld id="{7DF2C209-72C5-4BD6-83FD-73557975086B}" type="slidenum">
              <a:rPr lang="en-US" smtClean="0"/>
              <a:t>2</a:t>
            </a:fld>
            <a:endParaRPr lang="en-US"/>
          </a:p>
        </p:txBody>
      </p:sp>
    </p:spTree>
    <p:extLst>
      <p:ext uri="{BB962C8B-B14F-4D97-AF65-F5344CB8AC3E}">
        <p14:creationId xmlns:p14="http://schemas.microsoft.com/office/powerpoint/2010/main" val="1522326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CAD6-AEE3-7A4E-8E58-D3EC7C4C48D7}"/>
              </a:ext>
            </a:extLst>
          </p:cNvPr>
          <p:cNvSpPr>
            <a:spLocks noGrp="1"/>
          </p:cNvSpPr>
          <p:nvPr>
            <p:ph type="title"/>
          </p:nvPr>
        </p:nvSpPr>
        <p:spPr/>
        <p:txBody>
          <a:bodyPr/>
          <a:lstStyle/>
          <a:p>
            <a:r>
              <a:rPr lang="zh-TW" altLang="en-US" dirty="0"/>
              <a:t>評估多組學整合性能的指標們</a:t>
            </a:r>
            <a:r>
              <a:rPr lang="en-US" altLang="zh-TW" dirty="0"/>
              <a:t>(</a:t>
            </a:r>
            <a:r>
              <a:rPr lang="zh-TW" altLang="en-US" dirty="0"/>
              <a:t>待補</a:t>
            </a:r>
            <a:r>
              <a:rPr lang="en-US" altLang="zh-TW" dirty="0"/>
              <a:t>)</a:t>
            </a:r>
            <a:endParaRPr lang="en-US" dirty="0"/>
          </a:p>
        </p:txBody>
      </p:sp>
      <p:sp>
        <p:nvSpPr>
          <p:cNvPr id="4" name="Content Placeholder 2">
            <a:extLst>
              <a:ext uri="{FF2B5EF4-FFF2-40B4-BE49-F238E27FC236}">
                <a16:creationId xmlns:a16="http://schemas.microsoft.com/office/drawing/2014/main" id="{E252CCB1-D37B-C862-7C7B-B02399E68432}"/>
              </a:ext>
            </a:extLst>
          </p:cNvPr>
          <p:cNvSpPr>
            <a:spLocks noGrp="1"/>
          </p:cNvSpPr>
          <p:nvPr>
            <p:ph idx="1"/>
          </p:nvPr>
        </p:nvSpPr>
        <p:spPr>
          <a:xfrm>
            <a:off x="838200" y="1791758"/>
            <a:ext cx="10515600" cy="4351338"/>
          </a:xfrm>
        </p:spPr>
        <p:txBody>
          <a:bodyPr/>
          <a:lstStyle/>
          <a:p>
            <a:pPr marL="0" indent="0">
              <a:buNone/>
            </a:pPr>
            <a:r>
              <a:rPr lang="en-US" dirty="0"/>
              <a:t>- </a:t>
            </a:r>
            <a:r>
              <a:rPr lang="en-US" b="0" i="0" dirty="0">
                <a:solidFill>
                  <a:srgbClr val="374151"/>
                </a:solidFill>
                <a:effectLst/>
                <a:latin typeface="Söhne"/>
              </a:rPr>
              <a:t>Anchoring Distance</a:t>
            </a:r>
          </a:p>
          <a:p>
            <a:pPr marL="0" indent="0">
              <a:buNone/>
            </a:pPr>
            <a:r>
              <a:rPr lang="en-US" altLang="zh-TW" dirty="0"/>
              <a:t>- </a:t>
            </a:r>
            <a:r>
              <a:rPr lang="en-US" b="0" i="0" dirty="0">
                <a:solidFill>
                  <a:srgbClr val="374151"/>
                </a:solidFill>
                <a:effectLst/>
                <a:latin typeface="Söhne"/>
              </a:rPr>
              <a:t>Anchoring Distance Rank, ADR</a:t>
            </a:r>
          </a:p>
          <a:p>
            <a:pPr marL="0" indent="0">
              <a:buNone/>
            </a:pPr>
            <a:r>
              <a:rPr lang="en-US" dirty="0">
                <a:solidFill>
                  <a:srgbClr val="374151"/>
                </a:solidFill>
                <a:latin typeface="Söhne"/>
              </a:rPr>
              <a:t>- </a:t>
            </a:r>
            <a:r>
              <a:rPr lang="en-US" b="0" i="0" dirty="0">
                <a:solidFill>
                  <a:srgbClr val="374151"/>
                </a:solidFill>
                <a:effectLst/>
                <a:latin typeface="Söhne"/>
              </a:rPr>
              <a:t>Silhouette</a:t>
            </a:r>
            <a:r>
              <a:rPr lang="en-US" dirty="0">
                <a:solidFill>
                  <a:srgbClr val="374151"/>
                </a:solidFill>
                <a:latin typeface="Söhne"/>
              </a:rPr>
              <a:t> Index</a:t>
            </a:r>
          </a:p>
          <a:p>
            <a:pPr marL="0" indent="0">
              <a:buNone/>
            </a:pPr>
            <a:r>
              <a:rPr lang="en-US" dirty="0">
                <a:solidFill>
                  <a:srgbClr val="374151"/>
                </a:solidFill>
                <a:latin typeface="Söhne"/>
              </a:rPr>
              <a:t>- </a:t>
            </a:r>
            <a:r>
              <a:rPr lang="en-US" b="0" i="0" dirty="0">
                <a:solidFill>
                  <a:srgbClr val="374151"/>
                </a:solidFill>
                <a:effectLst/>
                <a:latin typeface="Söhne"/>
              </a:rPr>
              <a:t>Fraction in the Same Cluster</a:t>
            </a:r>
            <a:endParaRPr lang="en-US" dirty="0"/>
          </a:p>
        </p:txBody>
      </p:sp>
      <p:sp>
        <p:nvSpPr>
          <p:cNvPr id="5" name="TextBox 4">
            <a:hlinkClick r:id="rId3"/>
            <a:extLst>
              <a:ext uri="{FF2B5EF4-FFF2-40B4-BE49-F238E27FC236}">
                <a16:creationId xmlns:a16="http://schemas.microsoft.com/office/drawing/2014/main" id="{78E6110B-3BB0-DE1A-0EC7-A7C82085C152}"/>
              </a:ext>
            </a:extLst>
          </p:cNvPr>
          <p:cNvSpPr txBox="1"/>
          <p:nvPr/>
        </p:nvSpPr>
        <p:spPr>
          <a:xfrm>
            <a:off x="6484882" y="6492875"/>
            <a:ext cx="5566267" cy="307777"/>
          </a:xfrm>
          <a:prstGeom prst="rect">
            <a:avLst/>
          </a:prstGeom>
          <a:noFill/>
        </p:spPr>
        <p:txBody>
          <a:bodyPr wrap="none" rtlCol="0">
            <a:spAutoFit/>
          </a:bodyPr>
          <a:lstStyle/>
          <a:p>
            <a:r>
              <a:rPr lang="en-US" sz="1400" dirty="0">
                <a:hlinkClick r:id="rId3"/>
              </a:rPr>
              <a:t>https://chat.openai.com/share/09a2f970-566f-4be9-b8db-0b3829d0c12d</a:t>
            </a:r>
            <a:endParaRPr lang="en-US" sz="1400" dirty="0"/>
          </a:p>
        </p:txBody>
      </p:sp>
      <p:sp>
        <p:nvSpPr>
          <p:cNvPr id="3" name="Slide Number Placeholder 2">
            <a:extLst>
              <a:ext uri="{FF2B5EF4-FFF2-40B4-BE49-F238E27FC236}">
                <a16:creationId xmlns:a16="http://schemas.microsoft.com/office/drawing/2014/main" id="{2796DB0E-B2C5-87FC-C7D1-F64A1CC18893}"/>
              </a:ext>
            </a:extLst>
          </p:cNvPr>
          <p:cNvSpPr>
            <a:spLocks noGrp="1"/>
          </p:cNvSpPr>
          <p:nvPr>
            <p:ph type="sldNum" sz="quarter" idx="12"/>
          </p:nvPr>
        </p:nvSpPr>
        <p:spPr/>
        <p:txBody>
          <a:bodyPr/>
          <a:lstStyle/>
          <a:p>
            <a:fld id="{7DF2C209-72C5-4BD6-83FD-73557975086B}" type="slidenum">
              <a:rPr lang="en-US" smtClean="0"/>
              <a:t>3</a:t>
            </a:fld>
            <a:endParaRPr lang="en-US"/>
          </a:p>
        </p:txBody>
      </p:sp>
    </p:spTree>
    <p:extLst>
      <p:ext uri="{BB962C8B-B14F-4D97-AF65-F5344CB8AC3E}">
        <p14:creationId xmlns:p14="http://schemas.microsoft.com/office/powerpoint/2010/main" val="51680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AAE2D-4926-EBFA-3EA7-B3761A93BE27}"/>
              </a:ext>
            </a:extLst>
          </p:cNvPr>
          <p:cNvSpPr>
            <a:spLocks noGrp="1"/>
          </p:cNvSpPr>
          <p:nvPr>
            <p:ph type="title"/>
          </p:nvPr>
        </p:nvSpPr>
        <p:spPr/>
        <p:txBody>
          <a:bodyPr/>
          <a:lstStyle/>
          <a:p>
            <a:r>
              <a:rPr lang="en-US" altLang="zh-TW" dirty="0"/>
              <a:t>Negative samples are produced in two ways</a:t>
            </a:r>
            <a:endParaRPr lang="en-US" dirty="0"/>
          </a:p>
        </p:txBody>
      </p:sp>
      <p:sp>
        <p:nvSpPr>
          <p:cNvPr id="3" name="Content Placeholder 2">
            <a:extLst>
              <a:ext uri="{FF2B5EF4-FFF2-40B4-BE49-F238E27FC236}">
                <a16:creationId xmlns:a16="http://schemas.microsoft.com/office/drawing/2014/main" id="{934DE445-00C2-5CE1-27F5-E9164AD90B41}"/>
              </a:ext>
            </a:extLst>
          </p:cNvPr>
          <p:cNvSpPr>
            <a:spLocks noGrp="1"/>
          </p:cNvSpPr>
          <p:nvPr>
            <p:ph idx="1"/>
          </p:nvPr>
        </p:nvSpPr>
        <p:spPr/>
        <p:txBody>
          <a:bodyPr>
            <a:normAutofit fontScale="92500"/>
          </a:bodyPr>
          <a:lstStyle/>
          <a:p>
            <a:pPr>
              <a:lnSpc>
                <a:spcPct val="150000"/>
              </a:lnSpc>
            </a:pPr>
            <a:r>
              <a:rPr lang="en-US" dirty="0"/>
              <a:t>by corrupting the edge with a source or destination sampled uniformly from the nodes with the correct types for this relation;</a:t>
            </a:r>
          </a:p>
          <a:p>
            <a:pPr marL="0" indent="0">
              <a:lnSpc>
                <a:spcPct val="150000"/>
              </a:lnSpc>
              <a:buNone/>
            </a:pPr>
            <a:r>
              <a:rPr lang="zh-TW" altLang="en-US" dirty="0"/>
              <a:t>   </a:t>
            </a:r>
            <a:r>
              <a:rPr lang="zh-TW" altLang="en-US" sz="2000" dirty="0"/>
              <a:t>通過從具有正確類型的節點中均勻抽樣的源或目的地來</a:t>
            </a:r>
            <a:r>
              <a:rPr lang="zh-TW" altLang="en-US" sz="2000" b="1" dirty="0"/>
              <a:t>破壞邊緣 </a:t>
            </a:r>
            <a:r>
              <a:rPr lang="en-US" altLang="zh-TW" sz="2000" dirty="0"/>
              <a:t>(</a:t>
            </a:r>
            <a:r>
              <a:rPr lang="zh-TW" altLang="en-US" sz="2000" dirty="0"/>
              <a:t>零節點生成</a:t>
            </a:r>
            <a:r>
              <a:rPr lang="en-US" altLang="zh-TW" sz="2000" dirty="0"/>
              <a:t>)</a:t>
            </a:r>
            <a:endParaRPr lang="en-US" dirty="0"/>
          </a:p>
          <a:p>
            <a:pPr>
              <a:lnSpc>
                <a:spcPct val="150000"/>
              </a:lnSpc>
            </a:pPr>
            <a:r>
              <a:rPr lang="en-US" dirty="0"/>
              <a:t>by corrupting the edge with a source or destination node sampled with probability proportional to its degree.</a:t>
            </a:r>
          </a:p>
          <a:p>
            <a:pPr marL="0" indent="0">
              <a:lnSpc>
                <a:spcPct val="150000"/>
              </a:lnSpc>
              <a:buNone/>
            </a:pPr>
            <a:r>
              <a:rPr lang="zh-TW" altLang="en-US" dirty="0"/>
              <a:t>  </a:t>
            </a:r>
            <a:r>
              <a:rPr lang="zh-TW" altLang="en-US" sz="2000" dirty="0"/>
              <a:t>通過將邊緣與源節點或目標節點</a:t>
            </a:r>
            <a:r>
              <a:rPr lang="zh-TW" altLang="en-US" sz="2000" b="1" dirty="0"/>
              <a:t>進行腐敗</a:t>
            </a:r>
            <a:r>
              <a:rPr lang="zh-TW" altLang="en-US" sz="2000" dirty="0"/>
              <a:t>，並以與其度數成比例的概率進行抽樣。</a:t>
            </a:r>
            <a:r>
              <a:rPr lang="en-US" altLang="zh-TW" sz="2000" dirty="0"/>
              <a:t>(</a:t>
            </a:r>
            <a:r>
              <a:rPr lang="zh-TW" altLang="en-US" sz="2000" dirty="0"/>
              <a:t>錯誤連接</a:t>
            </a:r>
            <a:r>
              <a:rPr lang="en-US" altLang="zh-TW" sz="2000" dirty="0"/>
              <a:t>)</a:t>
            </a:r>
            <a:endParaRPr lang="en-US" dirty="0"/>
          </a:p>
        </p:txBody>
      </p:sp>
      <p:sp>
        <p:nvSpPr>
          <p:cNvPr id="4" name="Slide Number Placeholder 3">
            <a:extLst>
              <a:ext uri="{FF2B5EF4-FFF2-40B4-BE49-F238E27FC236}">
                <a16:creationId xmlns:a16="http://schemas.microsoft.com/office/drawing/2014/main" id="{DF6CA5CB-0B78-6475-430B-E61E155EF9A4}"/>
              </a:ext>
            </a:extLst>
          </p:cNvPr>
          <p:cNvSpPr>
            <a:spLocks noGrp="1"/>
          </p:cNvSpPr>
          <p:nvPr>
            <p:ph type="sldNum" sz="quarter" idx="12"/>
          </p:nvPr>
        </p:nvSpPr>
        <p:spPr/>
        <p:txBody>
          <a:bodyPr/>
          <a:lstStyle/>
          <a:p>
            <a:fld id="{7DF2C209-72C5-4BD6-83FD-73557975086B}" type="slidenum">
              <a:rPr lang="en-US" smtClean="0"/>
              <a:t>4</a:t>
            </a:fld>
            <a:endParaRPr lang="en-US"/>
          </a:p>
        </p:txBody>
      </p:sp>
    </p:spTree>
    <p:extLst>
      <p:ext uri="{BB962C8B-B14F-4D97-AF65-F5344CB8AC3E}">
        <p14:creationId xmlns:p14="http://schemas.microsoft.com/office/powerpoint/2010/main" val="3368183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1B284-7B0B-B6F0-830C-4481DF48B47A}"/>
              </a:ext>
            </a:extLst>
          </p:cNvPr>
          <p:cNvSpPr>
            <a:spLocks noGrp="1"/>
          </p:cNvSpPr>
          <p:nvPr>
            <p:ph type="title"/>
          </p:nvPr>
        </p:nvSpPr>
        <p:spPr/>
        <p:txBody>
          <a:bodyPr>
            <a:normAutofit/>
          </a:bodyPr>
          <a:lstStyle/>
          <a:p>
            <a:r>
              <a:rPr lang="en-US" sz="3600" dirty="0"/>
              <a:t>The resulting graph embeddings have two desirable properties</a:t>
            </a:r>
          </a:p>
        </p:txBody>
      </p:sp>
      <p:sp>
        <p:nvSpPr>
          <p:cNvPr id="3" name="Content Placeholder 2">
            <a:extLst>
              <a:ext uri="{FF2B5EF4-FFF2-40B4-BE49-F238E27FC236}">
                <a16:creationId xmlns:a16="http://schemas.microsoft.com/office/drawing/2014/main" id="{7AA4AC50-B04A-3995-F986-A78FC85F6930}"/>
              </a:ext>
            </a:extLst>
          </p:cNvPr>
          <p:cNvSpPr>
            <a:spLocks noGrp="1"/>
          </p:cNvSpPr>
          <p:nvPr>
            <p:ph idx="1"/>
          </p:nvPr>
        </p:nvSpPr>
        <p:spPr>
          <a:xfrm>
            <a:off x="838200" y="1690688"/>
            <a:ext cx="10515600" cy="1820686"/>
          </a:xfrm>
        </p:spPr>
        <p:txBody>
          <a:bodyPr>
            <a:normAutofit lnSpcReduction="10000"/>
          </a:bodyPr>
          <a:lstStyle/>
          <a:p>
            <a:pPr marL="514350" indent="-514350">
              <a:lnSpc>
                <a:spcPct val="150000"/>
              </a:lnSpc>
              <a:buAutoNum type="arabicPeriod"/>
            </a:pPr>
            <a:r>
              <a:rPr lang="en-US" sz="2400" b="1" dirty="0"/>
              <a:t>First-order similarity</a:t>
            </a:r>
          </a:p>
          <a:p>
            <a:pPr marL="514350" indent="-514350">
              <a:lnSpc>
                <a:spcPct val="150000"/>
              </a:lnSpc>
              <a:buAutoNum type="arabicPeriod"/>
            </a:pPr>
            <a:r>
              <a:rPr lang="en-US" sz="2400" b="1" dirty="0"/>
              <a:t>Second-order similarity</a:t>
            </a:r>
          </a:p>
          <a:p>
            <a:pPr marL="0" indent="0">
              <a:lnSpc>
                <a:spcPct val="150000"/>
              </a:lnSpc>
              <a:buNone/>
            </a:pPr>
            <a:r>
              <a:rPr lang="en-US" sz="2000" b="1" dirty="0"/>
              <a:t>(</a:t>
            </a:r>
            <a:r>
              <a:rPr lang="zh-TW" altLang="en-US" sz="2000" b="1" dirty="0"/>
              <a:t>也有機會可以問問林峻宇老師，和上課內容做一個連結</a:t>
            </a:r>
            <a:r>
              <a:rPr lang="en-US" altLang="zh-TW" sz="2000" b="1" dirty="0"/>
              <a:t>)</a:t>
            </a:r>
            <a:endParaRPr lang="en-US" sz="2000" b="1" dirty="0"/>
          </a:p>
        </p:txBody>
      </p:sp>
      <p:sp>
        <p:nvSpPr>
          <p:cNvPr id="4" name="Title 1">
            <a:extLst>
              <a:ext uri="{FF2B5EF4-FFF2-40B4-BE49-F238E27FC236}">
                <a16:creationId xmlns:a16="http://schemas.microsoft.com/office/drawing/2014/main" id="{DE1EC141-C5DA-E151-538F-A125A6C9816D}"/>
              </a:ext>
            </a:extLst>
          </p:cNvPr>
          <p:cNvSpPr txBox="1">
            <a:spLocks/>
          </p:cNvSpPr>
          <p:nvPr/>
        </p:nvSpPr>
        <p:spPr>
          <a:xfrm>
            <a:off x="838200" y="3655129"/>
            <a:ext cx="554566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Softmax</a:t>
            </a:r>
            <a:r>
              <a:rPr lang="en-US" sz="3600" dirty="0"/>
              <a:t> transformation</a:t>
            </a:r>
          </a:p>
        </p:txBody>
      </p:sp>
      <p:sp>
        <p:nvSpPr>
          <p:cNvPr id="5" name="Content Placeholder 2">
            <a:extLst>
              <a:ext uri="{FF2B5EF4-FFF2-40B4-BE49-F238E27FC236}">
                <a16:creationId xmlns:a16="http://schemas.microsoft.com/office/drawing/2014/main" id="{8ED98D3F-0A4E-9D3F-0A13-6C13E78E2BE6}"/>
              </a:ext>
            </a:extLst>
          </p:cNvPr>
          <p:cNvSpPr txBox="1">
            <a:spLocks/>
          </p:cNvSpPr>
          <p:nvPr/>
        </p:nvSpPr>
        <p:spPr>
          <a:xfrm>
            <a:off x="838200" y="4671659"/>
            <a:ext cx="11195756" cy="18206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50000"/>
              </a:lnSpc>
              <a:buFont typeface="Arial" panose="020B0604020202020204" pitchFamily="34" charset="0"/>
              <a:buAutoNum type="arabicPeriod"/>
            </a:pPr>
            <a:r>
              <a:rPr lang="zh-TW" altLang="en-US" sz="2000" b="1" dirty="0"/>
              <a:t>不同類型的實體可能位於潛在空間的不同流形上</a:t>
            </a:r>
            <a:endParaRPr lang="en-US" altLang="zh-TW" sz="2000" b="1" dirty="0"/>
          </a:p>
          <a:p>
            <a:pPr marL="514350" indent="-514350">
              <a:lnSpc>
                <a:spcPct val="150000"/>
              </a:lnSpc>
              <a:buFont typeface="Arial" panose="020B0604020202020204" pitchFamily="34" charset="0"/>
              <a:buAutoNum type="arabicPeriod"/>
            </a:pPr>
            <a:r>
              <a:rPr lang="zh-TW" altLang="en-US" sz="2000" b="1" dirty="0"/>
              <a:t>為使不同類型的實體嵌入可比較，對功能嵌入進行了</a:t>
            </a:r>
            <a:r>
              <a:rPr lang="en-US" altLang="zh-TW" sz="2000" b="1" dirty="0" err="1"/>
              <a:t>Softmax</a:t>
            </a:r>
            <a:r>
              <a:rPr lang="zh-TW" altLang="en-US" sz="2000" b="1" dirty="0"/>
              <a:t>變換</a:t>
            </a:r>
            <a:endParaRPr lang="en-US" altLang="zh-TW" sz="2000" b="1" dirty="0"/>
          </a:p>
          <a:p>
            <a:pPr marL="514350" indent="-514350">
              <a:lnSpc>
                <a:spcPct val="150000"/>
              </a:lnSpc>
              <a:buFont typeface="Arial" panose="020B0604020202020204" pitchFamily="34" charset="0"/>
              <a:buAutoNum type="arabicPeriod"/>
            </a:pPr>
            <a:r>
              <a:rPr lang="zh-TW" altLang="en-US" sz="2000" b="1" dirty="0"/>
              <a:t>批次校正或多維集成的情況下，也根據不同批次或模式的細胞的一階相似性執行</a:t>
            </a:r>
            <a:r>
              <a:rPr lang="en-US" altLang="zh-TW" sz="2000" b="1" dirty="0"/>
              <a:t>SoftMax</a:t>
            </a:r>
            <a:r>
              <a:rPr lang="zh-TW" altLang="en-US" sz="2000" b="1" dirty="0"/>
              <a:t>變換</a:t>
            </a:r>
            <a:endParaRPr lang="en-US" sz="2000" b="1" dirty="0"/>
          </a:p>
        </p:txBody>
      </p:sp>
      <p:sp>
        <p:nvSpPr>
          <p:cNvPr id="6" name="Slide Number Placeholder 5">
            <a:extLst>
              <a:ext uri="{FF2B5EF4-FFF2-40B4-BE49-F238E27FC236}">
                <a16:creationId xmlns:a16="http://schemas.microsoft.com/office/drawing/2014/main" id="{E5D2C7A7-E3C6-1874-E60E-316DCA6B7323}"/>
              </a:ext>
            </a:extLst>
          </p:cNvPr>
          <p:cNvSpPr>
            <a:spLocks noGrp="1"/>
          </p:cNvSpPr>
          <p:nvPr>
            <p:ph type="sldNum" sz="quarter" idx="12"/>
          </p:nvPr>
        </p:nvSpPr>
        <p:spPr/>
        <p:txBody>
          <a:bodyPr/>
          <a:lstStyle/>
          <a:p>
            <a:fld id="{7DF2C209-72C5-4BD6-83FD-73557975086B}" type="slidenum">
              <a:rPr lang="en-US" smtClean="0"/>
              <a:t>5</a:t>
            </a:fld>
            <a:endParaRPr lang="en-US"/>
          </a:p>
        </p:txBody>
      </p:sp>
    </p:spTree>
    <p:extLst>
      <p:ext uri="{BB962C8B-B14F-4D97-AF65-F5344CB8AC3E}">
        <p14:creationId xmlns:p14="http://schemas.microsoft.com/office/powerpoint/2010/main" val="2410022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A4B63-703E-32BD-A993-DB3236D1D79C}"/>
              </a:ext>
            </a:extLst>
          </p:cNvPr>
          <p:cNvSpPr>
            <a:spLocks noGrp="1"/>
          </p:cNvSpPr>
          <p:nvPr>
            <p:ph type="title"/>
          </p:nvPr>
        </p:nvSpPr>
        <p:spPr/>
        <p:txBody>
          <a:bodyPr/>
          <a:lstStyle/>
          <a:p>
            <a:r>
              <a:rPr lang="zh-TW" altLang="en-US" dirty="0"/>
              <a:t>有關於 </a:t>
            </a:r>
            <a:r>
              <a:rPr lang="en-US" altLang="zh-TW" dirty="0"/>
              <a:t>Clustering </a:t>
            </a:r>
            <a:r>
              <a:rPr lang="zh-TW" altLang="en-US" dirty="0"/>
              <a:t>的問題 </a:t>
            </a:r>
            <a:r>
              <a:rPr lang="en-US" altLang="zh-TW" dirty="0"/>
              <a:t>(WED)</a:t>
            </a:r>
            <a:endParaRPr lang="en-US" dirty="0"/>
          </a:p>
        </p:txBody>
      </p:sp>
      <p:pic>
        <p:nvPicPr>
          <p:cNvPr id="5" name="Picture 4">
            <a:extLst>
              <a:ext uri="{FF2B5EF4-FFF2-40B4-BE49-F238E27FC236}">
                <a16:creationId xmlns:a16="http://schemas.microsoft.com/office/drawing/2014/main" id="{F292E888-010A-5287-8233-6A886898A9FB}"/>
              </a:ext>
            </a:extLst>
          </p:cNvPr>
          <p:cNvPicPr>
            <a:picLocks noChangeAspect="1"/>
          </p:cNvPicPr>
          <p:nvPr/>
        </p:nvPicPr>
        <p:blipFill>
          <a:blip r:embed="rId2"/>
          <a:stretch>
            <a:fillRect/>
          </a:stretch>
        </p:blipFill>
        <p:spPr>
          <a:xfrm>
            <a:off x="1230976" y="1827940"/>
            <a:ext cx="7513971" cy="4320914"/>
          </a:xfrm>
          <a:prstGeom prst="rect">
            <a:avLst/>
          </a:prstGeom>
        </p:spPr>
      </p:pic>
      <p:sp>
        <p:nvSpPr>
          <p:cNvPr id="3" name="Slide Number Placeholder 2">
            <a:extLst>
              <a:ext uri="{FF2B5EF4-FFF2-40B4-BE49-F238E27FC236}">
                <a16:creationId xmlns:a16="http://schemas.microsoft.com/office/drawing/2014/main" id="{A4ED9293-2491-A286-8900-318CAA4833FF}"/>
              </a:ext>
            </a:extLst>
          </p:cNvPr>
          <p:cNvSpPr>
            <a:spLocks noGrp="1"/>
          </p:cNvSpPr>
          <p:nvPr>
            <p:ph type="sldNum" sz="quarter" idx="12"/>
          </p:nvPr>
        </p:nvSpPr>
        <p:spPr/>
        <p:txBody>
          <a:bodyPr/>
          <a:lstStyle/>
          <a:p>
            <a:fld id="{7DF2C209-72C5-4BD6-83FD-73557975086B}" type="slidenum">
              <a:rPr lang="en-US" smtClean="0"/>
              <a:t>6</a:t>
            </a:fld>
            <a:endParaRPr lang="en-US"/>
          </a:p>
        </p:txBody>
      </p:sp>
    </p:spTree>
    <p:extLst>
      <p:ext uri="{BB962C8B-B14F-4D97-AF65-F5344CB8AC3E}">
        <p14:creationId xmlns:p14="http://schemas.microsoft.com/office/powerpoint/2010/main" val="61548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A4B63-703E-32BD-A993-DB3236D1D79C}"/>
              </a:ext>
            </a:extLst>
          </p:cNvPr>
          <p:cNvSpPr>
            <a:spLocks noGrp="1"/>
          </p:cNvSpPr>
          <p:nvPr>
            <p:ph type="title"/>
          </p:nvPr>
        </p:nvSpPr>
        <p:spPr/>
        <p:txBody>
          <a:bodyPr/>
          <a:lstStyle/>
          <a:p>
            <a:r>
              <a:rPr lang="zh-TW" altLang="en-US" dirty="0"/>
              <a:t>有關於 </a:t>
            </a:r>
            <a:r>
              <a:rPr lang="en-US" altLang="zh-TW" dirty="0"/>
              <a:t>Clustering </a:t>
            </a:r>
            <a:r>
              <a:rPr lang="zh-TW" altLang="en-US" dirty="0"/>
              <a:t>的問題 </a:t>
            </a:r>
            <a:r>
              <a:rPr lang="en-US" altLang="zh-TW" dirty="0"/>
              <a:t>(WED)</a:t>
            </a:r>
            <a:endParaRPr lang="en-US" dirty="0"/>
          </a:p>
        </p:txBody>
      </p:sp>
      <p:pic>
        <p:nvPicPr>
          <p:cNvPr id="4" name="Picture 3">
            <a:extLst>
              <a:ext uri="{FF2B5EF4-FFF2-40B4-BE49-F238E27FC236}">
                <a16:creationId xmlns:a16="http://schemas.microsoft.com/office/drawing/2014/main" id="{4EFDCEEC-FCE9-493C-ACDD-DB0CA9BEF644}"/>
              </a:ext>
            </a:extLst>
          </p:cNvPr>
          <p:cNvPicPr>
            <a:picLocks noChangeAspect="1"/>
          </p:cNvPicPr>
          <p:nvPr/>
        </p:nvPicPr>
        <p:blipFill>
          <a:blip r:embed="rId2"/>
          <a:stretch>
            <a:fillRect/>
          </a:stretch>
        </p:blipFill>
        <p:spPr>
          <a:xfrm>
            <a:off x="959931" y="2015137"/>
            <a:ext cx="10272137" cy="2341709"/>
          </a:xfrm>
          <a:prstGeom prst="rect">
            <a:avLst/>
          </a:prstGeom>
        </p:spPr>
      </p:pic>
      <p:sp>
        <p:nvSpPr>
          <p:cNvPr id="3" name="Slide Number Placeholder 2">
            <a:extLst>
              <a:ext uri="{FF2B5EF4-FFF2-40B4-BE49-F238E27FC236}">
                <a16:creationId xmlns:a16="http://schemas.microsoft.com/office/drawing/2014/main" id="{59585FD8-D005-26C0-1601-6FBE406436D1}"/>
              </a:ext>
            </a:extLst>
          </p:cNvPr>
          <p:cNvSpPr>
            <a:spLocks noGrp="1"/>
          </p:cNvSpPr>
          <p:nvPr>
            <p:ph type="sldNum" sz="quarter" idx="12"/>
          </p:nvPr>
        </p:nvSpPr>
        <p:spPr/>
        <p:txBody>
          <a:bodyPr/>
          <a:lstStyle/>
          <a:p>
            <a:fld id="{7DF2C209-72C5-4BD6-83FD-73557975086B}" type="slidenum">
              <a:rPr lang="en-US" smtClean="0"/>
              <a:t>7</a:t>
            </a:fld>
            <a:endParaRPr lang="en-US"/>
          </a:p>
        </p:txBody>
      </p:sp>
    </p:spTree>
    <p:extLst>
      <p:ext uri="{BB962C8B-B14F-4D97-AF65-F5344CB8AC3E}">
        <p14:creationId xmlns:p14="http://schemas.microsoft.com/office/powerpoint/2010/main" val="262469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C6F3-9D65-6ABD-C8CA-BF234BDBDEE4}"/>
              </a:ext>
            </a:extLst>
          </p:cNvPr>
          <p:cNvSpPr>
            <a:spLocks noGrp="1"/>
          </p:cNvSpPr>
          <p:nvPr>
            <p:ph type="title"/>
          </p:nvPr>
        </p:nvSpPr>
        <p:spPr/>
        <p:txBody>
          <a:bodyPr/>
          <a:lstStyle/>
          <a:p>
            <a:r>
              <a:rPr lang="zh-TW" altLang="en-US" dirty="0"/>
              <a:t>針對我未來在實驗室的研究</a:t>
            </a:r>
            <a:endParaRPr lang="en-US" dirty="0"/>
          </a:p>
        </p:txBody>
      </p:sp>
      <p:sp>
        <p:nvSpPr>
          <p:cNvPr id="3" name="Content Placeholder 2">
            <a:extLst>
              <a:ext uri="{FF2B5EF4-FFF2-40B4-BE49-F238E27FC236}">
                <a16:creationId xmlns:a16="http://schemas.microsoft.com/office/drawing/2014/main" id="{B41E1941-7D2B-CFA2-9FF7-9BB7ACF73B6B}"/>
              </a:ext>
            </a:extLst>
          </p:cNvPr>
          <p:cNvSpPr>
            <a:spLocks noGrp="1"/>
          </p:cNvSpPr>
          <p:nvPr>
            <p:ph idx="1"/>
          </p:nvPr>
        </p:nvSpPr>
        <p:spPr/>
        <p:txBody>
          <a:bodyPr/>
          <a:lstStyle/>
          <a:p>
            <a:pPr>
              <a:lnSpc>
                <a:spcPct val="150000"/>
              </a:lnSpc>
            </a:pPr>
            <a:r>
              <a:rPr lang="zh-TW" altLang="en-US" sz="2800" dirty="0"/>
              <a:t>資料收集</a:t>
            </a:r>
            <a:r>
              <a:rPr lang="en-US" altLang="zh-TW" sz="2800" dirty="0"/>
              <a:t>(</a:t>
            </a:r>
            <a:r>
              <a:rPr lang="zh-TW" altLang="en-US" sz="2800" dirty="0"/>
              <a:t>檢體收集方向</a:t>
            </a:r>
            <a:r>
              <a:rPr lang="en-US" altLang="zh-TW" sz="2800" dirty="0"/>
              <a:t>)</a:t>
            </a:r>
          </a:p>
          <a:p>
            <a:pPr>
              <a:lnSpc>
                <a:spcPct val="150000"/>
              </a:lnSpc>
            </a:pPr>
            <a:r>
              <a:rPr lang="zh-TW" altLang="en-US" dirty="0"/>
              <a:t>多模態資料模型建立？</a:t>
            </a:r>
            <a:endParaRPr lang="en-US" dirty="0"/>
          </a:p>
        </p:txBody>
      </p:sp>
      <p:sp>
        <p:nvSpPr>
          <p:cNvPr id="4" name="Slide Number Placeholder 3">
            <a:extLst>
              <a:ext uri="{FF2B5EF4-FFF2-40B4-BE49-F238E27FC236}">
                <a16:creationId xmlns:a16="http://schemas.microsoft.com/office/drawing/2014/main" id="{99688738-0DFC-D2A7-9FC6-3F2BBEFB51F1}"/>
              </a:ext>
            </a:extLst>
          </p:cNvPr>
          <p:cNvSpPr>
            <a:spLocks noGrp="1"/>
          </p:cNvSpPr>
          <p:nvPr>
            <p:ph type="sldNum" sz="quarter" idx="12"/>
          </p:nvPr>
        </p:nvSpPr>
        <p:spPr/>
        <p:txBody>
          <a:bodyPr/>
          <a:lstStyle/>
          <a:p>
            <a:fld id="{7DF2C209-72C5-4BD6-83FD-73557975086B}" type="slidenum">
              <a:rPr lang="en-US" smtClean="0"/>
              <a:t>8</a:t>
            </a:fld>
            <a:endParaRPr lang="en-US"/>
          </a:p>
        </p:txBody>
      </p:sp>
    </p:spTree>
    <p:extLst>
      <p:ext uri="{BB962C8B-B14F-4D97-AF65-F5344CB8AC3E}">
        <p14:creationId xmlns:p14="http://schemas.microsoft.com/office/powerpoint/2010/main" val="2478037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AF677A5-2C17-0BE6-D6E0-D666307D131A}"/>
              </a:ext>
            </a:extLst>
          </p:cNvPr>
          <p:cNvPicPr>
            <a:picLocks noGrp="1" noChangeAspect="1"/>
          </p:cNvPicPr>
          <p:nvPr>
            <p:ph idx="1"/>
          </p:nvPr>
        </p:nvPicPr>
        <p:blipFill>
          <a:blip r:embed="rId3"/>
          <a:stretch>
            <a:fillRect/>
          </a:stretch>
        </p:blipFill>
        <p:spPr>
          <a:xfrm>
            <a:off x="7388579" y="2321866"/>
            <a:ext cx="4713111" cy="4351338"/>
          </a:xfrm>
        </p:spPr>
      </p:pic>
      <p:pic>
        <p:nvPicPr>
          <p:cNvPr id="8" name="Picture 7">
            <a:extLst>
              <a:ext uri="{FF2B5EF4-FFF2-40B4-BE49-F238E27FC236}">
                <a16:creationId xmlns:a16="http://schemas.microsoft.com/office/drawing/2014/main" id="{BC4CDA6E-94AC-622D-B372-B5F9218BB227}"/>
              </a:ext>
            </a:extLst>
          </p:cNvPr>
          <p:cNvPicPr>
            <a:picLocks noChangeAspect="1"/>
          </p:cNvPicPr>
          <p:nvPr/>
        </p:nvPicPr>
        <p:blipFill>
          <a:blip r:embed="rId4"/>
          <a:stretch>
            <a:fillRect/>
          </a:stretch>
        </p:blipFill>
        <p:spPr>
          <a:xfrm>
            <a:off x="90310" y="263160"/>
            <a:ext cx="7353937" cy="3520745"/>
          </a:xfrm>
          <a:prstGeom prst="rect">
            <a:avLst/>
          </a:prstGeom>
        </p:spPr>
      </p:pic>
      <p:sp>
        <p:nvSpPr>
          <p:cNvPr id="10" name="TextBox 9">
            <a:extLst>
              <a:ext uri="{FF2B5EF4-FFF2-40B4-BE49-F238E27FC236}">
                <a16:creationId xmlns:a16="http://schemas.microsoft.com/office/drawing/2014/main" id="{C20346D4-4BAD-7D35-7134-67692803639E}"/>
              </a:ext>
            </a:extLst>
          </p:cNvPr>
          <p:cNvSpPr txBox="1"/>
          <p:nvPr/>
        </p:nvSpPr>
        <p:spPr>
          <a:xfrm>
            <a:off x="58490" y="6464035"/>
            <a:ext cx="7281334" cy="261610"/>
          </a:xfrm>
          <a:prstGeom prst="rect">
            <a:avLst/>
          </a:prstGeom>
          <a:noFill/>
        </p:spPr>
        <p:txBody>
          <a:bodyPr wrap="square">
            <a:spAutoFit/>
          </a:bodyPr>
          <a:lstStyle/>
          <a:p>
            <a:r>
              <a:rPr lang="en-US" sz="1100" dirty="0"/>
              <a:t>https://jcr.clarivate.com/jcr-jp/journal-profile?journal=NAT%20METHODS&amp;year=2022&amp;fromPage=%2Fjcr%2Fsearch-results</a:t>
            </a:r>
          </a:p>
        </p:txBody>
      </p:sp>
      <p:sp>
        <p:nvSpPr>
          <p:cNvPr id="2" name="Slide Number Placeholder 1">
            <a:extLst>
              <a:ext uri="{FF2B5EF4-FFF2-40B4-BE49-F238E27FC236}">
                <a16:creationId xmlns:a16="http://schemas.microsoft.com/office/drawing/2014/main" id="{53455D15-75F5-D419-2C7D-FD09082F1FA1}"/>
              </a:ext>
            </a:extLst>
          </p:cNvPr>
          <p:cNvSpPr>
            <a:spLocks noGrp="1"/>
          </p:cNvSpPr>
          <p:nvPr>
            <p:ph type="sldNum" sz="quarter" idx="12"/>
          </p:nvPr>
        </p:nvSpPr>
        <p:spPr/>
        <p:txBody>
          <a:bodyPr/>
          <a:lstStyle/>
          <a:p>
            <a:fld id="{7DF2C209-72C5-4BD6-83FD-73557975086B}" type="slidenum">
              <a:rPr lang="en-US" smtClean="0"/>
              <a:t>9</a:t>
            </a:fld>
            <a:endParaRPr lang="en-US"/>
          </a:p>
        </p:txBody>
      </p:sp>
    </p:spTree>
    <p:extLst>
      <p:ext uri="{BB962C8B-B14F-4D97-AF65-F5344CB8AC3E}">
        <p14:creationId xmlns:p14="http://schemas.microsoft.com/office/powerpoint/2010/main" val="1989591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79BA1-99B9-E8E2-AD59-2C83F583CB7C}"/>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5D5441EB-E454-A280-1AB8-3E426BA21F0A}"/>
              </a:ext>
            </a:extLst>
          </p:cNvPr>
          <p:cNvSpPr>
            <a:spLocks noGrp="1"/>
          </p:cNvSpPr>
          <p:nvPr>
            <p:ph idx="1"/>
          </p:nvPr>
        </p:nvSpPr>
        <p:spPr>
          <a:xfrm>
            <a:off x="838200" y="1825624"/>
            <a:ext cx="10515600" cy="4784725"/>
          </a:xfrm>
        </p:spPr>
        <p:txBody>
          <a:bodyPr>
            <a:normAutofit/>
          </a:bodyPr>
          <a:lstStyle/>
          <a:p>
            <a:pPr>
              <a:lnSpc>
                <a:spcPct val="150000"/>
              </a:lnSpc>
            </a:pPr>
            <a:r>
              <a:rPr lang="en-US" dirty="0"/>
              <a:t>Most current single-cell analysis pipelines rely heavily on </a:t>
            </a:r>
            <a:r>
              <a:rPr lang="en-US" dirty="0">
                <a:solidFill>
                  <a:srgbClr val="FF0000"/>
                </a:solidFill>
                <a:effectLst/>
              </a:rPr>
              <a:t>clustering</a:t>
            </a:r>
          </a:p>
          <a:p>
            <a:pPr lvl="1">
              <a:lnSpc>
                <a:spcPct val="150000"/>
              </a:lnSpc>
            </a:pPr>
            <a:r>
              <a:rPr lang="en-US" dirty="0"/>
              <a:t>False Discovery (just because they are clustered by similar characteristics)</a:t>
            </a:r>
          </a:p>
          <a:p>
            <a:pPr>
              <a:lnSpc>
                <a:spcPct val="150000"/>
              </a:lnSpc>
            </a:pPr>
            <a:r>
              <a:rPr lang="en-US" dirty="0">
                <a:solidFill>
                  <a:srgbClr val="222222"/>
                </a:solidFill>
                <a:latin typeface="Harding"/>
              </a:rPr>
              <a:t>Lots of single-cell computational methods are developed for the</a:t>
            </a:r>
            <a:r>
              <a:rPr lang="en-US" b="0" i="0" dirty="0">
                <a:solidFill>
                  <a:srgbClr val="222222"/>
                </a:solidFill>
                <a:effectLst/>
                <a:latin typeface="Harding"/>
              </a:rPr>
              <a:t> analysis of</a:t>
            </a:r>
            <a:r>
              <a:rPr lang="zh-TW" altLang="en-US" b="0" i="0" dirty="0">
                <a:solidFill>
                  <a:srgbClr val="222222"/>
                </a:solidFill>
                <a:effectLst/>
                <a:latin typeface="Harding"/>
              </a:rPr>
              <a:t> </a:t>
            </a:r>
            <a:r>
              <a:rPr lang="en-US" altLang="zh-TW" b="0" i="0" dirty="0">
                <a:solidFill>
                  <a:srgbClr val="0070C0"/>
                </a:solidFill>
                <a:effectLst/>
                <a:latin typeface="Harding"/>
              </a:rPr>
              <a:t>o</a:t>
            </a:r>
            <a:r>
              <a:rPr lang="en-US" b="0" i="0" dirty="0">
                <a:solidFill>
                  <a:srgbClr val="0070C0"/>
                </a:solidFill>
                <a:effectLst/>
                <a:latin typeface="Harding"/>
              </a:rPr>
              <a:t>ne modality</a:t>
            </a:r>
          </a:p>
          <a:p>
            <a:endParaRPr lang="en-US" dirty="0"/>
          </a:p>
          <a:p>
            <a:pPr marL="0" indent="0">
              <a:buNone/>
            </a:pPr>
            <a:r>
              <a:rPr lang="zh-TW" altLang="en-US" dirty="0"/>
              <a:t>                                                                </a:t>
            </a:r>
            <a:r>
              <a:rPr lang="en-US" altLang="zh-TW" dirty="0"/>
              <a:t>….these are also our obstacles</a:t>
            </a:r>
            <a:endParaRPr lang="en-US" dirty="0"/>
          </a:p>
        </p:txBody>
      </p:sp>
      <p:sp>
        <p:nvSpPr>
          <p:cNvPr id="4" name="Slide Number Placeholder 3">
            <a:extLst>
              <a:ext uri="{FF2B5EF4-FFF2-40B4-BE49-F238E27FC236}">
                <a16:creationId xmlns:a16="http://schemas.microsoft.com/office/drawing/2014/main" id="{0C378AB2-FA4A-62C8-3891-8E39C08796F2}"/>
              </a:ext>
            </a:extLst>
          </p:cNvPr>
          <p:cNvSpPr>
            <a:spLocks noGrp="1"/>
          </p:cNvSpPr>
          <p:nvPr>
            <p:ph type="sldNum" sz="quarter" idx="12"/>
          </p:nvPr>
        </p:nvSpPr>
        <p:spPr/>
        <p:txBody>
          <a:bodyPr/>
          <a:lstStyle/>
          <a:p>
            <a:fld id="{7DF2C209-72C5-4BD6-83FD-73557975086B}" type="slidenum">
              <a:rPr lang="en-US" smtClean="0"/>
              <a:t>10</a:t>
            </a:fld>
            <a:endParaRPr lang="en-US"/>
          </a:p>
        </p:txBody>
      </p:sp>
    </p:spTree>
    <p:extLst>
      <p:ext uri="{BB962C8B-B14F-4D97-AF65-F5344CB8AC3E}">
        <p14:creationId xmlns:p14="http://schemas.microsoft.com/office/powerpoint/2010/main" val="3174988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C94257-8110-36F0-92A8-1DDC74F1737A}"/>
              </a:ext>
            </a:extLst>
          </p:cNvPr>
          <p:cNvSpPr/>
          <p:nvPr/>
        </p:nvSpPr>
        <p:spPr>
          <a:xfrm>
            <a:off x="-8279" y="-7499"/>
            <a:ext cx="3962401"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E2894C27-2656-7FA6-AEDE-E51B6E57119F}"/>
              </a:ext>
            </a:extLst>
          </p:cNvPr>
          <p:cNvSpPr>
            <a:spLocks noGrp="1"/>
          </p:cNvSpPr>
          <p:nvPr>
            <p:ph type="title"/>
          </p:nvPr>
        </p:nvSpPr>
        <p:spPr>
          <a:xfrm>
            <a:off x="387032" y="2860216"/>
            <a:ext cx="3258353" cy="1039469"/>
          </a:xfrm>
        </p:spPr>
        <p:txBody>
          <a:bodyPr>
            <a:normAutofit/>
          </a:bodyPr>
          <a:lstStyle/>
          <a:p>
            <a:r>
              <a:rPr lang="en-US" sz="3200" dirty="0"/>
              <a:t>General Workflow </a:t>
            </a:r>
            <a:br>
              <a:rPr lang="en-US" sz="3200" dirty="0"/>
            </a:br>
            <a:r>
              <a:rPr lang="en-US" sz="3200" dirty="0"/>
              <a:t>for </a:t>
            </a:r>
            <a:r>
              <a:rPr lang="en-US" sz="3200" dirty="0" err="1"/>
              <a:t>scRNA</a:t>
            </a:r>
            <a:r>
              <a:rPr lang="en-US" sz="3200" dirty="0"/>
              <a:t> Analysis</a:t>
            </a:r>
          </a:p>
        </p:txBody>
      </p:sp>
      <p:sp>
        <p:nvSpPr>
          <p:cNvPr id="4" name="TextBox 3">
            <a:extLst>
              <a:ext uri="{FF2B5EF4-FFF2-40B4-BE49-F238E27FC236}">
                <a16:creationId xmlns:a16="http://schemas.microsoft.com/office/drawing/2014/main" id="{6D8147E8-B5F3-6650-D2DA-3217745CD21E}"/>
              </a:ext>
            </a:extLst>
          </p:cNvPr>
          <p:cNvSpPr txBox="1"/>
          <p:nvPr/>
        </p:nvSpPr>
        <p:spPr>
          <a:xfrm>
            <a:off x="8383766" y="6588891"/>
            <a:ext cx="3808234" cy="261610"/>
          </a:xfrm>
          <a:prstGeom prst="rect">
            <a:avLst/>
          </a:prstGeom>
          <a:noFill/>
        </p:spPr>
        <p:txBody>
          <a:bodyPr wrap="square">
            <a:spAutoFit/>
          </a:bodyPr>
          <a:lstStyle/>
          <a:p>
            <a:r>
              <a:rPr lang="en-US" sz="1100" dirty="0"/>
              <a:t>https://www.embopress.org/doi/full/10.15252/msb.20188746</a:t>
            </a:r>
          </a:p>
        </p:txBody>
      </p:sp>
      <p:pic>
        <p:nvPicPr>
          <p:cNvPr id="2" name="Content Placeholder 4">
            <a:extLst>
              <a:ext uri="{FF2B5EF4-FFF2-40B4-BE49-F238E27FC236}">
                <a16:creationId xmlns:a16="http://schemas.microsoft.com/office/drawing/2014/main" id="{65753635-850F-5297-A28B-6A2061E23055}"/>
              </a:ext>
            </a:extLst>
          </p:cNvPr>
          <p:cNvPicPr>
            <a:picLocks noGrp="1" noChangeAspect="1"/>
          </p:cNvPicPr>
          <p:nvPr>
            <p:ph idx="1"/>
          </p:nvPr>
        </p:nvPicPr>
        <p:blipFill>
          <a:blip r:embed="rId3"/>
          <a:stretch>
            <a:fillRect/>
          </a:stretch>
        </p:blipFill>
        <p:spPr>
          <a:xfrm>
            <a:off x="4156287" y="967668"/>
            <a:ext cx="7633869" cy="5161201"/>
          </a:xfrm>
        </p:spPr>
      </p:pic>
      <p:sp>
        <p:nvSpPr>
          <p:cNvPr id="3" name="Rectangle 2">
            <a:extLst>
              <a:ext uri="{FF2B5EF4-FFF2-40B4-BE49-F238E27FC236}">
                <a16:creationId xmlns:a16="http://schemas.microsoft.com/office/drawing/2014/main" id="{1FA6F4F5-577F-21D0-0311-8FA5F10B5FCE}"/>
              </a:ext>
            </a:extLst>
          </p:cNvPr>
          <p:cNvSpPr/>
          <p:nvPr/>
        </p:nvSpPr>
        <p:spPr>
          <a:xfrm>
            <a:off x="4949687" y="4015409"/>
            <a:ext cx="2256183" cy="506895"/>
          </a:xfrm>
          <a:prstGeom prst="rect">
            <a:avLst/>
          </a:prstGeom>
          <a:noFill/>
          <a:ln w="28575">
            <a:solidFill>
              <a:schemeClr val="accent1">
                <a:lumMod val="60000"/>
                <a:lumOff val="40000"/>
              </a:schemeClr>
            </a:solid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6DF61EA5-B40B-E8ED-513F-575848741372}"/>
              </a:ext>
            </a:extLst>
          </p:cNvPr>
          <p:cNvSpPr>
            <a:spLocks noGrp="1"/>
          </p:cNvSpPr>
          <p:nvPr>
            <p:ph type="sldNum" sz="quarter" idx="12"/>
          </p:nvPr>
        </p:nvSpPr>
        <p:spPr/>
        <p:txBody>
          <a:bodyPr/>
          <a:lstStyle/>
          <a:p>
            <a:fld id="{7DF2C209-72C5-4BD6-83FD-73557975086B}" type="slidenum">
              <a:rPr lang="en-US" smtClean="0"/>
              <a:t>11</a:t>
            </a:fld>
            <a:endParaRPr lang="en-US"/>
          </a:p>
        </p:txBody>
      </p:sp>
    </p:spTree>
    <p:extLst>
      <p:ext uri="{BB962C8B-B14F-4D97-AF65-F5344CB8AC3E}">
        <p14:creationId xmlns:p14="http://schemas.microsoft.com/office/powerpoint/2010/main" val="1791271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5AE63-1764-1D03-B2D7-890262BCE039}"/>
              </a:ext>
            </a:extLst>
          </p:cNvPr>
          <p:cNvSpPr>
            <a:spLocks noGrp="1"/>
          </p:cNvSpPr>
          <p:nvPr>
            <p:ph type="title"/>
          </p:nvPr>
        </p:nvSpPr>
        <p:spPr/>
        <p:txBody>
          <a:bodyPr/>
          <a:lstStyle/>
          <a:p>
            <a:r>
              <a:rPr lang="en-US" altLang="zh-TW" dirty="0"/>
              <a:t>The Limitation of Clustering</a:t>
            </a:r>
            <a:endParaRPr lang="en-US" dirty="0"/>
          </a:p>
        </p:txBody>
      </p:sp>
      <p:sp>
        <p:nvSpPr>
          <p:cNvPr id="3" name="Content Placeholder 2">
            <a:extLst>
              <a:ext uri="{FF2B5EF4-FFF2-40B4-BE49-F238E27FC236}">
                <a16:creationId xmlns:a16="http://schemas.microsoft.com/office/drawing/2014/main" id="{E4CCA983-034A-9B13-EA28-4B5B7DC17E7A}"/>
              </a:ext>
            </a:extLst>
          </p:cNvPr>
          <p:cNvSpPr>
            <a:spLocks noGrp="1"/>
          </p:cNvSpPr>
          <p:nvPr>
            <p:ph idx="1"/>
          </p:nvPr>
        </p:nvSpPr>
        <p:spPr/>
        <p:txBody>
          <a:bodyPr/>
          <a:lstStyle/>
          <a:p>
            <a:r>
              <a:rPr lang="en-US" b="0" i="0" dirty="0">
                <a:solidFill>
                  <a:srgbClr val="374151"/>
                </a:solidFill>
                <a:effectLst/>
                <a:latin typeface="Söhne"/>
              </a:rPr>
              <a:t>Presumed Number of Groups</a:t>
            </a:r>
          </a:p>
          <a:p>
            <a:r>
              <a:rPr lang="en-US" b="0" i="0" dirty="0">
                <a:solidFill>
                  <a:srgbClr val="374151"/>
                </a:solidFill>
                <a:effectLst/>
                <a:latin typeface="Söhne"/>
              </a:rPr>
              <a:t>Non-linear Structures and Continuous Variation</a:t>
            </a:r>
            <a:endParaRPr lang="en-US" dirty="0">
              <a:solidFill>
                <a:srgbClr val="374151"/>
              </a:solidFill>
              <a:latin typeface="Söhne"/>
            </a:endParaRPr>
          </a:p>
          <a:p>
            <a:r>
              <a:rPr lang="en-US" b="0" i="0" dirty="0">
                <a:solidFill>
                  <a:srgbClr val="374151"/>
                </a:solidFill>
                <a:effectLst/>
                <a:latin typeface="Söhne"/>
              </a:rPr>
              <a:t>Sensitivity to Noise and Outliers</a:t>
            </a:r>
            <a:endParaRPr lang="en-US" dirty="0"/>
          </a:p>
        </p:txBody>
      </p:sp>
      <p:sp>
        <p:nvSpPr>
          <p:cNvPr id="4" name="Slide Number Placeholder 3">
            <a:extLst>
              <a:ext uri="{FF2B5EF4-FFF2-40B4-BE49-F238E27FC236}">
                <a16:creationId xmlns:a16="http://schemas.microsoft.com/office/drawing/2014/main" id="{31556F15-1699-18ED-98D5-2E3FC139FD35}"/>
              </a:ext>
            </a:extLst>
          </p:cNvPr>
          <p:cNvSpPr>
            <a:spLocks noGrp="1"/>
          </p:cNvSpPr>
          <p:nvPr>
            <p:ph type="sldNum" sz="quarter" idx="12"/>
          </p:nvPr>
        </p:nvSpPr>
        <p:spPr/>
        <p:txBody>
          <a:bodyPr/>
          <a:lstStyle/>
          <a:p>
            <a:fld id="{7DF2C209-72C5-4BD6-83FD-73557975086B}" type="slidenum">
              <a:rPr lang="en-US" smtClean="0"/>
              <a:t>12</a:t>
            </a:fld>
            <a:endParaRPr lang="en-US"/>
          </a:p>
        </p:txBody>
      </p:sp>
    </p:spTree>
    <p:extLst>
      <p:ext uri="{BB962C8B-B14F-4D97-AF65-F5344CB8AC3E}">
        <p14:creationId xmlns:p14="http://schemas.microsoft.com/office/powerpoint/2010/main" val="1151386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574814-4AC5-86BC-5DBC-25E9755C504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010F94A-CC87-4CFD-9C93-64BCE1844BCA}"/>
              </a:ext>
            </a:extLst>
          </p:cNvPr>
          <p:cNvPicPr>
            <a:picLocks noChangeAspect="1"/>
          </p:cNvPicPr>
          <p:nvPr/>
        </p:nvPicPr>
        <p:blipFill>
          <a:blip r:embed="rId3"/>
          <a:stretch>
            <a:fillRect/>
          </a:stretch>
        </p:blipFill>
        <p:spPr>
          <a:xfrm>
            <a:off x="158258" y="430484"/>
            <a:ext cx="11748820" cy="6062391"/>
          </a:xfrm>
          <a:prstGeom prst="rect">
            <a:avLst/>
          </a:prstGeom>
        </p:spPr>
      </p:pic>
      <p:sp>
        <p:nvSpPr>
          <p:cNvPr id="2" name="Slide Number Placeholder 1">
            <a:extLst>
              <a:ext uri="{FF2B5EF4-FFF2-40B4-BE49-F238E27FC236}">
                <a16:creationId xmlns:a16="http://schemas.microsoft.com/office/drawing/2014/main" id="{5FF3C912-C20B-88CF-1357-C5943FF76929}"/>
              </a:ext>
            </a:extLst>
          </p:cNvPr>
          <p:cNvSpPr>
            <a:spLocks noGrp="1"/>
          </p:cNvSpPr>
          <p:nvPr>
            <p:ph type="sldNum" sz="quarter" idx="12"/>
          </p:nvPr>
        </p:nvSpPr>
        <p:spPr/>
        <p:txBody>
          <a:bodyPr/>
          <a:lstStyle/>
          <a:p>
            <a:fld id="{7DF2C209-72C5-4BD6-83FD-73557975086B}" type="slidenum">
              <a:rPr lang="en-US" smtClean="0"/>
              <a:t>13</a:t>
            </a:fld>
            <a:endParaRPr lang="en-US"/>
          </a:p>
        </p:txBody>
      </p:sp>
    </p:spTree>
    <p:extLst>
      <p:ext uri="{BB962C8B-B14F-4D97-AF65-F5344CB8AC3E}">
        <p14:creationId xmlns:p14="http://schemas.microsoft.com/office/powerpoint/2010/main" val="255011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C6DC-3E4B-5FD3-3842-9F9FCFE60820}"/>
              </a:ext>
            </a:extLst>
          </p:cNvPr>
          <p:cNvSpPr>
            <a:spLocks noGrp="1"/>
          </p:cNvSpPr>
          <p:nvPr>
            <p:ph type="title"/>
          </p:nvPr>
        </p:nvSpPr>
        <p:spPr/>
        <p:txBody>
          <a:bodyPr/>
          <a:lstStyle/>
          <a:p>
            <a:r>
              <a:rPr lang="en-US" dirty="0"/>
              <a:t>This is what SIMBA want to ACHIEVE</a:t>
            </a:r>
          </a:p>
        </p:txBody>
      </p:sp>
      <p:sp>
        <p:nvSpPr>
          <p:cNvPr id="3" name="Content Placeholder 2">
            <a:extLst>
              <a:ext uri="{FF2B5EF4-FFF2-40B4-BE49-F238E27FC236}">
                <a16:creationId xmlns:a16="http://schemas.microsoft.com/office/drawing/2014/main" id="{414E03F7-2C8E-97C8-0BC5-81325601F3D8}"/>
              </a:ext>
            </a:extLst>
          </p:cNvPr>
          <p:cNvSpPr>
            <a:spLocks noGrp="1"/>
          </p:cNvSpPr>
          <p:nvPr>
            <p:ph idx="1"/>
          </p:nvPr>
        </p:nvSpPr>
        <p:spPr>
          <a:xfrm>
            <a:off x="838200" y="1825625"/>
            <a:ext cx="10814538" cy="4351338"/>
          </a:xfrm>
        </p:spPr>
        <p:txBody>
          <a:bodyPr/>
          <a:lstStyle/>
          <a:p>
            <a:pPr>
              <a:lnSpc>
                <a:spcPct val="150000"/>
              </a:lnSpc>
            </a:pPr>
            <a:r>
              <a:rPr lang="en-US" dirty="0">
                <a:effectLst/>
              </a:rPr>
              <a:t>An </a:t>
            </a:r>
            <a:r>
              <a:rPr lang="en-US" dirty="0">
                <a:solidFill>
                  <a:srgbClr val="FF0000"/>
                </a:solidFill>
                <a:effectLst/>
              </a:rPr>
              <a:t>clustering-free</a:t>
            </a:r>
            <a:r>
              <a:rPr lang="en-US" dirty="0">
                <a:effectLst/>
              </a:rPr>
              <a:t> approach</a:t>
            </a:r>
          </a:p>
          <a:p>
            <a:pPr>
              <a:lnSpc>
                <a:spcPct val="150000"/>
              </a:lnSpc>
            </a:pPr>
            <a:r>
              <a:rPr lang="en-US" dirty="0">
                <a:effectLst/>
              </a:rPr>
              <a:t>Building the model considering </a:t>
            </a:r>
            <a:r>
              <a:rPr lang="en-US" dirty="0">
                <a:solidFill>
                  <a:srgbClr val="FF0000"/>
                </a:solidFill>
                <a:effectLst/>
              </a:rPr>
              <a:t>interactions</a:t>
            </a:r>
            <a:r>
              <a:rPr lang="en-US" dirty="0">
                <a:effectLst/>
              </a:rPr>
              <a:t> between different feature</a:t>
            </a:r>
          </a:p>
          <a:p>
            <a:endParaRPr lang="en-US" dirty="0"/>
          </a:p>
        </p:txBody>
      </p:sp>
      <p:sp>
        <p:nvSpPr>
          <p:cNvPr id="21" name="Arrow: Down 20">
            <a:extLst>
              <a:ext uri="{FF2B5EF4-FFF2-40B4-BE49-F238E27FC236}">
                <a16:creationId xmlns:a16="http://schemas.microsoft.com/office/drawing/2014/main" id="{5D98B7AA-A9FC-61A9-2DBC-AB937CC74DAC}"/>
              </a:ext>
            </a:extLst>
          </p:cNvPr>
          <p:cNvSpPr/>
          <p:nvPr/>
        </p:nvSpPr>
        <p:spPr>
          <a:xfrm>
            <a:off x="5049078" y="3697357"/>
            <a:ext cx="506896" cy="1043608"/>
          </a:xfrm>
          <a:prstGeom prst="downArrow">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09D2687-6C54-8CF2-E46F-B76935740E8D}"/>
              </a:ext>
            </a:extLst>
          </p:cNvPr>
          <p:cNvSpPr txBox="1"/>
          <p:nvPr/>
        </p:nvSpPr>
        <p:spPr>
          <a:xfrm>
            <a:off x="3268731" y="5196543"/>
            <a:ext cx="4574485" cy="523220"/>
          </a:xfrm>
          <a:prstGeom prst="rect">
            <a:avLst/>
          </a:prstGeom>
          <a:noFill/>
        </p:spPr>
        <p:txBody>
          <a:bodyPr wrap="square">
            <a:spAutoFit/>
          </a:bodyPr>
          <a:lstStyle/>
          <a:p>
            <a:r>
              <a:rPr lang="en-US" sz="2800" b="1" dirty="0">
                <a:ln w="0"/>
                <a:effectLst>
                  <a:outerShdw blurRad="38100" dist="19050" dir="2700000" algn="tl" rotWithShape="0">
                    <a:schemeClr val="dk1">
                      <a:alpha val="40000"/>
                    </a:schemeClr>
                  </a:outerShdw>
                </a:effectLst>
              </a:rPr>
              <a:t>A graph embedding method</a:t>
            </a:r>
          </a:p>
        </p:txBody>
      </p:sp>
      <p:sp>
        <p:nvSpPr>
          <p:cNvPr id="4" name="Slide Number Placeholder 3">
            <a:extLst>
              <a:ext uri="{FF2B5EF4-FFF2-40B4-BE49-F238E27FC236}">
                <a16:creationId xmlns:a16="http://schemas.microsoft.com/office/drawing/2014/main" id="{8B996026-42FB-2D8B-68A7-4E8D1F27EBF9}"/>
              </a:ext>
            </a:extLst>
          </p:cNvPr>
          <p:cNvSpPr>
            <a:spLocks noGrp="1"/>
          </p:cNvSpPr>
          <p:nvPr>
            <p:ph type="sldNum" sz="quarter" idx="12"/>
          </p:nvPr>
        </p:nvSpPr>
        <p:spPr/>
        <p:txBody>
          <a:bodyPr/>
          <a:lstStyle/>
          <a:p>
            <a:fld id="{7DF2C209-72C5-4BD6-83FD-73557975086B}" type="slidenum">
              <a:rPr lang="en-US" smtClean="0"/>
              <a:t>14</a:t>
            </a:fld>
            <a:endParaRPr lang="en-US"/>
          </a:p>
        </p:txBody>
      </p:sp>
    </p:spTree>
    <p:extLst>
      <p:ext uri="{BB962C8B-B14F-4D97-AF65-F5344CB8AC3E}">
        <p14:creationId xmlns:p14="http://schemas.microsoft.com/office/powerpoint/2010/main" val="302891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C6DC-3E4B-5FD3-3842-9F9FCFE60820}"/>
              </a:ext>
            </a:extLst>
          </p:cNvPr>
          <p:cNvSpPr>
            <a:spLocks noGrp="1"/>
          </p:cNvSpPr>
          <p:nvPr>
            <p:ph type="title"/>
          </p:nvPr>
        </p:nvSpPr>
        <p:spPr/>
        <p:txBody>
          <a:bodyPr/>
          <a:lstStyle/>
          <a:p>
            <a:r>
              <a:rPr lang="en-US" dirty="0"/>
              <a:t>This is what SIMBA want to ACHIEVE</a:t>
            </a:r>
          </a:p>
        </p:txBody>
      </p:sp>
      <p:sp>
        <p:nvSpPr>
          <p:cNvPr id="6" name="Content Placeholder 2">
            <a:extLst>
              <a:ext uri="{FF2B5EF4-FFF2-40B4-BE49-F238E27FC236}">
                <a16:creationId xmlns:a16="http://schemas.microsoft.com/office/drawing/2014/main" id="{503464DC-13C2-CC29-0404-125764207662}"/>
              </a:ext>
            </a:extLst>
          </p:cNvPr>
          <p:cNvSpPr>
            <a:spLocks noGrp="1"/>
          </p:cNvSpPr>
          <p:nvPr>
            <p:ph idx="1"/>
          </p:nvPr>
        </p:nvSpPr>
        <p:spPr>
          <a:xfrm>
            <a:off x="838200" y="1825625"/>
            <a:ext cx="10515600" cy="4351338"/>
          </a:xfrm>
        </p:spPr>
        <p:txBody>
          <a:bodyPr/>
          <a:lstStyle/>
          <a:p>
            <a:r>
              <a:rPr lang="en-US" dirty="0"/>
              <a:t>A</a:t>
            </a:r>
            <a:r>
              <a:rPr lang="en-US" dirty="0">
                <a:solidFill>
                  <a:schemeClr val="accent1"/>
                </a:solidFill>
              </a:rPr>
              <a:t> </a:t>
            </a:r>
            <a:r>
              <a:rPr lang="en-US" dirty="0">
                <a:solidFill>
                  <a:srgbClr val="FF0000"/>
                </a:solidFill>
              </a:rPr>
              <a:t>graph embedding </a:t>
            </a:r>
            <a:r>
              <a:rPr lang="en-US" dirty="0"/>
              <a:t>method</a:t>
            </a:r>
          </a:p>
        </p:txBody>
      </p:sp>
      <p:sp>
        <p:nvSpPr>
          <p:cNvPr id="7" name="Rectangle 6">
            <a:extLst>
              <a:ext uri="{FF2B5EF4-FFF2-40B4-BE49-F238E27FC236}">
                <a16:creationId xmlns:a16="http://schemas.microsoft.com/office/drawing/2014/main" id="{0E0E5407-4F64-C40D-B7C3-7C6AA247A7ED}"/>
              </a:ext>
            </a:extLst>
          </p:cNvPr>
          <p:cNvSpPr/>
          <p:nvPr/>
        </p:nvSpPr>
        <p:spPr>
          <a:xfrm>
            <a:off x="1498351" y="3785164"/>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mRNA  (</a:t>
            </a:r>
            <a:r>
              <a:rPr lang="en-US" dirty="0" err="1">
                <a:solidFill>
                  <a:schemeClr val="tx1"/>
                </a:solidFill>
              </a:rPr>
              <a:t>scRNA</a:t>
            </a:r>
            <a:r>
              <a:rPr lang="en-US" dirty="0">
                <a:solidFill>
                  <a:schemeClr val="tx1"/>
                </a:solidFill>
              </a:rPr>
              <a:t>)</a:t>
            </a:r>
          </a:p>
        </p:txBody>
      </p:sp>
      <p:sp>
        <p:nvSpPr>
          <p:cNvPr id="8" name="Rectangle 7">
            <a:extLst>
              <a:ext uri="{FF2B5EF4-FFF2-40B4-BE49-F238E27FC236}">
                <a16:creationId xmlns:a16="http://schemas.microsoft.com/office/drawing/2014/main" id="{A041FA36-C0FF-2C48-54DE-CF9A7602000B}"/>
              </a:ext>
            </a:extLst>
          </p:cNvPr>
          <p:cNvSpPr/>
          <p:nvPr/>
        </p:nvSpPr>
        <p:spPr>
          <a:xfrm>
            <a:off x="933200" y="4376768"/>
            <a:ext cx="336745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Chromatin Accessibility (</a:t>
            </a:r>
            <a:r>
              <a:rPr lang="en-US" altLang="zh-TW" dirty="0" err="1">
                <a:solidFill>
                  <a:schemeClr val="tx1"/>
                </a:solidFill>
              </a:rPr>
              <a:t>scATAC</a:t>
            </a:r>
            <a:r>
              <a:rPr lang="en-US" altLang="zh-TW" dirty="0">
                <a:solidFill>
                  <a:schemeClr val="tx1"/>
                </a:solidFill>
              </a:rPr>
              <a:t>) </a:t>
            </a:r>
            <a:r>
              <a:rPr lang="en-US" dirty="0">
                <a:solidFill>
                  <a:schemeClr val="tx1"/>
                </a:solidFill>
              </a:rPr>
              <a:t> </a:t>
            </a:r>
          </a:p>
        </p:txBody>
      </p:sp>
      <p:sp>
        <p:nvSpPr>
          <p:cNvPr id="11" name="Rectangle 10">
            <a:extLst>
              <a:ext uri="{FF2B5EF4-FFF2-40B4-BE49-F238E27FC236}">
                <a16:creationId xmlns:a16="http://schemas.microsoft.com/office/drawing/2014/main" id="{88F014C1-2A81-3AB3-CF54-4C92AC155C85}"/>
              </a:ext>
            </a:extLst>
          </p:cNvPr>
          <p:cNvSpPr/>
          <p:nvPr/>
        </p:nvSpPr>
        <p:spPr>
          <a:xfrm>
            <a:off x="1343430" y="5694204"/>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DNA sequence</a:t>
            </a:r>
          </a:p>
        </p:txBody>
      </p:sp>
      <p:sp>
        <p:nvSpPr>
          <p:cNvPr id="12" name="Arrow: Right 11">
            <a:extLst>
              <a:ext uri="{FF2B5EF4-FFF2-40B4-BE49-F238E27FC236}">
                <a16:creationId xmlns:a16="http://schemas.microsoft.com/office/drawing/2014/main" id="{32AADA35-E82B-DC29-7B4F-41DA014348B9}"/>
              </a:ext>
            </a:extLst>
          </p:cNvPr>
          <p:cNvSpPr/>
          <p:nvPr/>
        </p:nvSpPr>
        <p:spPr>
          <a:xfrm>
            <a:off x="4801658" y="4382030"/>
            <a:ext cx="2963333" cy="469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AC6E69-0EBE-77A5-CA7E-891C1D2449DA}"/>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D2A918CA-4258-E4F1-6C58-262E53EBBB4D}"/>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4F0EC62-BB98-334A-BE19-5112529F0FF7}"/>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144AF5-2E70-3C99-F83D-469BCD133751}"/>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03901A6-B8DF-6280-F554-AEB3275922CF}"/>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49C1F-CC42-FEAD-7501-15FBDF314D1D}"/>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CEEF4F9-E03A-4C56-F8B9-06914B25A96F}"/>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20" name="Straight Connector 19">
            <a:extLst>
              <a:ext uri="{FF2B5EF4-FFF2-40B4-BE49-F238E27FC236}">
                <a16:creationId xmlns:a16="http://schemas.microsoft.com/office/drawing/2014/main" id="{2CD383D2-3F1B-F752-6C15-F2A12F4AB33D}"/>
              </a:ext>
            </a:extLst>
          </p:cNvPr>
          <p:cNvCxnSpPr>
            <a:cxnSpLocks/>
            <a:endCxn id="15"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AB358D0-5D6F-7AF3-877D-44B072831E04}"/>
              </a:ext>
            </a:extLst>
          </p:cNvPr>
          <p:cNvCxnSpPr>
            <a:cxnSpLocks/>
            <a:stCxn id="14"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9051F8D-67BD-93C7-8DC3-0CCAB55C2B8D}"/>
              </a:ext>
            </a:extLst>
          </p:cNvPr>
          <p:cNvCxnSpPr>
            <a:cxnSpLocks/>
            <a:endCxn id="17"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0FB1036-516B-5A5B-845F-1B9420A092E4}"/>
              </a:ext>
            </a:extLst>
          </p:cNvPr>
          <p:cNvSpPr/>
          <p:nvPr/>
        </p:nvSpPr>
        <p:spPr>
          <a:xfrm>
            <a:off x="1494772" y="4982169"/>
            <a:ext cx="1623484"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TF motif</a:t>
            </a:r>
            <a:endParaRPr lang="en-US" dirty="0">
              <a:solidFill>
                <a:schemeClr val="tx1"/>
              </a:solidFill>
            </a:endParaRPr>
          </a:p>
        </p:txBody>
      </p:sp>
      <p:sp>
        <p:nvSpPr>
          <p:cNvPr id="4" name="Rectangle 3">
            <a:extLst>
              <a:ext uri="{FF2B5EF4-FFF2-40B4-BE49-F238E27FC236}">
                <a16:creationId xmlns:a16="http://schemas.microsoft.com/office/drawing/2014/main" id="{DEA5D0B7-EAE5-5850-473E-321F859C58C9}"/>
              </a:ext>
            </a:extLst>
          </p:cNvPr>
          <p:cNvSpPr/>
          <p:nvPr/>
        </p:nvSpPr>
        <p:spPr>
          <a:xfrm>
            <a:off x="1192089" y="3179763"/>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Cell</a:t>
            </a:r>
          </a:p>
        </p:txBody>
      </p:sp>
      <p:sp>
        <p:nvSpPr>
          <p:cNvPr id="5" name="Slide Number Placeholder 4">
            <a:extLst>
              <a:ext uri="{FF2B5EF4-FFF2-40B4-BE49-F238E27FC236}">
                <a16:creationId xmlns:a16="http://schemas.microsoft.com/office/drawing/2014/main" id="{5722441A-E5EB-A669-456B-B4A552F1C67C}"/>
              </a:ext>
            </a:extLst>
          </p:cNvPr>
          <p:cNvSpPr>
            <a:spLocks noGrp="1"/>
          </p:cNvSpPr>
          <p:nvPr>
            <p:ph type="sldNum" sz="quarter" idx="12"/>
          </p:nvPr>
        </p:nvSpPr>
        <p:spPr/>
        <p:txBody>
          <a:bodyPr/>
          <a:lstStyle/>
          <a:p>
            <a:fld id="{7DF2C209-72C5-4BD6-83FD-73557975086B}" type="slidenum">
              <a:rPr lang="en-US" smtClean="0"/>
              <a:t>15</a:t>
            </a:fld>
            <a:endParaRPr lang="en-US"/>
          </a:p>
        </p:txBody>
      </p:sp>
    </p:spTree>
    <p:extLst>
      <p:ext uri="{BB962C8B-B14F-4D97-AF65-F5344CB8AC3E}">
        <p14:creationId xmlns:p14="http://schemas.microsoft.com/office/powerpoint/2010/main" val="323227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arn(inVertical)">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650FA4-00FE-9FAF-0D8D-4A92B0A37EC9}"/>
              </a:ext>
            </a:extLst>
          </p:cNvPr>
          <p:cNvPicPr>
            <a:picLocks noChangeAspect="1"/>
          </p:cNvPicPr>
          <p:nvPr/>
        </p:nvPicPr>
        <p:blipFill>
          <a:blip r:embed="rId3"/>
          <a:stretch>
            <a:fillRect/>
          </a:stretch>
        </p:blipFill>
        <p:spPr>
          <a:xfrm>
            <a:off x="1319826" y="136525"/>
            <a:ext cx="9552347" cy="6634106"/>
          </a:xfrm>
          <a:prstGeom prst="rect">
            <a:avLst/>
          </a:prstGeom>
        </p:spPr>
      </p:pic>
      <p:sp>
        <p:nvSpPr>
          <p:cNvPr id="2" name="Slide Number Placeholder 1">
            <a:extLst>
              <a:ext uri="{FF2B5EF4-FFF2-40B4-BE49-F238E27FC236}">
                <a16:creationId xmlns:a16="http://schemas.microsoft.com/office/drawing/2014/main" id="{24223F36-50EA-06DB-2DFE-FFD4B266AA77}"/>
              </a:ext>
            </a:extLst>
          </p:cNvPr>
          <p:cNvSpPr>
            <a:spLocks noGrp="1"/>
          </p:cNvSpPr>
          <p:nvPr>
            <p:ph type="sldNum" sz="quarter" idx="12"/>
          </p:nvPr>
        </p:nvSpPr>
        <p:spPr/>
        <p:txBody>
          <a:bodyPr/>
          <a:lstStyle/>
          <a:p>
            <a:fld id="{7DF2C209-72C5-4BD6-83FD-73557975086B}" type="slidenum">
              <a:rPr lang="en-US" smtClean="0"/>
              <a:t>16</a:t>
            </a:fld>
            <a:endParaRPr lang="en-US"/>
          </a:p>
        </p:txBody>
      </p:sp>
    </p:spTree>
    <p:extLst>
      <p:ext uri="{BB962C8B-B14F-4D97-AF65-F5344CB8AC3E}">
        <p14:creationId xmlns:p14="http://schemas.microsoft.com/office/powerpoint/2010/main" val="1791410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98CC720-2A9C-AFCD-DEE5-D574DFF3A7A8}"/>
              </a:ext>
            </a:extLst>
          </p:cNvPr>
          <p:cNvSpPr txBox="1"/>
          <p:nvPr/>
        </p:nvSpPr>
        <p:spPr>
          <a:xfrm>
            <a:off x="1072444" y="3131409"/>
            <a:ext cx="9550400" cy="3746347"/>
          </a:xfrm>
          <a:prstGeom prst="rect">
            <a:avLst/>
          </a:prstGeom>
          <a:noFill/>
        </p:spPr>
        <p:txBody>
          <a:bodyPr wrap="square">
            <a:spAutoFit/>
          </a:bodyPr>
          <a:lstStyle/>
          <a:p>
            <a:pPr>
              <a:lnSpc>
                <a:spcPct val="150000"/>
              </a:lnSpc>
            </a:pPr>
            <a:r>
              <a:rPr lang="zh-TW" altLang="en-US" sz="1600" dirty="0"/>
              <a:t>當我們說</a:t>
            </a:r>
            <a:r>
              <a:rPr lang="en-US" altLang="zh-TW" sz="1600" dirty="0"/>
              <a:t>"</a:t>
            </a:r>
            <a:r>
              <a:rPr lang="zh-TW" altLang="en-US" sz="1600" dirty="0"/>
              <a:t>其他方法主要關注於</a:t>
            </a:r>
            <a:r>
              <a:rPr lang="zh-TW" altLang="en-US" sz="1600" b="1" dirty="0"/>
              <a:t>細胞的狀態</a:t>
            </a:r>
            <a:r>
              <a:rPr lang="en-US" altLang="zh-TW" sz="1600" dirty="0"/>
              <a:t>"</a:t>
            </a:r>
            <a:r>
              <a:rPr lang="zh-TW" altLang="en-US" sz="1600" dirty="0"/>
              <a:t>，我們是指其他分析單細胞數據的方法傾向於專注於描述和理解細胞在某一特定時間點的特定狀態或條件。細胞的狀態可以是由細胞的基因表達、功能或其他生物標誌物來定義的。</a:t>
            </a:r>
          </a:p>
          <a:p>
            <a:pPr>
              <a:lnSpc>
                <a:spcPct val="150000"/>
              </a:lnSpc>
            </a:pPr>
            <a:endParaRPr lang="zh-TW" altLang="en-US" sz="1600" dirty="0"/>
          </a:p>
          <a:p>
            <a:pPr>
              <a:lnSpc>
                <a:spcPct val="150000"/>
              </a:lnSpc>
            </a:pPr>
            <a:r>
              <a:rPr lang="zh-TW" altLang="en-US" sz="1600" dirty="0"/>
              <a:t>舉例來說，當研究者分析單細胞</a:t>
            </a:r>
            <a:r>
              <a:rPr lang="en-US" altLang="zh-TW" sz="1600" dirty="0"/>
              <a:t>RNA</a:t>
            </a:r>
            <a:r>
              <a:rPr lang="zh-TW" altLang="en-US" sz="1600" dirty="0"/>
              <a:t>序列數據時，</a:t>
            </a:r>
            <a:r>
              <a:rPr lang="zh-TW" altLang="en-US" sz="1600" b="1" dirty="0"/>
              <a:t>他們可能會尋找哪些基因在特定細胞類型或在特定條件下被上調或下調</a:t>
            </a:r>
            <a:r>
              <a:rPr lang="zh-TW" altLang="en-US" sz="1600" dirty="0"/>
              <a:t>。這些基因表達的模式可以提供細胞當前的功能狀態或響應。</a:t>
            </a:r>
          </a:p>
          <a:p>
            <a:pPr>
              <a:lnSpc>
                <a:spcPct val="150000"/>
              </a:lnSpc>
            </a:pPr>
            <a:endParaRPr lang="zh-TW" altLang="en-US" sz="1600" dirty="0"/>
          </a:p>
          <a:p>
            <a:pPr>
              <a:lnSpc>
                <a:spcPct val="150000"/>
              </a:lnSpc>
            </a:pPr>
            <a:r>
              <a:rPr lang="zh-TW" altLang="en-US" sz="1600" dirty="0"/>
              <a:t>所以，當我們說其他方法主要關注於細胞的狀態，意思是這些方法的主要目標是理解細胞在某個時間點的特性和功能，而不是同時考慮細胞和其他相關特徵（如基因、轉錄因子等）之間的關係，這是</a:t>
            </a:r>
            <a:r>
              <a:rPr lang="en-US" altLang="zh-TW" sz="1600" dirty="0"/>
              <a:t>SIMBA</a:t>
            </a:r>
            <a:r>
              <a:rPr lang="zh-TW" altLang="en-US" sz="1600" dirty="0"/>
              <a:t>方法所強調的。</a:t>
            </a:r>
            <a:endParaRPr lang="en-US" sz="1600" dirty="0"/>
          </a:p>
        </p:txBody>
      </p:sp>
      <p:sp>
        <p:nvSpPr>
          <p:cNvPr id="10" name="TextBox 9">
            <a:extLst>
              <a:ext uri="{FF2B5EF4-FFF2-40B4-BE49-F238E27FC236}">
                <a16:creationId xmlns:a16="http://schemas.microsoft.com/office/drawing/2014/main" id="{06212078-D1AB-51D4-DA2F-82DA5D6B85B5}"/>
              </a:ext>
            </a:extLst>
          </p:cNvPr>
          <p:cNvSpPr txBox="1"/>
          <p:nvPr/>
        </p:nvSpPr>
        <p:spPr>
          <a:xfrm>
            <a:off x="1072444" y="1690688"/>
            <a:ext cx="10515600" cy="1161023"/>
          </a:xfrm>
          <a:prstGeom prst="rect">
            <a:avLst/>
          </a:prstGeom>
          <a:noFill/>
        </p:spPr>
        <p:txBody>
          <a:bodyPr wrap="square">
            <a:spAutoFit/>
          </a:bodyPr>
          <a:lstStyle/>
          <a:p>
            <a:pPr>
              <a:lnSpc>
                <a:spcPct val="150000"/>
              </a:lnSpc>
            </a:pPr>
            <a:r>
              <a:rPr lang="en-US" altLang="zh-TW" sz="1600" dirty="0"/>
              <a:t>SIMBA</a:t>
            </a:r>
            <a:r>
              <a:rPr lang="zh-TW" altLang="en-US" sz="1600" dirty="0"/>
              <a:t>首先將不同類型的實體，如細胞、基因、開放染色質區域（峰值或區間）、轉錄因子（</a:t>
            </a:r>
            <a:r>
              <a:rPr lang="en-US" altLang="zh-TW" sz="1600" dirty="0"/>
              <a:t>TF</a:t>
            </a:r>
            <a:r>
              <a:rPr lang="zh-TW" altLang="en-US" sz="1600" dirty="0"/>
              <a:t>）圖譜，以及</a:t>
            </a:r>
            <a:r>
              <a:rPr lang="en-US" altLang="zh-TW" sz="1600" dirty="0"/>
              <a:t>k-</a:t>
            </a:r>
            <a:r>
              <a:rPr lang="en-US" altLang="zh-TW" sz="1600" dirty="0" err="1"/>
              <a:t>mer</a:t>
            </a:r>
            <a:r>
              <a:rPr lang="zh-TW" altLang="en-US" sz="1600" dirty="0"/>
              <a:t>（特定長度的短序列，</a:t>
            </a:r>
            <a:r>
              <a:rPr lang="en-US" altLang="zh-TW" sz="1600" dirty="0"/>
              <a:t>k</a:t>
            </a:r>
            <a:r>
              <a:rPr lang="zh-TW" altLang="en-US" sz="1600" dirty="0"/>
              <a:t>）編碼成單一圖表，其中每個節點代表一個個體實體，邊線表示實體之間的關係。</a:t>
            </a:r>
            <a:r>
              <a:rPr lang="zh-TW" altLang="en-US" sz="1600" b="1" dirty="0">
                <a:solidFill>
                  <a:srgbClr val="FF0000"/>
                </a:solidFill>
              </a:rPr>
              <a:t>與現有的主要專注於學習細胞狀態的方法不同，</a:t>
            </a:r>
            <a:r>
              <a:rPr lang="en-US" altLang="zh-TW" sz="1600" b="1" dirty="0">
                <a:solidFill>
                  <a:srgbClr val="FF0000"/>
                </a:solidFill>
              </a:rPr>
              <a:t>SIMBA</a:t>
            </a:r>
            <a:r>
              <a:rPr lang="zh-TW" altLang="en-US" sz="1600" b="1" dirty="0">
                <a:solidFill>
                  <a:srgbClr val="FF0000"/>
                </a:solidFill>
              </a:rPr>
              <a:t>將細胞和特徵視為同一圖表中的等同節點。</a:t>
            </a:r>
            <a:endParaRPr lang="en-US" sz="1600" b="1" dirty="0">
              <a:solidFill>
                <a:srgbClr val="FF0000"/>
              </a:solidFill>
            </a:endParaRPr>
          </a:p>
        </p:txBody>
      </p:sp>
      <p:cxnSp>
        <p:nvCxnSpPr>
          <p:cNvPr id="12" name="Straight Connector 11">
            <a:extLst>
              <a:ext uri="{FF2B5EF4-FFF2-40B4-BE49-F238E27FC236}">
                <a16:creationId xmlns:a16="http://schemas.microsoft.com/office/drawing/2014/main" id="{71D65ADF-CF69-FC58-4E57-8DEF5C8AD100}"/>
              </a:ext>
            </a:extLst>
          </p:cNvPr>
          <p:cNvCxnSpPr/>
          <p:nvPr/>
        </p:nvCxnSpPr>
        <p:spPr>
          <a:xfrm>
            <a:off x="231422" y="3093156"/>
            <a:ext cx="1172915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BBD174FA-1AD3-5FB7-5C79-126DEC9A4DCD}"/>
              </a:ext>
            </a:extLst>
          </p:cNvPr>
          <p:cNvSpPr>
            <a:spLocks noGrp="1"/>
          </p:cNvSpPr>
          <p:nvPr>
            <p:ph type="title"/>
          </p:nvPr>
        </p:nvSpPr>
        <p:spPr>
          <a:xfrm>
            <a:off x="838200" y="365125"/>
            <a:ext cx="10515600" cy="1325563"/>
          </a:xfrm>
        </p:spPr>
        <p:txBody>
          <a:bodyPr/>
          <a:lstStyle/>
          <a:p>
            <a:r>
              <a:rPr lang="en-US" dirty="0"/>
              <a:t>SIMBA </a:t>
            </a:r>
            <a:r>
              <a:rPr lang="zh-TW" altLang="en-US" dirty="0"/>
              <a:t>和別人不同的地方</a:t>
            </a:r>
            <a:endParaRPr lang="en-US" dirty="0"/>
          </a:p>
        </p:txBody>
      </p:sp>
      <p:sp>
        <p:nvSpPr>
          <p:cNvPr id="2" name="Slide Number Placeholder 1">
            <a:extLst>
              <a:ext uri="{FF2B5EF4-FFF2-40B4-BE49-F238E27FC236}">
                <a16:creationId xmlns:a16="http://schemas.microsoft.com/office/drawing/2014/main" id="{761AF1F8-6454-E3E3-6E95-9F97B336FD14}"/>
              </a:ext>
            </a:extLst>
          </p:cNvPr>
          <p:cNvSpPr>
            <a:spLocks noGrp="1"/>
          </p:cNvSpPr>
          <p:nvPr>
            <p:ph type="sldNum" sz="quarter" idx="12"/>
          </p:nvPr>
        </p:nvSpPr>
        <p:spPr/>
        <p:txBody>
          <a:bodyPr/>
          <a:lstStyle/>
          <a:p>
            <a:fld id="{7DF2C209-72C5-4BD6-83FD-73557975086B}" type="slidenum">
              <a:rPr lang="en-US" smtClean="0"/>
              <a:t>17</a:t>
            </a:fld>
            <a:endParaRPr lang="en-US"/>
          </a:p>
        </p:txBody>
      </p:sp>
    </p:spTree>
    <p:extLst>
      <p:ext uri="{BB962C8B-B14F-4D97-AF65-F5344CB8AC3E}">
        <p14:creationId xmlns:p14="http://schemas.microsoft.com/office/powerpoint/2010/main" val="2302824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EFEDC-9CEC-5A92-8137-6A396F128A3C}"/>
              </a:ext>
            </a:extLst>
          </p:cNvPr>
          <p:cNvSpPr>
            <a:spLocks noGrp="1"/>
          </p:cNvSpPr>
          <p:nvPr>
            <p:ph type="title"/>
          </p:nvPr>
        </p:nvSpPr>
        <p:spPr/>
        <p:txBody>
          <a:bodyPr/>
          <a:lstStyle/>
          <a:p>
            <a:r>
              <a:rPr lang="en-US" altLang="zh-TW" dirty="0"/>
              <a:t>SIMBA</a:t>
            </a:r>
            <a:r>
              <a:rPr lang="zh-TW" altLang="en-US" dirty="0"/>
              <a:t> 的方法</a:t>
            </a:r>
            <a:endParaRPr lang="en-US" dirty="0"/>
          </a:p>
        </p:txBody>
      </p:sp>
      <p:sp>
        <p:nvSpPr>
          <p:cNvPr id="7" name="TextBox 6">
            <a:extLst>
              <a:ext uri="{FF2B5EF4-FFF2-40B4-BE49-F238E27FC236}">
                <a16:creationId xmlns:a16="http://schemas.microsoft.com/office/drawing/2014/main" id="{5066D9A0-4C15-17BD-5DCE-F00312B8A977}"/>
              </a:ext>
            </a:extLst>
          </p:cNvPr>
          <p:cNvSpPr txBox="1"/>
          <p:nvPr/>
        </p:nvSpPr>
        <p:spPr>
          <a:xfrm>
            <a:off x="838200" y="1789206"/>
            <a:ext cx="8003822" cy="2956643"/>
          </a:xfrm>
          <a:prstGeom prst="rect">
            <a:avLst/>
          </a:prstGeom>
          <a:noFill/>
        </p:spPr>
        <p:txBody>
          <a:bodyPr wrap="square">
            <a:spAutoFit/>
          </a:bodyPr>
          <a:lstStyle/>
          <a:p>
            <a:pPr>
              <a:lnSpc>
                <a:spcPct val="150000"/>
              </a:lnSpc>
            </a:pPr>
            <a:r>
              <a:rPr lang="en-US" altLang="zh-TW" dirty="0"/>
              <a:t>SIMBA</a:t>
            </a:r>
            <a:r>
              <a:rPr lang="zh-TW" altLang="en-US" dirty="0"/>
              <a:t>（</a:t>
            </a:r>
            <a:r>
              <a:rPr lang="en-US" altLang="zh-TW" dirty="0" err="1"/>
              <a:t>SIngle-cell</a:t>
            </a:r>
            <a:r>
              <a:rPr lang="en-US" altLang="zh-TW" dirty="0"/>
              <a:t> </a:t>
            </a:r>
            <a:r>
              <a:rPr lang="en-US" altLang="zh-TW" dirty="0" err="1"/>
              <a:t>eMBedding</a:t>
            </a:r>
            <a:r>
              <a:rPr lang="en-US" altLang="zh-TW" dirty="0"/>
              <a:t> Along with features</a:t>
            </a:r>
            <a:r>
              <a:rPr lang="zh-TW" altLang="en-US" dirty="0"/>
              <a:t>）是一種圖嵌入方法，該方法將單細胞及其定義特徵（如基因、染色質可訪問區域和</a:t>
            </a:r>
            <a:r>
              <a:rPr lang="en-US" altLang="zh-TW" dirty="0"/>
              <a:t>DNA</a:t>
            </a:r>
            <a:r>
              <a:rPr lang="zh-TW" altLang="en-US" dirty="0"/>
              <a:t>序列）共同嵌入到一個共享的潛在空間中。</a:t>
            </a:r>
            <a:r>
              <a:rPr lang="en-US" altLang="zh-TW" dirty="0"/>
              <a:t>SIMBA</a:t>
            </a:r>
            <a:r>
              <a:rPr lang="zh-TW" altLang="en-US" dirty="0"/>
              <a:t>明確地學習細胞和特徵的低維度表示，並隱含地實現了無需聚類的標記發現、批次效應消除和多組學整合的可能性。重要的是，</a:t>
            </a:r>
            <a:r>
              <a:rPr lang="en-US" altLang="zh-TW" dirty="0"/>
              <a:t>SIMBA</a:t>
            </a:r>
            <a:r>
              <a:rPr lang="zh-TW" altLang="en-US" dirty="0"/>
              <a:t>引入了幾個關鍵程序，包括</a:t>
            </a:r>
            <a:r>
              <a:rPr lang="en-US" altLang="zh-TW" dirty="0" err="1">
                <a:solidFill>
                  <a:srgbClr val="FF0000"/>
                </a:solidFill>
              </a:rPr>
              <a:t>Softmax</a:t>
            </a:r>
            <a:r>
              <a:rPr lang="zh-TW" altLang="en-US" dirty="0">
                <a:solidFill>
                  <a:srgbClr val="FF0000"/>
                </a:solidFill>
              </a:rPr>
              <a:t>轉換</a:t>
            </a:r>
            <a:r>
              <a:rPr lang="zh-TW" altLang="en-US" dirty="0"/>
              <a:t>、</a:t>
            </a:r>
            <a:r>
              <a:rPr lang="zh-TW" altLang="en-US" dirty="0">
                <a:solidFill>
                  <a:srgbClr val="FF0000"/>
                </a:solidFill>
              </a:rPr>
              <a:t>權重衰減</a:t>
            </a:r>
            <a:r>
              <a:rPr lang="zh-TW" altLang="en-US" dirty="0"/>
              <a:t>以</a:t>
            </a:r>
            <a:r>
              <a:rPr lang="zh-TW" altLang="en-US" dirty="0">
                <a:solidFill>
                  <a:srgbClr val="FF0000"/>
                </a:solidFill>
              </a:rPr>
              <a:t>控制過度擬合</a:t>
            </a:r>
            <a:r>
              <a:rPr lang="zh-TW" altLang="en-US" dirty="0"/>
              <a:t>，以及</a:t>
            </a:r>
            <a:r>
              <a:rPr lang="zh-TW" altLang="en-US" dirty="0">
                <a:solidFill>
                  <a:srgbClr val="FF0000"/>
                </a:solidFill>
              </a:rPr>
              <a:t>實體類型約束</a:t>
            </a:r>
            <a:r>
              <a:rPr lang="zh-TW" altLang="en-US" dirty="0"/>
              <a:t>，以產生可比較的細胞和特徵的共嵌入（共嵌入），並解決單細胞數據中的獨特挑戰。</a:t>
            </a:r>
            <a:endParaRPr lang="en-US" dirty="0"/>
          </a:p>
        </p:txBody>
      </p:sp>
      <p:sp>
        <p:nvSpPr>
          <p:cNvPr id="3" name="Slide Number Placeholder 2">
            <a:extLst>
              <a:ext uri="{FF2B5EF4-FFF2-40B4-BE49-F238E27FC236}">
                <a16:creationId xmlns:a16="http://schemas.microsoft.com/office/drawing/2014/main" id="{5BC670EB-C4F7-55C6-E6E2-9D0BF3ABC212}"/>
              </a:ext>
            </a:extLst>
          </p:cNvPr>
          <p:cNvSpPr>
            <a:spLocks noGrp="1"/>
          </p:cNvSpPr>
          <p:nvPr>
            <p:ph type="sldNum" sz="quarter" idx="12"/>
          </p:nvPr>
        </p:nvSpPr>
        <p:spPr/>
        <p:txBody>
          <a:bodyPr/>
          <a:lstStyle/>
          <a:p>
            <a:fld id="{7DF2C209-72C5-4BD6-83FD-73557975086B}" type="slidenum">
              <a:rPr lang="en-US" smtClean="0"/>
              <a:t>18</a:t>
            </a:fld>
            <a:endParaRPr lang="en-US"/>
          </a:p>
        </p:txBody>
      </p:sp>
    </p:spTree>
    <p:extLst>
      <p:ext uri="{BB962C8B-B14F-4D97-AF65-F5344CB8AC3E}">
        <p14:creationId xmlns:p14="http://schemas.microsoft.com/office/powerpoint/2010/main" val="2467029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4025-D871-FD85-1AA3-739D407E0FF8}"/>
              </a:ext>
            </a:extLst>
          </p:cNvPr>
          <p:cNvSpPr>
            <a:spLocks noGrp="1"/>
          </p:cNvSpPr>
          <p:nvPr>
            <p:ph type="title"/>
          </p:nvPr>
        </p:nvSpPr>
        <p:spPr/>
        <p:txBody>
          <a:bodyPr/>
          <a:lstStyle/>
          <a:p>
            <a:r>
              <a:rPr lang="zh-TW" altLang="en-US" dirty="0"/>
              <a:t>邊緣的添加方式</a:t>
            </a:r>
            <a:endParaRPr lang="en-US" dirty="0"/>
          </a:p>
        </p:txBody>
      </p:sp>
      <p:sp>
        <p:nvSpPr>
          <p:cNvPr id="7" name="TextBox 6">
            <a:extLst>
              <a:ext uri="{FF2B5EF4-FFF2-40B4-BE49-F238E27FC236}">
                <a16:creationId xmlns:a16="http://schemas.microsoft.com/office/drawing/2014/main" id="{ACF93EF7-AFA9-8F3D-D9FF-FD468ECE0D32}"/>
              </a:ext>
            </a:extLst>
          </p:cNvPr>
          <p:cNvSpPr txBox="1"/>
          <p:nvPr/>
        </p:nvSpPr>
        <p:spPr>
          <a:xfrm>
            <a:off x="609600" y="1957696"/>
            <a:ext cx="11334044" cy="3372142"/>
          </a:xfrm>
          <a:prstGeom prst="rect">
            <a:avLst/>
          </a:prstGeom>
          <a:noFill/>
        </p:spPr>
        <p:txBody>
          <a:bodyPr wrap="square">
            <a:spAutoFit/>
          </a:bodyPr>
          <a:lstStyle/>
          <a:p>
            <a:pPr>
              <a:lnSpc>
                <a:spcPct val="150000"/>
              </a:lnSpc>
            </a:pPr>
            <a:r>
              <a:rPr lang="zh-TW" altLang="en-US" dirty="0"/>
              <a:t>在</a:t>
            </a:r>
            <a:r>
              <a:rPr lang="en-US" altLang="zh-TW" dirty="0"/>
              <a:t>SIMBA</a:t>
            </a:r>
            <a:r>
              <a:rPr lang="zh-TW" altLang="en-US" dirty="0"/>
              <a:t>中，邊緣可以以兩種方式添加：</a:t>
            </a:r>
            <a:r>
              <a:rPr lang="en-US" altLang="zh-TW" dirty="0"/>
              <a:t>1</a:t>
            </a:r>
            <a:r>
              <a:rPr lang="zh-TW" altLang="en-US" dirty="0"/>
              <a:t>）實驗測量；</a:t>
            </a:r>
            <a:r>
              <a:rPr lang="en-US" altLang="zh-TW" dirty="0"/>
              <a:t>2</a:t>
            </a:r>
            <a:r>
              <a:rPr lang="zh-TW" altLang="en-US" dirty="0"/>
              <a:t>）計算推斷。對於實驗測量的邊緣，每個細胞特徵邊緣對應一個單細胞測量（例如，細胞中觀察到的基因或染色質可訪問峰的表達值）。例如，如果一個基因在細胞中被表達，則在該基因和細胞之間創建一個邊緣。這個邊緣的權重由基因表達水平決定。</a:t>
            </a:r>
            <a:endParaRPr lang="en-US" altLang="zh-TW" dirty="0"/>
          </a:p>
          <a:p>
            <a:pPr>
              <a:lnSpc>
                <a:spcPct val="150000"/>
              </a:lnSpc>
            </a:pPr>
            <a:endParaRPr lang="en-US" altLang="zh-TW" dirty="0"/>
          </a:p>
          <a:p>
            <a:pPr>
              <a:lnSpc>
                <a:spcPct val="150000"/>
              </a:lnSpc>
            </a:pPr>
            <a:r>
              <a:rPr lang="zh-TW" altLang="en-US" dirty="0"/>
              <a:t>同樣，如果該區域在此細胞中打開，則在細胞和染色質區域之間添加一個邊緣。也允許在不同特徵之間的邊緣，以捕捉和模擬底層的調控機制。例如，染色質區域和</a:t>
            </a:r>
            <a:r>
              <a:rPr lang="en-US" altLang="zh-TW" dirty="0"/>
              <a:t>TF-motif</a:t>
            </a:r>
            <a:r>
              <a:rPr lang="zh-TW" altLang="en-US" dirty="0"/>
              <a:t>（或</a:t>
            </a:r>
            <a:r>
              <a:rPr lang="en-US" altLang="zh-TW" dirty="0"/>
              <a:t>k-</a:t>
            </a:r>
            <a:r>
              <a:rPr lang="en-US" altLang="zh-TW" dirty="0" err="1"/>
              <a:t>mer</a:t>
            </a:r>
            <a:r>
              <a:rPr lang="zh-TW" altLang="en-US" dirty="0"/>
              <a:t>）之間的邊緣捕捉到</a:t>
            </a:r>
            <a:r>
              <a:rPr lang="en-US" altLang="zh-TW" dirty="0"/>
              <a:t>TF</a:t>
            </a:r>
            <a:r>
              <a:rPr lang="zh-TW" altLang="en-US" dirty="0"/>
              <a:t>可能綁定到包含特定</a:t>
            </a:r>
            <a:r>
              <a:rPr lang="en-US" altLang="zh-TW" dirty="0"/>
              <a:t>DNA</a:t>
            </a:r>
            <a:r>
              <a:rPr lang="zh-TW" altLang="en-US" dirty="0"/>
              <a:t>序列的調控區域的概念。對於不能直接測量的邊緣，它們是通過總結相同或不同類型的特徵來計算推斷的。不同批次或模式的細胞之間的每個邊緣都表示細胞功能或結構的相似性。</a:t>
            </a:r>
            <a:endParaRPr lang="en-US" dirty="0"/>
          </a:p>
        </p:txBody>
      </p:sp>
      <p:sp>
        <p:nvSpPr>
          <p:cNvPr id="3" name="Slide Number Placeholder 2">
            <a:extLst>
              <a:ext uri="{FF2B5EF4-FFF2-40B4-BE49-F238E27FC236}">
                <a16:creationId xmlns:a16="http://schemas.microsoft.com/office/drawing/2014/main" id="{278F5BDB-639C-3F14-7EEB-DD81841C31E0}"/>
              </a:ext>
            </a:extLst>
          </p:cNvPr>
          <p:cNvSpPr>
            <a:spLocks noGrp="1"/>
          </p:cNvSpPr>
          <p:nvPr>
            <p:ph type="sldNum" sz="quarter" idx="12"/>
          </p:nvPr>
        </p:nvSpPr>
        <p:spPr/>
        <p:txBody>
          <a:bodyPr/>
          <a:lstStyle/>
          <a:p>
            <a:fld id="{7DF2C209-72C5-4BD6-83FD-73557975086B}" type="slidenum">
              <a:rPr lang="en-US" smtClean="0"/>
              <a:t>19</a:t>
            </a:fld>
            <a:endParaRPr lang="en-US"/>
          </a:p>
        </p:txBody>
      </p:sp>
    </p:spTree>
    <p:extLst>
      <p:ext uri="{BB962C8B-B14F-4D97-AF65-F5344CB8AC3E}">
        <p14:creationId xmlns:p14="http://schemas.microsoft.com/office/powerpoint/2010/main" val="4029463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1899-F799-77DC-0B49-0AE0011BB624}"/>
              </a:ext>
            </a:extLst>
          </p:cNvPr>
          <p:cNvSpPr>
            <a:spLocks noGrp="1"/>
          </p:cNvSpPr>
          <p:nvPr>
            <p:ph type="title"/>
          </p:nvPr>
        </p:nvSpPr>
        <p:spPr/>
        <p:txBody>
          <a:bodyPr/>
          <a:lstStyle/>
          <a:p>
            <a:r>
              <a:rPr lang="zh-TW" altLang="en-US" dirty="0"/>
              <a:t>圖形構建之後</a:t>
            </a:r>
            <a:endParaRPr lang="en-US" dirty="0"/>
          </a:p>
        </p:txBody>
      </p:sp>
      <p:sp>
        <p:nvSpPr>
          <p:cNvPr id="7" name="TextBox 6">
            <a:extLst>
              <a:ext uri="{FF2B5EF4-FFF2-40B4-BE49-F238E27FC236}">
                <a16:creationId xmlns:a16="http://schemas.microsoft.com/office/drawing/2014/main" id="{B787CEB1-6C9F-53C4-44F5-56BAE5BE8E57}"/>
              </a:ext>
            </a:extLst>
          </p:cNvPr>
          <p:cNvSpPr txBox="1"/>
          <p:nvPr/>
        </p:nvSpPr>
        <p:spPr>
          <a:xfrm>
            <a:off x="838200" y="2145515"/>
            <a:ext cx="9414934" cy="1294650"/>
          </a:xfrm>
          <a:prstGeom prst="rect">
            <a:avLst/>
          </a:prstGeom>
          <a:noFill/>
        </p:spPr>
        <p:txBody>
          <a:bodyPr wrap="square">
            <a:spAutoFit/>
          </a:bodyPr>
          <a:lstStyle/>
          <a:p>
            <a:pPr>
              <a:lnSpc>
                <a:spcPct val="150000"/>
              </a:lnSpc>
            </a:pPr>
            <a:r>
              <a:rPr lang="zh-TW" altLang="en-US" dirty="0"/>
              <a:t>一旦輸入圖形被構建，</a:t>
            </a:r>
            <a:r>
              <a:rPr lang="en-US" altLang="zh-TW" dirty="0"/>
              <a:t>SIMBA</a:t>
            </a:r>
            <a:r>
              <a:rPr lang="zh-TW" altLang="en-US" dirty="0"/>
              <a:t>會應用多實體</a:t>
            </a:r>
            <a:r>
              <a:rPr lang="zh-TW" altLang="en-US" b="1" dirty="0">
                <a:solidFill>
                  <a:srgbClr val="FF0000"/>
                </a:solidFill>
              </a:rPr>
              <a:t>圖形嵌入算法</a:t>
            </a:r>
            <a:r>
              <a:rPr lang="zh-TW" altLang="en-US" dirty="0"/>
              <a:t>以及基於</a:t>
            </a:r>
            <a:r>
              <a:rPr lang="en-US" altLang="zh-TW" b="1" dirty="0" err="1">
                <a:solidFill>
                  <a:srgbClr val="FF0000"/>
                </a:solidFill>
              </a:rPr>
              <a:t>Softmax</a:t>
            </a:r>
            <a:r>
              <a:rPr lang="zh-TW" altLang="en-US" b="1" dirty="0">
                <a:solidFill>
                  <a:srgbClr val="FF0000"/>
                </a:solidFill>
              </a:rPr>
              <a:t>的轉換</a:t>
            </a:r>
            <a:r>
              <a:rPr lang="zh-TW" altLang="en-US" dirty="0"/>
              <a:t>來將節點</a:t>
            </a:r>
            <a:r>
              <a:rPr lang="en-US" altLang="zh-TW" dirty="0"/>
              <a:t>/</a:t>
            </a:r>
            <a:r>
              <a:rPr lang="zh-TW" altLang="en-US" dirty="0"/>
              <a:t>實體嵌入到一個共享的低維空間中，其中細胞和特徵可以進行比較並根據它們的距離進行分析。圖形構建本質上具有靈活性，使</a:t>
            </a:r>
            <a:r>
              <a:rPr lang="en-US" altLang="zh-TW" dirty="0"/>
              <a:t>SIMBA</a:t>
            </a:r>
            <a:r>
              <a:rPr lang="zh-TW" altLang="en-US" dirty="0"/>
              <a:t>能夠被應用到各種單細胞任務中</a:t>
            </a:r>
            <a:endParaRPr lang="en-US" dirty="0"/>
          </a:p>
        </p:txBody>
      </p:sp>
      <p:sp>
        <p:nvSpPr>
          <p:cNvPr id="8" name="TextBox 7">
            <a:extLst>
              <a:ext uri="{FF2B5EF4-FFF2-40B4-BE49-F238E27FC236}">
                <a16:creationId xmlns:a16="http://schemas.microsoft.com/office/drawing/2014/main" id="{AA24EC56-998F-792C-8DD1-54551CF07321}"/>
              </a:ext>
            </a:extLst>
          </p:cNvPr>
          <p:cNvSpPr txBox="1"/>
          <p:nvPr/>
        </p:nvSpPr>
        <p:spPr>
          <a:xfrm>
            <a:off x="6750756" y="1690688"/>
            <a:ext cx="1366080" cy="369332"/>
          </a:xfrm>
          <a:prstGeom prst="rect">
            <a:avLst/>
          </a:prstGeom>
          <a:noFill/>
        </p:spPr>
        <p:txBody>
          <a:bodyPr wrap="none" rtlCol="0">
            <a:spAutoFit/>
          </a:bodyPr>
          <a:lstStyle/>
          <a:p>
            <a:r>
              <a:rPr lang="en-US" altLang="zh-TW" dirty="0"/>
              <a:t>???????????</a:t>
            </a:r>
            <a:endParaRPr lang="en-US" dirty="0"/>
          </a:p>
        </p:txBody>
      </p:sp>
      <p:sp>
        <p:nvSpPr>
          <p:cNvPr id="3" name="Slide Number Placeholder 2">
            <a:extLst>
              <a:ext uri="{FF2B5EF4-FFF2-40B4-BE49-F238E27FC236}">
                <a16:creationId xmlns:a16="http://schemas.microsoft.com/office/drawing/2014/main" id="{D46FD6F7-05BC-5720-09CB-779093AFECD4}"/>
              </a:ext>
            </a:extLst>
          </p:cNvPr>
          <p:cNvSpPr>
            <a:spLocks noGrp="1"/>
          </p:cNvSpPr>
          <p:nvPr>
            <p:ph type="sldNum" sz="quarter" idx="12"/>
          </p:nvPr>
        </p:nvSpPr>
        <p:spPr/>
        <p:txBody>
          <a:bodyPr/>
          <a:lstStyle/>
          <a:p>
            <a:fld id="{7DF2C209-72C5-4BD6-83FD-73557975086B}" type="slidenum">
              <a:rPr lang="en-US" smtClean="0"/>
              <a:t>20</a:t>
            </a:fld>
            <a:endParaRPr lang="en-US"/>
          </a:p>
        </p:txBody>
      </p:sp>
    </p:spTree>
    <p:extLst>
      <p:ext uri="{BB962C8B-B14F-4D97-AF65-F5344CB8AC3E}">
        <p14:creationId xmlns:p14="http://schemas.microsoft.com/office/powerpoint/2010/main" val="2030390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5EAE-B826-09DA-ECD6-A3552BEE0B83}"/>
              </a:ext>
            </a:extLst>
          </p:cNvPr>
          <p:cNvSpPr>
            <a:spLocks noGrp="1"/>
          </p:cNvSpPr>
          <p:nvPr>
            <p:ph type="title"/>
          </p:nvPr>
        </p:nvSpPr>
        <p:spPr/>
        <p:txBody>
          <a:bodyPr/>
          <a:lstStyle/>
          <a:p>
            <a:r>
              <a:rPr lang="zh-TW" altLang="en-US" dirty="0"/>
              <a:t>幾個重要問題</a:t>
            </a:r>
            <a:endParaRPr lang="en-US" dirty="0"/>
          </a:p>
        </p:txBody>
      </p:sp>
      <p:sp>
        <p:nvSpPr>
          <p:cNvPr id="3" name="Content Placeholder 2">
            <a:extLst>
              <a:ext uri="{FF2B5EF4-FFF2-40B4-BE49-F238E27FC236}">
                <a16:creationId xmlns:a16="http://schemas.microsoft.com/office/drawing/2014/main" id="{61A9B29E-B4DC-0A61-2DBD-13C7029F6C8C}"/>
              </a:ext>
            </a:extLst>
          </p:cNvPr>
          <p:cNvSpPr>
            <a:spLocks noGrp="1"/>
          </p:cNvSpPr>
          <p:nvPr>
            <p:ph idx="1"/>
          </p:nvPr>
        </p:nvSpPr>
        <p:spPr/>
        <p:txBody>
          <a:bodyPr/>
          <a:lstStyle/>
          <a:p>
            <a:pPr>
              <a:lnSpc>
                <a:spcPct val="150000"/>
              </a:lnSpc>
            </a:pPr>
            <a:r>
              <a:rPr lang="en-US" dirty="0" err="1"/>
              <a:t>Softmax</a:t>
            </a:r>
            <a:r>
              <a:rPr lang="zh-TW" altLang="en-US" dirty="0"/>
              <a:t> 轉換在 </a:t>
            </a:r>
            <a:r>
              <a:rPr lang="en-US" altLang="zh-TW" dirty="0"/>
              <a:t>embedding </a:t>
            </a:r>
            <a:r>
              <a:rPr lang="zh-TW" altLang="en-US" dirty="0"/>
              <a:t>前後都有嗎？</a:t>
            </a:r>
            <a:endParaRPr lang="en-US" altLang="zh-TW" dirty="0"/>
          </a:p>
          <a:p>
            <a:pPr>
              <a:lnSpc>
                <a:spcPct val="150000"/>
              </a:lnSpc>
            </a:pPr>
            <a:r>
              <a:rPr lang="zh-TW" altLang="en-US" b="0" i="0" dirty="0">
                <a:solidFill>
                  <a:srgbClr val="404040"/>
                </a:solidFill>
                <a:effectLst/>
                <a:latin typeface="Lato" panose="020F0502020204030203" pitchFamily="34" charset="0"/>
              </a:rPr>
              <a:t>實體類型約束是什麼？</a:t>
            </a:r>
            <a:endParaRPr lang="en-US" altLang="zh-TW" dirty="0">
              <a:solidFill>
                <a:srgbClr val="404040"/>
              </a:solidFill>
              <a:latin typeface="Lato" panose="020F0502020204030203" pitchFamily="34" charset="0"/>
            </a:endParaRPr>
          </a:p>
          <a:p>
            <a:pPr>
              <a:lnSpc>
                <a:spcPct val="150000"/>
              </a:lnSpc>
            </a:pPr>
            <a:r>
              <a:rPr lang="zh-TW" altLang="en-US" dirty="0">
                <a:solidFill>
                  <a:srgbClr val="404040"/>
                </a:solidFill>
                <a:latin typeface="Lato" panose="020F0502020204030203" pitchFamily="34" charset="0"/>
              </a:rPr>
              <a:t>為什麼要用 </a:t>
            </a:r>
            <a:r>
              <a:rPr lang="en-US" altLang="zh-TW" dirty="0">
                <a:solidFill>
                  <a:srgbClr val="404040"/>
                </a:solidFill>
                <a:latin typeface="Lato" panose="020F0502020204030203" pitchFamily="34" charset="0"/>
              </a:rPr>
              <a:t>k-</a:t>
            </a:r>
            <a:r>
              <a:rPr lang="en-US" altLang="zh-TW" dirty="0" err="1">
                <a:solidFill>
                  <a:srgbClr val="404040"/>
                </a:solidFill>
                <a:latin typeface="Lato" panose="020F0502020204030203" pitchFamily="34" charset="0"/>
              </a:rPr>
              <a:t>mer</a:t>
            </a:r>
            <a:r>
              <a:rPr lang="en-US" altLang="zh-TW" dirty="0">
                <a:solidFill>
                  <a:srgbClr val="404040"/>
                </a:solidFill>
                <a:latin typeface="Lato" panose="020F0502020204030203" pitchFamily="34" charset="0"/>
              </a:rPr>
              <a:t>?</a:t>
            </a:r>
          </a:p>
          <a:p>
            <a:pPr lvl="1">
              <a:lnSpc>
                <a:spcPct val="150000"/>
              </a:lnSpc>
            </a:pPr>
            <a:r>
              <a:rPr lang="en-US" altLang="zh-TW" dirty="0">
                <a:solidFill>
                  <a:srgbClr val="404040"/>
                </a:solidFill>
                <a:latin typeface="Lato" panose="020F0502020204030203" pitchFamily="34" charset="0"/>
              </a:rPr>
              <a:t>Optional </a:t>
            </a:r>
            <a:endParaRPr lang="en-US" dirty="0"/>
          </a:p>
        </p:txBody>
      </p:sp>
      <p:sp>
        <p:nvSpPr>
          <p:cNvPr id="4" name="Slide Number Placeholder 3">
            <a:extLst>
              <a:ext uri="{FF2B5EF4-FFF2-40B4-BE49-F238E27FC236}">
                <a16:creationId xmlns:a16="http://schemas.microsoft.com/office/drawing/2014/main" id="{5F162740-CA4A-6FD2-071A-0571A0D653B6}"/>
              </a:ext>
            </a:extLst>
          </p:cNvPr>
          <p:cNvSpPr>
            <a:spLocks noGrp="1"/>
          </p:cNvSpPr>
          <p:nvPr>
            <p:ph type="sldNum" sz="quarter" idx="12"/>
          </p:nvPr>
        </p:nvSpPr>
        <p:spPr/>
        <p:txBody>
          <a:bodyPr/>
          <a:lstStyle/>
          <a:p>
            <a:fld id="{7DF2C209-72C5-4BD6-83FD-73557975086B}" type="slidenum">
              <a:rPr lang="en-US" smtClean="0"/>
              <a:t>21</a:t>
            </a:fld>
            <a:endParaRPr lang="en-US"/>
          </a:p>
        </p:txBody>
      </p:sp>
    </p:spTree>
    <p:extLst>
      <p:ext uri="{BB962C8B-B14F-4D97-AF65-F5344CB8AC3E}">
        <p14:creationId xmlns:p14="http://schemas.microsoft.com/office/powerpoint/2010/main" val="3518520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3981763" y="2593344"/>
            <a:ext cx="4228474" cy="1671311"/>
          </a:xfrm>
        </p:spPr>
        <p:txBody>
          <a:bodyPr>
            <a:normAutofit/>
          </a:bodyPr>
          <a:lstStyle/>
          <a:p>
            <a:pPr algn="ctr"/>
            <a:r>
              <a:rPr lang="en-US" sz="6000" dirty="0"/>
              <a:t>Results</a:t>
            </a:r>
          </a:p>
        </p:txBody>
      </p:sp>
      <p:sp>
        <p:nvSpPr>
          <p:cNvPr id="3" name="Slide Number Placeholder 2">
            <a:extLst>
              <a:ext uri="{FF2B5EF4-FFF2-40B4-BE49-F238E27FC236}">
                <a16:creationId xmlns:a16="http://schemas.microsoft.com/office/drawing/2014/main" id="{AE8C8704-AC52-46C0-17FB-BCCED6E96405}"/>
              </a:ext>
            </a:extLst>
          </p:cNvPr>
          <p:cNvSpPr>
            <a:spLocks noGrp="1"/>
          </p:cNvSpPr>
          <p:nvPr>
            <p:ph type="sldNum" sz="quarter" idx="12"/>
          </p:nvPr>
        </p:nvSpPr>
        <p:spPr/>
        <p:txBody>
          <a:bodyPr/>
          <a:lstStyle/>
          <a:p>
            <a:fld id="{7DF2C209-72C5-4BD6-83FD-73557975086B}" type="slidenum">
              <a:rPr lang="en-US" smtClean="0"/>
              <a:t>22</a:t>
            </a:fld>
            <a:endParaRPr lang="en-US"/>
          </a:p>
        </p:txBody>
      </p:sp>
    </p:spTree>
    <p:extLst>
      <p:ext uri="{BB962C8B-B14F-4D97-AF65-F5344CB8AC3E}">
        <p14:creationId xmlns:p14="http://schemas.microsoft.com/office/powerpoint/2010/main" val="47228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71806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59425" y="2527300"/>
            <a:ext cx="2764364"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
            </a:r>
          </a:p>
          <a:p>
            <a:pPr algn="ctr"/>
            <a:r>
              <a:rPr lang="en-US" sz="2800" dirty="0">
                <a:solidFill>
                  <a:schemeClr val="tx1"/>
                </a:solidFill>
              </a:rPr>
              <a:t>RNA-seq </a:t>
            </a:r>
          </a:p>
          <a:p>
            <a:pPr algn="ctr"/>
            <a:r>
              <a:rPr lang="en-US" sz="2800" dirty="0">
                <a:solidFill>
                  <a:schemeClr val="tx1"/>
                </a:solidFill>
              </a:rPr>
              <a:t>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7646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10x Genomics PBMCs</a:t>
            </a:r>
          </a:p>
        </p:txBody>
      </p:sp>
      <p:pic>
        <p:nvPicPr>
          <p:cNvPr id="10" name="Picture 9">
            <a:extLst>
              <a:ext uri="{FF2B5EF4-FFF2-40B4-BE49-F238E27FC236}">
                <a16:creationId xmlns:a16="http://schemas.microsoft.com/office/drawing/2014/main" id="{673885F3-3B48-5FD6-AFA6-17E3153C2BA7}"/>
              </a:ext>
            </a:extLst>
          </p:cNvPr>
          <p:cNvPicPr>
            <a:picLocks noChangeAspect="1"/>
          </p:cNvPicPr>
          <p:nvPr/>
        </p:nvPicPr>
        <p:blipFill rotWithShape="1">
          <a:blip r:embed="rId3"/>
          <a:srcRect t="24058"/>
          <a:stretch/>
        </p:blipFill>
        <p:spPr>
          <a:xfrm>
            <a:off x="2843616" y="204241"/>
            <a:ext cx="9271923" cy="6537834"/>
          </a:xfrm>
          <a:prstGeom prst="rect">
            <a:avLst/>
          </a:prstGeom>
        </p:spPr>
      </p:pic>
      <p:sp>
        <p:nvSpPr>
          <p:cNvPr id="2" name="Slide Number Placeholder 1">
            <a:extLst>
              <a:ext uri="{FF2B5EF4-FFF2-40B4-BE49-F238E27FC236}">
                <a16:creationId xmlns:a16="http://schemas.microsoft.com/office/drawing/2014/main" id="{F97F1DCC-1919-3CBC-AA0E-81A7A4BD8BD9}"/>
              </a:ext>
            </a:extLst>
          </p:cNvPr>
          <p:cNvSpPr>
            <a:spLocks noGrp="1"/>
          </p:cNvSpPr>
          <p:nvPr>
            <p:ph type="sldNum" sz="quarter" idx="12"/>
          </p:nvPr>
        </p:nvSpPr>
        <p:spPr/>
        <p:txBody>
          <a:bodyPr/>
          <a:lstStyle/>
          <a:p>
            <a:fld id="{7DF2C209-72C5-4BD6-83FD-73557975086B}" type="slidenum">
              <a:rPr lang="en-US" smtClean="0"/>
              <a:t>23</a:t>
            </a:fld>
            <a:endParaRPr lang="en-US"/>
          </a:p>
        </p:txBody>
      </p:sp>
    </p:spTree>
    <p:extLst>
      <p:ext uri="{BB962C8B-B14F-4D97-AF65-F5344CB8AC3E}">
        <p14:creationId xmlns:p14="http://schemas.microsoft.com/office/powerpoint/2010/main" val="1302511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71806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59425" y="2527300"/>
            <a:ext cx="2764364"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
            </a:r>
          </a:p>
          <a:p>
            <a:pPr algn="ctr"/>
            <a:r>
              <a:rPr lang="en-US" sz="2800" dirty="0">
                <a:solidFill>
                  <a:schemeClr val="tx1"/>
                </a:solidFill>
              </a:rPr>
              <a:t>RNA-seq </a:t>
            </a:r>
          </a:p>
          <a:p>
            <a:pPr algn="ctr"/>
            <a:r>
              <a:rPr lang="en-US" sz="2800" dirty="0">
                <a:solidFill>
                  <a:schemeClr val="tx1"/>
                </a:solidFill>
              </a:rPr>
              <a:t>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7646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10x Genomics PBMCs</a:t>
            </a:r>
          </a:p>
        </p:txBody>
      </p:sp>
      <p:pic>
        <p:nvPicPr>
          <p:cNvPr id="10" name="Picture 9">
            <a:extLst>
              <a:ext uri="{FF2B5EF4-FFF2-40B4-BE49-F238E27FC236}">
                <a16:creationId xmlns:a16="http://schemas.microsoft.com/office/drawing/2014/main" id="{673885F3-3B48-5FD6-AFA6-17E3153C2BA7}"/>
              </a:ext>
            </a:extLst>
          </p:cNvPr>
          <p:cNvPicPr>
            <a:picLocks noChangeAspect="1"/>
          </p:cNvPicPr>
          <p:nvPr/>
        </p:nvPicPr>
        <p:blipFill rotWithShape="1">
          <a:blip r:embed="rId3"/>
          <a:srcRect t="24058"/>
          <a:stretch/>
        </p:blipFill>
        <p:spPr>
          <a:xfrm>
            <a:off x="2843616" y="204241"/>
            <a:ext cx="9271923" cy="6537834"/>
          </a:xfrm>
          <a:prstGeom prst="rect">
            <a:avLst/>
          </a:prstGeom>
        </p:spPr>
      </p:pic>
      <p:sp>
        <p:nvSpPr>
          <p:cNvPr id="2" name="Slide Number Placeholder 1">
            <a:extLst>
              <a:ext uri="{FF2B5EF4-FFF2-40B4-BE49-F238E27FC236}">
                <a16:creationId xmlns:a16="http://schemas.microsoft.com/office/drawing/2014/main" id="{392C61A4-0AE6-4EC3-EC2E-583E75CCF7D0}"/>
              </a:ext>
            </a:extLst>
          </p:cNvPr>
          <p:cNvSpPr>
            <a:spLocks noGrp="1"/>
          </p:cNvSpPr>
          <p:nvPr>
            <p:ph type="sldNum" sz="quarter" idx="12"/>
          </p:nvPr>
        </p:nvSpPr>
        <p:spPr/>
        <p:txBody>
          <a:bodyPr/>
          <a:lstStyle/>
          <a:p>
            <a:fld id="{7DF2C209-72C5-4BD6-83FD-73557975086B}" type="slidenum">
              <a:rPr lang="en-US" smtClean="0"/>
              <a:t>24</a:t>
            </a:fld>
            <a:endParaRPr lang="en-US"/>
          </a:p>
        </p:txBody>
      </p:sp>
    </p:spTree>
    <p:extLst>
      <p:ext uri="{BB962C8B-B14F-4D97-AF65-F5344CB8AC3E}">
        <p14:creationId xmlns:p14="http://schemas.microsoft.com/office/powerpoint/2010/main" val="470634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0"/>
            <a:ext cx="2236303"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334664" y="2317750"/>
            <a:ext cx="1566976"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ATAC-seq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202648" y="63590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p>
          <a:p>
            <a:pPr algn="ctr"/>
            <a:r>
              <a:rPr lang="en-US" sz="1400" dirty="0">
                <a:solidFill>
                  <a:schemeClr val="tx1"/>
                </a:solidFill>
              </a:rPr>
              <a:t>human hematopoiesis</a:t>
            </a:r>
          </a:p>
        </p:txBody>
      </p:sp>
      <p:pic>
        <p:nvPicPr>
          <p:cNvPr id="2" name="Picture 1">
            <a:extLst>
              <a:ext uri="{FF2B5EF4-FFF2-40B4-BE49-F238E27FC236}">
                <a16:creationId xmlns:a16="http://schemas.microsoft.com/office/drawing/2014/main" id="{EBEA3510-1569-4598-F9FF-A2FB6C08BB5C}"/>
              </a:ext>
            </a:extLst>
          </p:cNvPr>
          <p:cNvPicPr>
            <a:picLocks noChangeAspect="1"/>
          </p:cNvPicPr>
          <p:nvPr/>
        </p:nvPicPr>
        <p:blipFill rotWithShape="1">
          <a:blip r:embed="rId3"/>
          <a:srcRect t="22894"/>
          <a:stretch/>
        </p:blipFill>
        <p:spPr>
          <a:xfrm>
            <a:off x="2470052" y="61383"/>
            <a:ext cx="9662681" cy="6735233"/>
          </a:xfrm>
          <a:prstGeom prst="rect">
            <a:avLst/>
          </a:prstGeom>
        </p:spPr>
      </p:pic>
      <p:sp>
        <p:nvSpPr>
          <p:cNvPr id="3" name="Slide Number Placeholder 2">
            <a:extLst>
              <a:ext uri="{FF2B5EF4-FFF2-40B4-BE49-F238E27FC236}">
                <a16:creationId xmlns:a16="http://schemas.microsoft.com/office/drawing/2014/main" id="{D8943E7D-CDC2-D30B-3BB0-82352C2EE766}"/>
              </a:ext>
            </a:extLst>
          </p:cNvPr>
          <p:cNvSpPr>
            <a:spLocks noGrp="1"/>
          </p:cNvSpPr>
          <p:nvPr>
            <p:ph type="sldNum" sz="quarter" idx="12"/>
          </p:nvPr>
        </p:nvSpPr>
        <p:spPr/>
        <p:txBody>
          <a:bodyPr/>
          <a:lstStyle/>
          <a:p>
            <a:fld id="{7DF2C209-72C5-4BD6-83FD-73557975086B}" type="slidenum">
              <a:rPr lang="en-US" smtClean="0"/>
              <a:t>25</a:t>
            </a:fld>
            <a:endParaRPr lang="en-US"/>
          </a:p>
        </p:txBody>
      </p:sp>
    </p:spTree>
    <p:extLst>
      <p:ext uri="{BB962C8B-B14F-4D97-AF65-F5344CB8AC3E}">
        <p14:creationId xmlns:p14="http://schemas.microsoft.com/office/powerpoint/2010/main" val="4155959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5BC295-0C03-7A0F-6AA1-1913CA668CA6}"/>
              </a:ext>
            </a:extLst>
          </p:cNvPr>
          <p:cNvSpPr/>
          <p:nvPr/>
        </p:nvSpPr>
        <p:spPr>
          <a:xfrm>
            <a:off x="59267" y="6438900"/>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human hematopoiesis</a:t>
            </a:r>
          </a:p>
        </p:txBody>
      </p:sp>
      <p:pic>
        <p:nvPicPr>
          <p:cNvPr id="3" name="Picture 2">
            <a:extLst>
              <a:ext uri="{FF2B5EF4-FFF2-40B4-BE49-F238E27FC236}">
                <a16:creationId xmlns:a16="http://schemas.microsoft.com/office/drawing/2014/main" id="{5CD0C0DE-B4DF-6976-5F53-07671A27A735}"/>
              </a:ext>
            </a:extLst>
          </p:cNvPr>
          <p:cNvPicPr>
            <a:picLocks noChangeAspect="1"/>
          </p:cNvPicPr>
          <p:nvPr/>
        </p:nvPicPr>
        <p:blipFill rotWithShape="1">
          <a:blip r:embed="rId3"/>
          <a:srcRect l="46693" b="76905"/>
          <a:stretch/>
        </p:blipFill>
        <p:spPr>
          <a:xfrm>
            <a:off x="1380067" y="1936446"/>
            <a:ext cx="8945179" cy="3503377"/>
          </a:xfrm>
          <a:prstGeom prst="rect">
            <a:avLst/>
          </a:prstGeom>
        </p:spPr>
      </p:pic>
      <p:sp>
        <p:nvSpPr>
          <p:cNvPr id="5" name="Title 1">
            <a:extLst>
              <a:ext uri="{FF2B5EF4-FFF2-40B4-BE49-F238E27FC236}">
                <a16:creationId xmlns:a16="http://schemas.microsoft.com/office/drawing/2014/main" id="{FFC2D1CF-306F-B47A-5E47-71859CF7A0FF}"/>
              </a:ext>
            </a:extLst>
          </p:cNvPr>
          <p:cNvSpPr>
            <a:spLocks noGrp="1"/>
          </p:cNvSpPr>
          <p:nvPr>
            <p:ph type="title"/>
          </p:nvPr>
        </p:nvSpPr>
        <p:spPr>
          <a:xfrm>
            <a:off x="334664" y="252412"/>
            <a:ext cx="9451019" cy="1325563"/>
          </a:xfrm>
        </p:spPr>
        <p:txBody>
          <a:bodyPr>
            <a:normAutofit/>
          </a:bodyPr>
          <a:lstStyle/>
          <a:p>
            <a:r>
              <a:rPr lang="en-US" sz="3200" b="0" i="0" dirty="0">
                <a:solidFill>
                  <a:srgbClr val="222222"/>
                </a:solidFill>
                <a:effectLst/>
                <a:latin typeface="Harding"/>
              </a:rPr>
              <a:t>SIMBA </a:t>
            </a:r>
            <a:r>
              <a:rPr lang="en-US" altLang="zh-TW" sz="3200" b="0" i="0" dirty="0">
                <a:solidFill>
                  <a:srgbClr val="222222"/>
                </a:solidFill>
                <a:effectLst/>
                <a:latin typeface="Harding"/>
              </a:rPr>
              <a:t>Indication</a:t>
            </a:r>
            <a:r>
              <a:rPr lang="zh-TW" altLang="en-US" sz="3200" b="0" i="0" dirty="0">
                <a:solidFill>
                  <a:srgbClr val="222222"/>
                </a:solidFill>
                <a:effectLst/>
                <a:latin typeface="Harding"/>
              </a:rPr>
              <a:t>（</a:t>
            </a:r>
            <a:r>
              <a:rPr lang="en-US" altLang="zh-TW" sz="3200" b="0" i="0" dirty="0">
                <a:solidFill>
                  <a:srgbClr val="222222"/>
                </a:solidFill>
                <a:effectLst/>
                <a:latin typeface="Harding"/>
              </a:rPr>
              <a:t>Max Value</a:t>
            </a:r>
            <a:r>
              <a:rPr lang="zh-TW" altLang="en-US" sz="3200" dirty="0">
                <a:solidFill>
                  <a:srgbClr val="222222"/>
                </a:solidFill>
                <a:latin typeface="Harding"/>
              </a:rPr>
              <a:t> </a:t>
            </a:r>
            <a:r>
              <a:rPr lang="en-US" altLang="zh-TW" sz="3200" dirty="0">
                <a:solidFill>
                  <a:srgbClr val="222222"/>
                </a:solidFill>
                <a:latin typeface="Harding"/>
              </a:rPr>
              <a:t>&amp;</a:t>
            </a:r>
            <a:r>
              <a:rPr lang="zh-TW" altLang="en-US" sz="3200" dirty="0">
                <a:solidFill>
                  <a:srgbClr val="222222"/>
                </a:solidFill>
                <a:latin typeface="Harding"/>
              </a:rPr>
              <a:t> </a:t>
            </a:r>
            <a:r>
              <a:rPr lang="en-US" sz="3200" b="0" i="0" dirty="0">
                <a:solidFill>
                  <a:srgbClr val="222222"/>
                </a:solidFill>
                <a:effectLst/>
                <a:latin typeface="Harding"/>
              </a:rPr>
              <a:t>Gini</a:t>
            </a:r>
            <a:r>
              <a:rPr lang="zh-TW" altLang="en-US" sz="3200" dirty="0">
                <a:solidFill>
                  <a:srgbClr val="222222"/>
                </a:solidFill>
                <a:latin typeface="Harding"/>
              </a:rPr>
              <a:t> </a:t>
            </a:r>
            <a:r>
              <a:rPr lang="en-US" altLang="zh-TW" sz="3200" dirty="0">
                <a:solidFill>
                  <a:srgbClr val="222222"/>
                </a:solidFill>
                <a:latin typeface="Harding"/>
              </a:rPr>
              <a:t>Index</a:t>
            </a:r>
            <a:r>
              <a:rPr lang="zh-TW" altLang="en-US" sz="3200" dirty="0">
                <a:solidFill>
                  <a:srgbClr val="222222"/>
                </a:solidFill>
                <a:latin typeface="Harding"/>
              </a:rPr>
              <a:t> </a:t>
            </a:r>
            <a:r>
              <a:rPr lang="en-US" altLang="zh-TW" sz="3200" dirty="0">
                <a:solidFill>
                  <a:srgbClr val="222222"/>
                </a:solidFill>
                <a:latin typeface="Harding"/>
              </a:rPr>
              <a:t>Score</a:t>
            </a:r>
            <a:r>
              <a:rPr lang="zh-TW" altLang="en-US" sz="3200" b="0" i="0" dirty="0">
                <a:solidFill>
                  <a:srgbClr val="222222"/>
                </a:solidFill>
                <a:effectLst/>
                <a:latin typeface="Harding"/>
              </a:rPr>
              <a:t>）</a:t>
            </a:r>
            <a:endParaRPr lang="en-US" sz="3200" dirty="0"/>
          </a:p>
        </p:txBody>
      </p:sp>
      <p:sp>
        <p:nvSpPr>
          <p:cNvPr id="2" name="Slide Number Placeholder 1">
            <a:extLst>
              <a:ext uri="{FF2B5EF4-FFF2-40B4-BE49-F238E27FC236}">
                <a16:creationId xmlns:a16="http://schemas.microsoft.com/office/drawing/2014/main" id="{F60A5068-EF33-82FF-8E25-638639F69FF0}"/>
              </a:ext>
            </a:extLst>
          </p:cNvPr>
          <p:cNvSpPr>
            <a:spLocks noGrp="1"/>
          </p:cNvSpPr>
          <p:nvPr>
            <p:ph type="sldNum" sz="quarter" idx="12"/>
          </p:nvPr>
        </p:nvSpPr>
        <p:spPr/>
        <p:txBody>
          <a:bodyPr/>
          <a:lstStyle/>
          <a:p>
            <a:fld id="{7DF2C209-72C5-4BD6-83FD-73557975086B}" type="slidenum">
              <a:rPr lang="en-US" smtClean="0"/>
              <a:t>26</a:t>
            </a:fld>
            <a:endParaRPr lang="en-US"/>
          </a:p>
        </p:txBody>
      </p:sp>
    </p:spTree>
    <p:extLst>
      <p:ext uri="{BB962C8B-B14F-4D97-AF65-F5344CB8AC3E}">
        <p14:creationId xmlns:p14="http://schemas.microsoft.com/office/powerpoint/2010/main" val="956216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3242733"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9957" y="2027678"/>
            <a:ext cx="2764364"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 Multimodal 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13272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SHARE-seq hair follicle</a:t>
            </a:r>
          </a:p>
        </p:txBody>
      </p:sp>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a:blip r:embed="rId3"/>
          <a:stretch>
            <a:fillRect/>
          </a:stretch>
        </p:blipFill>
        <p:spPr>
          <a:xfrm>
            <a:off x="3851202" y="226975"/>
            <a:ext cx="7904325" cy="6366934"/>
          </a:xfrm>
          <a:prstGeom prst="rect">
            <a:avLst/>
          </a:prstGeom>
        </p:spPr>
      </p:pic>
      <p:sp>
        <p:nvSpPr>
          <p:cNvPr id="2" name="Slide Number Placeholder 1">
            <a:extLst>
              <a:ext uri="{FF2B5EF4-FFF2-40B4-BE49-F238E27FC236}">
                <a16:creationId xmlns:a16="http://schemas.microsoft.com/office/drawing/2014/main" id="{6F26B640-20BC-5FA4-2498-2E2D8B520D83}"/>
              </a:ext>
            </a:extLst>
          </p:cNvPr>
          <p:cNvSpPr>
            <a:spLocks noGrp="1"/>
          </p:cNvSpPr>
          <p:nvPr>
            <p:ph type="sldNum" sz="quarter" idx="12"/>
          </p:nvPr>
        </p:nvSpPr>
        <p:spPr/>
        <p:txBody>
          <a:bodyPr/>
          <a:lstStyle/>
          <a:p>
            <a:fld id="{7DF2C209-72C5-4BD6-83FD-73557975086B}" type="slidenum">
              <a:rPr lang="en-US" smtClean="0"/>
              <a:t>27</a:t>
            </a:fld>
            <a:endParaRPr lang="en-US"/>
          </a:p>
        </p:txBody>
      </p:sp>
    </p:spTree>
    <p:extLst>
      <p:ext uri="{BB962C8B-B14F-4D97-AF65-F5344CB8AC3E}">
        <p14:creationId xmlns:p14="http://schemas.microsoft.com/office/powerpoint/2010/main" val="865402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rotWithShape="1">
          <a:blip r:embed="rId3"/>
          <a:srcRect t="29481" r="56176" b="31944"/>
          <a:stretch/>
        </p:blipFill>
        <p:spPr>
          <a:xfrm>
            <a:off x="305581" y="132339"/>
            <a:ext cx="8410465" cy="5963157"/>
          </a:xfrm>
          <a:prstGeom prst="rect">
            <a:avLst/>
          </a:prstGeom>
        </p:spPr>
      </p:pic>
      <p:pic>
        <p:nvPicPr>
          <p:cNvPr id="2" name="Picture 1">
            <a:extLst>
              <a:ext uri="{FF2B5EF4-FFF2-40B4-BE49-F238E27FC236}">
                <a16:creationId xmlns:a16="http://schemas.microsoft.com/office/drawing/2014/main" id="{19BE3484-0A69-1010-B9B4-1638B774B7C1}"/>
              </a:ext>
            </a:extLst>
          </p:cNvPr>
          <p:cNvPicPr>
            <a:picLocks noChangeAspect="1"/>
          </p:cNvPicPr>
          <p:nvPr/>
        </p:nvPicPr>
        <p:blipFill>
          <a:blip r:embed="rId3"/>
          <a:stretch>
            <a:fillRect/>
          </a:stretch>
        </p:blipFill>
        <p:spPr>
          <a:xfrm>
            <a:off x="9174028" y="4278672"/>
            <a:ext cx="2995912" cy="2413207"/>
          </a:xfrm>
          <a:prstGeom prst="rect">
            <a:avLst/>
          </a:prstGeom>
        </p:spPr>
      </p:pic>
      <p:sp>
        <p:nvSpPr>
          <p:cNvPr id="3" name="Speech Bubble: Rectangle 2">
            <a:extLst>
              <a:ext uri="{FF2B5EF4-FFF2-40B4-BE49-F238E27FC236}">
                <a16:creationId xmlns:a16="http://schemas.microsoft.com/office/drawing/2014/main" id="{9C2D448D-EF72-2A53-FBDD-DD1C059C3EC5}"/>
              </a:ext>
            </a:extLst>
          </p:cNvPr>
          <p:cNvSpPr/>
          <p:nvPr/>
        </p:nvSpPr>
        <p:spPr>
          <a:xfrm>
            <a:off x="195943" y="132339"/>
            <a:ext cx="8629742" cy="5593547"/>
          </a:xfrm>
          <a:prstGeom prst="wedgeRectCallout">
            <a:avLst>
              <a:gd name="adj1" fmla="val 61474"/>
              <a:gd name="adj2" fmla="val 4041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F707650-BEDF-F543-02D8-56A402C9CBC8}"/>
              </a:ext>
            </a:extLst>
          </p:cNvPr>
          <p:cNvSpPr>
            <a:spLocks noGrp="1"/>
          </p:cNvSpPr>
          <p:nvPr>
            <p:ph type="sldNum" sz="quarter" idx="12"/>
          </p:nvPr>
        </p:nvSpPr>
        <p:spPr/>
        <p:txBody>
          <a:bodyPr/>
          <a:lstStyle/>
          <a:p>
            <a:fld id="{7DF2C209-72C5-4BD6-83FD-73557975086B}" type="slidenum">
              <a:rPr lang="en-US" smtClean="0"/>
              <a:t>28</a:t>
            </a:fld>
            <a:endParaRPr lang="en-US"/>
          </a:p>
        </p:txBody>
      </p:sp>
    </p:spTree>
    <p:extLst>
      <p:ext uri="{BB962C8B-B14F-4D97-AF65-F5344CB8AC3E}">
        <p14:creationId xmlns:p14="http://schemas.microsoft.com/office/powerpoint/2010/main" val="3189340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BE3484-0A69-1010-B9B4-1638B774B7C1}"/>
              </a:ext>
            </a:extLst>
          </p:cNvPr>
          <p:cNvPicPr>
            <a:picLocks noChangeAspect="1"/>
          </p:cNvPicPr>
          <p:nvPr/>
        </p:nvPicPr>
        <p:blipFill>
          <a:blip r:embed="rId3"/>
          <a:stretch>
            <a:fillRect/>
          </a:stretch>
        </p:blipFill>
        <p:spPr>
          <a:xfrm>
            <a:off x="9174028" y="4278672"/>
            <a:ext cx="2995912" cy="2413207"/>
          </a:xfrm>
          <a:prstGeom prst="rect">
            <a:avLst/>
          </a:prstGeom>
        </p:spPr>
      </p:pic>
      <p:sp>
        <p:nvSpPr>
          <p:cNvPr id="3" name="Speech Bubble: Rectangle 2">
            <a:extLst>
              <a:ext uri="{FF2B5EF4-FFF2-40B4-BE49-F238E27FC236}">
                <a16:creationId xmlns:a16="http://schemas.microsoft.com/office/drawing/2014/main" id="{9C2D448D-EF72-2A53-FBDD-DD1C059C3EC5}"/>
              </a:ext>
            </a:extLst>
          </p:cNvPr>
          <p:cNvSpPr/>
          <p:nvPr/>
        </p:nvSpPr>
        <p:spPr>
          <a:xfrm>
            <a:off x="195943" y="132339"/>
            <a:ext cx="8629742" cy="5593547"/>
          </a:xfrm>
          <a:prstGeom prst="wedgeRectCallout">
            <a:avLst>
              <a:gd name="adj1" fmla="val 59203"/>
              <a:gd name="adj2" fmla="val 5520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7148A66-5619-3944-D7AA-7F6720E4D9AB}"/>
              </a:ext>
            </a:extLst>
          </p:cNvPr>
          <p:cNvPicPr>
            <a:picLocks noChangeAspect="1"/>
          </p:cNvPicPr>
          <p:nvPr/>
        </p:nvPicPr>
        <p:blipFill rotWithShape="1">
          <a:blip r:embed="rId3"/>
          <a:srcRect t="67943" r="56176"/>
          <a:stretch/>
        </p:blipFill>
        <p:spPr>
          <a:xfrm>
            <a:off x="459012" y="555474"/>
            <a:ext cx="8366673" cy="4929801"/>
          </a:xfrm>
          <a:prstGeom prst="rect">
            <a:avLst/>
          </a:prstGeom>
        </p:spPr>
      </p:pic>
      <p:sp>
        <p:nvSpPr>
          <p:cNvPr id="5" name="Slide Number Placeholder 4">
            <a:extLst>
              <a:ext uri="{FF2B5EF4-FFF2-40B4-BE49-F238E27FC236}">
                <a16:creationId xmlns:a16="http://schemas.microsoft.com/office/drawing/2014/main" id="{4A054A0E-DCAC-FAF8-DB04-EE95723EAF83}"/>
              </a:ext>
            </a:extLst>
          </p:cNvPr>
          <p:cNvSpPr>
            <a:spLocks noGrp="1"/>
          </p:cNvSpPr>
          <p:nvPr>
            <p:ph type="sldNum" sz="quarter" idx="12"/>
          </p:nvPr>
        </p:nvSpPr>
        <p:spPr/>
        <p:txBody>
          <a:bodyPr/>
          <a:lstStyle/>
          <a:p>
            <a:fld id="{7DF2C209-72C5-4BD6-83FD-73557975086B}" type="slidenum">
              <a:rPr lang="en-US" smtClean="0"/>
              <a:t>29</a:t>
            </a:fld>
            <a:endParaRPr lang="en-US"/>
          </a:p>
        </p:txBody>
      </p:sp>
    </p:spTree>
    <p:extLst>
      <p:ext uri="{BB962C8B-B14F-4D97-AF65-F5344CB8AC3E}">
        <p14:creationId xmlns:p14="http://schemas.microsoft.com/office/powerpoint/2010/main" val="2981741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BE3484-0A69-1010-B9B4-1638B774B7C1}"/>
              </a:ext>
            </a:extLst>
          </p:cNvPr>
          <p:cNvPicPr>
            <a:picLocks noChangeAspect="1"/>
          </p:cNvPicPr>
          <p:nvPr/>
        </p:nvPicPr>
        <p:blipFill>
          <a:blip r:embed="rId3"/>
          <a:stretch>
            <a:fillRect/>
          </a:stretch>
        </p:blipFill>
        <p:spPr>
          <a:xfrm>
            <a:off x="9174028" y="4278672"/>
            <a:ext cx="2995912" cy="2413207"/>
          </a:xfrm>
          <a:prstGeom prst="rect">
            <a:avLst/>
          </a:prstGeom>
        </p:spPr>
      </p:pic>
      <p:sp>
        <p:nvSpPr>
          <p:cNvPr id="3" name="Speech Bubble: Rectangle 2">
            <a:extLst>
              <a:ext uri="{FF2B5EF4-FFF2-40B4-BE49-F238E27FC236}">
                <a16:creationId xmlns:a16="http://schemas.microsoft.com/office/drawing/2014/main" id="{9C2D448D-EF72-2A53-FBDD-DD1C059C3EC5}"/>
              </a:ext>
            </a:extLst>
          </p:cNvPr>
          <p:cNvSpPr/>
          <p:nvPr/>
        </p:nvSpPr>
        <p:spPr>
          <a:xfrm>
            <a:off x="195943" y="132339"/>
            <a:ext cx="8629742" cy="5593547"/>
          </a:xfrm>
          <a:prstGeom prst="wedgeRectCallout">
            <a:avLst>
              <a:gd name="adj1" fmla="val 76989"/>
              <a:gd name="adj2" fmla="val 3905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B2ACDA1-CE0F-62FD-E29C-BF879EA169A8}"/>
              </a:ext>
            </a:extLst>
          </p:cNvPr>
          <p:cNvPicPr>
            <a:picLocks noChangeAspect="1"/>
          </p:cNvPicPr>
          <p:nvPr/>
        </p:nvPicPr>
        <p:blipFill rotWithShape="1">
          <a:blip r:embed="rId3"/>
          <a:srcRect l="43938" t="29330" r="223" b="30879"/>
          <a:stretch/>
        </p:blipFill>
        <p:spPr>
          <a:xfrm>
            <a:off x="698002" y="740502"/>
            <a:ext cx="7625624" cy="4377220"/>
          </a:xfrm>
          <a:prstGeom prst="rect">
            <a:avLst/>
          </a:prstGeom>
        </p:spPr>
      </p:pic>
      <p:sp>
        <p:nvSpPr>
          <p:cNvPr id="4" name="Slide Number Placeholder 3">
            <a:extLst>
              <a:ext uri="{FF2B5EF4-FFF2-40B4-BE49-F238E27FC236}">
                <a16:creationId xmlns:a16="http://schemas.microsoft.com/office/drawing/2014/main" id="{978E1A17-59CB-F550-DB68-434BC50C188E}"/>
              </a:ext>
            </a:extLst>
          </p:cNvPr>
          <p:cNvSpPr>
            <a:spLocks noGrp="1"/>
          </p:cNvSpPr>
          <p:nvPr>
            <p:ph type="sldNum" sz="quarter" idx="12"/>
          </p:nvPr>
        </p:nvSpPr>
        <p:spPr/>
        <p:txBody>
          <a:bodyPr/>
          <a:lstStyle/>
          <a:p>
            <a:fld id="{7DF2C209-72C5-4BD6-83FD-73557975086B}" type="slidenum">
              <a:rPr lang="en-US" smtClean="0"/>
              <a:t>30</a:t>
            </a:fld>
            <a:endParaRPr lang="en-US"/>
          </a:p>
        </p:txBody>
      </p:sp>
    </p:spTree>
    <p:extLst>
      <p:ext uri="{BB962C8B-B14F-4D97-AF65-F5344CB8AC3E}">
        <p14:creationId xmlns:p14="http://schemas.microsoft.com/office/powerpoint/2010/main" val="962690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BE3484-0A69-1010-B9B4-1638B774B7C1}"/>
              </a:ext>
            </a:extLst>
          </p:cNvPr>
          <p:cNvPicPr>
            <a:picLocks noChangeAspect="1"/>
          </p:cNvPicPr>
          <p:nvPr/>
        </p:nvPicPr>
        <p:blipFill>
          <a:blip r:embed="rId3"/>
          <a:stretch>
            <a:fillRect/>
          </a:stretch>
        </p:blipFill>
        <p:spPr>
          <a:xfrm>
            <a:off x="9174028" y="4278672"/>
            <a:ext cx="2995912" cy="2413207"/>
          </a:xfrm>
          <a:prstGeom prst="rect">
            <a:avLst/>
          </a:prstGeom>
        </p:spPr>
      </p:pic>
      <p:sp>
        <p:nvSpPr>
          <p:cNvPr id="3" name="Speech Bubble: Rectangle 2">
            <a:extLst>
              <a:ext uri="{FF2B5EF4-FFF2-40B4-BE49-F238E27FC236}">
                <a16:creationId xmlns:a16="http://schemas.microsoft.com/office/drawing/2014/main" id="{9C2D448D-EF72-2A53-FBDD-DD1C059C3EC5}"/>
              </a:ext>
            </a:extLst>
          </p:cNvPr>
          <p:cNvSpPr/>
          <p:nvPr/>
        </p:nvSpPr>
        <p:spPr>
          <a:xfrm>
            <a:off x="195943" y="132339"/>
            <a:ext cx="8629742" cy="5593547"/>
          </a:xfrm>
          <a:prstGeom prst="wedgeRectCallout">
            <a:avLst>
              <a:gd name="adj1" fmla="val 79512"/>
              <a:gd name="adj2" fmla="val 5676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B78D655-1512-94F4-B560-9644426795D8}"/>
              </a:ext>
            </a:extLst>
          </p:cNvPr>
          <p:cNvPicPr>
            <a:picLocks noChangeAspect="1"/>
          </p:cNvPicPr>
          <p:nvPr/>
        </p:nvPicPr>
        <p:blipFill rotWithShape="1">
          <a:blip r:embed="rId3"/>
          <a:srcRect l="43938" t="68649" r="223" b="291"/>
          <a:stretch/>
        </p:blipFill>
        <p:spPr>
          <a:xfrm>
            <a:off x="477729" y="1132114"/>
            <a:ext cx="8066170" cy="3614058"/>
          </a:xfrm>
          <a:prstGeom prst="rect">
            <a:avLst/>
          </a:prstGeom>
        </p:spPr>
      </p:pic>
      <p:sp>
        <p:nvSpPr>
          <p:cNvPr id="5" name="Slide Number Placeholder 4">
            <a:extLst>
              <a:ext uri="{FF2B5EF4-FFF2-40B4-BE49-F238E27FC236}">
                <a16:creationId xmlns:a16="http://schemas.microsoft.com/office/drawing/2014/main" id="{79FE57CE-764C-244F-4559-FFE73CC2D855}"/>
              </a:ext>
            </a:extLst>
          </p:cNvPr>
          <p:cNvSpPr>
            <a:spLocks noGrp="1"/>
          </p:cNvSpPr>
          <p:nvPr>
            <p:ph type="sldNum" sz="quarter" idx="12"/>
          </p:nvPr>
        </p:nvSpPr>
        <p:spPr/>
        <p:txBody>
          <a:bodyPr/>
          <a:lstStyle/>
          <a:p>
            <a:fld id="{7DF2C209-72C5-4BD6-83FD-73557975086B}" type="slidenum">
              <a:rPr lang="en-US" smtClean="0"/>
              <a:t>31</a:t>
            </a:fld>
            <a:endParaRPr lang="en-US"/>
          </a:p>
        </p:txBody>
      </p:sp>
    </p:spTree>
    <p:extLst>
      <p:ext uri="{BB962C8B-B14F-4D97-AF65-F5344CB8AC3E}">
        <p14:creationId xmlns:p14="http://schemas.microsoft.com/office/powerpoint/2010/main" val="2325894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50607C-D90C-8385-7F82-47608504619B}"/>
              </a:ext>
            </a:extLst>
          </p:cNvPr>
          <p:cNvSpPr/>
          <p:nvPr/>
        </p:nvSpPr>
        <p:spPr>
          <a:xfrm>
            <a:off x="13272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SHARE-seq hair follicle</a:t>
            </a:r>
          </a:p>
        </p:txBody>
      </p:sp>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rotWithShape="1">
          <a:blip r:embed="rId2"/>
          <a:srcRect l="41129" b="70519"/>
          <a:stretch/>
        </p:blipFill>
        <p:spPr>
          <a:xfrm>
            <a:off x="1535834" y="1793992"/>
            <a:ext cx="8955840" cy="3612507"/>
          </a:xfrm>
          <a:prstGeom prst="rect">
            <a:avLst/>
          </a:prstGeom>
        </p:spPr>
      </p:pic>
      <p:sp>
        <p:nvSpPr>
          <p:cNvPr id="2" name="Title 1">
            <a:extLst>
              <a:ext uri="{FF2B5EF4-FFF2-40B4-BE49-F238E27FC236}">
                <a16:creationId xmlns:a16="http://schemas.microsoft.com/office/drawing/2014/main" id="{24DB447A-C1B7-A5AF-BC7D-70BDD50907C0}"/>
              </a:ext>
            </a:extLst>
          </p:cNvPr>
          <p:cNvSpPr>
            <a:spLocks noGrp="1"/>
          </p:cNvSpPr>
          <p:nvPr>
            <p:ph type="title"/>
          </p:nvPr>
        </p:nvSpPr>
        <p:spPr>
          <a:xfrm>
            <a:off x="334664" y="252412"/>
            <a:ext cx="9451019" cy="1325563"/>
          </a:xfrm>
        </p:spPr>
        <p:txBody>
          <a:bodyPr>
            <a:normAutofit/>
          </a:bodyPr>
          <a:lstStyle/>
          <a:p>
            <a:r>
              <a:rPr lang="en-US" sz="3200" b="0" i="0" dirty="0">
                <a:solidFill>
                  <a:srgbClr val="222222"/>
                </a:solidFill>
                <a:effectLst/>
                <a:latin typeface="Harding"/>
              </a:rPr>
              <a:t>SIMBA </a:t>
            </a:r>
            <a:r>
              <a:rPr lang="en-US" altLang="zh-TW" sz="3200" b="0" i="0" dirty="0">
                <a:solidFill>
                  <a:srgbClr val="222222"/>
                </a:solidFill>
                <a:effectLst/>
                <a:latin typeface="Harding"/>
              </a:rPr>
              <a:t>Indication</a:t>
            </a:r>
            <a:r>
              <a:rPr lang="zh-TW" altLang="en-US" sz="3200" b="0" i="0" dirty="0">
                <a:solidFill>
                  <a:srgbClr val="222222"/>
                </a:solidFill>
                <a:effectLst/>
                <a:latin typeface="Harding"/>
              </a:rPr>
              <a:t>（</a:t>
            </a:r>
            <a:r>
              <a:rPr lang="en-US" altLang="zh-TW" sz="3200" b="0" i="0" dirty="0">
                <a:solidFill>
                  <a:srgbClr val="222222"/>
                </a:solidFill>
                <a:effectLst/>
                <a:latin typeface="Harding"/>
              </a:rPr>
              <a:t>Max Value</a:t>
            </a:r>
            <a:r>
              <a:rPr lang="zh-TW" altLang="en-US" sz="3200" dirty="0">
                <a:solidFill>
                  <a:srgbClr val="222222"/>
                </a:solidFill>
                <a:latin typeface="Harding"/>
              </a:rPr>
              <a:t> </a:t>
            </a:r>
            <a:r>
              <a:rPr lang="en-US" altLang="zh-TW" sz="3200" dirty="0">
                <a:solidFill>
                  <a:srgbClr val="222222"/>
                </a:solidFill>
                <a:latin typeface="Harding"/>
              </a:rPr>
              <a:t>&amp;</a:t>
            </a:r>
            <a:r>
              <a:rPr lang="zh-TW" altLang="en-US" sz="3200" dirty="0">
                <a:solidFill>
                  <a:srgbClr val="222222"/>
                </a:solidFill>
                <a:latin typeface="Harding"/>
              </a:rPr>
              <a:t> </a:t>
            </a:r>
            <a:r>
              <a:rPr lang="en-US" sz="3200" b="0" i="0" dirty="0">
                <a:solidFill>
                  <a:srgbClr val="222222"/>
                </a:solidFill>
                <a:effectLst/>
                <a:latin typeface="Harding"/>
              </a:rPr>
              <a:t>Gini</a:t>
            </a:r>
            <a:r>
              <a:rPr lang="zh-TW" altLang="en-US" sz="3200" dirty="0">
                <a:solidFill>
                  <a:srgbClr val="222222"/>
                </a:solidFill>
                <a:latin typeface="Harding"/>
              </a:rPr>
              <a:t> </a:t>
            </a:r>
            <a:r>
              <a:rPr lang="en-US" altLang="zh-TW" sz="3200" dirty="0">
                <a:solidFill>
                  <a:srgbClr val="222222"/>
                </a:solidFill>
                <a:latin typeface="Harding"/>
              </a:rPr>
              <a:t>Index</a:t>
            </a:r>
            <a:r>
              <a:rPr lang="zh-TW" altLang="en-US" sz="3200" dirty="0">
                <a:solidFill>
                  <a:srgbClr val="222222"/>
                </a:solidFill>
                <a:latin typeface="Harding"/>
              </a:rPr>
              <a:t> </a:t>
            </a:r>
            <a:r>
              <a:rPr lang="en-US" altLang="zh-TW" sz="3200" dirty="0">
                <a:solidFill>
                  <a:srgbClr val="222222"/>
                </a:solidFill>
                <a:latin typeface="Harding"/>
              </a:rPr>
              <a:t>Score</a:t>
            </a:r>
            <a:r>
              <a:rPr lang="zh-TW" altLang="en-US" sz="3200" b="0" i="0" dirty="0">
                <a:solidFill>
                  <a:srgbClr val="222222"/>
                </a:solidFill>
                <a:effectLst/>
                <a:latin typeface="Harding"/>
              </a:rPr>
              <a:t>）</a:t>
            </a:r>
            <a:endParaRPr lang="en-US" sz="3200" dirty="0"/>
          </a:p>
        </p:txBody>
      </p:sp>
      <p:sp>
        <p:nvSpPr>
          <p:cNvPr id="3" name="Slide Number Placeholder 2">
            <a:extLst>
              <a:ext uri="{FF2B5EF4-FFF2-40B4-BE49-F238E27FC236}">
                <a16:creationId xmlns:a16="http://schemas.microsoft.com/office/drawing/2014/main" id="{0F35B5C6-F6C5-0C6E-C8DF-80196EA04DB1}"/>
              </a:ext>
            </a:extLst>
          </p:cNvPr>
          <p:cNvSpPr>
            <a:spLocks noGrp="1"/>
          </p:cNvSpPr>
          <p:nvPr>
            <p:ph type="sldNum" sz="quarter" idx="12"/>
          </p:nvPr>
        </p:nvSpPr>
        <p:spPr/>
        <p:txBody>
          <a:bodyPr/>
          <a:lstStyle/>
          <a:p>
            <a:fld id="{7DF2C209-72C5-4BD6-83FD-73557975086B}" type="slidenum">
              <a:rPr lang="en-US" smtClean="0"/>
              <a:t>32</a:t>
            </a:fld>
            <a:endParaRPr lang="en-US"/>
          </a:p>
        </p:txBody>
      </p:sp>
    </p:spTree>
    <p:extLst>
      <p:ext uri="{BB962C8B-B14F-4D97-AF65-F5344CB8AC3E}">
        <p14:creationId xmlns:p14="http://schemas.microsoft.com/office/powerpoint/2010/main" val="10238933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65988"/>
            <a:ext cx="2366127" cy="692398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202143" y="2542116"/>
            <a:ext cx="2000248" cy="1773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Batch correction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118533" y="64897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r>
              <a:rPr lang="en-US" sz="1400" dirty="0" err="1">
                <a:solidFill>
                  <a:schemeClr val="tx1"/>
                </a:solidFill>
              </a:rPr>
              <a:t>scRNA</a:t>
            </a:r>
            <a:r>
              <a:rPr lang="en-US" sz="1400" dirty="0">
                <a:solidFill>
                  <a:schemeClr val="tx1"/>
                </a:solidFill>
              </a:rPr>
              <a:t>-seq data</a:t>
            </a:r>
          </a:p>
        </p:txBody>
      </p:sp>
      <p:pic>
        <p:nvPicPr>
          <p:cNvPr id="5" name="Picture 4">
            <a:extLst>
              <a:ext uri="{FF2B5EF4-FFF2-40B4-BE49-F238E27FC236}">
                <a16:creationId xmlns:a16="http://schemas.microsoft.com/office/drawing/2014/main" id="{51CE9773-1BCB-E0CC-CB31-179402E2D985}"/>
              </a:ext>
            </a:extLst>
          </p:cNvPr>
          <p:cNvPicPr>
            <a:picLocks noChangeAspect="1"/>
          </p:cNvPicPr>
          <p:nvPr/>
        </p:nvPicPr>
        <p:blipFill rotWithShape="1">
          <a:blip r:embed="rId3"/>
          <a:srcRect t="34009" r="41427"/>
          <a:stretch/>
        </p:blipFill>
        <p:spPr>
          <a:xfrm>
            <a:off x="3097741" y="272975"/>
            <a:ext cx="8116891" cy="6364892"/>
          </a:xfrm>
          <a:prstGeom prst="rect">
            <a:avLst/>
          </a:prstGeom>
        </p:spPr>
      </p:pic>
      <p:sp>
        <p:nvSpPr>
          <p:cNvPr id="2" name="Slide Number Placeholder 1">
            <a:extLst>
              <a:ext uri="{FF2B5EF4-FFF2-40B4-BE49-F238E27FC236}">
                <a16:creationId xmlns:a16="http://schemas.microsoft.com/office/drawing/2014/main" id="{D48283E5-59AC-2A68-C14A-7B577500A167}"/>
              </a:ext>
            </a:extLst>
          </p:cNvPr>
          <p:cNvSpPr>
            <a:spLocks noGrp="1"/>
          </p:cNvSpPr>
          <p:nvPr>
            <p:ph type="sldNum" sz="quarter" idx="12"/>
          </p:nvPr>
        </p:nvSpPr>
        <p:spPr/>
        <p:txBody>
          <a:bodyPr/>
          <a:lstStyle/>
          <a:p>
            <a:fld id="{7DF2C209-72C5-4BD6-83FD-73557975086B}" type="slidenum">
              <a:rPr lang="en-US" smtClean="0"/>
              <a:t>33</a:t>
            </a:fld>
            <a:endParaRPr lang="en-US"/>
          </a:p>
        </p:txBody>
      </p:sp>
    </p:spTree>
    <p:extLst>
      <p:ext uri="{BB962C8B-B14F-4D97-AF65-F5344CB8AC3E}">
        <p14:creationId xmlns:p14="http://schemas.microsoft.com/office/powerpoint/2010/main" val="3044385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65988"/>
            <a:ext cx="2366127" cy="692398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202143" y="2542116"/>
            <a:ext cx="2000248" cy="1773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Batch correction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118533" y="64897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r>
              <a:rPr lang="en-US" sz="1400" dirty="0" err="1">
                <a:solidFill>
                  <a:schemeClr val="tx1"/>
                </a:solidFill>
              </a:rPr>
              <a:t>scRNA</a:t>
            </a:r>
            <a:r>
              <a:rPr lang="en-US" sz="1400" dirty="0">
                <a:solidFill>
                  <a:schemeClr val="tx1"/>
                </a:solidFill>
              </a:rPr>
              <a:t>-seq data</a:t>
            </a:r>
          </a:p>
        </p:txBody>
      </p:sp>
      <p:pic>
        <p:nvPicPr>
          <p:cNvPr id="5" name="Picture 4">
            <a:extLst>
              <a:ext uri="{FF2B5EF4-FFF2-40B4-BE49-F238E27FC236}">
                <a16:creationId xmlns:a16="http://schemas.microsoft.com/office/drawing/2014/main" id="{51CE9773-1BCB-E0CC-CB31-179402E2D985}"/>
              </a:ext>
            </a:extLst>
          </p:cNvPr>
          <p:cNvPicPr>
            <a:picLocks noChangeAspect="1"/>
          </p:cNvPicPr>
          <p:nvPr/>
        </p:nvPicPr>
        <p:blipFill rotWithShape="1">
          <a:blip r:embed="rId3"/>
          <a:srcRect l="58572" t="34009"/>
          <a:stretch/>
        </p:blipFill>
        <p:spPr>
          <a:xfrm>
            <a:off x="4109154" y="350136"/>
            <a:ext cx="5554134" cy="6157726"/>
          </a:xfrm>
          <a:prstGeom prst="rect">
            <a:avLst/>
          </a:prstGeom>
        </p:spPr>
      </p:pic>
      <p:sp>
        <p:nvSpPr>
          <p:cNvPr id="2" name="Slide Number Placeholder 1">
            <a:extLst>
              <a:ext uri="{FF2B5EF4-FFF2-40B4-BE49-F238E27FC236}">
                <a16:creationId xmlns:a16="http://schemas.microsoft.com/office/drawing/2014/main" id="{94AB1E52-D8D9-A8C2-E371-28C5C7E81A94}"/>
              </a:ext>
            </a:extLst>
          </p:cNvPr>
          <p:cNvSpPr>
            <a:spLocks noGrp="1"/>
          </p:cNvSpPr>
          <p:nvPr>
            <p:ph type="sldNum" sz="quarter" idx="12"/>
          </p:nvPr>
        </p:nvSpPr>
        <p:spPr/>
        <p:txBody>
          <a:bodyPr/>
          <a:lstStyle/>
          <a:p>
            <a:fld id="{7DF2C209-72C5-4BD6-83FD-73557975086B}" type="slidenum">
              <a:rPr lang="en-US" smtClean="0"/>
              <a:t>34</a:t>
            </a:fld>
            <a:endParaRPr lang="en-US"/>
          </a:p>
        </p:txBody>
      </p:sp>
    </p:spTree>
    <p:extLst>
      <p:ext uri="{BB962C8B-B14F-4D97-AF65-F5344CB8AC3E}">
        <p14:creationId xmlns:p14="http://schemas.microsoft.com/office/powerpoint/2010/main" val="2045659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46243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19591" y="2527300"/>
            <a:ext cx="2342840"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Multi-omics integration</a:t>
            </a:r>
          </a:p>
        </p:txBody>
      </p:sp>
      <p:pic>
        <p:nvPicPr>
          <p:cNvPr id="3" name="Picture 2">
            <a:extLst>
              <a:ext uri="{FF2B5EF4-FFF2-40B4-BE49-F238E27FC236}">
                <a16:creationId xmlns:a16="http://schemas.microsoft.com/office/drawing/2014/main" id="{4909CF60-2068-A1CC-336F-2F23BA644A31}"/>
              </a:ext>
            </a:extLst>
          </p:cNvPr>
          <p:cNvPicPr>
            <a:picLocks noChangeAspect="1"/>
          </p:cNvPicPr>
          <p:nvPr/>
        </p:nvPicPr>
        <p:blipFill rotWithShape="1">
          <a:blip r:embed="rId3"/>
          <a:srcRect t="34885" r="43075"/>
          <a:stretch/>
        </p:blipFill>
        <p:spPr>
          <a:xfrm>
            <a:off x="3763187" y="582529"/>
            <a:ext cx="6480271" cy="5692942"/>
          </a:xfrm>
          <a:prstGeom prst="rect">
            <a:avLst/>
          </a:prstGeom>
        </p:spPr>
      </p:pic>
      <p:sp>
        <p:nvSpPr>
          <p:cNvPr id="2" name="Slide Number Placeholder 1">
            <a:extLst>
              <a:ext uri="{FF2B5EF4-FFF2-40B4-BE49-F238E27FC236}">
                <a16:creationId xmlns:a16="http://schemas.microsoft.com/office/drawing/2014/main" id="{581D94F6-C92F-871D-C314-C4E2F9171A44}"/>
              </a:ext>
            </a:extLst>
          </p:cNvPr>
          <p:cNvSpPr>
            <a:spLocks noGrp="1"/>
          </p:cNvSpPr>
          <p:nvPr>
            <p:ph type="sldNum" sz="quarter" idx="12"/>
          </p:nvPr>
        </p:nvSpPr>
        <p:spPr/>
        <p:txBody>
          <a:bodyPr/>
          <a:lstStyle/>
          <a:p>
            <a:fld id="{7DF2C209-72C5-4BD6-83FD-73557975086B}" type="slidenum">
              <a:rPr lang="en-US" smtClean="0"/>
              <a:t>35</a:t>
            </a:fld>
            <a:endParaRPr lang="en-US"/>
          </a:p>
        </p:txBody>
      </p:sp>
    </p:spTree>
    <p:extLst>
      <p:ext uri="{BB962C8B-B14F-4D97-AF65-F5344CB8AC3E}">
        <p14:creationId xmlns:p14="http://schemas.microsoft.com/office/powerpoint/2010/main" val="3092121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a:bodyPr>
          <a:lstStyle/>
          <a:p>
            <a:r>
              <a:rPr lang="en-US" sz="6000" dirty="0"/>
              <a:t>Methods</a:t>
            </a:r>
          </a:p>
        </p:txBody>
      </p:sp>
      <p:sp>
        <p:nvSpPr>
          <p:cNvPr id="3" name="Title 1">
            <a:extLst>
              <a:ext uri="{FF2B5EF4-FFF2-40B4-BE49-F238E27FC236}">
                <a16:creationId xmlns:a16="http://schemas.microsoft.com/office/drawing/2014/main" id="{FAB96295-CD61-534B-A8DB-5B2F990BD3D4}"/>
              </a:ext>
            </a:extLst>
          </p:cNvPr>
          <p:cNvSpPr txBox="1">
            <a:spLocks/>
          </p:cNvSpPr>
          <p:nvPr/>
        </p:nvSpPr>
        <p:spPr>
          <a:xfrm>
            <a:off x="3879542" y="3429000"/>
            <a:ext cx="3400148" cy="155137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1. Preprocessing </a:t>
            </a:r>
          </a:p>
          <a:p>
            <a:pPr algn="ctr">
              <a:lnSpc>
                <a:spcPct val="150000"/>
              </a:lnSpc>
            </a:pPr>
            <a:r>
              <a:rPr lang="en-US" sz="3200" dirty="0"/>
              <a:t>2. Graph Construction</a:t>
            </a:r>
          </a:p>
          <a:p>
            <a:pPr algn="ctr">
              <a:lnSpc>
                <a:spcPct val="150000"/>
              </a:lnSpc>
            </a:pPr>
            <a:r>
              <a:rPr lang="en-US" sz="3200" dirty="0"/>
              <a:t>3. SIMBA Embedding</a:t>
            </a:r>
          </a:p>
        </p:txBody>
      </p:sp>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p:txBody>
          <a:bodyPr/>
          <a:lstStyle/>
          <a:p>
            <a:fld id="{7DF2C209-72C5-4BD6-83FD-73557975086B}" type="slidenum">
              <a:rPr lang="en-US" smtClean="0"/>
              <a:t>36</a:t>
            </a:fld>
            <a:endParaRPr lang="en-US"/>
          </a:p>
        </p:txBody>
      </p:sp>
    </p:spTree>
    <p:extLst>
      <p:ext uri="{BB962C8B-B14F-4D97-AF65-F5344CB8AC3E}">
        <p14:creationId xmlns:p14="http://schemas.microsoft.com/office/powerpoint/2010/main" val="1224662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a:bodyPr>
          <a:lstStyle/>
          <a:p>
            <a:r>
              <a:rPr lang="en-US" sz="6000" dirty="0"/>
              <a:t>Methods</a:t>
            </a:r>
          </a:p>
        </p:txBody>
      </p:sp>
      <p:sp>
        <p:nvSpPr>
          <p:cNvPr id="3" name="Title 1">
            <a:extLst>
              <a:ext uri="{FF2B5EF4-FFF2-40B4-BE49-F238E27FC236}">
                <a16:creationId xmlns:a16="http://schemas.microsoft.com/office/drawing/2014/main" id="{FAB96295-CD61-534B-A8DB-5B2F990BD3D4}"/>
              </a:ext>
            </a:extLst>
          </p:cNvPr>
          <p:cNvSpPr txBox="1">
            <a:spLocks/>
          </p:cNvSpPr>
          <p:nvPr/>
        </p:nvSpPr>
        <p:spPr>
          <a:xfrm>
            <a:off x="3879542" y="3429000"/>
            <a:ext cx="3400148" cy="155137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1. Preprocessing </a:t>
            </a:r>
          </a:p>
          <a:p>
            <a:pPr algn="ctr">
              <a:lnSpc>
                <a:spcPct val="150000"/>
              </a:lnSpc>
            </a:pPr>
            <a:r>
              <a:rPr lang="en-US" sz="3200" dirty="0"/>
              <a:t>2. Graph Construction</a:t>
            </a:r>
          </a:p>
          <a:p>
            <a:pPr algn="ctr">
              <a:lnSpc>
                <a:spcPct val="150000"/>
              </a:lnSpc>
            </a:pPr>
            <a:r>
              <a:rPr lang="en-US" sz="3200" dirty="0">
                <a:solidFill>
                  <a:schemeClr val="bg1">
                    <a:lumMod val="75000"/>
                  </a:schemeClr>
                </a:solidFill>
              </a:rPr>
              <a:t>3. SIMBA Embedding</a:t>
            </a:r>
          </a:p>
        </p:txBody>
      </p:sp>
      <p:sp>
        <p:nvSpPr>
          <p:cNvPr id="4" name="Slide Number Placeholder 3">
            <a:extLst>
              <a:ext uri="{FF2B5EF4-FFF2-40B4-BE49-F238E27FC236}">
                <a16:creationId xmlns:a16="http://schemas.microsoft.com/office/drawing/2014/main" id="{EED369D7-AACE-A382-F1F9-A47361650742}"/>
              </a:ext>
            </a:extLst>
          </p:cNvPr>
          <p:cNvSpPr>
            <a:spLocks noGrp="1"/>
          </p:cNvSpPr>
          <p:nvPr>
            <p:ph type="sldNum" sz="quarter" idx="12"/>
          </p:nvPr>
        </p:nvSpPr>
        <p:spPr/>
        <p:txBody>
          <a:bodyPr/>
          <a:lstStyle/>
          <a:p>
            <a:fld id="{7DF2C209-72C5-4BD6-83FD-73557975086B}" type="slidenum">
              <a:rPr lang="en-US" smtClean="0"/>
              <a:t>37</a:t>
            </a:fld>
            <a:endParaRPr lang="en-US"/>
          </a:p>
        </p:txBody>
      </p:sp>
    </p:spTree>
    <p:extLst>
      <p:ext uri="{BB962C8B-B14F-4D97-AF65-F5344CB8AC3E}">
        <p14:creationId xmlns:p14="http://schemas.microsoft.com/office/powerpoint/2010/main" val="1902928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838200" y="365125"/>
            <a:ext cx="8418922" cy="1325563"/>
          </a:xfrm>
        </p:spPr>
        <p:txBody>
          <a:bodyPr/>
          <a:lstStyle/>
          <a:p>
            <a:r>
              <a:rPr lang="en-US" dirty="0"/>
              <a:t>Single-cell RNA seq Analysis</a:t>
            </a:r>
          </a:p>
        </p:txBody>
      </p:sp>
      <p:pic>
        <p:nvPicPr>
          <p:cNvPr id="4" name="Content Placeholder 3">
            <a:extLst>
              <a:ext uri="{FF2B5EF4-FFF2-40B4-BE49-F238E27FC236}">
                <a16:creationId xmlns:a16="http://schemas.microsoft.com/office/drawing/2014/main" id="{3033B7B3-85FE-C9CD-44FF-2268C5448D77}"/>
              </a:ext>
            </a:extLst>
          </p:cNvPr>
          <p:cNvPicPr>
            <a:picLocks noGrp="1" noChangeAspect="1"/>
          </p:cNvPicPr>
          <p:nvPr>
            <p:ph idx="1"/>
          </p:nvPr>
        </p:nvPicPr>
        <p:blipFill rotWithShape="1">
          <a:blip r:embed="rId3"/>
          <a:srcRect b="75880"/>
          <a:stretch/>
        </p:blipFill>
        <p:spPr>
          <a:xfrm>
            <a:off x="285463" y="2077329"/>
            <a:ext cx="12070870" cy="2703341"/>
          </a:xfrm>
          <a:prstGeom prst="rect">
            <a:avLst/>
          </a:prstGeom>
        </p:spPr>
      </p:pic>
      <p:sp>
        <p:nvSpPr>
          <p:cNvPr id="3" name="Rectangle 2">
            <a:extLst>
              <a:ext uri="{FF2B5EF4-FFF2-40B4-BE49-F238E27FC236}">
                <a16:creationId xmlns:a16="http://schemas.microsoft.com/office/drawing/2014/main" id="{F6FEF716-9C84-9EA1-9F91-A8B1E1653FB0}"/>
              </a:ext>
            </a:extLst>
          </p:cNvPr>
          <p:cNvSpPr/>
          <p:nvPr/>
        </p:nvSpPr>
        <p:spPr>
          <a:xfrm>
            <a:off x="1669398" y="5167311"/>
            <a:ext cx="390269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5" name="Rectangle 4">
            <a:extLst>
              <a:ext uri="{FF2B5EF4-FFF2-40B4-BE49-F238E27FC236}">
                <a16:creationId xmlns:a16="http://schemas.microsoft.com/office/drawing/2014/main" id="{6DE96067-39B7-3375-5539-65DCC869500A}"/>
              </a:ext>
            </a:extLst>
          </p:cNvPr>
          <p:cNvSpPr/>
          <p:nvPr/>
        </p:nvSpPr>
        <p:spPr>
          <a:xfrm>
            <a:off x="7783727" y="5167311"/>
            <a:ext cx="187244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
        <p:nvSpPr>
          <p:cNvPr id="6" name="Rectangle 5">
            <a:extLst>
              <a:ext uri="{FF2B5EF4-FFF2-40B4-BE49-F238E27FC236}">
                <a16:creationId xmlns:a16="http://schemas.microsoft.com/office/drawing/2014/main" id="{A7FCBB52-9B3C-34B4-9DC6-2824623A49C6}"/>
              </a:ext>
            </a:extLst>
          </p:cNvPr>
          <p:cNvSpPr/>
          <p:nvPr/>
        </p:nvSpPr>
        <p:spPr>
          <a:xfrm>
            <a:off x="4666660" y="3743664"/>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K-means</a:t>
            </a:r>
          </a:p>
        </p:txBody>
      </p:sp>
      <p:sp>
        <p:nvSpPr>
          <p:cNvPr id="7" name="Rectangle 6">
            <a:extLst>
              <a:ext uri="{FF2B5EF4-FFF2-40B4-BE49-F238E27FC236}">
                <a16:creationId xmlns:a16="http://schemas.microsoft.com/office/drawing/2014/main" id="{8CE15E04-319D-A361-A9C6-86EAF327DF48}"/>
              </a:ext>
            </a:extLst>
          </p:cNvPr>
          <p:cNvSpPr/>
          <p:nvPr/>
        </p:nvSpPr>
        <p:spPr>
          <a:xfrm>
            <a:off x="1382527" y="5928501"/>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Filtering</a:t>
            </a:r>
          </a:p>
        </p:txBody>
      </p:sp>
      <p:sp>
        <p:nvSpPr>
          <p:cNvPr id="8" name="Rectangle 7">
            <a:extLst>
              <a:ext uri="{FF2B5EF4-FFF2-40B4-BE49-F238E27FC236}">
                <a16:creationId xmlns:a16="http://schemas.microsoft.com/office/drawing/2014/main" id="{61A8FD4D-386A-B585-13B4-CEB9A339DA4D}"/>
              </a:ext>
            </a:extLst>
          </p:cNvPr>
          <p:cNvSpPr/>
          <p:nvPr/>
        </p:nvSpPr>
        <p:spPr>
          <a:xfrm>
            <a:off x="2428440" y="5931316"/>
            <a:ext cx="1467440" cy="176479"/>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Normalization</a:t>
            </a:r>
          </a:p>
        </p:txBody>
      </p:sp>
      <p:sp>
        <p:nvSpPr>
          <p:cNvPr id="10" name="Rectangle 9">
            <a:extLst>
              <a:ext uri="{FF2B5EF4-FFF2-40B4-BE49-F238E27FC236}">
                <a16:creationId xmlns:a16="http://schemas.microsoft.com/office/drawing/2014/main" id="{BCCED95E-BFE2-5B39-9928-39E6C598A01D}"/>
              </a:ext>
            </a:extLst>
          </p:cNvPr>
          <p:cNvSpPr/>
          <p:nvPr/>
        </p:nvSpPr>
        <p:spPr>
          <a:xfrm>
            <a:off x="4036358" y="5944217"/>
            <a:ext cx="2068932" cy="158411"/>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Variable gene selection</a:t>
            </a:r>
          </a:p>
        </p:txBody>
      </p:sp>
      <p:sp>
        <p:nvSpPr>
          <p:cNvPr id="12" name="Rectangle 11">
            <a:extLst>
              <a:ext uri="{FF2B5EF4-FFF2-40B4-BE49-F238E27FC236}">
                <a16:creationId xmlns:a16="http://schemas.microsoft.com/office/drawing/2014/main" id="{A744763C-CAB0-E4CB-28CD-4F8060FB1B5D}"/>
              </a:ext>
            </a:extLst>
          </p:cNvPr>
          <p:cNvSpPr/>
          <p:nvPr/>
        </p:nvSpPr>
        <p:spPr>
          <a:xfrm>
            <a:off x="9954939" y="5167311"/>
            <a:ext cx="197752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11" name="Slide Number Placeholder 10">
            <a:extLst>
              <a:ext uri="{FF2B5EF4-FFF2-40B4-BE49-F238E27FC236}">
                <a16:creationId xmlns:a16="http://schemas.microsoft.com/office/drawing/2014/main" id="{0B923F64-2C92-AF61-689B-528427C82193}"/>
              </a:ext>
            </a:extLst>
          </p:cNvPr>
          <p:cNvSpPr>
            <a:spLocks noGrp="1"/>
          </p:cNvSpPr>
          <p:nvPr>
            <p:ph type="sldNum" sz="quarter" idx="12"/>
          </p:nvPr>
        </p:nvSpPr>
        <p:spPr/>
        <p:txBody>
          <a:bodyPr/>
          <a:lstStyle/>
          <a:p>
            <a:fld id="{7DF2C209-72C5-4BD6-83FD-73557975086B}" type="slidenum">
              <a:rPr lang="en-US" smtClean="0"/>
              <a:t>38</a:t>
            </a:fld>
            <a:endParaRPr lang="en-US"/>
          </a:p>
        </p:txBody>
      </p:sp>
    </p:spTree>
    <p:extLst>
      <p:ext uri="{BB962C8B-B14F-4D97-AF65-F5344CB8AC3E}">
        <p14:creationId xmlns:p14="http://schemas.microsoft.com/office/powerpoint/2010/main" val="1095940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838199" y="365125"/>
            <a:ext cx="10549379" cy="1325563"/>
          </a:xfrm>
        </p:spPr>
        <p:txBody>
          <a:bodyPr>
            <a:normAutofit/>
          </a:bodyPr>
          <a:lstStyle/>
          <a:p>
            <a:r>
              <a:rPr lang="en-US" sz="4400" dirty="0">
                <a:solidFill>
                  <a:schemeClr val="tx1"/>
                </a:solidFill>
              </a:rPr>
              <a:t>Single-cell ATAC-seq analysis</a:t>
            </a:r>
            <a:endParaRPr lang="en-US" dirty="0"/>
          </a:p>
        </p:txBody>
      </p:sp>
      <p:sp>
        <p:nvSpPr>
          <p:cNvPr id="3" name="Rectangle 2">
            <a:extLst>
              <a:ext uri="{FF2B5EF4-FFF2-40B4-BE49-F238E27FC236}">
                <a16:creationId xmlns:a16="http://schemas.microsoft.com/office/drawing/2014/main" id="{F6FEF716-9C84-9EA1-9F91-A8B1E1653FB0}"/>
              </a:ext>
            </a:extLst>
          </p:cNvPr>
          <p:cNvSpPr/>
          <p:nvPr/>
        </p:nvSpPr>
        <p:spPr>
          <a:xfrm>
            <a:off x="1894394" y="5429839"/>
            <a:ext cx="390269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5" name="Rectangle 4">
            <a:extLst>
              <a:ext uri="{FF2B5EF4-FFF2-40B4-BE49-F238E27FC236}">
                <a16:creationId xmlns:a16="http://schemas.microsoft.com/office/drawing/2014/main" id="{6DE96067-39B7-3375-5539-65DCC869500A}"/>
              </a:ext>
            </a:extLst>
          </p:cNvPr>
          <p:cNvSpPr/>
          <p:nvPr/>
        </p:nvSpPr>
        <p:spPr>
          <a:xfrm>
            <a:off x="6122498" y="5429839"/>
            <a:ext cx="1868445"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pic>
        <p:nvPicPr>
          <p:cNvPr id="8" name="Picture 7">
            <a:extLst>
              <a:ext uri="{FF2B5EF4-FFF2-40B4-BE49-F238E27FC236}">
                <a16:creationId xmlns:a16="http://schemas.microsoft.com/office/drawing/2014/main" id="{6678A85D-601B-5D15-F6BC-8EE8CC996406}"/>
              </a:ext>
            </a:extLst>
          </p:cNvPr>
          <p:cNvPicPr>
            <a:picLocks noChangeAspect="1"/>
          </p:cNvPicPr>
          <p:nvPr/>
        </p:nvPicPr>
        <p:blipFill rotWithShape="1">
          <a:blip r:embed="rId3"/>
          <a:srcRect r="52882" b="78145"/>
          <a:stretch/>
        </p:blipFill>
        <p:spPr>
          <a:xfrm>
            <a:off x="1894393" y="1596632"/>
            <a:ext cx="8456211" cy="3545735"/>
          </a:xfrm>
          <a:prstGeom prst="rect">
            <a:avLst/>
          </a:prstGeom>
        </p:spPr>
      </p:pic>
      <p:sp>
        <p:nvSpPr>
          <p:cNvPr id="4" name="Rectangle 3">
            <a:extLst>
              <a:ext uri="{FF2B5EF4-FFF2-40B4-BE49-F238E27FC236}">
                <a16:creationId xmlns:a16="http://schemas.microsoft.com/office/drawing/2014/main" id="{DFEF46D5-9AD9-A0B6-7752-09294BB918B9}"/>
              </a:ext>
            </a:extLst>
          </p:cNvPr>
          <p:cNvSpPr/>
          <p:nvPr/>
        </p:nvSpPr>
        <p:spPr>
          <a:xfrm>
            <a:off x="8373075" y="5421065"/>
            <a:ext cx="197752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6" name="Rectangle 5">
            <a:extLst>
              <a:ext uri="{FF2B5EF4-FFF2-40B4-BE49-F238E27FC236}">
                <a16:creationId xmlns:a16="http://schemas.microsoft.com/office/drawing/2014/main" id="{056E49E7-9B05-9E53-1EBA-7564619549C6}"/>
              </a:ext>
            </a:extLst>
          </p:cNvPr>
          <p:cNvSpPr/>
          <p:nvPr/>
        </p:nvSpPr>
        <p:spPr>
          <a:xfrm>
            <a:off x="2382587" y="6154081"/>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Filtering</a:t>
            </a:r>
          </a:p>
        </p:txBody>
      </p:sp>
      <p:sp>
        <p:nvSpPr>
          <p:cNvPr id="7" name="Rectangle 6">
            <a:extLst>
              <a:ext uri="{FF2B5EF4-FFF2-40B4-BE49-F238E27FC236}">
                <a16:creationId xmlns:a16="http://schemas.microsoft.com/office/drawing/2014/main" id="{7DE85A40-3D76-4790-74DB-729992DBAA0E}"/>
              </a:ext>
            </a:extLst>
          </p:cNvPr>
          <p:cNvSpPr/>
          <p:nvPr/>
        </p:nvSpPr>
        <p:spPr>
          <a:xfrm>
            <a:off x="3845742" y="6154081"/>
            <a:ext cx="1271647"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Peak selection</a:t>
            </a:r>
          </a:p>
        </p:txBody>
      </p:sp>
      <p:sp>
        <p:nvSpPr>
          <p:cNvPr id="9" name="Rectangle 8">
            <a:extLst>
              <a:ext uri="{FF2B5EF4-FFF2-40B4-BE49-F238E27FC236}">
                <a16:creationId xmlns:a16="http://schemas.microsoft.com/office/drawing/2014/main" id="{3A6C802B-67FD-FFF6-DBFF-70DCA88AB082}"/>
              </a:ext>
            </a:extLst>
          </p:cNvPr>
          <p:cNvSpPr/>
          <p:nvPr/>
        </p:nvSpPr>
        <p:spPr>
          <a:xfrm>
            <a:off x="1781209" y="1586820"/>
            <a:ext cx="6400800" cy="49060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1131E327-F729-D6F7-70C5-26D4FBB278A3}"/>
              </a:ext>
            </a:extLst>
          </p:cNvPr>
          <p:cNvSpPr>
            <a:spLocks noGrp="1"/>
          </p:cNvSpPr>
          <p:nvPr>
            <p:ph type="sldNum" sz="quarter" idx="12"/>
          </p:nvPr>
        </p:nvSpPr>
        <p:spPr/>
        <p:txBody>
          <a:bodyPr/>
          <a:lstStyle/>
          <a:p>
            <a:fld id="{7DF2C209-72C5-4BD6-83FD-73557975086B}" type="slidenum">
              <a:rPr lang="en-US" smtClean="0"/>
              <a:t>39</a:t>
            </a:fld>
            <a:endParaRPr lang="en-US"/>
          </a:p>
        </p:txBody>
      </p:sp>
    </p:spTree>
    <p:extLst>
      <p:ext uri="{BB962C8B-B14F-4D97-AF65-F5344CB8AC3E}">
        <p14:creationId xmlns:p14="http://schemas.microsoft.com/office/powerpoint/2010/main" val="1155415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747765" y="444629"/>
            <a:ext cx="5009941" cy="1325563"/>
          </a:xfrm>
        </p:spPr>
        <p:txBody>
          <a:bodyPr/>
          <a:lstStyle/>
          <a:p>
            <a:r>
              <a:rPr lang="en-US" dirty="0"/>
              <a:t>Multimodal </a:t>
            </a:r>
            <a:r>
              <a:rPr lang="en-US" altLang="zh-TW" dirty="0"/>
              <a:t>Analysis</a:t>
            </a:r>
            <a:endParaRPr lang="en-US" dirty="0"/>
          </a:p>
        </p:txBody>
      </p:sp>
      <p:pic>
        <p:nvPicPr>
          <p:cNvPr id="5" name="Picture 4">
            <a:extLst>
              <a:ext uri="{FF2B5EF4-FFF2-40B4-BE49-F238E27FC236}">
                <a16:creationId xmlns:a16="http://schemas.microsoft.com/office/drawing/2014/main" id="{872F4D6D-8ED3-5018-B3BB-9AC4802CE205}"/>
              </a:ext>
            </a:extLst>
          </p:cNvPr>
          <p:cNvPicPr>
            <a:picLocks noChangeAspect="1"/>
          </p:cNvPicPr>
          <p:nvPr/>
        </p:nvPicPr>
        <p:blipFill rotWithShape="1">
          <a:blip r:embed="rId3"/>
          <a:srcRect t="18322"/>
          <a:stretch/>
        </p:blipFill>
        <p:spPr>
          <a:xfrm>
            <a:off x="267698" y="2980267"/>
            <a:ext cx="5389525" cy="2266387"/>
          </a:xfrm>
          <a:prstGeom prst="rect">
            <a:avLst/>
          </a:prstGeom>
        </p:spPr>
      </p:pic>
      <p:pic>
        <p:nvPicPr>
          <p:cNvPr id="7" name="Picture 6">
            <a:extLst>
              <a:ext uri="{FF2B5EF4-FFF2-40B4-BE49-F238E27FC236}">
                <a16:creationId xmlns:a16="http://schemas.microsoft.com/office/drawing/2014/main" id="{8FC1720B-F1C0-2FF2-2E97-3A056261113E}"/>
              </a:ext>
            </a:extLst>
          </p:cNvPr>
          <p:cNvPicPr>
            <a:picLocks noChangeAspect="1"/>
          </p:cNvPicPr>
          <p:nvPr/>
        </p:nvPicPr>
        <p:blipFill rotWithShape="1">
          <a:blip r:embed="rId4"/>
          <a:srcRect t="17301" r="9169"/>
          <a:stretch/>
        </p:blipFill>
        <p:spPr>
          <a:xfrm>
            <a:off x="6760165" y="2754489"/>
            <a:ext cx="4925676" cy="2571137"/>
          </a:xfrm>
          <a:prstGeom prst="rect">
            <a:avLst/>
          </a:prstGeom>
        </p:spPr>
      </p:pic>
      <p:sp>
        <p:nvSpPr>
          <p:cNvPr id="8" name="Cross 7">
            <a:extLst>
              <a:ext uri="{FF2B5EF4-FFF2-40B4-BE49-F238E27FC236}">
                <a16:creationId xmlns:a16="http://schemas.microsoft.com/office/drawing/2014/main" id="{292E5FB9-A284-E7A1-D8A5-B2BA29EE0FAF}"/>
              </a:ext>
            </a:extLst>
          </p:cNvPr>
          <p:cNvSpPr/>
          <p:nvPr/>
        </p:nvSpPr>
        <p:spPr>
          <a:xfrm>
            <a:off x="5995517" y="3687744"/>
            <a:ext cx="482321" cy="532563"/>
          </a:xfrm>
          <a:prstGeom prst="plus">
            <a:avLst>
              <a:gd name="adj" fmla="val 4375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8A99C890-5961-AEC2-0BC5-42DEC10E6987}"/>
              </a:ext>
            </a:extLst>
          </p:cNvPr>
          <p:cNvSpPr txBox="1">
            <a:spLocks/>
          </p:cNvSpPr>
          <p:nvPr/>
        </p:nvSpPr>
        <p:spPr>
          <a:xfrm>
            <a:off x="1020579" y="1712448"/>
            <a:ext cx="44112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Single-cell RNA seq Analysis</a:t>
            </a:r>
          </a:p>
        </p:txBody>
      </p:sp>
      <p:sp>
        <p:nvSpPr>
          <p:cNvPr id="4" name="Title 1">
            <a:extLst>
              <a:ext uri="{FF2B5EF4-FFF2-40B4-BE49-F238E27FC236}">
                <a16:creationId xmlns:a16="http://schemas.microsoft.com/office/drawing/2014/main" id="{96BF3173-C206-EBD0-B82C-C36D6FEE3429}"/>
              </a:ext>
            </a:extLst>
          </p:cNvPr>
          <p:cNvSpPr txBox="1">
            <a:spLocks/>
          </p:cNvSpPr>
          <p:nvPr/>
        </p:nvSpPr>
        <p:spPr>
          <a:xfrm>
            <a:off x="7415735" y="1532374"/>
            <a:ext cx="44112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solidFill>
              </a:rPr>
              <a:t>Single-cell ATAC-seq analysis</a:t>
            </a:r>
            <a:endParaRPr lang="en-US" sz="2800" dirty="0"/>
          </a:p>
        </p:txBody>
      </p:sp>
      <p:sp>
        <p:nvSpPr>
          <p:cNvPr id="6" name="Slide Number Placeholder 5">
            <a:extLst>
              <a:ext uri="{FF2B5EF4-FFF2-40B4-BE49-F238E27FC236}">
                <a16:creationId xmlns:a16="http://schemas.microsoft.com/office/drawing/2014/main" id="{00BC8325-A56C-BAB3-30CF-D58312C39B16}"/>
              </a:ext>
            </a:extLst>
          </p:cNvPr>
          <p:cNvSpPr>
            <a:spLocks noGrp="1"/>
          </p:cNvSpPr>
          <p:nvPr>
            <p:ph type="sldNum" sz="quarter" idx="12"/>
          </p:nvPr>
        </p:nvSpPr>
        <p:spPr/>
        <p:txBody>
          <a:bodyPr/>
          <a:lstStyle/>
          <a:p>
            <a:fld id="{7DF2C209-72C5-4BD6-83FD-73557975086B}" type="slidenum">
              <a:rPr lang="en-US" smtClean="0"/>
              <a:t>40</a:t>
            </a:fld>
            <a:endParaRPr lang="en-US"/>
          </a:p>
        </p:txBody>
      </p:sp>
    </p:spTree>
    <p:extLst>
      <p:ext uri="{BB962C8B-B14F-4D97-AF65-F5344CB8AC3E}">
        <p14:creationId xmlns:p14="http://schemas.microsoft.com/office/powerpoint/2010/main" val="1492689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566790" y="145122"/>
            <a:ext cx="5009941" cy="1325563"/>
          </a:xfrm>
        </p:spPr>
        <p:txBody>
          <a:bodyPr/>
          <a:lstStyle/>
          <a:p>
            <a:r>
              <a:rPr lang="en-US" dirty="0"/>
              <a:t>Multimodal </a:t>
            </a:r>
            <a:r>
              <a:rPr lang="en-US" altLang="zh-TW" dirty="0"/>
              <a:t>Analysis</a:t>
            </a:r>
            <a:endParaRPr lang="en-US" dirty="0"/>
          </a:p>
        </p:txBody>
      </p:sp>
      <p:sp>
        <p:nvSpPr>
          <p:cNvPr id="8" name="Cross 7">
            <a:extLst>
              <a:ext uri="{FF2B5EF4-FFF2-40B4-BE49-F238E27FC236}">
                <a16:creationId xmlns:a16="http://schemas.microsoft.com/office/drawing/2014/main" id="{292E5FB9-A284-E7A1-D8A5-B2BA29EE0FAF}"/>
              </a:ext>
            </a:extLst>
          </p:cNvPr>
          <p:cNvSpPr/>
          <p:nvPr/>
        </p:nvSpPr>
        <p:spPr>
          <a:xfrm>
            <a:off x="5995517" y="3687744"/>
            <a:ext cx="482321" cy="532563"/>
          </a:xfrm>
          <a:prstGeom prst="plus">
            <a:avLst>
              <a:gd name="adj" fmla="val 4375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7BF4862-A6AC-1CD2-8720-D84ED0DD7E03}"/>
              </a:ext>
            </a:extLst>
          </p:cNvPr>
          <p:cNvPicPr>
            <a:picLocks noChangeAspect="1"/>
          </p:cNvPicPr>
          <p:nvPr/>
        </p:nvPicPr>
        <p:blipFill rotWithShape="1">
          <a:blip r:embed="rId3"/>
          <a:srcRect r="58576" b="71282"/>
          <a:stretch/>
        </p:blipFill>
        <p:spPr>
          <a:xfrm>
            <a:off x="2025362" y="1470685"/>
            <a:ext cx="7940309" cy="4434117"/>
          </a:xfrm>
          <a:prstGeom prst="rect">
            <a:avLst/>
          </a:prstGeom>
        </p:spPr>
      </p:pic>
      <p:sp>
        <p:nvSpPr>
          <p:cNvPr id="3" name="Rectangle 2">
            <a:extLst>
              <a:ext uri="{FF2B5EF4-FFF2-40B4-BE49-F238E27FC236}">
                <a16:creationId xmlns:a16="http://schemas.microsoft.com/office/drawing/2014/main" id="{39C08BE6-059D-DA3B-C44C-1DC6FDBE8469}"/>
              </a:ext>
            </a:extLst>
          </p:cNvPr>
          <p:cNvSpPr/>
          <p:nvPr/>
        </p:nvSpPr>
        <p:spPr>
          <a:xfrm>
            <a:off x="2337521" y="5904802"/>
            <a:ext cx="256330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4" name="Rectangle 3">
            <a:extLst>
              <a:ext uri="{FF2B5EF4-FFF2-40B4-BE49-F238E27FC236}">
                <a16:creationId xmlns:a16="http://schemas.microsoft.com/office/drawing/2014/main" id="{A040D8B5-885E-4276-0774-212749A2228C}"/>
              </a:ext>
            </a:extLst>
          </p:cNvPr>
          <p:cNvSpPr/>
          <p:nvPr/>
        </p:nvSpPr>
        <p:spPr>
          <a:xfrm>
            <a:off x="5630113" y="5904802"/>
            <a:ext cx="1695450"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
        <p:nvSpPr>
          <p:cNvPr id="6" name="Rectangle 5">
            <a:extLst>
              <a:ext uri="{FF2B5EF4-FFF2-40B4-BE49-F238E27FC236}">
                <a16:creationId xmlns:a16="http://schemas.microsoft.com/office/drawing/2014/main" id="{3DCAE2CF-3A30-BB8C-27A9-E4D868AB6C27}"/>
              </a:ext>
            </a:extLst>
          </p:cNvPr>
          <p:cNvSpPr/>
          <p:nvPr/>
        </p:nvSpPr>
        <p:spPr>
          <a:xfrm>
            <a:off x="8354025" y="5904802"/>
            <a:ext cx="151639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5" name="Slide Number Placeholder 4">
            <a:extLst>
              <a:ext uri="{FF2B5EF4-FFF2-40B4-BE49-F238E27FC236}">
                <a16:creationId xmlns:a16="http://schemas.microsoft.com/office/drawing/2014/main" id="{C9E41EE4-FF46-C071-8E69-716B0CEF081A}"/>
              </a:ext>
            </a:extLst>
          </p:cNvPr>
          <p:cNvSpPr>
            <a:spLocks noGrp="1"/>
          </p:cNvSpPr>
          <p:nvPr>
            <p:ph type="sldNum" sz="quarter" idx="12"/>
          </p:nvPr>
        </p:nvSpPr>
        <p:spPr/>
        <p:txBody>
          <a:bodyPr/>
          <a:lstStyle/>
          <a:p>
            <a:fld id="{7DF2C209-72C5-4BD6-83FD-73557975086B}" type="slidenum">
              <a:rPr lang="en-US" smtClean="0"/>
              <a:t>41</a:t>
            </a:fld>
            <a:endParaRPr lang="en-US"/>
          </a:p>
        </p:txBody>
      </p:sp>
    </p:spTree>
    <p:extLst>
      <p:ext uri="{BB962C8B-B14F-4D97-AF65-F5344CB8AC3E}">
        <p14:creationId xmlns:p14="http://schemas.microsoft.com/office/powerpoint/2010/main" val="2909117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8BA4-A13F-E838-0DF1-0BF114DC64FC}"/>
              </a:ext>
            </a:extLst>
          </p:cNvPr>
          <p:cNvSpPr>
            <a:spLocks noGrp="1"/>
          </p:cNvSpPr>
          <p:nvPr>
            <p:ph type="title"/>
          </p:nvPr>
        </p:nvSpPr>
        <p:spPr/>
        <p:txBody>
          <a:bodyPr/>
          <a:lstStyle/>
          <a:p>
            <a:r>
              <a:rPr lang="en-US" sz="4400" dirty="0">
                <a:solidFill>
                  <a:schemeClr val="tx1"/>
                </a:solidFill>
              </a:rPr>
              <a:t>Batch correction analysis</a:t>
            </a:r>
            <a:endParaRPr lang="en-US" dirty="0"/>
          </a:p>
        </p:txBody>
      </p:sp>
      <p:pic>
        <p:nvPicPr>
          <p:cNvPr id="5" name="Picture 4">
            <a:extLst>
              <a:ext uri="{FF2B5EF4-FFF2-40B4-BE49-F238E27FC236}">
                <a16:creationId xmlns:a16="http://schemas.microsoft.com/office/drawing/2014/main" id="{19CBF9EF-0ABA-70E2-590D-690A5A928A19}"/>
              </a:ext>
            </a:extLst>
          </p:cNvPr>
          <p:cNvPicPr>
            <a:picLocks noChangeAspect="1"/>
          </p:cNvPicPr>
          <p:nvPr/>
        </p:nvPicPr>
        <p:blipFill rotWithShape="1">
          <a:blip r:embed="rId3"/>
          <a:srcRect b="66154"/>
          <a:stretch/>
        </p:blipFill>
        <p:spPr>
          <a:xfrm>
            <a:off x="337491" y="2370590"/>
            <a:ext cx="11517018" cy="2713055"/>
          </a:xfrm>
          <a:prstGeom prst="rect">
            <a:avLst/>
          </a:prstGeom>
        </p:spPr>
      </p:pic>
      <p:sp>
        <p:nvSpPr>
          <p:cNvPr id="6" name="Rectangle 5">
            <a:extLst>
              <a:ext uri="{FF2B5EF4-FFF2-40B4-BE49-F238E27FC236}">
                <a16:creationId xmlns:a16="http://schemas.microsoft.com/office/drawing/2014/main" id="{766FBFEE-6665-43DF-C99C-89E68F201E8C}"/>
              </a:ext>
            </a:extLst>
          </p:cNvPr>
          <p:cNvSpPr/>
          <p:nvPr/>
        </p:nvSpPr>
        <p:spPr>
          <a:xfrm>
            <a:off x="4291961" y="5471316"/>
            <a:ext cx="266980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a:p>
            <a:pPr algn="ctr"/>
            <a:r>
              <a:rPr lang="en-US" dirty="0"/>
              <a:t>for every batch</a:t>
            </a:r>
          </a:p>
        </p:txBody>
      </p:sp>
      <p:sp>
        <p:nvSpPr>
          <p:cNvPr id="8" name="Rectangle 7">
            <a:extLst>
              <a:ext uri="{FF2B5EF4-FFF2-40B4-BE49-F238E27FC236}">
                <a16:creationId xmlns:a16="http://schemas.microsoft.com/office/drawing/2014/main" id="{5F1AD6FD-3CE4-9139-0E42-142157C1EC66}"/>
              </a:ext>
            </a:extLst>
          </p:cNvPr>
          <p:cNvSpPr/>
          <p:nvPr/>
        </p:nvSpPr>
        <p:spPr>
          <a:xfrm>
            <a:off x="7749716" y="5348211"/>
            <a:ext cx="151639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3" name="Rectangle 2">
            <a:extLst>
              <a:ext uri="{FF2B5EF4-FFF2-40B4-BE49-F238E27FC236}">
                <a16:creationId xmlns:a16="http://schemas.microsoft.com/office/drawing/2014/main" id="{EB2F9561-5018-270F-CBD1-1B9FE7706913}"/>
              </a:ext>
            </a:extLst>
          </p:cNvPr>
          <p:cNvSpPr/>
          <p:nvPr/>
        </p:nvSpPr>
        <p:spPr>
          <a:xfrm>
            <a:off x="1334682" y="5471316"/>
            <a:ext cx="256330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4" name="Rectangle 3">
            <a:extLst>
              <a:ext uri="{FF2B5EF4-FFF2-40B4-BE49-F238E27FC236}">
                <a16:creationId xmlns:a16="http://schemas.microsoft.com/office/drawing/2014/main" id="{186B48A3-53B0-1D14-B104-1982514FCE73}"/>
              </a:ext>
            </a:extLst>
          </p:cNvPr>
          <p:cNvSpPr/>
          <p:nvPr/>
        </p:nvSpPr>
        <p:spPr>
          <a:xfrm>
            <a:off x="195944" y="1690688"/>
            <a:ext cx="6945086" cy="49060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4918805-59EA-D0E6-5DDA-21C58D5557B8}"/>
              </a:ext>
            </a:extLst>
          </p:cNvPr>
          <p:cNvSpPr>
            <a:spLocks noGrp="1"/>
          </p:cNvSpPr>
          <p:nvPr>
            <p:ph type="sldNum" sz="quarter" idx="12"/>
          </p:nvPr>
        </p:nvSpPr>
        <p:spPr/>
        <p:txBody>
          <a:bodyPr/>
          <a:lstStyle/>
          <a:p>
            <a:fld id="{7DF2C209-72C5-4BD6-83FD-73557975086B}" type="slidenum">
              <a:rPr lang="en-US" smtClean="0"/>
              <a:t>42</a:t>
            </a:fld>
            <a:endParaRPr lang="en-US"/>
          </a:p>
        </p:txBody>
      </p:sp>
    </p:spTree>
    <p:extLst>
      <p:ext uri="{BB962C8B-B14F-4D97-AF65-F5344CB8AC3E}">
        <p14:creationId xmlns:p14="http://schemas.microsoft.com/office/powerpoint/2010/main" val="59012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2F55-A8C0-F5B1-186C-CE9CC2D50F76}"/>
              </a:ext>
            </a:extLst>
          </p:cNvPr>
          <p:cNvSpPr>
            <a:spLocks noGrp="1"/>
          </p:cNvSpPr>
          <p:nvPr>
            <p:ph type="title"/>
          </p:nvPr>
        </p:nvSpPr>
        <p:spPr>
          <a:xfrm>
            <a:off x="838200" y="298450"/>
            <a:ext cx="10515600" cy="1325563"/>
          </a:xfrm>
        </p:spPr>
        <p:txBody>
          <a:bodyPr/>
          <a:lstStyle/>
          <a:p>
            <a:r>
              <a:rPr lang="en-US" dirty="0"/>
              <a:t>About Truncated Randomized SVD…</a:t>
            </a:r>
          </a:p>
        </p:txBody>
      </p:sp>
      <p:pic>
        <p:nvPicPr>
          <p:cNvPr id="5" name="Content Placeholder 4">
            <a:extLst>
              <a:ext uri="{FF2B5EF4-FFF2-40B4-BE49-F238E27FC236}">
                <a16:creationId xmlns:a16="http://schemas.microsoft.com/office/drawing/2014/main" id="{1135D207-C66C-2C0F-8585-62A40ED639A5}"/>
              </a:ext>
            </a:extLst>
          </p:cNvPr>
          <p:cNvPicPr>
            <a:picLocks noGrp="1" noChangeAspect="1"/>
          </p:cNvPicPr>
          <p:nvPr>
            <p:ph idx="1"/>
          </p:nvPr>
        </p:nvPicPr>
        <p:blipFill>
          <a:blip r:embed="rId3"/>
          <a:stretch>
            <a:fillRect/>
          </a:stretch>
        </p:blipFill>
        <p:spPr>
          <a:xfrm>
            <a:off x="1595422" y="1490663"/>
            <a:ext cx="9001156" cy="5281612"/>
          </a:xfrm>
        </p:spPr>
      </p:pic>
      <p:sp>
        <p:nvSpPr>
          <p:cNvPr id="3" name="Slide Number Placeholder 2">
            <a:extLst>
              <a:ext uri="{FF2B5EF4-FFF2-40B4-BE49-F238E27FC236}">
                <a16:creationId xmlns:a16="http://schemas.microsoft.com/office/drawing/2014/main" id="{53B528B6-8E7A-E810-5375-0C5CD7B590F1}"/>
              </a:ext>
            </a:extLst>
          </p:cNvPr>
          <p:cNvSpPr>
            <a:spLocks noGrp="1"/>
          </p:cNvSpPr>
          <p:nvPr>
            <p:ph type="sldNum" sz="quarter" idx="12"/>
          </p:nvPr>
        </p:nvSpPr>
        <p:spPr/>
        <p:txBody>
          <a:bodyPr/>
          <a:lstStyle/>
          <a:p>
            <a:fld id="{7DF2C209-72C5-4BD6-83FD-73557975086B}" type="slidenum">
              <a:rPr lang="en-US" smtClean="0"/>
              <a:t>43</a:t>
            </a:fld>
            <a:endParaRPr lang="en-US"/>
          </a:p>
        </p:txBody>
      </p:sp>
    </p:spTree>
    <p:extLst>
      <p:ext uri="{BB962C8B-B14F-4D97-AF65-F5344CB8AC3E}">
        <p14:creationId xmlns:p14="http://schemas.microsoft.com/office/powerpoint/2010/main" val="58303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43B2-4447-288E-7212-BD48E615643B}"/>
              </a:ext>
            </a:extLst>
          </p:cNvPr>
          <p:cNvSpPr>
            <a:spLocks noGrp="1"/>
          </p:cNvSpPr>
          <p:nvPr>
            <p:ph type="title"/>
          </p:nvPr>
        </p:nvSpPr>
        <p:spPr/>
        <p:txBody>
          <a:bodyPr/>
          <a:lstStyle/>
          <a:p>
            <a:r>
              <a:rPr lang="en-US" dirty="0">
                <a:effectLst/>
              </a:rPr>
              <a:t>Multi-omics Integration </a:t>
            </a:r>
            <a:endParaRPr lang="en-US" dirty="0"/>
          </a:p>
        </p:txBody>
      </p:sp>
      <p:pic>
        <p:nvPicPr>
          <p:cNvPr id="5" name="Content Placeholder 4">
            <a:extLst>
              <a:ext uri="{FF2B5EF4-FFF2-40B4-BE49-F238E27FC236}">
                <a16:creationId xmlns:a16="http://schemas.microsoft.com/office/drawing/2014/main" id="{3C52AEA6-A4B8-4B65-1EEF-D8DC73E47EB2}"/>
              </a:ext>
            </a:extLst>
          </p:cNvPr>
          <p:cNvPicPr>
            <a:picLocks noGrp="1" noChangeAspect="1"/>
          </p:cNvPicPr>
          <p:nvPr>
            <p:ph idx="1"/>
          </p:nvPr>
        </p:nvPicPr>
        <p:blipFill rotWithShape="1">
          <a:blip r:embed="rId3"/>
          <a:srcRect b="65519"/>
          <a:stretch/>
        </p:blipFill>
        <p:spPr>
          <a:xfrm>
            <a:off x="368615" y="1912313"/>
            <a:ext cx="11454770" cy="3033373"/>
          </a:xfrm>
          <a:prstGeom prst="rect">
            <a:avLst/>
          </a:prstGeom>
        </p:spPr>
      </p:pic>
      <p:sp>
        <p:nvSpPr>
          <p:cNvPr id="6" name="Rectangle 5">
            <a:extLst>
              <a:ext uri="{FF2B5EF4-FFF2-40B4-BE49-F238E27FC236}">
                <a16:creationId xmlns:a16="http://schemas.microsoft.com/office/drawing/2014/main" id="{5E366522-82A8-99D9-6A14-5FA8C1BCBF7E}"/>
              </a:ext>
            </a:extLst>
          </p:cNvPr>
          <p:cNvSpPr/>
          <p:nvPr/>
        </p:nvSpPr>
        <p:spPr>
          <a:xfrm>
            <a:off x="1236906" y="5473800"/>
            <a:ext cx="266980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a:p>
            <a:pPr algn="ctr"/>
            <a:r>
              <a:rPr lang="en-US" dirty="0"/>
              <a:t>(</a:t>
            </a:r>
            <a:r>
              <a:rPr lang="en-US" dirty="0" err="1"/>
              <a:t>scRNA</a:t>
            </a:r>
            <a:r>
              <a:rPr lang="en-US" dirty="0"/>
              <a:t> and </a:t>
            </a:r>
            <a:r>
              <a:rPr lang="en-US" dirty="0" err="1"/>
              <a:t>scATAC</a:t>
            </a:r>
            <a:r>
              <a:rPr lang="en-US" dirty="0"/>
              <a:t> data)</a:t>
            </a:r>
          </a:p>
        </p:txBody>
      </p:sp>
      <p:sp>
        <p:nvSpPr>
          <p:cNvPr id="9" name="Rectangle 8">
            <a:extLst>
              <a:ext uri="{FF2B5EF4-FFF2-40B4-BE49-F238E27FC236}">
                <a16:creationId xmlns:a16="http://schemas.microsoft.com/office/drawing/2014/main" id="{8092699C-6515-A259-885F-7674135B7C6A}"/>
              </a:ext>
            </a:extLst>
          </p:cNvPr>
          <p:cNvSpPr/>
          <p:nvPr/>
        </p:nvSpPr>
        <p:spPr>
          <a:xfrm>
            <a:off x="7698564" y="5473800"/>
            <a:ext cx="151639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3" name="Rectangle 2">
            <a:extLst>
              <a:ext uri="{FF2B5EF4-FFF2-40B4-BE49-F238E27FC236}">
                <a16:creationId xmlns:a16="http://schemas.microsoft.com/office/drawing/2014/main" id="{10001BC5-B092-FE76-92B7-3F355F9E0D8F}"/>
              </a:ext>
            </a:extLst>
          </p:cNvPr>
          <p:cNvSpPr/>
          <p:nvPr/>
        </p:nvSpPr>
        <p:spPr>
          <a:xfrm>
            <a:off x="4382272" y="5473800"/>
            <a:ext cx="266980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
        <p:nvSpPr>
          <p:cNvPr id="4" name="Rectangle 3">
            <a:extLst>
              <a:ext uri="{FF2B5EF4-FFF2-40B4-BE49-F238E27FC236}">
                <a16:creationId xmlns:a16="http://schemas.microsoft.com/office/drawing/2014/main" id="{2EF8C414-E703-0B2F-875A-ECF10009F630}"/>
              </a:ext>
            </a:extLst>
          </p:cNvPr>
          <p:cNvSpPr/>
          <p:nvPr/>
        </p:nvSpPr>
        <p:spPr>
          <a:xfrm>
            <a:off x="195944" y="1690688"/>
            <a:ext cx="7010400" cy="49060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F1B577C5-A4AE-45CD-32F8-D61839475C4D}"/>
              </a:ext>
            </a:extLst>
          </p:cNvPr>
          <p:cNvSpPr>
            <a:spLocks noGrp="1"/>
          </p:cNvSpPr>
          <p:nvPr>
            <p:ph type="sldNum" sz="quarter" idx="12"/>
          </p:nvPr>
        </p:nvSpPr>
        <p:spPr/>
        <p:txBody>
          <a:bodyPr/>
          <a:lstStyle/>
          <a:p>
            <a:fld id="{7DF2C209-72C5-4BD6-83FD-73557975086B}" type="slidenum">
              <a:rPr lang="en-US" smtClean="0"/>
              <a:t>44</a:t>
            </a:fld>
            <a:endParaRPr lang="en-US"/>
          </a:p>
        </p:txBody>
      </p:sp>
    </p:spTree>
    <p:extLst>
      <p:ext uri="{BB962C8B-B14F-4D97-AF65-F5344CB8AC3E}">
        <p14:creationId xmlns:p14="http://schemas.microsoft.com/office/powerpoint/2010/main" val="2328289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a:bodyPr>
          <a:lstStyle/>
          <a:p>
            <a:r>
              <a:rPr lang="en-US" sz="6000" dirty="0"/>
              <a:t>Methods</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879542" y="3429000"/>
            <a:ext cx="3400148" cy="155137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solidFill>
                  <a:schemeClr val="bg1">
                    <a:lumMod val="75000"/>
                  </a:schemeClr>
                </a:solidFill>
              </a:rPr>
              <a:t>1. Preprocessing </a:t>
            </a:r>
          </a:p>
          <a:p>
            <a:pPr algn="ctr">
              <a:lnSpc>
                <a:spcPct val="150000"/>
              </a:lnSpc>
            </a:pPr>
            <a:r>
              <a:rPr lang="en-US" sz="3200" dirty="0">
                <a:solidFill>
                  <a:schemeClr val="bg1">
                    <a:lumMod val="75000"/>
                  </a:schemeClr>
                </a:solidFill>
              </a:rPr>
              <a:t>2. Graph Construction</a:t>
            </a:r>
          </a:p>
          <a:p>
            <a:pPr algn="ctr">
              <a:lnSpc>
                <a:spcPct val="150000"/>
              </a:lnSpc>
            </a:pPr>
            <a:r>
              <a:rPr lang="en-US" sz="3200" dirty="0"/>
              <a:t>3. SIMBA Embedding</a:t>
            </a:r>
          </a:p>
        </p:txBody>
      </p:sp>
      <p:sp>
        <p:nvSpPr>
          <p:cNvPr id="3" name="Slide Number Placeholder 2">
            <a:extLst>
              <a:ext uri="{FF2B5EF4-FFF2-40B4-BE49-F238E27FC236}">
                <a16:creationId xmlns:a16="http://schemas.microsoft.com/office/drawing/2014/main" id="{2F140A2E-37DE-85B7-43C7-9593351E0EFE}"/>
              </a:ext>
            </a:extLst>
          </p:cNvPr>
          <p:cNvSpPr>
            <a:spLocks noGrp="1"/>
          </p:cNvSpPr>
          <p:nvPr>
            <p:ph type="sldNum" sz="quarter" idx="12"/>
          </p:nvPr>
        </p:nvSpPr>
        <p:spPr/>
        <p:txBody>
          <a:bodyPr/>
          <a:lstStyle/>
          <a:p>
            <a:fld id="{7DF2C209-72C5-4BD6-83FD-73557975086B}" type="slidenum">
              <a:rPr lang="en-US" smtClean="0"/>
              <a:t>45</a:t>
            </a:fld>
            <a:endParaRPr lang="en-US"/>
          </a:p>
        </p:txBody>
      </p:sp>
    </p:spTree>
    <p:extLst>
      <p:ext uri="{BB962C8B-B14F-4D97-AF65-F5344CB8AC3E}">
        <p14:creationId xmlns:p14="http://schemas.microsoft.com/office/powerpoint/2010/main" val="3343134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9103-AA66-504F-239C-E146A2F0D5F1}"/>
              </a:ext>
            </a:extLst>
          </p:cNvPr>
          <p:cNvSpPr>
            <a:spLocks noGrp="1"/>
          </p:cNvSpPr>
          <p:nvPr>
            <p:ph type="title"/>
          </p:nvPr>
        </p:nvSpPr>
        <p:spPr>
          <a:xfrm>
            <a:off x="838200" y="365125"/>
            <a:ext cx="10515600" cy="1325563"/>
          </a:xfrm>
        </p:spPr>
        <p:txBody>
          <a:bodyPr/>
          <a:lstStyle/>
          <a:p>
            <a:r>
              <a:rPr lang="en-US" dirty="0"/>
              <a:t>Vector</a:t>
            </a:r>
          </a:p>
        </p:txBody>
      </p:sp>
      <p:sp>
        <p:nvSpPr>
          <p:cNvPr id="5" name="Rectangle 4">
            <a:extLst>
              <a:ext uri="{FF2B5EF4-FFF2-40B4-BE49-F238E27FC236}">
                <a16:creationId xmlns:a16="http://schemas.microsoft.com/office/drawing/2014/main" id="{F5FAC6E4-0480-0FBF-0DD6-36474889902E}"/>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048C475D-57B9-3970-EEA8-9C7CE98C0EB7}"/>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9659250-D12C-840A-33D6-27AA3AC152E5}"/>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8223083-2132-0095-34C1-05504E6EF983}"/>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D5375CA-DE51-BDA1-A92A-EE3D703D848D}"/>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22682D0-3993-6C12-68E4-715C1D3B5110}"/>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566E932-9FE0-A101-FF94-64FBB0558E80}"/>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2" name="Straight Connector 11">
            <a:extLst>
              <a:ext uri="{FF2B5EF4-FFF2-40B4-BE49-F238E27FC236}">
                <a16:creationId xmlns:a16="http://schemas.microsoft.com/office/drawing/2014/main" id="{E5E3750E-3C21-9061-5FC1-DFCF75994E7F}"/>
              </a:ext>
            </a:extLst>
          </p:cNvPr>
          <p:cNvCxnSpPr>
            <a:cxnSpLocks/>
            <a:endCxn id="7"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683BA9-D50B-E20D-AAA5-3837A4BE3154}"/>
              </a:ext>
            </a:extLst>
          </p:cNvPr>
          <p:cNvCxnSpPr>
            <a:cxnSpLocks/>
            <a:stCxn id="6"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1F08F07-E419-0B66-A129-D0B61DCB2561}"/>
              </a:ext>
            </a:extLst>
          </p:cNvPr>
          <p:cNvCxnSpPr>
            <a:cxnSpLocks/>
            <a:endCxn id="9"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01869C-72F8-E17B-9300-3CAA52EA7745}"/>
              </a:ext>
            </a:extLst>
          </p:cNvPr>
          <p:cNvCxnSpPr>
            <a:cxnSpLocks/>
          </p:cNvCxnSpPr>
          <p:nvPr/>
        </p:nvCxnSpPr>
        <p:spPr>
          <a:xfrm>
            <a:off x="1298370" y="2203761"/>
            <a:ext cx="114298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480C7F3-6C8E-2292-3B3F-2CAB0C114762}"/>
              </a:ext>
            </a:extLst>
          </p:cNvPr>
          <p:cNvSpPr txBox="1"/>
          <p:nvPr/>
        </p:nvSpPr>
        <p:spPr>
          <a:xfrm>
            <a:off x="3314518" y="2038067"/>
            <a:ext cx="1343316" cy="369332"/>
          </a:xfrm>
          <a:prstGeom prst="rect">
            <a:avLst/>
          </a:prstGeom>
          <a:noFill/>
        </p:spPr>
        <p:txBody>
          <a:bodyPr wrap="none" rtlCol="0">
            <a:spAutoFit/>
          </a:bodyPr>
          <a:lstStyle/>
          <a:p>
            <a:r>
              <a:rPr lang="en-US" dirty="0"/>
              <a:t>edge = (u, v)</a:t>
            </a:r>
          </a:p>
        </p:txBody>
      </p:sp>
      <p:sp>
        <p:nvSpPr>
          <p:cNvPr id="18" name="Arrow: Down 17">
            <a:extLst>
              <a:ext uri="{FF2B5EF4-FFF2-40B4-BE49-F238E27FC236}">
                <a16:creationId xmlns:a16="http://schemas.microsoft.com/office/drawing/2014/main" id="{651F74FA-FC97-5C79-AFEA-CDF70A31D807}"/>
              </a:ext>
            </a:extLst>
          </p:cNvPr>
          <p:cNvSpPr/>
          <p:nvPr/>
        </p:nvSpPr>
        <p:spPr>
          <a:xfrm rot="10800000">
            <a:off x="4174160" y="2407399"/>
            <a:ext cx="97656" cy="296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50C78ECA-94FD-12C7-7CCD-9627E5AA2B1E}"/>
              </a:ext>
            </a:extLst>
          </p:cNvPr>
          <p:cNvSpPr/>
          <p:nvPr/>
        </p:nvSpPr>
        <p:spPr>
          <a:xfrm flipH="1">
            <a:off x="4352129" y="1778233"/>
            <a:ext cx="107911" cy="296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7AF3621-D780-AFDA-91E6-925A920079DB}"/>
              </a:ext>
            </a:extLst>
          </p:cNvPr>
          <p:cNvSpPr txBox="1"/>
          <p:nvPr/>
        </p:nvSpPr>
        <p:spPr>
          <a:xfrm>
            <a:off x="3648603" y="2735806"/>
            <a:ext cx="1407052" cy="369332"/>
          </a:xfrm>
          <a:prstGeom prst="rect">
            <a:avLst/>
          </a:prstGeom>
          <a:noFill/>
        </p:spPr>
        <p:txBody>
          <a:bodyPr wrap="none" rtlCol="0">
            <a:spAutoFit/>
          </a:bodyPr>
          <a:lstStyle/>
          <a:p>
            <a:r>
              <a:rPr lang="en-US" dirty="0"/>
              <a:t>source entity</a:t>
            </a:r>
          </a:p>
        </p:txBody>
      </p:sp>
      <p:sp>
        <p:nvSpPr>
          <p:cNvPr id="21" name="TextBox 20">
            <a:extLst>
              <a:ext uri="{FF2B5EF4-FFF2-40B4-BE49-F238E27FC236}">
                <a16:creationId xmlns:a16="http://schemas.microsoft.com/office/drawing/2014/main" id="{F481D0C7-1699-7667-CDDD-924C2DB445F3}"/>
              </a:ext>
            </a:extLst>
          </p:cNvPr>
          <p:cNvSpPr txBox="1"/>
          <p:nvPr/>
        </p:nvSpPr>
        <p:spPr>
          <a:xfrm>
            <a:off x="3702558" y="1319866"/>
            <a:ext cx="1841786" cy="369332"/>
          </a:xfrm>
          <a:prstGeom prst="rect">
            <a:avLst/>
          </a:prstGeom>
          <a:noFill/>
        </p:spPr>
        <p:txBody>
          <a:bodyPr wrap="none" rtlCol="0">
            <a:spAutoFit/>
          </a:bodyPr>
          <a:lstStyle/>
          <a:p>
            <a:r>
              <a:rPr lang="en-US" dirty="0"/>
              <a:t>destination entity</a:t>
            </a:r>
          </a:p>
        </p:txBody>
      </p:sp>
      <p:sp>
        <p:nvSpPr>
          <p:cNvPr id="22" name="Rectangle: Rounded Corners 21">
            <a:extLst>
              <a:ext uri="{FF2B5EF4-FFF2-40B4-BE49-F238E27FC236}">
                <a16:creationId xmlns:a16="http://schemas.microsoft.com/office/drawing/2014/main" id="{61FCBEAB-C2BE-2F80-1DC8-0A4FE114753E}"/>
              </a:ext>
            </a:extLst>
          </p:cNvPr>
          <p:cNvSpPr/>
          <p:nvPr/>
        </p:nvSpPr>
        <p:spPr>
          <a:xfrm>
            <a:off x="1212258" y="3641934"/>
            <a:ext cx="5080000" cy="39973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Calculate “edge score” based on the connection</a:t>
            </a:r>
          </a:p>
        </p:txBody>
      </p:sp>
      <p:sp>
        <p:nvSpPr>
          <p:cNvPr id="23" name="Oval 22">
            <a:extLst>
              <a:ext uri="{FF2B5EF4-FFF2-40B4-BE49-F238E27FC236}">
                <a16:creationId xmlns:a16="http://schemas.microsoft.com/office/drawing/2014/main" id="{373127DB-D782-327F-C3EF-49B6DFD3A2E4}"/>
              </a:ext>
            </a:extLst>
          </p:cNvPr>
          <p:cNvSpPr/>
          <p:nvPr/>
        </p:nvSpPr>
        <p:spPr>
          <a:xfrm>
            <a:off x="1126003" y="210920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A088AE-671E-1BF6-3E08-F7F8380415D6}"/>
              </a:ext>
            </a:extLst>
          </p:cNvPr>
          <p:cNvSpPr/>
          <p:nvPr/>
        </p:nvSpPr>
        <p:spPr>
          <a:xfrm>
            <a:off x="2355103" y="210920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E73A2C6-584F-E11B-2D65-7179D35163A7}"/>
              </a:ext>
            </a:extLst>
          </p:cNvPr>
          <p:cNvSpPr/>
          <p:nvPr/>
        </p:nvSpPr>
        <p:spPr>
          <a:xfrm>
            <a:off x="1440827" y="4345530"/>
            <a:ext cx="4523462"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Calculate “loss” to evaluate the score</a:t>
            </a:r>
          </a:p>
        </p:txBody>
      </p:sp>
      <p:sp>
        <p:nvSpPr>
          <p:cNvPr id="26" name="Arrow: Down 25">
            <a:extLst>
              <a:ext uri="{FF2B5EF4-FFF2-40B4-BE49-F238E27FC236}">
                <a16:creationId xmlns:a16="http://schemas.microsoft.com/office/drawing/2014/main" id="{60EDEA4D-5750-C7E4-EC29-1DDF74901640}"/>
              </a:ext>
            </a:extLst>
          </p:cNvPr>
          <p:cNvSpPr/>
          <p:nvPr/>
        </p:nvSpPr>
        <p:spPr>
          <a:xfrm>
            <a:off x="3524435" y="4980373"/>
            <a:ext cx="178123" cy="3328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AD9AA9F6-0A77-900C-65D2-5D84F591AC77}"/>
              </a:ext>
            </a:extLst>
          </p:cNvPr>
          <p:cNvSpPr/>
          <p:nvPr/>
        </p:nvSpPr>
        <p:spPr>
          <a:xfrm>
            <a:off x="2006353" y="5745963"/>
            <a:ext cx="3329128"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Find the overall best score</a:t>
            </a:r>
          </a:p>
        </p:txBody>
      </p:sp>
      <p:pic>
        <p:nvPicPr>
          <p:cNvPr id="4" name="Picture 3">
            <a:extLst>
              <a:ext uri="{FF2B5EF4-FFF2-40B4-BE49-F238E27FC236}">
                <a16:creationId xmlns:a16="http://schemas.microsoft.com/office/drawing/2014/main" id="{4541869C-9DC1-9123-B67E-02B1FA4B5026}"/>
              </a:ext>
            </a:extLst>
          </p:cNvPr>
          <p:cNvPicPr>
            <a:picLocks noChangeAspect="1"/>
          </p:cNvPicPr>
          <p:nvPr/>
        </p:nvPicPr>
        <p:blipFill>
          <a:blip r:embed="rId3"/>
          <a:stretch>
            <a:fillRect/>
          </a:stretch>
        </p:blipFill>
        <p:spPr>
          <a:xfrm>
            <a:off x="6463720" y="3599417"/>
            <a:ext cx="1422370" cy="442249"/>
          </a:xfrm>
          <a:prstGeom prst="rect">
            <a:avLst/>
          </a:prstGeom>
        </p:spPr>
      </p:pic>
      <p:sp>
        <p:nvSpPr>
          <p:cNvPr id="3" name="Rectangle 2">
            <a:extLst>
              <a:ext uri="{FF2B5EF4-FFF2-40B4-BE49-F238E27FC236}">
                <a16:creationId xmlns:a16="http://schemas.microsoft.com/office/drawing/2014/main" id="{6FA9045E-1D29-0252-5FB1-4C8B0B6C2BF0}"/>
              </a:ext>
            </a:extLst>
          </p:cNvPr>
          <p:cNvSpPr/>
          <p:nvPr/>
        </p:nvSpPr>
        <p:spPr>
          <a:xfrm>
            <a:off x="9922819" y="277580"/>
            <a:ext cx="2113933" cy="6544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Pytorch-BigGraph</a:t>
            </a:r>
            <a:endParaRPr lang="en-US" dirty="0">
              <a:solidFill>
                <a:schemeClr val="tx1"/>
              </a:solidFill>
            </a:endParaRPr>
          </a:p>
        </p:txBody>
      </p:sp>
      <p:sp>
        <p:nvSpPr>
          <p:cNvPr id="16" name="Slide Number Placeholder 15">
            <a:extLst>
              <a:ext uri="{FF2B5EF4-FFF2-40B4-BE49-F238E27FC236}">
                <a16:creationId xmlns:a16="http://schemas.microsoft.com/office/drawing/2014/main" id="{4C669462-7427-0FCB-98B2-B25C4C308D46}"/>
              </a:ext>
            </a:extLst>
          </p:cNvPr>
          <p:cNvSpPr>
            <a:spLocks noGrp="1"/>
          </p:cNvSpPr>
          <p:nvPr>
            <p:ph type="sldNum" sz="quarter" idx="12"/>
          </p:nvPr>
        </p:nvSpPr>
        <p:spPr/>
        <p:txBody>
          <a:bodyPr/>
          <a:lstStyle/>
          <a:p>
            <a:fld id="{7DF2C209-72C5-4BD6-83FD-73557975086B}" type="slidenum">
              <a:rPr lang="en-US" smtClean="0"/>
              <a:t>46</a:t>
            </a:fld>
            <a:endParaRPr lang="en-US"/>
          </a:p>
        </p:txBody>
      </p:sp>
    </p:spTree>
    <p:extLst>
      <p:ext uri="{BB962C8B-B14F-4D97-AF65-F5344CB8AC3E}">
        <p14:creationId xmlns:p14="http://schemas.microsoft.com/office/powerpoint/2010/main" val="169538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sp>
        <p:nvSpPr>
          <p:cNvPr id="4" name="Rectangle 3">
            <a:extLst>
              <a:ext uri="{FF2B5EF4-FFF2-40B4-BE49-F238E27FC236}">
                <a16:creationId xmlns:a16="http://schemas.microsoft.com/office/drawing/2014/main" id="{365ABD6C-419A-EC5D-9A8C-40F6B91F5846}"/>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5C5E383C-A1B7-A0A4-9C2D-840105146C0C}"/>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C3556E-2729-9575-EB28-E38B45E92156}"/>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D630AC0-6084-BF38-8337-6B40F0E06722}"/>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388613-C2B2-7C30-599D-E53F8F3439F3}"/>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299862C-979E-9CAC-35B2-0814E6C3301A}"/>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B6F2034-76EF-959A-B805-B0E54A557027}"/>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1" name="Straight Connector 10">
            <a:extLst>
              <a:ext uri="{FF2B5EF4-FFF2-40B4-BE49-F238E27FC236}">
                <a16:creationId xmlns:a16="http://schemas.microsoft.com/office/drawing/2014/main" id="{B765764C-5FB6-B1E3-E313-15EC73A7D099}"/>
              </a:ext>
            </a:extLst>
          </p:cNvPr>
          <p:cNvCxnSpPr>
            <a:cxnSpLocks/>
            <a:endCxn id="6"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9F7E7C-1808-4575-CDFF-21402C0A790B}"/>
              </a:ext>
            </a:extLst>
          </p:cNvPr>
          <p:cNvCxnSpPr>
            <a:cxnSpLocks/>
            <a:stCxn id="5"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5ED59D-FB22-ECA4-60AD-0E6336A0069F}"/>
              </a:ext>
            </a:extLst>
          </p:cNvPr>
          <p:cNvCxnSpPr>
            <a:cxnSpLocks/>
            <a:endCxn id="8"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FD1703-8753-49DA-7D0D-B6D303150608}"/>
              </a:ext>
            </a:extLst>
          </p:cNvPr>
          <p:cNvCxnSpPr>
            <a:cxnSpLocks/>
            <a:stCxn id="8" idx="3"/>
            <a:endCxn id="7"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01C8F174-A11D-23A2-40AD-7FD8628F77CF}"/>
              </a:ext>
            </a:extLst>
          </p:cNvPr>
          <p:cNvCxnSpPr>
            <a:cxnSpLocks/>
            <a:stCxn id="5" idx="5"/>
            <a:endCxn id="9"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4" name="Rectangle: Rounded Corners 23">
            <a:extLst>
              <a:ext uri="{FF2B5EF4-FFF2-40B4-BE49-F238E27FC236}">
                <a16:creationId xmlns:a16="http://schemas.microsoft.com/office/drawing/2014/main" id="{A8805CCA-AB84-28BD-97A2-E60DB03A38FD}"/>
              </a:ext>
            </a:extLst>
          </p:cNvPr>
          <p:cNvSpPr/>
          <p:nvPr/>
        </p:nvSpPr>
        <p:spPr>
          <a:xfrm>
            <a:off x="1367161" y="2439473"/>
            <a:ext cx="3169328"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Create the wrong edge</a:t>
            </a:r>
          </a:p>
        </p:txBody>
      </p:sp>
      <p:sp>
        <p:nvSpPr>
          <p:cNvPr id="3" name="Arrow: Down 2">
            <a:extLst>
              <a:ext uri="{FF2B5EF4-FFF2-40B4-BE49-F238E27FC236}">
                <a16:creationId xmlns:a16="http://schemas.microsoft.com/office/drawing/2014/main" id="{06843A30-AFA5-7A6D-15A8-4C0DD046C1B4}"/>
              </a:ext>
            </a:extLst>
          </p:cNvPr>
          <p:cNvSpPr/>
          <p:nvPr/>
        </p:nvSpPr>
        <p:spPr>
          <a:xfrm>
            <a:off x="2663301" y="1690688"/>
            <a:ext cx="301841" cy="528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8D781DDA-8697-8A8E-688E-58DA83F2C8A9}"/>
              </a:ext>
            </a:extLst>
          </p:cNvPr>
          <p:cNvSpPr>
            <a:spLocks noGrp="1"/>
          </p:cNvSpPr>
          <p:nvPr>
            <p:ph type="sldNum" sz="quarter" idx="12"/>
          </p:nvPr>
        </p:nvSpPr>
        <p:spPr/>
        <p:txBody>
          <a:bodyPr/>
          <a:lstStyle/>
          <a:p>
            <a:fld id="{7DF2C209-72C5-4BD6-83FD-73557975086B}" type="slidenum">
              <a:rPr lang="en-US" smtClean="0"/>
              <a:t>47</a:t>
            </a:fld>
            <a:endParaRPr lang="en-US"/>
          </a:p>
        </p:txBody>
      </p:sp>
    </p:spTree>
    <p:extLst>
      <p:ext uri="{BB962C8B-B14F-4D97-AF65-F5344CB8AC3E}">
        <p14:creationId xmlns:p14="http://schemas.microsoft.com/office/powerpoint/2010/main" val="283616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pic>
        <p:nvPicPr>
          <p:cNvPr id="26" name="Picture 25">
            <a:extLst>
              <a:ext uri="{FF2B5EF4-FFF2-40B4-BE49-F238E27FC236}">
                <a16:creationId xmlns:a16="http://schemas.microsoft.com/office/drawing/2014/main" id="{45321569-01D1-B344-1A5B-5C485688B0C2}"/>
              </a:ext>
            </a:extLst>
          </p:cNvPr>
          <p:cNvPicPr>
            <a:picLocks noChangeAspect="1"/>
          </p:cNvPicPr>
          <p:nvPr/>
        </p:nvPicPr>
        <p:blipFill>
          <a:blip r:embed="rId3"/>
          <a:stretch>
            <a:fillRect/>
          </a:stretch>
        </p:blipFill>
        <p:spPr>
          <a:xfrm>
            <a:off x="1061791" y="1981369"/>
            <a:ext cx="3093050" cy="2053979"/>
          </a:xfrm>
          <a:prstGeom prst="rect">
            <a:avLst/>
          </a:prstGeom>
        </p:spPr>
      </p:pic>
      <p:pic>
        <p:nvPicPr>
          <p:cNvPr id="1030" name="Picture 6" descr="食物腐壞過程縮時攝影》猜猜把食物放到爛掉需要多少天？ | 點我一下">
            <a:extLst>
              <a:ext uri="{FF2B5EF4-FFF2-40B4-BE49-F238E27FC236}">
                <a16:creationId xmlns:a16="http://schemas.microsoft.com/office/drawing/2014/main" id="{71132554-34B4-9DBE-9E92-70027DFB9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71" y="4326029"/>
            <a:ext cx="3413690" cy="2166846"/>
          </a:xfrm>
          <a:prstGeom prst="rect">
            <a:avLst/>
          </a:prstGeom>
          <a:noFill/>
          <a:extLst>
            <a:ext uri="{909E8E84-426E-40DD-AFC4-6F175D3DCCD1}">
              <a14:hiddenFill xmlns:a14="http://schemas.microsoft.com/office/drawing/2010/main">
                <a:solidFill>
                  <a:srgbClr val="FFFFFF"/>
                </a:solidFill>
              </a14:hiddenFill>
            </a:ext>
          </a:extLst>
        </p:spPr>
      </p:pic>
      <p:sp>
        <p:nvSpPr>
          <p:cNvPr id="27" name="Arrow: Right 26">
            <a:extLst>
              <a:ext uri="{FF2B5EF4-FFF2-40B4-BE49-F238E27FC236}">
                <a16:creationId xmlns:a16="http://schemas.microsoft.com/office/drawing/2014/main" id="{DC8E2473-B9EA-4E67-0DAF-3BB27DCAE54B}"/>
              </a:ext>
            </a:extLst>
          </p:cNvPr>
          <p:cNvSpPr/>
          <p:nvPr/>
        </p:nvSpPr>
        <p:spPr>
          <a:xfrm>
            <a:off x="4882718"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a:extLst>
              <a:ext uri="{FF2B5EF4-FFF2-40B4-BE49-F238E27FC236}">
                <a16:creationId xmlns:a16="http://schemas.microsoft.com/office/drawing/2014/main" id="{0786280C-5D16-A29C-B2DC-C268DF9022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2445798"/>
            <a:ext cx="914400" cy="914400"/>
          </a:xfrm>
          <a:prstGeom prst="rect">
            <a:avLst/>
          </a:prstGeom>
        </p:spPr>
      </p:pic>
      <p:sp>
        <p:nvSpPr>
          <p:cNvPr id="30" name="Arrow: Right 29">
            <a:extLst>
              <a:ext uri="{FF2B5EF4-FFF2-40B4-BE49-F238E27FC236}">
                <a16:creationId xmlns:a16="http://schemas.microsoft.com/office/drawing/2014/main" id="{1E9543FF-DD0C-980E-29BF-304BFBD15FA9}"/>
              </a:ext>
            </a:extLst>
          </p:cNvPr>
          <p:cNvSpPr/>
          <p:nvPr/>
        </p:nvSpPr>
        <p:spPr>
          <a:xfrm>
            <a:off x="7036850"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8A1735EE-5040-1B04-9D24-C156487102A5}"/>
              </a:ext>
            </a:extLst>
          </p:cNvPr>
          <p:cNvSpPr/>
          <p:nvPr/>
        </p:nvSpPr>
        <p:spPr>
          <a:xfrm>
            <a:off x="4882718"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Robot">
            <a:extLst>
              <a:ext uri="{FF2B5EF4-FFF2-40B4-BE49-F238E27FC236}">
                <a16:creationId xmlns:a16="http://schemas.microsoft.com/office/drawing/2014/main" id="{BEA2D7ED-7DED-ED8B-2A10-F96AA0EE9F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4826493"/>
            <a:ext cx="914400" cy="914400"/>
          </a:xfrm>
          <a:prstGeom prst="rect">
            <a:avLst/>
          </a:prstGeom>
        </p:spPr>
      </p:pic>
      <p:sp>
        <p:nvSpPr>
          <p:cNvPr id="33" name="Arrow: Right 32">
            <a:extLst>
              <a:ext uri="{FF2B5EF4-FFF2-40B4-BE49-F238E27FC236}">
                <a16:creationId xmlns:a16="http://schemas.microsoft.com/office/drawing/2014/main" id="{CB3B95F0-89FC-82AB-19F6-335747C106EE}"/>
              </a:ext>
            </a:extLst>
          </p:cNvPr>
          <p:cNvSpPr/>
          <p:nvPr/>
        </p:nvSpPr>
        <p:spPr>
          <a:xfrm>
            <a:off x="7036850"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peech Bubble: Rectangle 33">
            <a:extLst>
              <a:ext uri="{FF2B5EF4-FFF2-40B4-BE49-F238E27FC236}">
                <a16:creationId xmlns:a16="http://schemas.microsoft.com/office/drawing/2014/main" id="{6016844D-77FC-7CFF-770F-44BDA4AF80AC}"/>
              </a:ext>
            </a:extLst>
          </p:cNvPr>
          <p:cNvSpPr/>
          <p:nvPr/>
        </p:nvSpPr>
        <p:spPr>
          <a:xfrm>
            <a:off x="8149701" y="2535060"/>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
        <p:nvSpPr>
          <p:cNvPr id="35" name="Speech Bubble: Rectangle 34">
            <a:extLst>
              <a:ext uri="{FF2B5EF4-FFF2-40B4-BE49-F238E27FC236}">
                <a16:creationId xmlns:a16="http://schemas.microsoft.com/office/drawing/2014/main" id="{DEC92549-D516-6359-22B5-5A343376CD62}"/>
              </a:ext>
            </a:extLst>
          </p:cNvPr>
          <p:cNvSpPr/>
          <p:nvPr/>
        </p:nvSpPr>
        <p:spPr>
          <a:xfrm>
            <a:off x="8149701" y="4921928"/>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
        <p:nvSpPr>
          <p:cNvPr id="3" name="Slide Number Placeholder 2">
            <a:extLst>
              <a:ext uri="{FF2B5EF4-FFF2-40B4-BE49-F238E27FC236}">
                <a16:creationId xmlns:a16="http://schemas.microsoft.com/office/drawing/2014/main" id="{42390436-4152-BBBB-5B8E-7E7A914B2C26}"/>
              </a:ext>
            </a:extLst>
          </p:cNvPr>
          <p:cNvSpPr>
            <a:spLocks noGrp="1"/>
          </p:cNvSpPr>
          <p:nvPr>
            <p:ph type="sldNum" sz="quarter" idx="12"/>
          </p:nvPr>
        </p:nvSpPr>
        <p:spPr/>
        <p:txBody>
          <a:bodyPr/>
          <a:lstStyle/>
          <a:p>
            <a:fld id="{7DF2C209-72C5-4BD6-83FD-73557975086B}" type="slidenum">
              <a:rPr lang="en-US" smtClean="0"/>
              <a:t>48</a:t>
            </a:fld>
            <a:endParaRPr lang="en-US"/>
          </a:p>
        </p:txBody>
      </p:sp>
    </p:spTree>
    <p:extLst>
      <p:ext uri="{BB962C8B-B14F-4D97-AF65-F5344CB8AC3E}">
        <p14:creationId xmlns:p14="http://schemas.microsoft.com/office/powerpoint/2010/main" val="26116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30"/>
                                        </p:tgtEl>
                                        <p:attrNameLst>
                                          <p:attrName>style.visibility</p:attrName>
                                        </p:attrNameLst>
                                      </p:cBhvr>
                                      <p:to>
                                        <p:strVal val="visible"/>
                                      </p:to>
                                    </p:set>
                                    <p:animEffect transition="in" filter="fade">
                                      <p:cBhvr>
                                        <p:cTn id="23" dur="500"/>
                                        <p:tgtEl>
                                          <p:spTgt spid="10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1" grpId="0" animBg="1"/>
      <p:bldP spid="33" grpId="0" animBg="1"/>
      <p:bldP spid="34" grpId="0" animBg="1"/>
      <p:bldP spid="3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 </a:t>
            </a:r>
            <a:endParaRPr lang="en-US" dirty="0"/>
          </a:p>
        </p:txBody>
      </p:sp>
      <p:pic>
        <p:nvPicPr>
          <p:cNvPr id="26" name="Picture 25">
            <a:extLst>
              <a:ext uri="{FF2B5EF4-FFF2-40B4-BE49-F238E27FC236}">
                <a16:creationId xmlns:a16="http://schemas.microsoft.com/office/drawing/2014/main" id="{45321569-01D1-B344-1A5B-5C485688B0C2}"/>
              </a:ext>
            </a:extLst>
          </p:cNvPr>
          <p:cNvPicPr>
            <a:picLocks noChangeAspect="1"/>
          </p:cNvPicPr>
          <p:nvPr/>
        </p:nvPicPr>
        <p:blipFill>
          <a:blip r:embed="rId3"/>
          <a:stretch>
            <a:fillRect/>
          </a:stretch>
        </p:blipFill>
        <p:spPr>
          <a:xfrm>
            <a:off x="1061791" y="1981369"/>
            <a:ext cx="3093050" cy="2053979"/>
          </a:xfrm>
          <a:prstGeom prst="rect">
            <a:avLst/>
          </a:prstGeom>
        </p:spPr>
      </p:pic>
      <p:pic>
        <p:nvPicPr>
          <p:cNvPr id="1030" name="Picture 6" descr="食物腐壞過程縮時攝影》猜猜把食物放到爛掉需要多少天？ | 點我一下">
            <a:extLst>
              <a:ext uri="{FF2B5EF4-FFF2-40B4-BE49-F238E27FC236}">
                <a16:creationId xmlns:a16="http://schemas.microsoft.com/office/drawing/2014/main" id="{71132554-34B4-9DBE-9E92-70027DFB9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71" y="4326029"/>
            <a:ext cx="3413690" cy="2166846"/>
          </a:xfrm>
          <a:prstGeom prst="rect">
            <a:avLst/>
          </a:prstGeom>
          <a:noFill/>
          <a:extLst>
            <a:ext uri="{909E8E84-426E-40DD-AFC4-6F175D3DCCD1}">
              <a14:hiddenFill xmlns:a14="http://schemas.microsoft.com/office/drawing/2010/main">
                <a:solidFill>
                  <a:srgbClr val="FFFFFF"/>
                </a:solidFill>
              </a14:hiddenFill>
            </a:ext>
          </a:extLst>
        </p:spPr>
      </p:pic>
      <p:sp>
        <p:nvSpPr>
          <p:cNvPr id="27" name="Arrow: Right 26">
            <a:extLst>
              <a:ext uri="{FF2B5EF4-FFF2-40B4-BE49-F238E27FC236}">
                <a16:creationId xmlns:a16="http://schemas.microsoft.com/office/drawing/2014/main" id="{DC8E2473-B9EA-4E67-0DAF-3BB27DCAE54B}"/>
              </a:ext>
            </a:extLst>
          </p:cNvPr>
          <p:cNvSpPr/>
          <p:nvPr/>
        </p:nvSpPr>
        <p:spPr>
          <a:xfrm>
            <a:off x="4882718"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a:extLst>
              <a:ext uri="{FF2B5EF4-FFF2-40B4-BE49-F238E27FC236}">
                <a16:creationId xmlns:a16="http://schemas.microsoft.com/office/drawing/2014/main" id="{0786280C-5D16-A29C-B2DC-C268DF9022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2445798"/>
            <a:ext cx="914400" cy="914400"/>
          </a:xfrm>
          <a:prstGeom prst="rect">
            <a:avLst/>
          </a:prstGeom>
        </p:spPr>
      </p:pic>
      <p:sp>
        <p:nvSpPr>
          <p:cNvPr id="30" name="Arrow: Right 29">
            <a:extLst>
              <a:ext uri="{FF2B5EF4-FFF2-40B4-BE49-F238E27FC236}">
                <a16:creationId xmlns:a16="http://schemas.microsoft.com/office/drawing/2014/main" id="{1E9543FF-DD0C-980E-29BF-304BFBD15FA9}"/>
              </a:ext>
            </a:extLst>
          </p:cNvPr>
          <p:cNvSpPr/>
          <p:nvPr/>
        </p:nvSpPr>
        <p:spPr>
          <a:xfrm>
            <a:off x="7036850"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8A1735EE-5040-1B04-9D24-C156487102A5}"/>
              </a:ext>
            </a:extLst>
          </p:cNvPr>
          <p:cNvSpPr/>
          <p:nvPr/>
        </p:nvSpPr>
        <p:spPr>
          <a:xfrm>
            <a:off x="4882718"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Robot">
            <a:extLst>
              <a:ext uri="{FF2B5EF4-FFF2-40B4-BE49-F238E27FC236}">
                <a16:creationId xmlns:a16="http://schemas.microsoft.com/office/drawing/2014/main" id="{BEA2D7ED-7DED-ED8B-2A10-F96AA0EE9F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4826493"/>
            <a:ext cx="914400" cy="914400"/>
          </a:xfrm>
          <a:prstGeom prst="rect">
            <a:avLst/>
          </a:prstGeom>
        </p:spPr>
      </p:pic>
      <p:sp>
        <p:nvSpPr>
          <p:cNvPr id="33" name="Arrow: Right 32">
            <a:extLst>
              <a:ext uri="{FF2B5EF4-FFF2-40B4-BE49-F238E27FC236}">
                <a16:creationId xmlns:a16="http://schemas.microsoft.com/office/drawing/2014/main" id="{CB3B95F0-89FC-82AB-19F6-335747C106EE}"/>
              </a:ext>
            </a:extLst>
          </p:cNvPr>
          <p:cNvSpPr/>
          <p:nvPr/>
        </p:nvSpPr>
        <p:spPr>
          <a:xfrm>
            <a:off x="7036850"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peech Bubble: Rectangle 33">
            <a:extLst>
              <a:ext uri="{FF2B5EF4-FFF2-40B4-BE49-F238E27FC236}">
                <a16:creationId xmlns:a16="http://schemas.microsoft.com/office/drawing/2014/main" id="{6016844D-77FC-7CFF-770F-44BDA4AF80AC}"/>
              </a:ext>
            </a:extLst>
          </p:cNvPr>
          <p:cNvSpPr/>
          <p:nvPr/>
        </p:nvSpPr>
        <p:spPr>
          <a:xfrm>
            <a:off x="8149701" y="2535060"/>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
        <p:nvSpPr>
          <p:cNvPr id="35" name="Speech Bubble: Rectangle 34">
            <a:extLst>
              <a:ext uri="{FF2B5EF4-FFF2-40B4-BE49-F238E27FC236}">
                <a16:creationId xmlns:a16="http://schemas.microsoft.com/office/drawing/2014/main" id="{DEC92549-D516-6359-22B5-5A343376CD62}"/>
              </a:ext>
            </a:extLst>
          </p:cNvPr>
          <p:cNvSpPr/>
          <p:nvPr/>
        </p:nvSpPr>
        <p:spPr>
          <a:xfrm>
            <a:off x="8149701" y="4921928"/>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Disgusting</a:t>
            </a:r>
          </a:p>
        </p:txBody>
      </p:sp>
      <p:sp>
        <p:nvSpPr>
          <p:cNvPr id="5" name="Rectangle: Rounded Corners 4">
            <a:extLst>
              <a:ext uri="{FF2B5EF4-FFF2-40B4-BE49-F238E27FC236}">
                <a16:creationId xmlns:a16="http://schemas.microsoft.com/office/drawing/2014/main" id="{491B589E-BED3-FA46-ED08-2798532B2C5C}"/>
              </a:ext>
            </a:extLst>
          </p:cNvPr>
          <p:cNvSpPr/>
          <p:nvPr/>
        </p:nvSpPr>
        <p:spPr>
          <a:xfrm>
            <a:off x="873051" y="6030439"/>
            <a:ext cx="3413690" cy="3259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200" dirty="0">
                <a:solidFill>
                  <a:srgbClr val="000000"/>
                </a:solidFill>
                <a:effectLst/>
                <a:latin typeface="Calibri Light" panose="020F0302020204030204" pitchFamily="34" charset="0"/>
                <a:ea typeface="+mj-ea"/>
                <a:cs typeface="+mj-cs"/>
              </a:rPr>
              <a:t>rotten food = disgusting</a:t>
            </a:r>
            <a:endParaRPr lang="en-US" dirty="0">
              <a:solidFill>
                <a:schemeClr val="tx1"/>
              </a:solidFill>
            </a:endParaRPr>
          </a:p>
        </p:txBody>
      </p:sp>
      <p:sp>
        <p:nvSpPr>
          <p:cNvPr id="3" name="Slide Number Placeholder 2">
            <a:extLst>
              <a:ext uri="{FF2B5EF4-FFF2-40B4-BE49-F238E27FC236}">
                <a16:creationId xmlns:a16="http://schemas.microsoft.com/office/drawing/2014/main" id="{32847B6D-C923-DCAF-EA25-3B99543FC427}"/>
              </a:ext>
            </a:extLst>
          </p:cNvPr>
          <p:cNvSpPr>
            <a:spLocks noGrp="1"/>
          </p:cNvSpPr>
          <p:nvPr>
            <p:ph type="sldNum" sz="quarter" idx="12"/>
          </p:nvPr>
        </p:nvSpPr>
        <p:spPr/>
        <p:txBody>
          <a:bodyPr/>
          <a:lstStyle/>
          <a:p>
            <a:fld id="{7DF2C209-72C5-4BD6-83FD-73557975086B}" type="slidenum">
              <a:rPr lang="en-US" smtClean="0"/>
              <a:t>49</a:t>
            </a:fld>
            <a:endParaRPr lang="en-US"/>
          </a:p>
        </p:txBody>
      </p:sp>
    </p:spTree>
    <p:extLst>
      <p:ext uri="{BB962C8B-B14F-4D97-AF65-F5344CB8AC3E}">
        <p14:creationId xmlns:p14="http://schemas.microsoft.com/office/powerpoint/2010/main" val="264893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500"/>
                                        <p:tgtEl>
                                          <p:spTgt spid="10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par>
                                <p:cTn id="27" presetID="10"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1" grpId="0" animBg="1"/>
      <p:bldP spid="33" grpId="0" animBg="1"/>
      <p:bldP spid="34" grpId="0" animBg="1"/>
      <p:bldP spid="3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sp>
        <p:nvSpPr>
          <p:cNvPr id="4" name="Rectangle 3">
            <a:extLst>
              <a:ext uri="{FF2B5EF4-FFF2-40B4-BE49-F238E27FC236}">
                <a16:creationId xmlns:a16="http://schemas.microsoft.com/office/drawing/2014/main" id="{365ABD6C-419A-EC5D-9A8C-40F6B91F5846}"/>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5C5E383C-A1B7-A0A4-9C2D-840105146C0C}"/>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C3556E-2729-9575-EB28-E38B45E92156}"/>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D630AC0-6084-BF38-8337-6B40F0E06722}"/>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388613-C2B2-7C30-599D-E53F8F3439F3}"/>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299862C-979E-9CAC-35B2-0814E6C3301A}"/>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B6F2034-76EF-959A-B805-B0E54A557027}"/>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1" name="Straight Connector 10">
            <a:extLst>
              <a:ext uri="{FF2B5EF4-FFF2-40B4-BE49-F238E27FC236}">
                <a16:creationId xmlns:a16="http://schemas.microsoft.com/office/drawing/2014/main" id="{B765764C-5FB6-B1E3-E313-15EC73A7D099}"/>
              </a:ext>
            </a:extLst>
          </p:cNvPr>
          <p:cNvCxnSpPr>
            <a:cxnSpLocks/>
            <a:endCxn id="6"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9F7E7C-1808-4575-CDFF-21402C0A790B}"/>
              </a:ext>
            </a:extLst>
          </p:cNvPr>
          <p:cNvCxnSpPr>
            <a:cxnSpLocks/>
            <a:stCxn id="5"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5ED59D-FB22-ECA4-60AD-0E6336A0069F}"/>
              </a:ext>
            </a:extLst>
          </p:cNvPr>
          <p:cNvCxnSpPr>
            <a:cxnSpLocks/>
            <a:endCxn id="8"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FD1703-8753-49DA-7D0D-B6D303150608}"/>
              </a:ext>
            </a:extLst>
          </p:cNvPr>
          <p:cNvCxnSpPr>
            <a:cxnSpLocks/>
            <a:stCxn id="8" idx="3"/>
            <a:endCxn id="7"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01C8F174-A11D-23A2-40AD-7FD8628F77CF}"/>
              </a:ext>
            </a:extLst>
          </p:cNvPr>
          <p:cNvCxnSpPr>
            <a:cxnSpLocks/>
            <a:stCxn id="5" idx="5"/>
            <a:endCxn id="9"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4" name="Rectangle: Rounded Corners 23">
            <a:extLst>
              <a:ext uri="{FF2B5EF4-FFF2-40B4-BE49-F238E27FC236}">
                <a16:creationId xmlns:a16="http://schemas.microsoft.com/office/drawing/2014/main" id="{A8805CCA-AB84-28BD-97A2-E60DB03A38FD}"/>
              </a:ext>
            </a:extLst>
          </p:cNvPr>
          <p:cNvSpPr/>
          <p:nvPr/>
        </p:nvSpPr>
        <p:spPr>
          <a:xfrm>
            <a:off x="1367161" y="2439473"/>
            <a:ext cx="3169328"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Create the wrong edge</a:t>
            </a:r>
          </a:p>
        </p:txBody>
      </p:sp>
      <p:sp>
        <p:nvSpPr>
          <p:cNvPr id="3" name="Arrow: Down 2">
            <a:extLst>
              <a:ext uri="{FF2B5EF4-FFF2-40B4-BE49-F238E27FC236}">
                <a16:creationId xmlns:a16="http://schemas.microsoft.com/office/drawing/2014/main" id="{06843A30-AFA5-7A6D-15A8-4C0DD046C1B4}"/>
              </a:ext>
            </a:extLst>
          </p:cNvPr>
          <p:cNvSpPr/>
          <p:nvPr/>
        </p:nvSpPr>
        <p:spPr>
          <a:xfrm>
            <a:off x="2663301" y="1690688"/>
            <a:ext cx="301841" cy="528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4">
            <a:extLst>
              <a:ext uri="{FF2B5EF4-FFF2-40B4-BE49-F238E27FC236}">
                <a16:creationId xmlns:a16="http://schemas.microsoft.com/office/drawing/2014/main" id="{84E8B41E-C246-1A41-CD7D-8CCC7A3B6814}"/>
              </a:ext>
            </a:extLst>
          </p:cNvPr>
          <p:cNvSpPr/>
          <p:nvPr/>
        </p:nvSpPr>
        <p:spPr>
          <a:xfrm>
            <a:off x="2663301" y="3068639"/>
            <a:ext cx="301841" cy="5980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0F963A5-9FEF-6761-8A0C-77A47F8223C5}"/>
              </a:ext>
            </a:extLst>
          </p:cNvPr>
          <p:cNvSpPr/>
          <p:nvPr/>
        </p:nvSpPr>
        <p:spPr>
          <a:xfrm>
            <a:off x="461726" y="3940298"/>
            <a:ext cx="5269117"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rPr>
              <a:t>Calculate the weight of each edge</a:t>
            </a:r>
            <a:endParaRPr lang="en-US" sz="2400" dirty="0">
              <a:solidFill>
                <a:schemeClr val="tx1"/>
              </a:solidFill>
            </a:endParaRPr>
          </a:p>
        </p:txBody>
      </p:sp>
      <p:cxnSp>
        <p:nvCxnSpPr>
          <p:cNvPr id="18" name="Straight Connector 17">
            <a:extLst>
              <a:ext uri="{FF2B5EF4-FFF2-40B4-BE49-F238E27FC236}">
                <a16:creationId xmlns:a16="http://schemas.microsoft.com/office/drawing/2014/main" id="{0EFA8690-FC58-3A21-06D9-42C749CB90E5}"/>
              </a:ext>
            </a:extLst>
          </p:cNvPr>
          <p:cNvCxnSpPr>
            <a:cxnSpLocks/>
            <a:stCxn id="5" idx="4"/>
            <a:endCxn id="7" idx="0"/>
          </p:cNvCxnSpPr>
          <p:nvPr/>
        </p:nvCxnSpPr>
        <p:spPr>
          <a:xfrm>
            <a:off x="9380007" y="3938325"/>
            <a:ext cx="172511" cy="145170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90D8A03B-FAD9-2F85-9469-35E92C5AB2D3}"/>
              </a:ext>
            </a:extLst>
          </p:cNvPr>
          <p:cNvSpPr/>
          <p:nvPr/>
        </p:nvSpPr>
        <p:spPr>
          <a:xfrm>
            <a:off x="1367161" y="5365265"/>
            <a:ext cx="3169328"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Calculate the score</a:t>
            </a:r>
          </a:p>
        </p:txBody>
      </p:sp>
      <p:sp>
        <p:nvSpPr>
          <p:cNvPr id="25" name="Arrow: Down 24">
            <a:extLst>
              <a:ext uri="{FF2B5EF4-FFF2-40B4-BE49-F238E27FC236}">
                <a16:creationId xmlns:a16="http://schemas.microsoft.com/office/drawing/2014/main" id="{28A0105B-244B-FF2C-735A-B2025FE02AA0}"/>
              </a:ext>
            </a:extLst>
          </p:cNvPr>
          <p:cNvSpPr/>
          <p:nvPr/>
        </p:nvSpPr>
        <p:spPr>
          <a:xfrm>
            <a:off x="2663301" y="4616480"/>
            <a:ext cx="301841" cy="528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lide Number Placeholder 18">
            <a:extLst>
              <a:ext uri="{FF2B5EF4-FFF2-40B4-BE49-F238E27FC236}">
                <a16:creationId xmlns:a16="http://schemas.microsoft.com/office/drawing/2014/main" id="{E7E5444A-4F99-40BA-7AB9-51E3164BDC7D}"/>
              </a:ext>
            </a:extLst>
          </p:cNvPr>
          <p:cNvSpPr>
            <a:spLocks noGrp="1"/>
          </p:cNvSpPr>
          <p:nvPr>
            <p:ph type="sldNum" sz="quarter" idx="12"/>
          </p:nvPr>
        </p:nvSpPr>
        <p:spPr/>
        <p:txBody>
          <a:bodyPr/>
          <a:lstStyle/>
          <a:p>
            <a:fld id="{7DF2C209-72C5-4BD6-83FD-73557975086B}" type="slidenum">
              <a:rPr lang="en-US" smtClean="0"/>
              <a:t>50</a:t>
            </a:fld>
            <a:endParaRPr lang="en-US"/>
          </a:p>
        </p:txBody>
      </p:sp>
    </p:spTree>
    <p:extLst>
      <p:ext uri="{BB962C8B-B14F-4D97-AF65-F5344CB8AC3E}">
        <p14:creationId xmlns:p14="http://schemas.microsoft.com/office/powerpoint/2010/main" val="318991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3" grpId="0" animBg="1"/>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fontScale="90000"/>
          </a:bodyPr>
          <a:lstStyle/>
          <a:p>
            <a:r>
              <a:rPr lang="en-US" sz="6000" dirty="0"/>
              <a:t>Evaluation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4141803" y="3429000"/>
            <a:ext cx="2868730" cy="585215"/>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Model Training</a:t>
            </a:r>
            <a:endParaRPr lang="en-US" sz="3200" dirty="0"/>
          </a:p>
        </p:txBody>
      </p:sp>
      <p:sp>
        <p:nvSpPr>
          <p:cNvPr id="3" name="Slide Number Placeholder 2">
            <a:extLst>
              <a:ext uri="{FF2B5EF4-FFF2-40B4-BE49-F238E27FC236}">
                <a16:creationId xmlns:a16="http://schemas.microsoft.com/office/drawing/2014/main" id="{CEAA0549-DFE2-9B92-A350-A5405DB464D6}"/>
              </a:ext>
            </a:extLst>
          </p:cNvPr>
          <p:cNvSpPr>
            <a:spLocks noGrp="1"/>
          </p:cNvSpPr>
          <p:nvPr>
            <p:ph type="sldNum" sz="quarter" idx="12"/>
          </p:nvPr>
        </p:nvSpPr>
        <p:spPr/>
        <p:txBody>
          <a:bodyPr/>
          <a:lstStyle/>
          <a:p>
            <a:fld id="{7DF2C209-72C5-4BD6-83FD-73557975086B}" type="slidenum">
              <a:rPr lang="en-US" smtClean="0"/>
              <a:t>51</a:t>
            </a:fld>
            <a:endParaRPr lang="en-US"/>
          </a:p>
        </p:txBody>
      </p:sp>
    </p:spTree>
    <p:extLst>
      <p:ext uri="{BB962C8B-B14F-4D97-AF65-F5344CB8AC3E}">
        <p14:creationId xmlns:p14="http://schemas.microsoft.com/office/powerpoint/2010/main" val="3187254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7ABA25B-C67B-8B09-E984-21E17C3BE44A}"/>
              </a:ext>
            </a:extLst>
          </p:cNvPr>
          <p:cNvSpPr/>
          <p:nvPr/>
        </p:nvSpPr>
        <p:spPr>
          <a:xfrm>
            <a:off x="645195" y="3529966"/>
            <a:ext cx="7569728" cy="259689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150000"/>
              </a:lnSpc>
              <a:buAutoNum type="arabicPeriod"/>
            </a:pPr>
            <a:r>
              <a:rPr lang="en-US" sz="2400" dirty="0" err="1">
                <a:solidFill>
                  <a:srgbClr val="FF0000"/>
                </a:solidFill>
              </a:rPr>
              <a:t>MRR</a:t>
            </a:r>
            <a:r>
              <a:rPr lang="en-US" sz="2400" b="0" i="0" dirty="0" err="1">
                <a:solidFill>
                  <a:srgbClr val="FF0000"/>
                </a:solidFill>
                <a:effectLst/>
                <a:latin typeface="Söhne"/>
              </a:rPr>
              <a:t>（Mean</a:t>
            </a:r>
            <a:r>
              <a:rPr lang="en-US" sz="2400" b="0" i="0" dirty="0">
                <a:solidFill>
                  <a:srgbClr val="FF0000"/>
                </a:solidFill>
                <a:effectLst/>
                <a:latin typeface="Söhne"/>
              </a:rPr>
              <a:t> Reciprocal Rank）</a:t>
            </a:r>
            <a:endParaRPr lang="en-US" sz="2400" dirty="0">
              <a:solidFill>
                <a:srgbClr val="FF0000"/>
              </a:solidFill>
            </a:endParaRPr>
          </a:p>
          <a:p>
            <a:pPr marL="457200" indent="-457200">
              <a:lnSpc>
                <a:spcPct val="150000"/>
              </a:lnSpc>
              <a:buAutoNum type="arabicPeriod"/>
            </a:pPr>
            <a:r>
              <a:rPr lang="en-US" sz="2400" dirty="0">
                <a:solidFill>
                  <a:schemeClr val="tx1"/>
                </a:solidFill>
              </a:rPr>
              <a:t>R1: the frequency of the correct answer is ranked </a:t>
            </a:r>
            <a:r>
              <a:rPr lang="en-US" sz="2400" dirty="0">
                <a:solidFill>
                  <a:srgbClr val="FF0000"/>
                </a:solidFill>
              </a:rPr>
              <a:t>first</a:t>
            </a:r>
          </a:p>
          <a:p>
            <a:pPr marL="457200" indent="-457200">
              <a:lnSpc>
                <a:spcPct val="150000"/>
              </a:lnSpc>
              <a:buAutoNum type="arabicPeriod"/>
            </a:pPr>
            <a:r>
              <a:rPr lang="en-US" sz="2400" dirty="0">
                <a:solidFill>
                  <a:schemeClr val="tx1"/>
                </a:solidFill>
              </a:rPr>
              <a:t>R10: same above, but range is wider to </a:t>
            </a:r>
            <a:r>
              <a:rPr lang="en-US" sz="2400" dirty="0">
                <a:solidFill>
                  <a:srgbClr val="FF0000"/>
                </a:solidFill>
              </a:rPr>
              <a:t>10%</a:t>
            </a:r>
          </a:p>
          <a:p>
            <a:pPr marL="457200" indent="-457200">
              <a:lnSpc>
                <a:spcPct val="150000"/>
              </a:lnSpc>
              <a:buAutoNum type="arabicPeriod"/>
            </a:pPr>
            <a:r>
              <a:rPr lang="en-US" sz="2400" dirty="0">
                <a:solidFill>
                  <a:schemeClr val="tx1"/>
                </a:solidFill>
              </a:rPr>
              <a:t>R50: same above, but range is wider to </a:t>
            </a:r>
            <a:r>
              <a:rPr lang="en-US" sz="2400" dirty="0">
                <a:solidFill>
                  <a:srgbClr val="FF0000"/>
                </a:solidFill>
              </a:rPr>
              <a:t>50%</a:t>
            </a:r>
          </a:p>
          <a:p>
            <a:pPr marL="457200" indent="-457200">
              <a:lnSpc>
                <a:spcPct val="150000"/>
              </a:lnSpc>
              <a:buAutoNum type="arabicPeriod"/>
            </a:pPr>
            <a:r>
              <a:rPr lang="en-US" sz="2400" dirty="0" err="1">
                <a:solidFill>
                  <a:schemeClr val="tx1"/>
                </a:solidFill>
              </a:rPr>
              <a:t>AUC（Area</a:t>
            </a:r>
            <a:r>
              <a:rPr lang="en-US" sz="2400" dirty="0">
                <a:solidFill>
                  <a:schemeClr val="tx1"/>
                </a:solidFill>
              </a:rPr>
              <a:t> Under the Curve）</a:t>
            </a:r>
          </a:p>
        </p:txBody>
      </p:sp>
      <p:sp>
        <p:nvSpPr>
          <p:cNvPr id="6" name="Title 1">
            <a:extLst>
              <a:ext uri="{FF2B5EF4-FFF2-40B4-BE49-F238E27FC236}">
                <a16:creationId xmlns:a16="http://schemas.microsoft.com/office/drawing/2014/main" id="{66950F30-FE79-40BB-964E-60EE94B796E2}"/>
              </a:ext>
            </a:extLst>
          </p:cNvPr>
          <p:cNvSpPr>
            <a:spLocks noGrp="1"/>
          </p:cNvSpPr>
          <p:nvPr>
            <p:ph type="title"/>
          </p:nvPr>
        </p:nvSpPr>
        <p:spPr>
          <a:xfrm>
            <a:off x="838200" y="365125"/>
            <a:ext cx="10515600" cy="1325563"/>
          </a:xfrm>
        </p:spPr>
        <p:txBody>
          <a:bodyPr/>
          <a:lstStyle/>
          <a:p>
            <a:r>
              <a:rPr lang="en-US" altLang="zh-TW" sz="4400" dirty="0">
                <a:solidFill>
                  <a:schemeClr val="tx1"/>
                </a:solidFill>
              </a:rPr>
              <a:t>Can our model predict precisely?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9E6FEEBD-59E9-3DE0-50C3-55B63393F016}"/>
              </a:ext>
            </a:extLst>
          </p:cNvPr>
          <p:cNvSpPr/>
          <p:nvPr/>
        </p:nvSpPr>
        <p:spPr>
          <a:xfrm>
            <a:off x="838200" y="1673352"/>
            <a:ext cx="4140575" cy="87782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In this case….</a:t>
            </a:r>
          </a:p>
        </p:txBody>
      </p:sp>
      <p:sp>
        <p:nvSpPr>
          <p:cNvPr id="9" name="TextBox 8">
            <a:extLst>
              <a:ext uri="{FF2B5EF4-FFF2-40B4-BE49-F238E27FC236}">
                <a16:creationId xmlns:a16="http://schemas.microsoft.com/office/drawing/2014/main" id="{12A2F6D0-9E38-CAD0-3A04-8B9ED9AA39A6}"/>
              </a:ext>
            </a:extLst>
          </p:cNvPr>
          <p:cNvSpPr txBox="1"/>
          <p:nvPr/>
        </p:nvSpPr>
        <p:spPr>
          <a:xfrm>
            <a:off x="838200" y="2677406"/>
            <a:ext cx="5257800" cy="461665"/>
          </a:xfrm>
          <a:prstGeom prst="rect">
            <a:avLst/>
          </a:prstGeom>
          <a:noFill/>
        </p:spPr>
        <p:txBody>
          <a:bodyPr wrap="square">
            <a:spAutoFit/>
          </a:bodyPr>
          <a:lstStyle/>
          <a:p>
            <a:r>
              <a:rPr lang="en-US" sz="2400" dirty="0">
                <a:solidFill>
                  <a:srgbClr val="0070C0"/>
                </a:solidFill>
              </a:rPr>
              <a:t>The connection of the edges and nodes</a:t>
            </a:r>
          </a:p>
        </p:txBody>
      </p:sp>
      <p:sp>
        <p:nvSpPr>
          <p:cNvPr id="10" name="Rectangle 9">
            <a:extLst>
              <a:ext uri="{FF2B5EF4-FFF2-40B4-BE49-F238E27FC236}">
                <a16:creationId xmlns:a16="http://schemas.microsoft.com/office/drawing/2014/main" id="{EC162B32-C0FE-19F9-CFFB-991120371F0D}"/>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BE401656-57A8-CCE5-885E-8FB3BAD29D96}"/>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6C4682-432A-0F36-CE18-01759334EBD9}"/>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9F70A71-2A21-285A-F1D5-F27D73685AD3}"/>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4BDACA-9BA2-7675-21CD-02B7E4A181AA}"/>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73DFEE8-5C7C-8A99-7AD5-F592A75CCD46}"/>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543910-F86C-AB67-2697-1DEDAAA88338}"/>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7" name="Straight Connector 16">
            <a:extLst>
              <a:ext uri="{FF2B5EF4-FFF2-40B4-BE49-F238E27FC236}">
                <a16:creationId xmlns:a16="http://schemas.microsoft.com/office/drawing/2014/main" id="{F62AC340-96B1-3095-BBEC-F0E6DFEECBDD}"/>
              </a:ext>
            </a:extLst>
          </p:cNvPr>
          <p:cNvCxnSpPr>
            <a:cxnSpLocks/>
            <a:endCxn id="12"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9CDBA6-5D79-D3FB-C16C-3782AF09B175}"/>
              </a:ext>
            </a:extLst>
          </p:cNvPr>
          <p:cNvCxnSpPr>
            <a:cxnSpLocks/>
            <a:stCxn id="11"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6FF5FE-5B7C-BF79-051D-79B8F48AFAB4}"/>
              </a:ext>
            </a:extLst>
          </p:cNvPr>
          <p:cNvCxnSpPr>
            <a:cxnSpLocks/>
            <a:endCxn id="14"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FC710FD-7C09-A652-BA7F-E3A21120CC0A}"/>
              </a:ext>
            </a:extLst>
          </p:cNvPr>
          <p:cNvCxnSpPr>
            <a:cxnSpLocks/>
            <a:stCxn id="14" idx="3"/>
            <a:endCxn id="13"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9C1E58CD-F0BB-F2FF-085D-9B83C5974A79}"/>
              </a:ext>
            </a:extLst>
          </p:cNvPr>
          <p:cNvCxnSpPr>
            <a:cxnSpLocks/>
            <a:stCxn id="11" idx="5"/>
            <a:endCxn id="15"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2" name="Cross 21">
            <a:extLst>
              <a:ext uri="{FF2B5EF4-FFF2-40B4-BE49-F238E27FC236}">
                <a16:creationId xmlns:a16="http://schemas.microsoft.com/office/drawing/2014/main" id="{C4FEF157-3AC6-02F8-7671-EC20DE78149A}"/>
              </a:ext>
            </a:extLst>
          </p:cNvPr>
          <p:cNvSpPr/>
          <p:nvPr/>
        </p:nvSpPr>
        <p:spPr>
          <a:xfrm rot="2684369">
            <a:off x="9674141" y="4333510"/>
            <a:ext cx="393657" cy="405941"/>
          </a:xfrm>
          <a:prstGeom prst="plus">
            <a:avLst>
              <a:gd name="adj" fmla="val 4536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ross 22">
            <a:extLst>
              <a:ext uri="{FF2B5EF4-FFF2-40B4-BE49-F238E27FC236}">
                <a16:creationId xmlns:a16="http://schemas.microsoft.com/office/drawing/2014/main" id="{2949B606-4E29-267D-841D-528633667308}"/>
              </a:ext>
            </a:extLst>
          </p:cNvPr>
          <p:cNvSpPr/>
          <p:nvPr/>
        </p:nvSpPr>
        <p:spPr>
          <a:xfrm rot="4063765">
            <a:off x="9684794" y="4905098"/>
            <a:ext cx="393657" cy="405941"/>
          </a:xfrm>
          <a:prstGeom prst="plus">
            <a:avLst>
              <a:gd name="adj" fmla="val 4536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7AE74F2-C9E8-41F1-7DE1-3127FD00F133}"/>
              </a:ext>
            </a:extLst>
          </p:cNvPr>
          <p:cNvSpPr>
            <a:spLocks noGrp="1"/>
          </p:cNvSpPr>
          <p:nvPr>
            <p:ph type="sldNum" sz="quarter" idx="12"/>
          </p:nvPr>
        </p:nvSpPr>
        <p:spPr/>
        <p:txBody>
          <a:bodyPr/>
          <a:lstStyle/>
          <a:p>
            <a:fld id="{7DF2C209-72C5-4BD6-83FD-73557975086B}" type="slidenum">
              <a:rPr lang="en-US" smtClean="0"/>
              <a:t>52</a:t>
            </a:fld>
            <a:endParaRPr lang="en-US"/>
          </a:p>
        </p:txBody>
      </p:sp>
    </p:spTree>
    <p:extLst>
      <p:ext uri="{BB962C8B-B14F-4D97-AF65-F5344CB8AC3E}">
        <p14:creationId xmlns:p14="http://schemas.microsoft.com/office/powerpoint/2010/main" val="298965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7ABA25B-C67B-8B09-E984-21E17C3BE44A}"/>
              </a:ext>
            </a:extLst>
          </p:cNvPr>
          <p:cNvSpPr/>
          <p:nvPr/>
        </p:nvSpPr>
        <p:spPr>
          <a:xfrm>
            <a:off x="2365448" y="3398632"/>
            <a:ext cx="1813360" cy="516415"/>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AUC can tell us</a:t>
            </a:r>
          </a:p>
        </p:txBody>
      </p:sp>
      <p:sp>
        <p:nvSpPr>
          <p:cNvPr id="6" name="Title 1">
            <a:extLst>
              <a:ext uri="{FF2B5EF4-FFF2-40B4-BE49-F238E27FC236}">
                <a16:creationId xmlns:a16="http://schemas.microsoft.com/office/drawing/2014/main" id="{66950F30-FE79-40BB-964E-60EE94B796E2}"/>
              </a:ext>
            </a:extLst>
          </p:cNvPr>
          <p:cNvSpPr>
            <a:spLocks noGrp="1"/>
          </p:cNvSpPr>
          <p:nvPr>
            <p:ph type="title"/>
          </p:nvPr>
        </p:nvSpPr>
        <p:spPr>
          <a:xfrm>
            <a:off x="838200" y="365125"/>
            <a:ext cx="10515600" cy="1325563"/>
          </a:xfrm>
        </p:spPr>
        <p:txBody>
          <a:bodyPr/>
          <a:lstStyle/>
          <a:p>
            <a:r>
              <a:rPr lang="en-US" altLang="zh-TW" sz="4400" dirty="0">
                <a:solidFill>
                  <a:schemeClr val="tx1"/>
                </a:solidFill>
              </a:rPr>
              <a:t>Can our model predict precisely?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9E6FEEBD-59E9-3DE0-50C3-55B63393F016}"/>
              </a:ext>
            </a:extLst>
          </p:cNvPr>
          <p:cNvSpPr/>
          <p:nvPr/>
        </p:nvSpPr>
        <p:spPr>
          <a:xfrm>
            <a:off x="1450052" y="2294192"/>
            <a:ext cx="4255803" cy="87782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rgbClr val="0070C0"/>
                </a:solidFill>
              </a:rPr>
              <a:t>How good is the model?</a:t>
            </a:r>
          </a:p>
        </p:txBody>
      </p:sp>
      <p:pic>
        <p:nvPicPr>
          <p:cNvPr id="1028" name="Picture 4" descr="Receiver operating characteristic - Wikipedia">
            <a:extLst>
              <a:ext uri="{FF2B5EF4-FFF2-40B4-BE49-F238E27FC236}">
                <a16:creationId xmlns:a16="http://schemas.microsoft.com/office/drawing/2014/main" id="{7707B6A3-28B8-0522-DFBC-30823AF30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8538" y="1844760"/>
            <a:ext cx="4140574" cy="414057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716983-8266-2CA2-3B09-B143F1B6F9F9}"/>
              </a:ext>
            </a:extLst>
          </p:cNvPr>
          <p:cNvSpPr txBox="1"/>
          <p:nvPr/>
        </p:nvSpPr>
        <p:spPr>
          <a:xfrm>
            <a:off x="7206148" y="6550223"/>
            <a:ext cx="4873076" cy="307777"/>
          </a:xfrm>
          <a:prstGeom prst="rect">
            <a:avLst/>
          </a:prstGeom>
          <a:noFill/>
        </p:spPr>
        <p:txBody>
          <a:bodyPr wrap="square">
            <a:spAutoFit/>
          </a:bodyPr>
          <a:lstStyle/>
          <a:p>
            <a:r>
              <a:rPr lang="en-US" sz="1400" dirty="0"/>
              <a:t>https://en.wikipedia.org/wiki/Receiver_operating_characteristic</a:t>
            </a:r>
          </a:p>
        </p:txBody>
      </p:sp>
      <p:sp>
        <p:nvSpPr>
          <p:cNvPr id="2" name="Slide Number Placeholder 1">
            <a:extLst>
              <a:ext uri="{FF2B5EF4-FFF2-40B4-BE49-F238E27FC236}">
                <a16:creationId xmlns:a16="http://schemas.microsoft.com/office/drawing/2014/main" id="{646EC8F1-13AA-58E4-BC32-24462FD8D459}"/>
              </a:ext>
            </a:extLst>
          </p:cNvPr>
          <p:cNvSpPr>
            <a:spLocks noGrp="1"/>
          </p:cNvSpPr>
          <p:nvPr>
            <p:ph type="sldNum" sz="quarter" idx="12"/>
          </p:nvPr>
        </p:nvSpPr>
        <p:spPr/>
        <p:txBody>
          <a:bodyPr/>
          <a:lstStyle/>
          <a:p>
            <a:fld id="{7DF2C209-72C5-4BD6-83FD-73557975086B}" type="slidenum">
              <a:rPr lang="en-US" smtClean="0"/>
              <a:t>53</a:t>
            </a:fld>
            <a:endParaRPr lang="en-US"/>
          </a:p>
        </p:txBody>
      </p:sp>
    </p:spTree>
    <p:extLst>
      <p:ext uri="{BB962C8B-B14F-4D97-AF65-F5344CB8AC3E}">
        <p14:creationId xmlns:p14="http://schemas.microsoft.com/office/powerpoint/2010/main" val="238282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fontScale="90000"/>
          </a:bodyPr>
          <a:lstStyle/>
          <a:p>
            <a:r>
              <a:rPr lang="en-US" sz="6000" dirty="0"/>
              <a:t>Evaluation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219997" y="3429000"/>
            <a:ext cx="509320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cell-type specificity</a:t>
            </a:r>
            <a:endParaRPr lang="en-US" sz="3200" dirty="0">
              <a:solidFill>
                <a:srgbClr val="0070C0"/>
              </a:solidFill>
            </a:endParaRPr>
          </a:p>
        </p:txBody>
      </p:sp>
      <p:sp>
        <p:nvSpPr>
          <p:cNvPr id="3" name="Title 1">
            <a:extLst>
              <a:ext uri="{FF2B5EF4-FFF2-40B4-BE49-F238E27FC236}">
                <a16:creationId xmlns:a16="http://schemas.microsoft.com/office/drawing/2014/main" id="{2B0D66E0-E672-AAEE-4C47-A6D24350A631}"/>
              </a:ext>
            </a:extLst>
          </p:cNvPr>
          <p:cNvSpPr txBox="1">
            <a:spLocks/>
          </p:cNvSpPr>
          <p:nvPr/>
        </p:nvSpPr>
        <p:spPr>
          <a:xfrm>
            <a:off x="3219997" y="4258734"/>
            <a:ext cx="509320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 clustering-free method</a:t>
            </a:r>
            <a:endParaRPr lang="en-US" sz="3200" dirty="0">
              <a:solidFill>
                <a:srgbClr val="0070C0"/>
              </a:solidFill>
            </a:endParaRPr>
          </a:p>
        </p:txBody>
      </p:sp>
      <p:sp>
        <p:nvSpPr>
          <p:cNvPr id="4" name="Slide Number Placeholder 3">
            <a:extLst>
              <a:ext uri="{FF2B5EF4-FFF2-40B4-BE49-F238E27FC236}">
                <a16:creationId xmlns:a16="http://schemas.microsoft.com/office/drawing/2014/main" id="{9115BA0B-C8F7-10AF-8867-1F42887D6DC5}"/>
              </a:ext>
            </a:extLst>
          </p:cNvPr>
          <p:cNvSpPr>
            <a:spLocks noGrp="1"/>
          </p:cNvSpPr>
          <p:nvPr>
            <p:ph type="sldNum" sz="quarter" idx="12"/>
          </p:nvPr>
        </p:nvSpPr>
        <p:spPr/>
        <p:txBody>
          <a:bodyPr/>
          <a:lstStyle/>
          <a:p>
            <a:fld id="{7DF2C209-72C5-4BD6-83FD-73557975086B}" type="slidenum">
              <a:rPr lang="en-US" smtClean="0"/>
              <a:t>54</a:t>
            </a:fld>
            <a:endParaRPr lang="en-US"/>
          </a:p>
        </p:txBody>
      </p:sp>
    </p:spTree>
    <p:extLst>
      <p:ext uri="{BB962C8B-B14F-4D97-AF65-F5344CB8AC3E}">
        <p14:creationId xmlns:p14="http://schemas.microsoft.com/office/powerpoint/2010/main" val="2209817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349ED44-9408-02FD-6742-3F76F0230795}"/>
              </a:ext>
            </a:extLst>
          </p:cNvPr>
          <p:cNvSpPr/>
          <p:nvPr/>
        </p:nvSpPr>
        <p:spPr>
          <a:xfrm>
            <a:off x="838200" y="3247073"/>
            <a:ext cx="7569728" cy="259689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200000"/>
              </a:lnSpc>
              <a:buAutoNum type="arabicPeriod"/>
            </a:pPr>
            <a:r>
              <a:rPr lang="en-US" sz="2400" dirty="0">
                <a:solidFill>
                  <a:schemeClr val="tx1"/>
                </a:solidFill>
              </a:rPr>
              <a:t>Max Score</a:t>
            </a:r>
          </a:p>
          <a:p>
            <a:pPr marL="457200" indent="-457200">
              <a:lnSpc>
                <a:spcPct val="200000"/>
              </a:lnSpc>
              <a:buAutoNum type="arabicPeriod"/>
            </a:pPr>
            <a:r>
              <a:rPr lang="en-US" sz="2400" dirty="0">
                <a:solidFill>
                  <a:schemeClr val="tx1"/>
                </a:solidFill>
              </a:rPr>
              <a:t>Gini Index</a:t>
            </a:r>
          </a:p>
          <a:p>
            <a:pPr marL="457200" indent="-457200">
              <a:lnSpc>
                <a:spcPct val="200000"/>
              </a:lnSpc>
              <a:buAutoNum type="arabicPeriod"/>
            </a:pPr>
            <a:r>
              <a:rPr lang="en-US" sz="2400" dirty="0">
                <a:solidFill>
                  <a:schemeClr val="tx1"/>
                </a:solidFill>
              </a:rPr>
              <a:t>Standard Deviation</a:t>
            </a:r>
          </a:p>
          <a:p>
            <a:pPr marL="457200" indent="-457200">
              <a:lnSpc>
                <a:spcPct val="200000"/>
              </a:lnSpc>
              <a:buAutoNum type="arabicPeriod"/>
            </a:pPr>
            <a:r>
              <a:rPr lang="en-US" sz="2400" dirty="0">
                <a:solidFill>
                  <a:schemeClr val="tx1"/>
                </a:solidFill>
              </a:rPr>
              <a:t>Entropy</a:t>
            </a:r>
          </a:p>
        </p:txBody>
      </p:sp>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838200" y="365125"/>
            <a:ext cx="10515600" cy="1325563"/>
          </a:xfrm>
        </p:spPr>
        <p:txBody>
          <a:bodyPr/>
          <a:lstStyle/>
          <a:p>
            <a:r>
              <a:rPr lang="en-US" dirty="0">
                <a:effectLst/>
              </a:rPr>
              <a:t>Metrics to assess cell-type specificity</a:t>
            </a:r>
            <a:endParaRPr lang="en-US" sz="4400" dirty="0">
              <a:solidFill>
                <a:schemeClr val="tx1"/>
              </a:solidFill>
            </a:endParaRPr>
          </a:p>
        </p:txBody>
      </p:sp>
      <p:sp>
        <p:nvSpPr>
          <p:cNvPr id="6" name="Rectangle: Rounded Corners 5">
            <a:extLst>
              <a:ext uri="{FF2B5EF4-FFF2-40B4-BE49-F238E27FC236}">
                <a16:creationId xmlns:a16="http://schemas.microsoft.com/office/drawing/2014/main" id="{88317F84-F8F6-76B6-0252-623E385A9E1A}"/>
              </a:ext>
            </a:extLst>
          </p:cNvPr>
          <p:cNvSpPr/>
          <p:nvPr/>
        </p:nvSpPr>
        <p:spPr>
          <a:xfrm>
            <a:off x="956276" y="1773936"/>
            <a:ext cx="5353084" cy="79457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rgbClr val="FF0000"/>
                </a:solidFill>
              </a:rPr>
              <a:t>Cells</a:t>
            </a:r>
            <a:r>
              <a:rPr lang="en-US" sz="2400" dirty="0">
                <a:solidFill>
                  <a:schemeClr val="tx1"/>
                </a:solidFill>
              </a:rPr>
              <a:t> and </a:t>
            </a:r>
            <a:r>
              <a:rPr lang="en-US" altLang="zh-TW" sz="2400" dirty="0">
                <a:solidFill>
                  <a:srgbClr val="FF0000"/>
                </a:solidFill>
              </a:rPr>
              <a:t>Features</a:t>
            </a:r>
            <a:r>
              <a:rPr lang="en-US" altLang="zh-TW" sz="2400" dirty="0">
                <a:solidFill>
                  <a:schemeClr val="tx1"/>
                </a:solidFill>
              </a:rPr>
              <a:t>…</a:t>
            </a:r>
          </a:p>
          <a:p>
            <a:pPr>
              <a:lnSpc>
                <a:spcPct val="150000"/>
              </a:lnSpc>
            </a:pPr>
            <a:r>
              <a:rPr lang="en-US" sz="2400" dirty="0">
                <a:solidFill>
                  <a:schemeClr val="tx1"/>
                </a:solidFill>
              </a:rPr>
              <a:t>How to evaluate that </a:t>
            </a:r>
            <a:r>
              <a:rPr lang="en-US" sz="2400" dirty="0">
                <a:solidFill>
                  <a:srgbClr val="0070C0"/>
                </a:solidFill>
              </a:rPr>
              <a:t>they are related?</a:t>
            </a:r>
          </a:p>
        </p:txBody>
      </p:sp>
      <p:sp>
        <p:nvSpPr>
          <p:cNvPr id="7" name="Rectangle: Rounded Corners 6">
            <a:extLst>
              <a:ext uri="{FF2B5EF4-FFF2-40B4-BE49-F238E27FC236}">
                <a16:creationId xmlns:a16="http://schemas.microsoft.com/office/drawing/2014/main" id="{6ACFB94F-1A0E-0D39-7C69-A2E73903529F}"/>
              </a:ext>
            </a:extLst>
          </p:cNvPr>
          <p:cNvSpPr/>
          <p:nvPr/>
        </p:nvSpPr>
        <p:spPr>
          <a:xfrm>
            <a:off x="3299062" y="3454986"/>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Association</a:t>
            </a:r>
          </a:p>
        </p:txBody>
      </p:sp>
      <p:sp>
        <p:nvSpPr>
          <p:cNvPr id="9" name="Rectangle: Rounded Corners 8">
            <a:extLst>
              <a:ext uri="{FF2B5EF4-FFF2-40B4-BE49-F238E27FC236}">
                <a16:creationId xmlns:a16="http://schemas.microsoft.com/office/drawing/2014/main" id="{9DF96B50-AE74-4CF5-4274-F1B1BCFB49C7}"/>
              </a:ext>
            </a:extLst>
          </p:cNvPr>
          <p:cNvSpPr/>
          <p:nvPr/>
        </p:nvSpPr>
        <p:spPr>
          <a:xfrm>
            <a:off x="3299062" y="4165781"/>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Specificity</a:t>
            </a:r>
          </a:p>
        </p:txBody>
      </p:sp>
      <p:pic>
        <p:nvPicPr>
          <p:cNvPr id="15" name="Picture 14">
            <a:extLst>
              <a:ext uri="{FF2B5EF4-FFF2-40B4-BE49-F238E27FC236}">
                <a16:creationId xmlns:a16="http://schemas.microsoft.com/office/drawing/2014/main" id="{20EF17CD-1500-6500-AA63-FB1C2E99BD1C}"/>
              </a:ext>
            </a:extLst>
          </p:cNvPr>
          <p:cNvPicPr>
            <a:picLocks noChangeAspect="1"/>
          </p:cNvPicPr>
          <p:nvPr/>
        </p:nvPicPr>
        <p:blipFill>
          <a:blip r:embed="rId2"/>
          <a:stretch>
            <a:fillRect/>
          </a:stretch>
        </p:blipFill>
        <p:spPr>
          <a:xfrm>
            <a:off x="7736471" y="3099830"/>
            <a:ext cx="2644369" cy="739204"/>
          </a:xfrm>
          <a:prstGeom prst="rect">
            <a:avLst/>
          </a:prstGeom>
        </p:spPr>
      </p:pic>
      <p:pic>
        <p:nvPicPr>
          <p:cNvPr id="17" name="Picture 16">
            <a:extLst>
              <a:ext uri="{FF2B5EF4-FFF2-40B4-BE49-F238E27FC236}">
                <a16:creationId xmlns:a16="http://schemas.microsoft.com/office/drawing/2014/main" id="{1760DBA0-6A03-21AB-FB57-1D02A57895BF}"/>
              </a:ext>
            </a:extLst>
          </p:cNvPr>
          <p:cNvPicPr>
            <a:picLocks noChangeAspect="1"/>
          </p:cNvPicPr>
          <p:nvPr/>
        </p:nvPicPr>
        <p:blipFill>
          <a:blip r:embed="rId3"/>
          <a:stretch>
            <a:fillRect/>
          </a:stretch>
        </p:blipFill>
        <p:spPr>
          <a:xfrm>
            <a:off x="7907133" y="3959366"/>
            <a:ext cx="3254022" cy="708721"/>
          </a:xfrm>
          <a:prstGeom prst="rect">
            <a:avLst/>
          </a:prstGeom>
        </p:spPr>
      </p:pic>
      <p:pic>
        <p:nvPicPr>
          <p:cNvPr id="19" name="Picture 18">
            <a:extLst>
              <a:ext uri="{FF2B5EF4-FFF2-40B4-BE49-F238E27FC236}">
                <a16:creationId xmlns:a16="http://schemas.microsoft.com/office/drawing/2014/main" id="{9DD4DB81-3508-9045-AEFD-082902372EB7}"/>
              </a:ext>
            </a:extLst>
          </p:cNvPr>
          <p:cNvPicPr>
            <a:picLocks noChangeAspect="1"/>
          </p:cNvPicPr>
          <p:nvPr/>
        </p:nvPicPr>
        <p:blipFill>
          <a:blip r:embed="rId4"/>
          <a:stretch>
            <a:fillRect/>
          </a:stretch>
        </p:blipFill>
        <p:spPr>
          <a:xfrm>
            <a:off x="7846168" y="4762546"/>
            <a:ext cx="3314987" cy="701101"/>
          </a:xfrm>
          <a:prstGeom prst="rect">
            <a:avLst/>
          </a:prstGeom>
        </p:spPr>
      </p:pic>
      <p:pic>
        <p:nvPicPr>
          <p:cNvPr id="21" name="Picture 20">
            <a:extLst>
              <a:ext uri="{FF2B5EF4-FFF2-40B4-BE49-F238E27FC236}">
                <a16:creationId xmlns:a16="http://schemas.microsoft.com/office/drawing/2014/main" id="{06134831-0563-7676-6A68-73591AC865BD}"/>
              </a:ext>
            </a:extLst>
          </p:cNvPr>
          <p:cNvPicPr>
            <a:picLocks noChangeAspect="1"/>
          </p:cNvPicPr>
          <p:nvPr/>
        </p:nvPicPr>
        <p:blipFill>
          <a:blip r:embed="rId5"/>
          <a:stretch>
            <a:fillRect/>
          </a:stretch>
        </p:blipFill>
        <p:spPr>
          <a:xfrm>
            <a:off x="7907133" y="5701518"/>
            <a:ext cx="3261643" cy="701101"/>
          </a:xfrm>
          <a:prstGeom prst="rect">
            <a:avLst/>
          </a:prstGeom>
        </p:spPr>
      </p:pic>
      <p:sp>
        <p:nvSpPr>
          <p:cNvPr id="22" name="Rectangle: Rounded Corners 21">
            <a:extLst>
              <a:ext uri="{FF2B5EF4-FFF2-40B4-BE49-F238E27FC236}">
                <a16:creationId xmlns:a16="http://schemas.microsoft.com/office/drawing/2014/main" id="{961B6889-4B98-FE45-979A-7C26C4F7626D}"/>
              </a:ext>
            </a:extLst>
          </p:cNvPr>
          <p:cNvSpPr/>
          <p:nvPr/>
        </p:nvSpPr>
        <p:spPr>
          <a:xfrm>
            <a:off x="4132127" y="4861703"/>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Variance</a:t>
            </a:r>
          </a:p>
        </p:txBody>
      </p:sp>
      <p:sp>
        <p:nvSpPr>
          <p:cNvPr id="23" name="Rectangle: Rounded Corners 22">
            <a:extLst>
              <a:ext uri="{FF2B5EF4-FFF2-40B4-BE49-F238E27FC236}">
                <a16:creationId xmlns:a16="http://schemas.microsoft.com/office/drawing/2014/main" id="{D19F1F2B-2A94-94C1-2738-16C5B344DD75}"/>
              </a:ext>
            </a:extLst>
          </p:cNvPr>
          <p:cNvSpPr/>
          <p:nvPr/>
        </p:nvSpPr>
        <p:spPr>
          <a:xfrm>
            <a:off x="3299062" y="5614385"/>
            <a:ext cx="254395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Degree of Disorder</a:t>
            </a:r>
          </a:p>
        </p:txBody>
      </p:sp>
      <p:sp>
        <p:nvSpPr>
          <p:cNvPr id="24" name="Double Brace 23">
            <a:extLst>
              <a:ext uri="{FF2B5EF4-FFF2-40B4-BE49-F238E27FC236}">
                <a16:creationId xmlns:a16="http://schemas.microsoft.com/office/drawing/2014/main" id="{473812EE-2E86-4B7D-DD30-D847EE56E200}"/>
              </a:ext>
            </a:extLst>
          </p:cNvPr>
          <p:cNvSpPr/>
          <p:nvPr/>
        </p:nvSpPr>
        <p:spPr>
          <a:xfrm>
            <a:off x="416514" y="4196320"/>
            <a:ext cx="6245352" cy="179489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Title 1">
            <a:extLst>
              <a:ext uri="{FF2B5EF4-FFF2-40B4-BE49-F238E27FC236}">
                <a16:creationId xmlns:a16="http://schemas.microsoft.com/office/drawing/2014/main" id="{9F19FB6E-9A9B-8581-2BE9-B5A087F2F512}"/>
              </a:ext>
            </a:extLst>
          </p:cNvPr>
          <p:cNvSpPr txBox="1">
            <a:spLocks/>
          </p:cNvSpPr>
          <p:nvPr/>
        </p:nvSpPr>
        <p:spPr>
          <a:xfrm>
            <a:off x="1647046" y="6209672"/>
            <a:ext cx="3304032" cy="5664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altLang="zh-TW" sz="2000" dirty="0"/>
              <a:t>The evenness of Distribution</a:t>
            </a:r>
            <a:endParaRPr lang="en-US" sz="2000" dirty="0">
              <a:solidFill>
                <a:srgbClr val="0070C0"/>
              </a:solidFill>
            </a:endParaRPr>
          </a:p>
        </p:txBody>
      </p:sp>
      <p:sp>
        <p:nvSpPr>
          <p:cNvPr id="2" name="Slide Number Placeholder 1">
            <a:extLst>
              <a:ext uri="{FF2B5EF4-FFF2-40B4-BE49-F238E27FC236}">
                <a16:creationId xmlns:a16="http://schemas.microsoft.com/office/drawing/2014/main" id="{1B42C0BB-2ECE-2C14-0B51-0753DCE29361}"/>
              </a:ext>
            </a:extLst>
          </p:cNvPr>
          <p:cNvSpPr>
            <a:spLocks noGrp="1"/>
          </p:cNvSpPr>
          <p:nvPr>
            <p:ph type="sldNum" sz="quarter" idx="12"/>
          </p:nvPr>
        </p:nvSpPr>
        <p:spPr/>
        <p:txBody>
          <a:bodyPr/>
          <a:lstStyle/>
          <a:p>
            <a:fld id="{7DF2C209-72C5-4BD6-83FD-73557975086B}" type="slidenum">
              <a:rPr lang="en-US" smtClean="0"/>
              <a:t>55</a:t>
            </a:fld>
            <a:endParaRPr lang="en-US"/>
          </a:p>
        </p:txBody>
      </p:sp>
    </p:spTree>
    <p:extLst>
      <p:ext uri="{BB962C8B-B14F-4D97-AF65-F5344CB8AC3E}">
        <p14:creationId xmlns:p14="http://schemas.microsoft.com/office/powerpoint/2010/main" val="333391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22" grpId="0" animBg="1"/>
      <p:bldP spid="23" grpId="0" animBg="1"/>
      <p:bldP spid="24" grpId="0" animBg="1"/>
      <p:bldP spid="25"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C370A9-E7B3-17EC-46AB-BD02052BBB44}"/>
              </a:ext>
            </a:extLst>
          </p:cNvPr>
          <p:cNvPicPr>
            <a:picLocks noGrp="1" noChangeAspect="1"/>
          </p:cNvPicPr>
          <p:nvPr>
            <p:ph idx="1"/>
          </p:nvPr>
        </p:nvPicPr>
        <p:blipFill>
          <a:blip r:embed="rId2"/>
          <a:stretch>
            <a:fillRect/>
          </a:stretch>
        </p:blipFill>
        <p:spPr>
          <a:xfrm>
            <a:off x="1428607" y="2947796"/>
            <a:ext cx="3299746" cy="708721"/>
          </a:xfrm>
        </p:spPr>
      </p:pic>
      <p:sp>
        <p:nvSpPr>
          <p:cNvPr id="6" name="Title 1">
            <a:extLst>
              <a:ext uri="{FF2B5EF4-FFF2-40B4-BE49-F238E27FC236}">
                <a16:creationId xmlns:a16="http://schemas.microsoft.com/office/drawing/2014/main" id="{933C87FF-73D8-919A-3CA3-A06DF006057A}"/>
              </a:ext>
            </a:extLst>
          </p:cNvPr>
          <p:cNvSpPr>
            <a:spLocks noGrp="1"/>
          </p:cNvSpPr>
          <p:nvPr>
            <p:ph type="title"/>
          </p:nvPr>
        </p:nvSpPr>
        <p:spPr>
          <a:xfrm>
            <a:off x="838200" y="365125"/>
            <a:ext cx="10515600" cy="1325563"/>
          </a:xfrm>
        </p:spPr>
        <p:txBody>
          <a:bodyPr/>
          <a:lstStyle/>
          <a:p>
            <a:r>
              <a:rPr lang="en-US" dirty="0">
                <a:effectLst/>
              </a:rPr>
              <a:t>Metrics to assess cell-type specificity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ECB1EE0F-7E69-616B-D811-0B186AA8799B}"/>
              </a:ext>
            </a:extLst>
          </p:cNvPr>
          <p:cNvSpPr/>
          <p:nvPr/>
        </p:nvSpPr>
        <p:spPr>
          <a:xfrm>
            <a:off x="838200" y="2169604"/>
            <a:ext cx="5050536" cy="29927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The similarity normalization function:</a:t>
            </a:r>
          </a:p>
        </p:txBody>
      </p:sp>
      <p:sp>
        <p:nvSpPr>
          <p:cNvPr id="2" name="Slide Number Placeholder 1">
            <a:extLst>
              <a:ext uri="{FF2B5EF4-FFF2-40B4-BE49-F238E27FC236}">
                <a16:creationId xmlns:a16="http://schemas.microsoft.com/office/drawing/2014/main" id="{55EA549C-2A04-8499-6A81-FF784A365BEC}"/>
              </a:ext>
            </a:extLst>
          </p:cNvPr>
          <p:cNvSpPr>
            <a:spLocks noGrp="1"/>
          </p:cNvSpPr>
          <p:nvPr>
            <p:ph type="sldNum" sz="quarter" idx="12"/>
          </p:nvPr>
        </p:nvSpPr>
        <p:spPr/>
        <p:txBody>
          <a:bodyPr/>
          <a:lstStyle/>
          <a:p>
            <a:fld id="{7DF2C209-72C5-4BD6-83FD-73557975086B}" type="slidenum">
              <a:rPr lang="en-US" smtClean="0"/>
              <a:t>56</a:t>
            </a:fld>
            <a:endParaRPr lang="en-US"/>
          </a:p>
        </p:txBody>
      </p:sp>
    </p:spTree>
    <p:extLst>
      <p:ext uri="{BB962C8B-B14F-4D97-AF65-F5344CB8AC3E}">
        <p14:creationId xmlns:p14="http://schemas.microsoft.com/office/powerpoint/2010/main" val="39847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3048001" y="2468739"/>
            <a:ext cx="5655732" cy="1671311"/>
          </a:xfrm>
        </p:spPr>
        <p:txBody>
          <a:bodyPr>
            <a:normAutofit fontScale="90000"/>
          </a:bodyPr>
          <a:lstStyle/>
          <a:p>
            <a:pPr algn="ctr"/>
            <a:r>
              <a:rPr lang="en-US" sz="6000" dirty="0" err="1"/>
              <a:t>PyTorch-BigGraph</a:t>
            </a:r>
            <a:r>
              <a:rPr lang="en-US" sz="6000" dirty="0"/>
              <a:t> </a:t>
            </a:r>
            <a:br>
              <a:rPr lang="en-US" sz="6000" dirty="0"/>
            </a:br>
            <a:r>
              <a:rPr lang="en-US" sz="6000" dirty="0"/>
              <a:t>(PBG)</a:t>
            </a:r>
          </a:p>
        </p:txBody>
      </p:sp>
      <p:sp>
        <p:nvSpPr>
          <p:cNvPr id="3" name="Slide Number Placeholder 2">
            <a:extLst>
              <a:ext uri="{FF2B5EF4-FFF2-40B4-BE49-F238E27FC236}">
                <a16:creationId xmlns:a16="http://schemas.microsoft.com/office/drawing/2014/main" id="{221BA481-D93B-6446-0D86-4B1F7669C6B7}"/>
              </a:ext>
            </a:extLst>
          </p:cNvPr>
          <p:cNvSpPr>
            <a:spLocks noGrp="1"/>
          </p:cNvSpPr>
          <p:nvPr>
            <p:ph type="sldNum" sz="quarter" idx="12"/>
          </p:nvPr>
        </p:nvSpPr>
        <p:spPr/>
        <p:txBody>
          <a:bodyPr/>
          <a:lstStyle/>
          <a:p>
            <a:fld id="{7DF2C209-72C5-4BD6-83FD-73557975086B}" type="slidenum">
              <a:rPr lang="en-US" smtClean="0"/>
              <a:t>57</a:t>
            </a:fld>
            <a:endParaRPr lang="en-US"/>
          </a:p>
        </p:txBody>
      </p:sp>
    </p:spTree>
    <p:extLst>
      <p:ext uri="{BB962C8B-B14F-4D97-AF65-F5344CB8AC3E}">
        <p14:creationId xmlns:p14="http://schemas.microsoft.com/office/powerpoint/2010/main" val="35719162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7C0A-1525-60E2-8525-0F40C872D493}"/>
              </a:ext>
            </a:extLst>
          </p:cNvPr>
          <p:cNvSpPr>
            <a:spLocks noGrp="1"/>
          </p:cNvSpPr>
          <p:nvPr>
            <p:ph type="title"/>
          </p:nvPr>
        </p:nvSpPr>
        <p:spPr>
          <a:xfrm>
            <a:off x="838200" y="312573"/>
            <a:ext cx="10515600" cy="1325563"/>
          </a:xfrm>
        </p:spPr>
        <p:txBody>
          <a:bodyPr/>
          <a:lstStyle/>
          <a:p>
            <a:r>
              <a:rPr lang="en-US" dirty="0"/>
              <a:t>PBG </a:t>
            </a:r>
            <a:r>
              <a:rPr lang="en-US" altLang="zh-TW" dirty="0"/>
              <a:t>Concept</a:t>
            </a:r>
            <a:endParaRPr lang="en-US" dirty="0"/>
          </a:p>
        </p:txBody>
      </p:sp>
      <p:sp>
        <p:nvSpPr>
          <p:cNvPr id="3" name="Content Placeholder 2">
            <a:extLst>
              <a:ext uri="{FF2B5EF4-FFF2-40B4-BE49-F238E27FC236}">
                <a16:creationId xmlns:a16="http://schemas.microsoft.com/office/drawing/2014/main" id="{DB03F9B6-3EDA-1D8B-28F4-5BE6FCE0AAA6}"/>
              </a:ext>
            </a:extLst>
          </p:cNvPr>
          <p:cNvSpPr>
            <a:spLocks noGrp="1"/>
          </p:cNvSpPr>
          <p:nvPr>
            <p:ph idx="1"/>
          </p:nvPr>
        </p:nvSpPr>
        <p:spPr/>
        <p:txBody>
          <a:bodyPr/>
          <a:lstStyle/>
          <a:p>
            <a:r>
              <a:rPr lang="zh-TW" altLang="en-US" dirty="0"/>
              <a:t>將圖分解成</a:t>
            </a:r>
            <a:r>
              <a:rPr lang="en-US" altLang="zh-TW" dirty="0"/>
              <a:t>N</a:t>
            </a:r>
            <a:r>
              <a:rPr lang="zh-TW" altLang="en-US" dirty="0"/>
              <a:t>個桶，一次訓練一個桶的邊</a:t>
            </a:r>
            <a:endParaRPr lang="en-US" altLang="zh-TW" dirty="0"/>
          </a:p>
          <a:p>
            <a:r>
              <a:rPr lang="en-US" altLang="zh-TW" dirty="0"/>
              <a:t>PBG</a:t>
            </a:r>
            <a:r>
              <a:rPr lang="zh-TW" altLang="en-US" dirty="0"/>
              <a:t> </a:t>
            </a:r>
            <a:endParaRPr lang="en-US" altLang="zh-TW" dirty="0"/>
          </a:p>
          <a:p>
            <a:pPr marL="457200" lvl="1" indent="0">
              <a:buNone/>
            </a:pPr>
            <a:r>
              <a:rPr lang="en-US" altLang="zh-TW" dirty="0"/>
              <a:t>(1) </a:t>
            </a:r>
            <a:r>
              <a:rPr lang="zh-TW" altLang="en-US" dirty="0"/>
              <a:t>支持多實體 </a:t>
            </a:r>
            <a:endParaRPr lang="en-US" altLang="zh-TW" dirty="0"/>
          </a:p>
          <a:p>
            <a:pPr marL="457200" lvl="1" indent="0">
              <a:buNone/>
            </a:pPr>
            <a:r>
              <a:rPr lang="en-US" altLang="zh-TW" dirty="0"/>
              <a:t>(2) </a:t>
            </a:r>
            <a:r>
              <a:rPr lang="zh-TW" altLang="en-US" dirty="0"/>
              <a:t>能高效對節點進行負採樣</a:t>
            </a:r>
            <a:endParaRPr lang="en-US" dirty="0"/>
          </a:p>
        </p:txBody>
      </p:sp>
      <p:pic>
        <p:nvPicPr>
          <p:cNvPr id="5" name="Picture 4">
            <a:extLst>
              <a:ext uri="{FF2B5EF4-FFF2-40B4-BE49-F238E27FC236}">
                <a16:creationId xmlns:a16="http://schemas.microsoft.com/office/drawing/2014/main" id="{EAB9A6D5-EF68-C46D-7C81-C036B04E1FBA}"/>
              </a:ext>
            </a:extLst>
          </p:cNvPr>
          <p:cNvPicPr>
            <a:picLocks noChangeAspect="1"/>
          </p:cNvPicPr>
          <p:nvPr/>
        </p:nvPicPr>
        <p:blipFill>
          <a:blip r:embed="rId3"/>
          <a:stretch>
            <a:fillRect/>
          </a:stretch>
        </p:blipFill>
        <p:spPr>
          <a:xfrm>
            <a:off x="3183088" y="2442839"/>
            <a:ext cx="8390347" cy="3734124"/>
          </a:xfrm>
          <a:prstGeom prst="rect">
            <a:avLst/>
          </a:prstGeom>
        </p:spPr>
      </p:pic>
      <p:sp>
        <p:nvSpPr>
          <p:cNvPr id="4" name="Slide Number Placeholder 3">
            <a:extLst>
              <a:ext uri="{FF2B5EF4-FFF2-40B4-BE49-F238E27FC236}">
                <a16:creationId xmlns:a16="http://schemas.microsoft.com/office/drawing/2014/main" id="{CE428DFD-1CB0-A6B8-60FA-75C13274842C}"/>
              </a:ext>
            </a:extLst>
          </p:cNvPr>
          <p:cNvSpPr>
            <a:spLocks noGrp="1"/>
          </p:cNvSpPr>
          <p:nvPr>
            <p:ph type="sldNum" sz="quarter" idx="12"/>
          </p:nvPr>
        </p:nvSpPr>
        <p:spPr/>
        <p:txBody>
          <a:bodyPr/>
          <a:lstStyle/>
          <a:p>
            <a:fld id="{7DF2C209-72C5-4BD6-83FD-73557975086B}" type="slidenum">
              <a:rPr lang="en-US" smtClean="0"/>
              <a:t>58</a:t>
            </a:fld>
            <a:endParaRPr lang="en-US"/>
          </a:p>
        </p:txBody>
      </p:sp>
    </p:spTree>
    <p:extLst>
      <p:ext uri="{BB962C8B-B14F-4D97-AF65-F5344CB8AC3E}">
        <p14:creationId xmlns:p14="http://schemas.microsoft.com/office/powerpoint/2010/main" val="6364972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244673" y="1421130"/>
            <a:ext cx="3420285" cy="1760982"/>
          </a:xfrm>
        </p:spPr>
        <p:txBody>
          <a:bodyPr>
            <a:normAutofit/>
          </a:bodyPr>
          <a:lstStyle/>
          <a:p>
            <a:r>
              <a:rPr lang="en-US" sz="6000" dirty="0"/>
              <a:t>Discussion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322867" y="2697480"/>
            <a:ext cx="509320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SIMBA</a:t>
            </a:r>
            <a:endParaRPr lang="en-US" sz="3200" dirty="0">
              <a:solidFill>
                <a:srgbClr val="0070C0"/>
              </a:solidFill>
            </a:endParaRPr>
          </a:p>
        </p:txBody>
      </p:sp>
      <p:pic>
        <p:nvPicPr>
          <p:cNvPr id="5122" name="Picture 2" descr="辛巴- 維基百科，自由的百科全書">
            <a:extLst>
              <a:ext uri="{FF2B5EF4-FFF2-40B4-BE49-F238E27FC236}">
                <a16:creationId xmlns:a16="http://schemas.microsoft.com/office/drawing/2014/main" id="{C6B4CE06-7F69-A928-655E-5B555AE06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2190" y="2845760"/>
            <a:ext cx="3905250" cy="23145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297089-6884-CE7B-49B6-ADBADE4B78A8}"/>
              </a:ext>
            </a:extLst>
          </p:cNvPr>
          <p:cNvSpPr txBox="1"/>
          <p:nvPr/>
        </p:nvSpPr>
        <p:spPr>
          <a:xfrm>
            <a:off x="7664958" y="6550223"/>
            <a:ext cx="4628550" cy="307777"/>
          </a:xfrm>
          <a:prstGeom prst="rect">
            <a:avLst/>
          </a:prstGeom>
          <a:noFill/>
        </p:spPr>
        <p:txBody>
          <a:bodyPr wrap="square">
            <a:spAutoFit/>
          </a:bodyPr>
          <a:lstStyle/>
          <a:p>
            <a:r>
              <a:rPr lang="en-US" sz="1400" dirty="0"/>
              <a:t>https://zh.wikipedia.org/zh-tw/%E8%BE%9B%E5%B7%B4</a:t>
            </a:r>
          </a:p>
        </p:txBody>
      </p:sp>
      <p:sp>
        <p:nvSpPr>
          <p:cNvPr id="3" name="Slide Number Placeholder 2">
            <a:extLst>
              <a:ext uri="{FF2B5EF4-FFF2-40B4-BE49-F238E27FC236}">
                <a16:creationId xmlns:a16="http://schemas.microsoft.com/office/drawing/2014/main" id="{3E32B928-3033-B952-EC78-411CD0A6935A}"/>
              </a:ext>
            </a:extLst>
          </p:cNvPr>
          <p:cNvSpPr>
            <a:spLocks noGrp="1"/>
          </p:cNvSpPr>
          <p:nvPr>
            <p:ph type="sldNum" sz="quarter" idx="12"/>
          </p:nvPr>
        </p:nvSpPr>
        <p:spPr/>
        <p:txBody>
          <a:bodyPr/>
          <a:lstStyle/>
          <a:p>
            <a:fld id="{7DF2C209-72C5-4BD6-83FD-73557975086B}" type="slidenum">
              <a:rPr lang="en-US" smtClean="0"/>
              <a:t>59</a:t>
            </a:fld>
            <a:endParaRPr lang="en-US"/>
          </a:p>
        </p:txBody>
      </p:sp>
    </p:spTree>
    <p:extLst>
      <p:ext uri="{BB962C8B-B14F-4D97-AF65-F5344CB8AC3E}">
        <p14:creationId xmlns:p14="http://schemas.microsoft.com/office/powerpoint/2010/main" val="28483571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625337" y="208469"/>
            <a:ext cx="10515600" cy="1325563"/>
          </a:xfrm>
        </p:spPr>
        <p:txBody>
          <a:bodyPr/>
          <a:lstStyle/>
          <a:p>
            <a:r>
              <a:rPr lang="en-US" dirty="0">
                <a:effectLst/>
              </a:rPr>
              <a:t>The Great Idea of SIMBA</a:t>
            </a:r>
            <a:endParaRPr lang="en-US" sz="4400" dirty="0">
              <a:solidFill>
                <a:schemeClr val="tx1"/>
              </a:solidFill>
            </a:endParaRPr>
          </a:p>
        </p:txBody>
      </p:sp>
      <p:sp>
        <p:nvSpPr>
          <p:cNvPr id="2" name="Rectangle 1">
            <a:extLst>
              <a:ext uri="{FF2B5EF4-FFF2-40B4-BE49-F238E27FC236}">
                <a16:creationId xmlns:a16="http://schemas.microsoft.com/office/drawing/2014/main" id="{12D710AE-45CB-D3B6-DC7D-1BB2BB82BC7B}"/>
              </a:ext>
            </a:extLst>
          </p:cNvPr>
          <p:cNvSpPr/>
          <p:nvPr/>
        </p:nvSpPr>
        <p:spPr>
          <a:xfrm>
            <a:off x="3939938" y="3152054"/>
            <a:ext cx="7626297"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 name="Oval 2">
            <a:extLst>
              <a:ext uri="{FF2B5EF4-FFF2-40B4-BE49-F238E27FC236}">
                <a16:creationId xmlns:a16="http://schemas.microsoft.com/office/drawing/2014/main" id="{F7017552-36A7-2541-8814-79290491B176}"/>
              </a:ext>
            </a:extLst>
          </p:cNvPr>
          <p:cNvSpPr/>
          <p:nvPr/>
        </p:nvSpPr>
        <p:spPr>
          <a:xfrm>
            <a:off x="9506187" y="3732816"/>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482BB83-F4A7-457B-546B-50719E3D3057}"/>
              </a:ext>
            </a:extLst>
          </p:cNvPr>
          <p:cNvSpPr/>
          <p:nvPr/>
        </p:nvSpPr>
        <p:spPr>
          <a:xfrm>
            <a:off x="9323098" y="4535826"/>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2B01066-3F9F-BD5C-B6AE-304FF3694384}"/>
              </a:ext>
            </a:extLst>
          </p:cNvPr>
          <p:cNvSpPr/>
          <p:nvPr/>
        </p:nvSpPr>
        <p:spPr>
          <a:xfrm>
            <a:off x="9678698" y="5362318"/>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A84B4E-6D75-6F8E-B1B0-C4845A00779F}"/>
              </a:ext>
            </a:extLst>
          </p:cNvPr>
          <p:cNvSpPr/>
          <p:nvPr/>
        </p:nvSpPr>
        <p:spPr>
          <a:xfrm>
            <a:off x="10638605" y="4219384"/>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FB0497E-B861-44F5-2AF8-657EAB0B0744}"/>
              </a:ext>
            </a:extLst>
          </p:cNvPr>
          <p:cNvSpPr/>
          <p:nvPr/>
        </p:nvSpPr>
        <p:spPr>
          <a:xfrm>
            <a:off x="10665595" y="5311518"/>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A4DB846-25D9-FE1B-D2C4-719C2F2983BA}"/>
              </a:ext>
            </a:extLst>
          </p:cNvPr>
          <p:cNvSpPr/>
          <p:nvPr/>
        </p:nvSpPr>
        <p:spPr>
          <a:xfrm>
            <a:off x="6370904" y="2762813"/>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4" name="Straight Connector 13">
            <a:extLst>
              <a:ext uri="{FF2B5EF4-FFF2-40B4-BE49-F238E27FC236}">
                <a16:creationId xmlns:a16="http://schemas.microsoft.com/office/drawing/2014/main" id="{EE94134F-B4A5-AD75-F42C-9D2EA1F742EF}"/>
              </a:ext>
            </a:extLst>
          </p:cNvPr>
          <p:cNvCxnSpPr>
            <a:cxnSpLocks/>
            <a:endCxn id="8" idx="0"/>
          </p:cNvCxnSpPr>
          <p:nvPr/>
        </p:nvCxnSpPr>
        <p:spPr>
          <a:xfrm flipH="1">
            <a:off x="9409354" y="3910616"/>
            <a:ext cx="166157" cy="62521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558EB9D-21DE-5894-3584-D63F911B4435}"/>
              </a:ext>
            </a:extLst>
          </p:cNvPr>
          <p:cNvCxnSpPr>
            <a:cxnSpLocks/>
            <a:stCxn id="3" idx="4"/>
          </p:cNvCxnSpPr>
          <p:nvPr/>
        </p:nvCxnSpPr>
        <p:spPr>
          <a:xfrm>
            <a:off x="9592443" y="3910616"/>
            <a:ext cx="175687" cy="14517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EE2B0AE-B0FF-D8AB-BF20-0434D0593757}"/>
              </a:ext>
            </a:extLst>
          </p:cNvPr>
          <p:cNvCxnSpPr>
            <a:cxnSpLocks/>
            <a:endCxn id="11" idx="1"/>
          </p:cNvCxnSpPr>
          <p:nvPr/>
        </p:nvCxnSpPr>
        <p:spPr>
          <a:xfrm>
            <a:off x="9632394" y="3782493"/>
            <a:ext cx="1031475" cy="46292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8C44C03F-9CE8-1050-C1AB-9141524E4A2F}"/>
              </a:ext>
            </a:extLst>
          </p:cNvPr>
          <p:cNvSpPr/>
          <p:nvPr/>
        </p:nvSpPr>
        <p:spPr>
          <a:xfrm>
            <a:off x="6054124" y="393504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DB65DCE-7476-C71D-3977-45B3AA2C86C2}"/>
              </a:ext>
            </a:extLst>
          </p:cNvPr>
          <p:cNvSpPr/>
          <p:nvPr/>
        </p:nvSpPr>
        <p:spPr>
          <a:xfrm>
            <a:off x="5446418" y="458502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58DD295-2C43-F7B9-C75D-CAF78532AEA5}"/>
              </a:ext>
            </a:extLst>
          </p:cNvPr>
          <p:cNvSpPr/>
          <p:nvPr/>
        </p:nvSpPr>
        <p:spPr>
          <a:xfrm>
            <a:off x="5308745" y="366929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688735A-ABA6-DBA1-7B6F-E02BFFDA0A3C}"/>
              </a:ext>
            </a:extLst>
          </p:cNvPr>
          <p:cNvSpPr/>
          <p:nvPr/>
        </p:nvSpPr>
        <p:spPr>
          <a:xfrm>
            <a:off x="4943711" y="5311518"/>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0A8053B-9E26-874F-157F-A390E7BFA33F}"/>
              </a:ext>
            </a:extLst>
          </p:cNvPr>
          <p:cNvSpPr/>
          <p:nvPr/>
        </p:nvSpPr>
        <p:spPr>
          <a:xfrm>
            <a:off x="4771200" y="4153481"/>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AB4DAB51-A3C8-0A53-3D60-B4D3E9B0DD9B}"/>
              </a:ext>
            </a:extLst>
          </p:cNvPr>
          <p:cNvCxnSpPr>
            <a:cxnSpLocks/>
            <a:endCxn id="30" idx="7"/>
          </p:cNvCxnSpPr>
          <p:nvPr/>
        </p:nvCxnSpPr>
        <p:spPr>
          <a:xfrm flipH="1">
            <a:off x="5593665" y="4004171"/>
            <a:ext cx="578945" cy="60689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20B5B75-0FA5-FFD7-CAEA-0A835F350C43}"/>
              </a:ext>
            </a:extLst>
          </p:cNvPr>
          <p:cNvCxnSpPr>
            <a:cxnSpLocks/>
          </p:cNvCxnSpPr>
          <p:nvPr/>
        </p:nvCxnSpPr>
        <p:spPr>
          <a:xfrm>
            <a:off x="4889686" y="4331281"/>
            <a:ext cx="139911" cy="96167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2E3FF57-1FC6-4E6C-D2C3-0B93EFD45D1C}"/>
              </a:ext>
            </a:extLst>
          </p:cNvPr>
          <p:cNvCxnSpPr>
            <a:cxnSpLocks/>
          </p:cNvCxnSpPr>
          <p:nvPr/>
        </p:nvCxnSpPr>
        <p:spPr>
          <a:xfrm>
            <a:off x="5399484" y="3719081"/>
            <a:ext cx="139911" cy="961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103AD1D-5D12-D6B7-4E44-FDF111F8B7A7}"/>
              </a:ext>
            </a:extLst>
          </p:cNvPr>
          <p:cNvCxnSpPr>
            <a:cxnSpLocks/>
            <a:stCxn id="33" idx="7"/>
          </p:cNvCxnSpPr>
          <p:nvPr/>
        </p:nvCxnSpPr>
        <p:spPr>
          <a:xfrm flipV="1">
            <a:off x="4918447" y="4001719"/>
            <a:ext cx="1118745" cy="177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5B9385B-4F4E-8BDC-6ACF-10EE452CFBEF}"/>
              </a:ext>
            </a:extLst>
          </p:cNvPr>
          <p:cNvCxnSpPr>
            <a:cxnSpLocks/>
            <a:stCxn id="31" idx="4"/>
            <a:endCxn id="32" idx="0"/>
          </p:cNvCxnSpPr>
          <p:nvPr/>
        </p:nvCxnSpPr>
        <p:spPr>
          <a:xfrm flipH="1">
            <a:off x="5029967" y="3847092"/>
            <a:ext cx="365034" cy="146442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DA3F2A8-9DED-3A7F-130B-4EAB03BB5F76}"/>
              </a:ext>
            </a:extLst>
          </p:cNvPr>
          <p:cNvCxnSpPr>
            <a:cxnSpLocks/>
            <a:stCxn id="12" idx="2"/>
            <a:endCxn id="30" idx="6"/>
          </p:cNvCxnSpPr>
          <p:nvPr/>
        </p:nvCxnSpPr>
        <p:spPr>
          <a:xfrm flipH="1" flipV="1">
            <a:off x="5618929" y="4673929"/>
            <a:ext cx="5046666" cy="726489"/>
          </a:xfrm>
          <a:prstGeom prst="line">
            <a:avLst/>
          </a:prstGeom>
        </p:spPr>
        <p:style>
          <a:lnRef idx="1">
            <a:schemeClr val="accent1"/>
          </a:lnRef>
          <a:fillRef idx="0">
            <a:schemeClr val="accent1"/>
          </a:fillRef>
          <a:effectRef idx="0">
            <a:schemeClr val="accent1"/>
          </a:effectRef>
          <a:fontRef idx="minor">
            <a:schemeClr val="tx1"/>
          </a:fontRef>
        </p:style>
      </p:cxnSp>
      <p:pic>
        <p:nvPicPr>
          <p:cNvPr id="58" name="Picture 57">
            <a:extLst>
              <a:ext uri="{FF2B5EF4-FFF2-40B4-BE49-F238E27FC236}">
                <a16:creationId xmlns:a16="http://schemas.microsoft.com/office/drawing/2014/main" id="{0A2BEE66-CF30-C5D9-48BD-33BC90998C6A}"/>
              </a:ext>
            </a:extLst>
          </p:cNvPr>
          <p:cNvPicPr>
            <a:picLocks noChangeAspect="1"/>
          </p:cNvPicPr>
          <p:nvPr/>
        </p:nvPicPr>
        <p:blipFill>
          <a:blip r:embed="rId2"/>
          <a:stretch>
            <a:fillRect/>
          </a:stretch>
        </p:blipFill>
        <p:spPr>
          <a:xfrm>
            <a:off x="548287" y="1456292"/>
            <a:ext cx="2948986" cy="5146271"/>
          </a:xfrm>
          <a:prstGeom prst="rect">
            <a:avLst/>
          </a:prstGeom>
        </p:spPr>
      </p:pic>
      <p:sp>
        <p:nvSpPr>
          <p:cNvPr id="4" name="Slide Number Placeholder 3">
            <a:extLst>
              <a:ext uri="{FF2B5EF4-FFF2-40B4-BE49-F238E27FC236}">
                <a16:creationId xmlns:a16="http://schemas.microsoft.com/office/drawing/2014/main" id="{0D6E6B84-828E-45E1-A145-B35993DD3287}"/>
              </a:ext>
            </a:extLst>
          </p:cNvPr>
          <p:cNvSpPr>
            <a:spLocks noGrp="1"/>
          </p:cNvSpPr>
          <p:nvPr>
            <p:ph type="sldNum" sz="quarter" idx="12"/>
          </p:nvPr>
        </p:nvSpPr>
        <p:spPr/>
        <p:txBody>
          <a:bodyPr/>
          <a:lstStyle/>
          <a:p>
            <a:fld id="{7DF2C209-72C5-4BD6-83FD-73557975086B}" type="slidenum">
              <a:rPr lang="en-US" smtClean="0"/>
              <a:t>60</a:t>
            </a:fld>
            <a:endParaRPr lang="en-US"/>
          </a:p>
        </p:txBody>
      </p:sp>
    </p:spTree>
    <p:extLst>
      <p:ext uri="{BB962C8B-B14F-4D97-AF65-F5344CB8AC3E}">
        <p14:creationId xmlns:p14="http://schemas.microsoft.com/office/powerpoint/2010/main" val="24838288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625337" y="208469"/>
            <a:ext cx="10515600" cy="1325563"/>
          </a:xfrm>
        </p:spPr>
        <p:txBody>
          <a:bodyPr/>
          <a:lstStyle/>
          <a:p>
            <a:r>
              <a:rPr lang="en-US" dirty="0">
                <a:effectLst/>
              </a:rPr>
              <a:t>SIMBA</a:t>
            </a:r>
            <a:r>
              <a:rPr lang="zh-TW" altLang="en-US" dirty="0">
                <a:effectLst/>
              </a:rPr>
              <a:t>！</a:t>
            </a:r>
            <a:r>
              <a:rPr lang="en-US" altLang="zh-TW" dirty="0">
                <a:effectLst/>
              </a:rPr>
              <a:t>To do more</a:t>
            </a:r>
            <a:r>
              <a:rPr lang="zh-TW" altLang="en-US" dirty="0">
                <a:effectLst/>
              </a:rPr>
              <a:t>？</a:t>
            </a:r>
            <a:endParaRPr lang="en-US" sz="4400" dirty="0">
              <a:solidFill>
                <a:schemeClr val="tx1"/>
              </a:solidFill>
            </a:endParaRPr>
          </a:p>
        </p:txBody>
      </p:sp>
      <p:sp>
        <p:nvSpPr>
          <p:cNvPr id="13" name="Rectangle 12">
            <a:extLst>
              <a:ext uri="{FF2B5EF4-FFF2-40B4-BE49-F238E27FC236}">
                <a16:creationId xmlns:a16="http://schemas.microsoft.com/office/drawing/2014/main" id="{EA4DB846-25D9-FE1B-D2C4-719C2F2983BA}"/>
              </a:ext>
            </a:extLst>
          </p:cNvPr>
          <p:cNvSpPr/>
          <p:nvPr/>
        </p:nvSpPr>
        <p:spPr>
          <a:xfrm>
            <a:off x="1058240" y="2824210"/>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cellular heterogeneity</a:t>
            </a:r>
            <a:endParaRPr lang="en-US" sz="2800" dirty="0">
              <a:solidFill>
                <a:schemeClr val="tx1"/>
              </a:solidFill>
            </a:endParaRPr>
          </a:p>
        </p:txBody>
      </p:sp>
      <p:sp>
        <p:nvSpPr>
          <p:cNvPr id="4" name="Rectangle 3">
            <a:extLst>
              <a:ext uri="{FF2B5EF4-FFF2-40B4-BE49-F238E27FC236}">
                <a16:creationId xmlns:a16="http://schemas.microsoft.com/office/drawing/2014/main" id="{D7F0740B-864B-B39D-E7FA-BA67826011F4}"/>
              </a:ext>
            </a:extLst>
          </p:cNvPr>
          <p:cNvSpPr/>
          <p:nvPr/>
        </p:nvSpPr>
        <p:spPr>
          <a:xfrm>
            <a:off x="902792" y="4410721"/>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regulatory mechanisms</a:t>
            </a:r>
            <a:endParaRPr lang="en-US" sz="2800" dirty="0">
              <a:solidFill>
                <a:schemeClr val="tx1"/>
              </a:solidFill>
            </a:endParaRPr>
          </a:p>
        </p:txBody>
      </p:sp>
      <p:sp>
        <p:nvSpPr>
          <p:cNvPr id="6" name="Rectangle 5">
            <a:extLst>
              <a:ext uri="{FF2B5EF4-FFF2-40B4-BE49-F238E27FC236}">
                <a16:creationId xmlns:a16="http://schemas.microsoft.com/office/drawing/2014/main" id="{A9654783-5BCD-5AD1-3CCC-BCBB506AFE09}"/>
              </a:ext>
            </a:extLst>
          </p:cNvPr>
          <p:cNvSpPr/>
          <p:nvPr/>
        </p:nvSpPr>
        <p:spPr>
          <a:xfrm rot="409328">
            <a:off x="8646427" y="3728689"/>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time points</a:t>
            </a:r>
            <a:endParaRPr lang="en-US" sz="2800" dirty="0">
              <a:solidFill>
                <a:schemeClr val="tx1"/>
              </a:solidFill>
            </a:endParaRPr>
          </a:p>
        </p:txBody>
      </p:sp>
      <p:pic>
        <p:nvPicPr>
          <p:cNvPr id="7170" name="Picture 2" descr="Israeli photographer's real-life 'Lion King' photo grabs headlines | The  Times of Israel">
            <a:extLst>
              <a:ext uri="{FF2B5EF4-FFF2-40B4-BE49-F238E27FC236}">
                <a16:creationId xmlns:a16="http://schemas.microsoft.com/office/drawing/2014/main" id="{39B12045-B443-DD56-A6F6-3C84E8037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277" y="2517806"/>
            <a:ext cx="3855720" cy="240982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4062E6B4-83D6-2BEB-E6E9-9E479517641F}"/>
              </a:ext>
            </a:extLst>
          </p:cNvPr>
          <p:cNvCxnSpPr>
            <a:cxnSpLocks/>
          </p:cNvCxnSpPr>
          <p:nvPr/>
        </p:nvCxnSpPr>
        <p:spPr>
          <a:xfrm flipV="1">
            <a:off x="3667156" y="2824210"/>
            <a:ext cx="1243172" cy="184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6F7F36-7669-E461-F0BE-8ABAF665C03E}"/>
              </a:ext>
            </a:extLst>
          </p:cNvPr>
          <p:cNvCxnSpPr>
            <a:cxnSpLocks/>
            <a:stCxn id="4" idx="3"/>
          </p:cNvCxnSpPr>
          <p:nvPr/>
        </p:nvCxnSpPr>
        <p:spPr>
          <a:xfrm flipV="1">
            <a:off x="3667156" y="2824210"/>
            <a:ext cx="1243172" cy="1734678"/>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AB98273-D43B-EFBD-C2BA-FFDF53D107EA}"/>
              </a:ext>
            </a:extLst>
          </p:cNvPr>
          <p:cNvSpPr txBox="1"/>
          <p:nvPr/>
        </p:nvSpPr>
        <p:spPr>
          <a:xfrm>
            <a:off x="6485382" y="6596390"/>
            <a:ext cx="5706618" cy="261610"/>
          </a:xfrm>
          <a:prstGeom prst="rect">
            <a:avLst/>
          </a:prstGeom>
          <a:noFill/>
        </p:spPr>
        <p:txBody>
          <a:bodyPr wrap="square">
            <a:spAutoFit/>
          </a:bodyPr>
          <a:lstStyle/>
          <a:p>
            <a:r>
              <a:rPr lang="en-US" sz="1100" dirty="0"/>
              <a:t>https://www.timesofisrael.com/israeli-photographers-real-life-lion-king-photo-grabs-headlines/</a:t>
            </a:r>
          </a:p>
        </p:txBody>
      </p:sp>
      <p:sp>
        <p:nvSpPr>
          <p:cNvPr id="25" name="Rectangle 24">
            <a:extLst>
              <a:ext uri="{FF2B5EF4-FFF2-40B4-BE49-F238E27FC236}">
                <a16:creationId xmlns:a16="http://schemas.microsoft.com/office/drawing/2014/main" id="{6936796C-5270-D87E-3066-A91C765A9536}"/>
              </a:ext>
            </a:extLst>
          </p:cNvPr>
          <p:cNvSpPr/>
          <p:nvPr/>
        </p:nvSpPr>
        <p:spPr>
          <a:xfrm rot="409328">
            <a:off x="8646425" y="4247585"/>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Perturbations</a:t>
            </a:r>
            <a:endParaRPr lang="en-US" sz="2800" dirty="0">
              <a:solidFill>
                <a:schemeClr val="tx1"/>
              </a:solidFill>
            </a:endParaRPr>
          </a:p>
        </p:txBody>
      </p:sp>
      <p:sp>
        <p:nvSpPr>
          <p:cNvPr id="2" name="Slide Number Placeholder 1">
            <a:extLst>
              <a:ext uri="{FF2B5EF4-FFF2-40B4-BE49-F238E27FC236}">
                <a16:creationId xmlns:a16="http://schemas.microsoft.com/office/drawing/2014/main" id="{2C55BD5E-AE80-C4FF-B125-8407060DEDF8}"/>
              </a:ext>
            </a:extLst>
          </p:cNvPr>
          <p:cNvSpPr>
            <a:spLocks noGrp="1"/>
          </p:cNvSpPr>
          <p:nvPr>
            <p:ph type="sldNum" sz="quarter" idx="12"/>
          </p:nvPr>
        </p:nvSpPr>
        <p:spPr/>
        <p:txBody>
          <a:bodyPr/>
          <a:lstStyle/>
          <a:p>
            <a:fld id="{7DF2C209-72C5-4BD6-83FD-73557975086B}" type="slidenum">
              <a:rPr lang="en-US" smtClean="0"/>
              <a:t>61</a:t>
            </a:fld>
            <a:endParaRPr lang="en-US"/>
          </a:p>
        </p:txBody>
      </p:sp>
    </p:spTree>
    <p:extLst>
      <p:ext uri="{BB962C8B-B14F-4D97-AF65-F5344CB8AC3E}">
        <p14:creationId xmlns:p14="http://schemas.microsoft.com/office/powerpoint/2010/main" val="105249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imba - Wikipedia">
            <a:extLst>
              <a:ext uri="{FF2B5EF4-FFF2-40B4-BE49-F238E27FC236}">
                <a16:creationId xmlns:a16="http://schemas.microsoft.com/office/drawing/2014/main" id="{58795647-D301-A04C-4F12-90197FA5054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4227" y="1409972"/>
            <a:ext cx="2114286" cy="38476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386A398-5F73-83D5-72BA-D95064DFC256}"/>
              </a:ext>
            </a:extLst>
          </p:cNvPr>
          <p:cNvSpPr txBox="1"/>
          <p:nvPr/>
        </p:nvSpPr>
        <p:spPr>
          <a:xfrm>
            <a:off x="9679686" y="6581001"/>
            <a:ext cx="2512314" cy="276999"/>
          </a:xfrm>
          <a:prstGeom prst="rect">
            <a:avLst/>
          </a:prstGeom>
          <a:noFill/>
        </p:spPr>
        <p:txBody>
          <a:bodyPr wrap="square">
            <a:spAutoFit/>
          </a:bodyPr>
          <a:lstStyle/>
          <a:p>
            <a:r>
              <a:rPr lang="en-US" sz="1200" dirty="0"/>
              <a:t>https://en.wikipedia.org/wiki/Simba</a:t>
            </a:r>
          </a:p>
        </p:txBody>
      </p:sp>
      <p:sp>
        <p:nvSpPr>
          <p:cNvPr id="8" name="Title 1">
            <a:extLst>
              <a:ext uri="{FF2B5EF4-FFF2-40B4-BE49-F238E27FC236}">
                <a16:creationId xmlns:a16="http://schemas.microsoft.com/office/drawing/2014/main" id="{9B272056-DD63-C6DA-6226-121D1DE0182F}"/>
              </a:ext>
            </a:extLst>
          </p:cNvPr>
          <p:cNvSpPr>
            <a:spLocks noGrp="1"/>
          </p:cNvSpPr>
          <p:nvPr>
            <p:ph type="title"/>
          </p:nvPr>
        </p:nvSpPr>
        <p:spPr>
          <a:xfrm>
            <a:off x="5281855" y="2548509"/>
            <a:ext cx="3720132" cy="1760982"/>
          </a:xfrm>
        </p:spPr>
        <p:txBody>
          <a:bodyPr>
            <a:normAutofit/>
          </a:bodyPr>
          <a:lstStyle/>
          <a:p>
            <a:r>
              <a:rPr lang="en-US" altLang="zh-TW" sz="6000" dirty="0"/>
              <a:t>Thank you</a:t>
            </a:r>
            <a:endParaRPr lang="en-US" sz="6000" dirty="0"/>
          </a:p>
        </p:txBody>
      </p:sp>
      <p:sp>
        <p:nvSpPr>
          <p:cNvPr id="2" name="Slide Number Placeholder 1">
            <a:extLst>
              <a:ext uri="{FF2B5EF4-FFF2-40B4-BE49-F238E27FC236}">
                <a16:creationId xmlns:a16="http://schemas.microsoft.com/office/drawing/2014/main" id="{492E02A0-60C3-13C6-84D9-3A69172C8570}"/>
              </a:ext>
            </a:extLst>
          </p:cNvPr>
          <p:cNvSpPr>
            <a:spLocks noGrp="1"/>
          </p:cNvSpPr>
          <p:nvPr>
            <p:ph type="sldNum" sz="quarter" idx="12"/>
          </p:nvPr>
        </p:nvSpPr>
        <p:spPr/>
        <p:txBody>
          <a:bodyPr/>
          <a:lstStyle/>
          <a:p>
            <a:fld id="{7DF2C209-72C5-4BD6-83FD-73557975086B}" type="slidenum">
              <a:rPr lang="en-US" smtClean="0"/>
              <a:t>62</a:t>
            </a:fld>
            <a:endParaRPr lang="en-US"/>
          </a:p>
        </p:txBody>
      </p:sp>
    </p:spTree>
    <p:extLst>
      <p:ext uri="{BB962C8B-B14F-4D97-AF65-F5344CB8AC3E}">
        <p14:creationId xmlns:p14="http://schemas.microsoft.com/office/powerpoint/2010/main" val="4928999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C9070-5241-5BC1-AD8B-3438CECE26E2}"/>
              </a:ext>
            </a:extLst>
          </p:cNvPr>
          <p:cNvSpPr>
            <a:spLocks noGrp="1"/>
          </p:cNvSpPr>
          <p:nvPr>
            <p:ph type="sldNum" sz="quarter" idx="12"/>
          </p:nvPr>
        </p:nvSpPr>
        <p:spPr/>
        <p:txBody>
          <a:bodyPr/>
          <a:lstStyle/>
          <a:p>
            <a:fld id="{7DF2C209-72C5-4BD6-83FD-73557975086B}" type="slidenum">
              <a:rPr lang="en-US" smtClean="0"/>
              <a:t>63</a:t>
            </a:fld>
            <a:endParaRPr lang="en-US"/>
          </a:p>
        </p:txBody>
      </p:sp>
    </p:spTree>
    <p:extLst>
      <p:ext uri="{BB962C8B-B14F-4D97-AF65-F5344CB8AC3E}">
        <p14:creationId xmlns:p14="http://schemas.microsoft.com/office/powerpoint/2010/main" val="4804072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4CF2B-20EB-3A07-5AF6-A3E5E2E6875E}"/>
              </a:ext>
            </a:extLst>
          </p:cNvPr>
          <p:cNvSpPr>
            <a:spLocks noGrp="1"/>
          </p:cNvSpPr>
          <p:nvPr>
            <p:ph type="ctrTitle"/>
          </p:nvPr>
        </p:nvSpPr>
        <p:spPr/>
        <p:txBody>
          <a:bodyPr/>
          <a:lstStyle/>
          <a:p>
            <a:r>
              <a:rPr lang="en-US" altLang="zh-TW" dirty="0"/>
              <a:t>SIMBA</a:t>
            </a:r>
            <a:r>
              <a:rPr lang="zh-TW" altLang="en-US" dirty="0"/>
              <a:t> 實作 </a:t>
            </a:r>
            <a:endParaRPr lang="en-US" dirty="0"/>
          </a:p>
        </p:txBody>
      </p:sp>
      <p:sp>
        <p:nvSpPr>
          <p:cNvPr id="3" name="Subtitle 2">
            <a:extLst>
              <a:ext uri="{FF2B5EF4-FFF2-40B4-BE49-F238E27FC236}">
                <a16:creationId xmlns:a16="http://schemas.microsoft.com/office/drawing/2014/main" id="{67502CF9-F9D6-4CBA-851D-3DE491030ECB}"/>
              </a:ext>
            </a:extLst>
          </p:cNvPr>
          <p:cNvSpPr>
            <a:spLocks noGrp="1"/>
          </p:cNvSpPr>
          <p:nvPr>
            <p:ph type="subTitle" idx="1"/>
          </p:nvPr>
        </p:nvSpPr>
        <p:spPr/>
        <p:txBody>
          <a:bodyPr/>
          <a:lstStyle/>
          <a:p>
            <a:r>
              <a:rPr lang="zh-TW" altLang="en-US" dirty="0"/>
              <a:t>安裝安到找不到北</a:t>
            </a:r>
            <a:endParaRPr lang="en-US" dirty="0"/>
          </a:p>
        </p:txBody>
      </p:sp>
      <p:sp>
        <p:nvSpPr>
          <p:cNvPr id="4" name="Slide Number Placeholder 3">
            <a:extLst>
              <a:ext uri="{FF2B5EF4-FFF2-40B4-BE49-F238E27FC236}">
                <a16:creationId xmlns:a16="http://schemas.microsoft.com/office/drawing/2014/main" id="{14AE2894-AD58-7FF5-BE3E-ADB618AC5D14}"/>
              </a:ext>
            </a:extLst>
          </p:cNvPr>
          <p:cNvSpPr>
            <a:spLocks noGrp="1"/>
          </p:cNvSpPr>
          <p:nvPr>
            <p:ph type="sldNum" sz="quarter" idx="12"/>
          </p:nvPr>
        </p:nvSpPr>
        <p:spPr/>
        <p:txBody>
          <a:bodyPr/>
          <a:lstStyle/>
          <a:p>
            <a:fld id="{7DF2C209-72C5-4BD6-83FD-73557975086B}" type="slidenum">
              <a:rPr lang="en-US" smtClean="0"/>
              <a:t>64</a:t>
            </a:fld>
            <a:endParaRPr lang="en-US"/>
          </a:p>
        </p:txBody>
      </p:sp>
    </p:spTree>
    <p:extLst>
      <p:ext uri="{BB962C8B-B14F-4D97-AF65-F5344CB8AC3E}">
        <p14:creationId xmlns:p14="http://schemas.microsoft.com/office/powerpoint/2010/main" val="36843994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068F-FAFD-5A68-797D-15F2DD53AC5E}"/>
              </a:ext>
            </a:extLst>
          </p:cNvPr>
          <p:cNvSpPr>
            <a:spLocks noGrp="1"/>
          </p:cNvSpPr>
          <p:nvPr>
            <p:ph type="title"/>
          </p:nvPr>
        </p:nvSpPr>
        <p:spPr/>
        <p:txBody>
          <a:bodyPr/>
          <a:lstStyle/>
          <a:p>
            <a:r>
              <a:rPr lang="zh-TW" altLang="en-US" dirty="0"/>
              <a:t>建置環境</a:t>
            </a:r>
            <a:endParaRPr lang="en-US" dirty="0"/>
          </a:p>
        </p:txBody>
      </p:sp>
      <p:sp>
        <p:nvSpPr>
          <p:cNvPr id="3" name="Content Placeholder 2">
            <a:extLst>
              <a:ext uri="{FF2B5EF4-FFF2-40B4-BE49-F238E27FC236}">
                <a16:creationId xmlns:a16="http://schemas.microsoft.com/office/drawing/2014/main" id="{0D36848B-D186-640F-406D-DD735F1EBA15}"/>
              </a:ext>
            </a:extLst>
          </p:cNvPr>
          <p:cNvSpPr>
            <a:spLocks noGrp="1"/>
          </p:cNvSpPr>
          <p:nvPr>
            <p:ph idx="1"/>
          </p:nvPr>
        </p:nvSpPr>
        <p:spPr/>
        <p:txBody>
          <a:bodyPr/>
          <a:lstStyle/>
          <a:p>
            <a:r>
              <a:rPr lang="zh-TW" altLang="en-US" dirty="0"/>
              <a:t>在 </a:t>
            </a:r>
            <a:r>
              <a:rPr lang="en-US" altLang="zh-TW" dirty="0"/>
              <a:t>Google </a:t>
            </a:r>
            <a:r>
              <a:rPr lang="en-US" altLang="zh-TW" dirty="0" err="1"/>
              <a:t>Colab</a:t>
            </a:r>
            <a:r>
              <a:rPr lang="zh-TW" altLang="en-US" dirty="0"/>
              <a:t> 中載入 </a:t>
            </a:r>
            <a:r>
              <a:rPr lang="en-US" dirty="0" err="1"/>
              <a:t>Conda</a:t>
            </a:r>
            <a:endParaRPr lang="en-US" dirty="0"/>
          </a:p>
        </p:txBody>
      </p:sp>
      <p:pic>
        <p:nvPicPr>
          <p:cNvPr id="5" name="Picture 4">
            <a:extLst>
              <a:ext uri="{FF2B5EF4-FFF2-40B4-BE49-F238E27FC236}">
                <a16:creationId xmlns:a16="http://schemas.microsoft.com/office/drawing/2014/main" id="{15D725C5-3FBE-4D26-DEC7-F81806005F20}"/>
              </a:ext>
            </a:extLst>
          </p:cNvPr>
          <p:cNvPicPr>
            <a:picLocks noChangeAspect="1"/>
          </p:cNvPicPr>
          <p:nvPr/>
        </p:nvPicPr>
        <p:blipFill>
          <a:blip r:embed="rId2"/>
          <a:stretch>
            <a:fillRect/>
          </a:stretch>
        </p:blipFill>
        <p:spPr>
          <a:xfrm>
            <a:off x="1279564" y="2796485"/>
            <a:ext cx="6553768" cy="1265030"/>
          </a:xfrm>
          <a:prstGeom prst="rect">
            <a:avLst/>
          </a:prstGeom>
        </p:spPr>
      </p:pic>
      <p:sp>
        <p:nvSpPr>
          <p:cNvPr id="4" name="Slide Number Placeholder 3">
            <a:extLst>
              <a:ext uri="{FF2B5EF4-FFF2-40B4-BE49-F238E27FC236}">
                <a16:creationId xmlns:a16="http://schemas.microsoft.com/office/drawing/2014/main" id="{FB3324A3-2243-389E-1AC4-F685DB345477}"/>
              </a:ext>
            </a:extLst>
          </p:cNvPr>
          <p:cNvSpPr>
            <a:spLocks noGrp="1"/>
          </p:cNvSpPr>
          <p:nvPr>
            <p:ph type="sldNum" sz="quarter" idx="12"/>
          </p:nvPr>
        </p:nvSpPr>
        <p:spPr/>
        <p:txBody>
          <a:bodyPr/>
          <a:lstStyle/>
          <a:p>
            <a:fld id="{7DF2C209-72C5-4BD6-83FD-73557975086B}" type="slidenum">
              <a:rPr lang="en-US" smtClean="0"/>
              <a:t>65</a:t>
            </a:fld>
            <a:endParaRPr lang="en-US"/>
          </a:p>
        </p:txBody>
      </p:sp>
    </p:spTree>
    <p:extLst>
      <p:ext uri="{BB962C8B-B14F-4D97-AF65-F5344CB8AC3E}">
        <p14:creationId xmlns:p14="http://schemas.microsoft.com/office/powerpoint/2010/main" val="3879687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932F9-F564-DB48-EF28-495C58B36F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7EA987-C826-8D27-126D-12B152AEA70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E30E696-A3E9-A130-FFC5-008E5B5472BF}"/>
              </a:ext>
            </a:extLst>
          </p:cNvPr>
          <p:cNvPicPr>
            <a:picLocks noChangeAspect="1"/>
          </p:cNvPicPr>
          <p:nvPr/>
        </p:nvPicPr>
        <p:blipFill>
          <a:blip r:embed="rId2"/>
          <a:stretch>
            <a:fillRect/>
          </a:stretch>
        </p:blipFill>
        <p:spPr>
          <a:xfrm>
            <a:off x="285750" y="559371"/>
            <a:ext cx="11153775" cy="5739257"/>
          </a:xfrm>
          <a:prstGeom prst="rect">
            <a:avLst/>
          </a:prstGeom>
        </p:spPr>
      </p:pic>
      <p:sp>
        <p:nvSpPr>
          <p:cNvPr id="4" name="Slide Number Placeholder 3">
            <a:extLst>
              <a:ext uri="{FF2B5EF4-FFF2-40B4-BE49-F238E27FC236}">
                <a16:creationId xmlns:a16="http://schemas.microsoft.com/office/drawing/2014/main" id="{480DAB77-2BF8-B236-8653-5548CBFABEEF}"/>
              </a:ext>
            </a:extLst>
          </p:cNvPr>
          <p:cNvSpPr>
            <a:spLocks noGrp="1"/>
          </p:cNvSpPr>
          <p:nvPr>
            <p:ph type="sldNum" sz="quarter" idx="12"/>
          </p:nvPr>
        </p:nvSpPr>
        <p:spPr/>
        <p:txBody>
          <a:bodyPr/>
          <a:lstStyle/>
          <a:p>
            <a:fld id="{7DF2C209-72C5-4BD6-83FD-73557975086B}" type="slidenum">
              <a:rPr lang="en-US" smtClean="0"/>
              <a:t>66</a:t>
            </a:fld>
            <a:endParaRPr lang="en-US"/>
          </a:p>
        </p:txBody>
      </p:sp>
    </p:spTree>
    <p:extLst>
      <p:ext uri="{BB962C8B-B14F-4D97-AF65-F5344CB8AC3E}">
        <p14:creationId xmlns:p14="http://schemas.microsoft.com/office/powerpoint/2010/main" val="41257689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5E30-DB21-68B6-9847-9F748167054F}"/>
              </a:ext>
            </a:extLst>
          </p:cNvPr>
          <p:cNvSpPr>
            <a:spLocks noGrp="1"/>
          </p:cNvSpPr>
          <p:nvPr>
            <p:ph type="title"/>
          </p:nvPr>
        </p:nvSpPr>
        <p:spPr/>
        <p:txBody>
          <a:bodyPr/>
          <a:lstStyle/>
          <a:p>
            <a:r>
              <a:rPr lang="zh-TW" altLang="en-US" dirty="0"/>
              <a:t>我想像中的安裝 </a:t>
            </a:r>
            <a:endParaRPr lang="en-US" dirty="0"/>
          </a:p>
        </p:txBody>
      </p:sp>
      <p:sp>
        <p:nvSpPr>
          <p:cNvPr id="5" name="TextBox 4">
            <a:extLst>
              <a:ext uri="{FF2B5EF4-FFF2-40B4-BE49-F238E27FC236}">
                <a16:creationId xmlns:a16="http://schemas.microsoft.com/office/drawing/2014/main" id="{2262EAFD-2264-BAE9-AC8C-1B26BB5522D9}"/>
              </a:ext>
            </a:extLst>
          </p:cNvPr>
          <p:cNvSpPr txBox="1"/>
          <p:nvPr/>
        </p:nvSpPr>
        <p:spPr>
          <a:xfrm>
            <a:off x="7477709" y="6492875"/>
            <a:ext cx="4714291" cy="307777"/>
          </a:xfrm>
          <a:prstGeom prst="rect">
            <a:avLst/>
          </a:prstGeom>
          <a:noFill/>
        </p:spPr>
        <p:txBody>
          <a:bodyPr wrap="square">
            <a:spAutoFit/>
          </a:bodyPr>
          <a:lstStyle/>
          <a:p>
            <a:r>
              <a:rPr lang="en-US" sz="1400" dirty="0"/>
              <a:t>https://simba-bio.readthedocs.io/en/latest/Installation.html</a:t>
            </a:r>
          </a:p>
        </p:txBody>
      </p:sp>
      <p:pic>
        <p:nvPicPr>
          <p:cNvPr id="7" name="Picture 6">
            <a:extLst>
              <a:ext uri="{FF2B5EF4-FFF2-40B4-BE49-F238E27FC236}">
                <a16:creationId xmlns:a16="http://schemas.microsoft.com/office/drawing/2014/main" id="{BDB8F010-D98F-FFC9-595D-91D1B9C89047}"/>
              </a:ext>
            </a:extLst>
          </p:cNvPr>
          <p:cNvPicPr>
            <a:picLocks noChangeAspect="1"/>
          </p:cNvPicPr>
          <p:nvPr/>
        </p:nvPicPr>
        <p:blipFill>
          <a:blip r:embed="rId3"/>
          <a:stretch>
            <a:fillRect/>
          </a:stretch>
        </p:blipFill>
        <p:spPr>
          <a:xfrm>
            <a:off x="838200" y="1839876"/>
            <a:ext cx="7369179" cy="4503810"/>
          </a:xfrm>
          <a:prstGeom prst="rect">
            <a:avLst/>
          </a:prstGeom>
        </p:spPr>
      </p:pic>
      <p:sp>
        <p:nvSpPr>
          <p:cNvPr id="8" name="TextBox 7">
            <a:extLst>
              <a:ext uri="{FF2B5EF4-FFF2-40B4-BE49-F238E27FC236}">
                <a16:creationId xmlns:a16="http://schemas.microsoft.com/office/drawing/2014/main" id="{28982F37-E484-C1A5-1306-6FA044B4A4B0}"/>
              </a:ext>
            </a:extLst>
          </p:cNvPr>
          <p:cNvSpPr txBox="1"/>
          <p:nvPr/>
        </p:nvSpPr>
        <p:spPr>
          <a:xfrm>
            <a:off x="8845826" y="2549849"/>
            <a:ext cx="2225033" cy="1711366"/>
          </a:xfrm>
          <a:prstGeom prst="rect">
            <a:avLst/>
          </a:prstGeom>
          <a:noFill/>
        </p:spPr>
        <p:txBody>
          <a:bodyPr wrap="none" rtlCol="0">
            <a:spAutoFit/>
          </a:bodyPr>
          <a:lstStyle/>
          <a:p>
            <a:pPr marL="342900" indent="-342900">
              <a:lnSpc>
                <a:spcPct val="150000"/>
              </a:lnSpc>
              <a:buAutoNum type="arabicPeriod"/>
            </a:pPr>
            <a:r>
              <a:rPr lang="zh-TW" altLang="en-US" dirty="0"/>
              <a:t>先 </a:t>
            </a:r>
            <a:r>
              <a:rPr lang="en-US" altLang="zh-TW" dirty="0"/>
              <a:t>Load </a:t>
            </a:r>
            <a:r>
              <a:rPr lang="en-US" altLang="zh-TW" dirty="0" err="1"/>
              <a:t>Bioconda</a:t>
            </a:r>
            <a:endParaRPr lang="en-US" altLang="zh-TW" dirty="0"/>
          </a:p>
          <a:p>
            <a:pPr marL="342900" indent="-342900">
              <a:lnSpc>
                <a:spcPct val="150000"/>
              </a:lnSpc>
              <a:buAutoNum type="arabicPeriod"/>
            </a:pPr>
            <a:r>
              <a:rPr lang="zh-TW" altLang="en-US" dirty="0"/>
              <a:t>再安裝 </a:t>
            </a:r>
            <a:r>
              <a:rPr lang="en-US" altLang="zh-TW" dirty="0" err="1"/>
              <a:t>simba</a:t>
            </a:r>
            <a:endParaRPr lang="en-US" altLang="zh-TW" dirty="0"/>
          </a:p>
          <a:p>
            <a:pPr marL="342900" indent="-342900">
              <a:lnSpc>
                <a:spcPct val="150000"/>
              </a:lnSpc>
              <a:buAutoNum type="arabicPeriod"/>
            </a:pPr>
            <a:r>
              <a:rPr lang="zh-TW" altLang="en-US" dirty="0"/>
              <a:t>最後 </a:t>
            </a:r>
            <a:r>
              <a:rPr lang="en-US" altLang="zh-TW" dirty="0"/>
              <a:t>Create Env</a:t>
            </a:r>
          </a:p>
          <a:p>
            <a:pPr marL="342900" indent="-342900">
              <a:lnSpc>
                <a:spcPct val="150000"/>
              </a:lnSpc>
              <a:buAutoNum type="arabicPeriod"/>
            </a:pPr>
            <a:endParaRPr lang="en-US" dirty="0"/>
          </a:p>
        </p:txBody>
      </p:sp>
      <p:sp>
        <p:nvSpPr>
          <p:cNvPr id="3" name="Slide Number Placeholder 2">
            <a:extLst>
              <a:ext uri="{FF2B5EF4-FFF2-40B4-BE49-F238E27FC236}">
                <a16:creationId xmlns:a16="http://schemas.microsoft.com/office/drawing/2014/main" id="{D0A7461D-0ECE-7397-63E5-0BB36A04BBC5}"/>
              </a:ext>
            </a:extLst>
          </p:cNvPr>
          <p:cNvSpPr>
            <a:spLocks noGrp="1"/>
          </p:cNvSpPr>
          <p:nvPr>
            <p:ph type="sldNum" sz="quarter" idx="12"/>
          </p:nvPr>
        </p:nvSpPr>
        <p:spPr/>
        <p:txBody>
          <a:bodyPr/>
          <a:lstStyle/>
          <a:p>
            <a:fld id="{7DF2C209-72C5-4BD6-83FD-73557975086B}" type="slidenum">
              <a:rPr lang="en-US" smtClean="0"/>
              <a:t>67</a:t>
            </a:fld>
            <a:endParaRPr lang="en-US"/>
          </a:p>
        </p:txBody>
      </p:sp>
    </p:spTree>
    <p:extLst>
      <p:ext uri="{BB962C8B-B14F-4D97-AF65-F5344CB8AC3E}">
        <p14:creationId xmlns:p14="http://schemas.microsoft.com/office/powerpoint/2010/main" val="17376590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1A9E7-0429-99A1-3466-23034B74D20C}"/>
              </a:ext>
            </a:extLst>
          </p:cNvPr>
          <p:cNvSpPr>
            <a:spLocks noGrp="1"/>
          </p:cNvSpPr>
          <p:nvPr>
            <p:ph type="title"/>
          </p:nvPr>
        </p:nvSpPr>
        <p:spPr/>
        <p:txBody>
          <a:bodyPr/>
          <a:lstStyle/>
          <a:p>
            <a:r>
              <a:rPr lang="zh-TW" altLang="en-US" dirty="0"/>
              <a:t>實際上的安裝</a:t>
            </a:r>
            <a:endParaRPr lang="en-US" dirty="0"/>
          </a:p>
        </p:txBody>
      </p:sp>
      <p:pic>
        <p:nvPicPr>
          <p:cNvPr id="5" name="Picture 4">
            <a:extLst>
              <a:ext uri="{FF2B5EF4-FFF2-40B4-BE49-F238E27FC236}">
                <a16:creationId xmlns:a16="http://schemas.microsoft.com/office/drawing/2014/main" id="{C3DB2F6F-8E38-30DB-DC83-019CD81F272D}"/>
              </a:ext>
            </a:extLst>
          </p:cNvPr>
          <p:cNvPicPr>
            <a:picLocks noChangeAspect="1"/>
          </p:cNvPicPr>
          <p:nvPr/>
        </p:nvPicPr>
        <p:blipFill>
          <a:blip r:embed="rId2"/>
          <a:stretch>
            <a:fillRect/>
          </a:stretch>
        </p:blipFill>
        <p:spPr>
          <a:xfrm>
            <a:off x="1917386" y="1690688"/>
            <a:ext cx="7239627" cy="4122777"/>
          </a:xfrm>
          <a:prstGeom prst="rect">
            <a:avLst/>
          </a:prstGeom>
        </p:spPr>
      </p:pic>
      <p:sp>
        <p:nvSpPr>
          <p:cNvPr id="6" name="TextBox 5">
            <a:extLst>
              <a:ext uri="{FF2B5EF4-FFF2-40B4-BE49-F238E27FC236}">
                <a16:creationId xmlns:a16="http://schemas.microsoft.com/office/drawing/2014/main" id="{F5200CCC-10B7-7B6F-3D53-B899D10A5D60}"/>
              </a:ext>
            </a:extLst>
          </p:cNvPr>
          <p:cNvSpPr txBox="1"/>
          <p:nvPr/>
        </p:nvSpPr>
        <p:spPr>
          <a:xfrm>
            <a:off x="9804017" y="4946967"/>
            <a:ext cx="1549783" cy="923330"/>
          </a:xfrm>
          <a:prstGeom prst="rect">
            <a:avLst/>
          </a:prstGeom>
          <a:noFill/>
        </p:spPr>
        <p:txBody>
          <a:bodyPr wrap="none" rtlCol="0">
            <a:spAutoFit/>
          </a:bodyPr>
          <a:lstStyle/>
          <a:p>
            <a:r>
              <a:rPr lang="zh-TW" altLang="en-US" dirty="0"/>
              <a:t>做完之後 </a:t>
            </a:r>
            <a:endParaRPr lang="en-US" altLang="zh-TW" dirty="0"/>
          </a:p>
          <a:p>
            <a:r>
              <a:rPr lang="en-US" dirty="0"/>
              <a:t>Import SIMBA </a:t>
            </a:r>
          </a:p>
          <a:p>
            <a:r>
              <a:rPr lang="zh-TW" altLang="en-US" dirty="0"/>
              <a:t>瘋狂失敗</a:t>
            </a:r>
            <a:endParaRPr lang="en-US" dirty="0"/>
          </a:p>
        </p:txBody>
      </p:sp>
      <p:sp>
        <p:nvSpPr>
          <p:cNvPr id="3" name="Slide Number Placeholder 2">
            <a:extLst>
              <a:ext uri="{FF2B5EF4-FFF2-40B4-BE49-F238E27FC236}">
                <a16:creationId xmlns:a16="http://schemas.microsoft.com/office/drawing/2014/main" id="{D99AEAD9-9D3C-8DA6-F5D9-862553BEAE40}"/>
              </a:ext>
            </a:extLst>
          </p:cNvPr>
          <p:cNvSpPr>
            <a:spLocks noGrp="1"/>
          </p:cNvSpPr>
          <p:nvPr>
            <p:ph type="sldNum" sz="quarter" idx="12"/>
          </p:nvPr>
        </p:nvSpPr>
        <p:spPr/>
        <p:txBody>
          <a:bodyPr/>
          <a:lstStyle/>
          <a:p>
            <a:fld id="{7DF2C209-72C5-4BD6-83FD-73557975086B}" type="slidenum">
              <a:rPr lang="en-US" smtClean="0"/>
              <a:t>68</a:t>
            </a:fld>
            <a:endParaRPr lang="en-US"/>
          </a:p>
        </p:txBody>
      </p:sp>
    </p:spTree>
    <p:extLst>
      <p:ext uri="{BB962C8B-B14F-4D97-AF65-F5344CB8AC3E}">
        <p14:creationId xmlns:p14="http://schemas.microsoft.com/office/powerpoint/2010/main" val="7813565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0F4D7A-FE89-9C6B-77E0-215A86D2F006}"/>
              </a:ext>
            </a:extLst>
          </p:cNvPr>
          <p:cNvSpPr txBox="1"/>
          <p:nvPr/>
        </p:nvSpPr>
        <p:spPr>
          <a:xfrm>
            <a:off x="6724650" y="6581001"/>
            <a:ext cx="6096000" cy="276999"/>
          </a:xfrm>
          <a:prstGeom prst="rect">
            <a:avLst/>
          </a:prstGeom>
          <a:noFill/>
        </p:spPr>
        <p:txBody>
          <a:bodyPr wrap="square">
            <a:spAutoFit/>
          </a:bodyPr>
          <a:lstStyle/>
          <a:p>
            <a:r>
              <a:rPr lang="en-US" sz="1200" dirty="0"/>
              <a:t>https://github.com/sgoldenlab/simba/blob/master/docs/anaconda_installation.md</a:t>
            </a:r>
          </a:p>
        </p:txBody>
      </p:sp>
      <p:pic>
        <p:nvPicPr>
          <p:cNvPr id="8" name="Picture 7">
            <a:extLst>
              <a:ext uri="{FF2B5EF4-FFF2-40B4-BE49-F238E27FC236}">
                <a16:creationId xmlns:a16="http://schemas.microsoft.com/office/drawing/2014/main" id="{52EA852D-4032-BFB4-E38D-F1E5E36D585B}"/>
              </a:ext>
            </a:extLst>
          </p:cNvPr>
          <p:cNvPicPr>
            <a:picLocks noChangeAspect="1"/>
          </p:cNvPicPr>
          <p:nvPr/>
        </p:nvPicPr>
        <p:blipFill>
          <a:blip r:embed="rId2"/>
          <a:stretch>
            <a:fillRect/>
          </a:stretch>
        </p:blipFill>
        <p:spPr>
          <a:xfrm>
            <a:off x="0" y="555311"/>
            <a:ext cx="12192000" cy="5747377"/>
          </a:xfrm>
          <a:prstGeom prst="rect">
            <a:avLst/>
          </a:prstGeom>
        </p:spPr>
      </p:pic>
      <p:sp>
        <p:nvSpPr>
          <p:cNvPr id="2" name="TextBox 1">
            <a:extLst>
              <a:ext uri="{FF2B5EF4-FFF2-40B4-BE49-F238E27FC236}">
                <a16:creationId xmlns:a16="http://schemas.microsoft.com/office/drawing/2014/main" id="{D19073B6-6BDA-2D43-76B2-49F2537C0C18}"/>
              </a:ext>
            </a:extLst>
          </p:cNvPr>
          <p:cNvSpPr txBox="1"/>
          <p:nvPr/>
        </p:nvSpPr>
        <p:spPr>
          <a:xfrm>
            <a:off x="375920" y="463871"/>
            <a:ext cx="2061783" cy="52322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TW" altLang="en-US" sz="2800" dirty="0"/>
              <a:t>求救 </a:t>
            </a:r>
            <a:r>
              <a:rPr lang="en-US" altLang="zh-TW" sz="2800" dirty="0" err="1"/>
              <a:t>Github</a:t>
            </a:r>
            <a:r>
              <a:rPr lang="en-US" altLang="zh-TW" sz="2800" dirty="0"/>
              <a:t> </a:t>
            </a:r>
            <a:endParaRPr lang="en-US" sz="2800" dirty="0"/>
          </a:p>
        </p:txBody>
      </p:sp>
      <p:sp>
        <p:nvSpPr>
          <p:cNvPr id="3" name="Slide Number Placeholder 2">
            <a:extLst>
              <a:ext uri="{FF2B5EF4-FFF2-40B4-BE49-F238E27FC236}">
                <a16:creationId xmlns:a16="http://schemas.microsoft.com/office/drawing/2014/main" id="{ADCE106B-2268-CD24-11D8-DEBE5B54B1AE}"/>
              </a:ext>
            </a:extLst>
          </p:cNvPr>
          <p:cNvSpPr>
            <a:spLocks noGrp="1"/>
          </p:cNvSpPr>
          <p:nvPr>
            <p:ph type="sldNum" sz="quarter" idx="12"/>
          </p:nvPr>
        </p:nvSpPr>
        <p:spPr/>
        <p:txBody>
          <a:bodyPr/>
          <a:lstStyle/>
          <a:p>
            <a:fld id="{7DF2C209-72C5-4BD6-83FD-73557975086B}" type="slidenum">
              <a:rPr lang="en-US" smtClean="0"/>
              <a:t>69</a:t>
            </a:fld>
            <a:endParaRPr lang="en-US"/>
          </a:p>
        </p:txBody>
      </p:sp>
    </p:spTree>
    <p:extLst>
      <p:ext uri="{BB962C8B-B14F-4D97-AF65-F5344CB8AC3E}">
        <p14:creationId xmlns:p14="http://schemas.microsoft.com/office/powerpoint/2010/main" val="5518089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E9F87E-253B-FC99-B05A-B9F70B55A156}"/>
              </a:ext>
            </a:extLst>
          </p:cNvPr>
          <p:cNvPicPr>
            <a:picLocks noChangeAspect="1"/>
          </p:cNvPicPr>
          <p:nvPr/>
        </p:nvPicPr>
        <p:blipFill>
          <a:blip r:embed="rId2"/>
          <a:stretch>
            <a:fillRect/>
          </a:stretch>
        </p:blipFill>
        <p:spPr>
          <a:xfrm>
            <a:off x="586262" y="829895"/>
            <a:ext cx="11019475" cy="5456393"/>
          </a:xfrm>
          <a:prstGeom prst="rect">
            <a:avLst/>
          </a:prstGeom>
        </p:spPr>
      </p:pic>
      <p:sp>
        <p:nvSpPr>
          <p:cNvPr id="2" name="TextBox 1">
            <a:extLst>
              <a:ext uri="{FF2B5EF4-FFF2-40B4-BE49-F238E27FC236}">
                <a16:creationId xmlns:a16="http://schemas.microsoft.com/office/drawing/2014/main" id="{88AB3819-9A8B-4BC4-0318-5AC963ACCEEA}"/>
              </a:ext>
            </a:extLst>
          </p:cNvPr>
          <p:cNvSpPr txBox="1"/>
          <p:nvPr/>
        </p:nvSpPr>
        <p:spPr>
          <a:xfrm>
            <a:off x="586262" y="387046"/>
            <a:ext cx="2031325" cy="369332"/>
          </a:xfrm>
          <a:prstGeom prst="rect">
            <a:avLst/>
          </a:prstGeom>
          <a:noFill/>
        </p:spPr>
        <p:txBody>
          <a:bodyPr wrap="none" rtlCol="0">
            <a:spAutoFit/>
          </a:bodyPr>
          <a:lstStyle/>
          <a:p>
            <a:r>
              <a:rPr lang="zh-TW" altLang="en-US" dirty="0"/>
              <a:t>繼續在失敗中打滾</a:t>
            </a:r>
            <a:endParaRPr lang="en-US" dirty="0"/>
          </a:p>
        </p:txBody>
      </p:sp>
      <p:sp>
        <p:nvSpPr>
          <p:cNvPr id="3" name="Slide Number Placeholder 2">
            <a:extLst>
              <a:ext uri="{FF2B5EF4-FFF2-40B4-BE49-F238E27FC236}">
                <a16:creationId xmlns:a16="http://schemas.microsoft.com/office/drawing/2014/main" id="{B80529BF-6AB0-497A-A3AD-9DAA43E8BD6B}"/>
              </a:ext>
            </a:extLst>
          </p:cNvPr>
          <p:cNvSpPr>
            <a:spLocks noGrp="1"/>
          </p:cNvSpPr>
          <p:nvPr>
            <p:ph type="sldNum" sz="quarter" idx="12"/>
          </p:nvPr>
        </p:nvSpPr>
        <p:spPr/>
        <p:txBody>
          <a:bodyPr/>
          <a:lstStyle/>
          <a:p>
            <a:fld id="{7DF2C209-72C5-4BD6-83FD-73557975086B}" type="slidenum">
              <a:rPr lang="en-US" smtClean="0"/>
              <a:t>70</a:t>
            </a:fld>
            <a:endParaRPr lang="en-US"/>
          </a:p>
        </p:txBody>
      </p:sp>
    </p:spTree>
    <p:extLst>
      <p:ext uri="{BB962C8B-B14F-4D97-AF65-F5344CB8AC3E}">
        <p14:creationId xmlns:p14="http://schemas.microsoft.com/office/powerpoint/2010/main" val="10380438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0FAE5-E3B0-D562-B9AB-FCDB3E6C86FC}"/>
              </a:ext>
            </a:extLst>
          </p:cNvPr>
          <p:cNvSpPr>
            <a:spLocks noGrp="1"/>
          </p:cNvSpPr>
          <p:nvPr>
            <p:ph type="title"/>
          </p:nvPr>
        </p:nvSpPr>
        <p:spPr/>
        <p:txBody>
          <a:bodyPr/>
          <a:lstStyle/>
          <a:p>
            <a:r>
              <a:rPr lang="zh-TW" altLang="en-US" dirty="0"/>
              <a:t>連 </a:t>
            </a:r>
            <a:r>
              <a:rPr lang="en-US" altLang="zh-TW" dirty="0" err="1"/>
              <a:t>PyTorch</a:t>
            </a:r>
            <a:r>
              <a:rPr lang="zh-TW" altLang="en-US" dirty="0"/>
              <a:t>都要裝上去了</a:t>
            </a:r>
            <a:endParaRPr lang="en-US" dirty="0"/>
          </a:p>
        </p:txBody>
      </p:sp>
      <p:pic>
        <p:nvPicPr>
          <p:cNvPr id="5" name="Content Placeholder 4">
            <a:extLst>
              <a:ext uri="{FF2B5EF4-FFF2-40B4-BE49-F238E27FC236}">
                <a16:creationId xmlns:a16="http://schemas.microsoft.com/office/drawing/2014/main" id="{CD261E18-87E3-BBDA-BA68-C85E5AC7ED3A}"/>
              </a:ext>
            </a:extLst>
          </p:cNvPr>
          <p:cNvPicPr>
            <a:picLocks noGrp="1" noChangeAspect="1"/>
          </p:cNvPicPr>
          <p:nvPr>
            <p:ph idx="1"/>
          </p:nvPr>
        </p:nvPicPr>
        <p:blipFill>
          <a:blip r:embed="rId2"/>
          <a:stretch>
            <a:fillRect/>
          </a:stretch>
        </p:blipFill>
        <p:spPr>
          <a:xfrm>
            <a:off x="1515983" y="2359041"/>
            <a:ext cx="9160034" cy="3284505"/>
          </a:xfrm>
        </p:spPr>
      </p:pic>
      <p:sp>
        <p:nvSpPr>
          <p:cNvPr id="3" name="TextBox 2">
            <a:extLst>
              <a:ext uri="{FF2B5EF4-FFF2-40B4-BE49-F238E27FC236}">
                <a16:creationId xmlns:a16="http://schemas.microsoft.com/office/drawing/2014/main" id="{017F0F06-1689-1E18-38C6-884EAAB5EFB0}"/>
              </a:ext>
            </a:extLst>
          </p:cNvPr>
          <p:cNvSpPr txBox="1"/>
          <p:nvPr/>
        </p:nvSpPr>
        <p:spPr>
          <a:xfrm>
            <a:off x="1515983" y="1869440"/>
            <a:ext cx="5652381" cy="369332"/>
          </a:xfrm>
          <a:prstGeom prst="rect">
            <a:avLst/>
          </a:prstGeom>
          <a:noFill/>
        </p:spPr>
        <p:txBody>
          <a:bodyPr wrap="none" rtlCol="0">
            <a:spAutoFit/>
          </a:bodyPr>
          <a:lstStyle/>
          <a:p>
            <a:r>
              <a:rPr lang="zh-TW" altLang="en-US" dirty="0"/>
              <a:t>因為 </a:t>
            </a:r>
            <a:r>
              <a:rPr lang="en-US" altLang="zh-TW" dirty="0"/>
              <a:t>import </a:t>
            </a:r>
            <a:r>
              <a:rPr lang="en-US" altLang="zh-TW" dirty="0" err="1"/>
              <a:t>simba</a:t>
            </a:r>
            <a:r>
              <a:rPr lang="zh-TW" altLang="en-US" dirty="0"/>
              <a:t> 時，出現 </a:t>
            </a:r>
            <a:r>
              <a:rPr lang="en-US" altLang="zh-TW" dirty="0" err="1"/>
              <a:t>NoModule</a:t>
            </a:r>
            <a:r>
              <a:rPr lang="en-US" altLang="zh-TW" dirty="0"/>
              <a:t> “</a:t>
            </a:r>
            <a:r>
              <a:rPr lang="en-US" altLang="zh-TW" dirty="0" err="1"/>
              <a:t>PyTorch</a:t>
            </a:r>
            <a:r>
              <a:rPr lang="en-US" altLang="zh-TW" dirty="0"/>
              <a:t>”</a:t>
            </a:r>
            <a:r>
              <a:rPr lang="zh-TW" altLang="en-US" dirty="0"/>
              <a:t>的情況</a:t>
            </a:r>
            <a:endParaRPr lang="en-US" dirty="0"/>
          </a:p>
        </p:txBody>
      </p:sp>
      <p:sp>
        <p:nvSpPr>
          <p:cNvPr id="4" name="Slide Number Placeholder 3">
            <a:extLst>
              <a:ext uri="{FF2B5EF4-FFF2-40B4-BE49-F238E27FC236}">
                <a16:creationId xmlns:a16="http://schemas.microsoft.com/office/drawing/2014/main" id="{496996AB-69A4-839F-59B8-AC478B50BE92}"/>
              </a:ext>
            </a:extLst>
          </p:cNvPr>
          <p:cNvSpPr>
            <a:spLocks noGrp="1"/>
          </p:cNvSpPr>
          <p:nvPr>
            <p:ph type="sldNum" sz="quarter" idx="12"/>
          </p:nvPr>
        </p:nvSpPr>
        <p:spPr/>
        <p:txBody>
          <a:bodyPr/>
          <a:lstStyle/>
          <a:p>
            <a:fld id="{7DF2C209-72C5-4BD6-83FD-73557975086B}" type="slidenum">
              <a:rPr lang="en-US" smtClean="0"/>
              <a:t>71</a:t>
            </a:fld>
            <a:endParaRPr lang="en-US"/>
          </a:p>
        </p:txBody>
      </p:sp>
    </p:spTree>
    <p:extLst>
      <p:ext uri="{BB962C8B-B14F-4D97-AF65-F5344CB8AC3E}">
        <p14:creationId xmlns:p14="http://schemas.microsoft.com/office/powerpoint/2010/main" val="27292757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0BA9A-1A73-B42C-2E7E-DCF224136E4E}"/>
              </a:ext>
            </a:extLst>
          </p:cNvPr>
          <p:cNvSpPr>
            <a:spLocks noGrp="1"/>
          </p:cNvSpPr>
          <p:nvPr>
            <p:ph type="title"/>
          </p:nvPr>
        </p:nvSpPr>
        <p:spPr/>
        <p:txBody>
          <a:bodyPr/>
          <a:lstStyle/>
          <a:p>
            <a:r>
              <a:rPr lang="zh-TW" altLang="en-US" dirty="0"/>
              <a:t>解救安裝的最後一根稻草</a:t>
            </a:r>
            <a:endParaRPr lang="en-US" dirty="0"/>
          </a:p>
        </p:txBody>
      </p:sp>
      <p:sp>
        <p:nvSpPr>
          <p:cNvPr id="5" name="TextBox 4">
            <a:extLst>
              <a:ext uri="{FF2B5EF4-FFF2-40B4-BE49-F238E27FC236}">
                <a16:creationId xmlns:a16="http://schemas.microsoft.com/office/drawing/2014/main" id="{E0106E18-037E-E816-4171-A1D658D287D5}"/>
              </a:ext>
            </a:extLst>
          </p:cNvPr>
          <p:cNvSpPr txBox="1"/>
          <p:nvPr/>
        </p:nvSpPr>
        <p:spPr>
          <a:xfrm>
            <a:off x="9086850" y="6492875"/>
            <a:ext cx="2905125" cy="307777"/>
          </a:xfrm>
          <a:prstGeom prst="rect">
            <a:avLst/>
          </a:prstGeom>
          <a:noFill/>
        </p:spPr>
        <p:txBody>
          <a:bodyPr wrap="square">
            <a:spAutoFit/>
          </a:bodyPr>
          <a:lstStyle/>
          <a:p>
            <a:r>
              <a:rPr lang="en-US" sz="1400" dirty="0">
                <a:hlinkClick r:id="rId2"/>
              </a:rPr>
              <a:t>https://github.com/pinellolab/simba</a:t>
            </a:r>
            <a:endParaRPr lang="en-US" sz="1400" dirty="0"/>
          </a:p>
        </p:txBody>
      </p:sp>
      <p:pic>
        <p:nvPicPr>
          <p:cNvPr id="7" name="Picture 6">
            <a:extLst>
              <a:ext uri="{FF2B5EF4-FFF2-40B4-BE49-F238E27FC236}">
                <a16:creationId xmlns:a16="http://schemas.microsoft.com/office/drawing/2014/main" id="{1B1A4FB4-7B80-44F4-0A7B-67E1CDDCCDA2}"/>
              </a:ext>
            </a:extLst>
          </p:cNvPr>
          <p:cNvPicPr>
            <a:picLocks noChangeAspect="1"/>
          </p:cNvPicPr>
          <p:nvPr/>
        </p:nvPicPr>
        <p:blipFill>
          <a:blip r:embed="rId3"/>
          <a:stretch>
            <a:fillRect/>
          </a:stretch>
        </p:blipFill>
        <p:spPr>
          <a:xfrm>
            <a:off x="950234" y="1449483"/>
            <a:ext cx="8329382" cy="5121084"/>
          </a:xfrm>
          <a:prstGeom prst="rect">
            <a:avLst/>
          </a:prstGeom>
        </p:spPr>
      </p:pic>
      <p:sp>
        <p:nvSpPr>
          <p:cNvPr id="3" name="Slide Number Placeholder 2">
            <a:extLst>
              <a:ext uri="{FF2B5EF4-FFF2-40B4-BE49-F238E27FC236}">
                <a16:creationId xmlns:a16="http://schemas.microsoft.com/office/drawing/2014/main" id="{2C210052-432B-11FD-D51D-6A4FA68CF0BB}"/>
              </a:ext>
            </a:extLst>
          </p:cNvPr>
          <p:cNvSpPr>
            <a:spLocks noGrp="1"/>
          </p:cNvSpPr>
          <p:nvPr>
            <p:ph type="sldNum" sz="quarter" idx="12"/>
          </p:nvPr>
        </p:nvSpPr>
        <p:spPr/>
        <p:txBody>
          <a:bodyPr/>
          <a:lstStyle/>
          <a:p>
            <a:fld id="{7DF2C209-72C5-4BD6-83FD-73557975086B}" type="slidenum">
              <a:rPr lang="en-US" smtClean="0"/>
              <a:t>72</a:t>
            </a:fld>
            <a:endParaRPr lang="en-US"/>
          </a:p>
        </p:txBody>
      </p:sp>
    </p:spTree>
    <p:extLst>
      <p:ext uri="{BB962C8B-B14F-4D97-AF65-F5344CB8AC3E}">
        <p14:creationId xmlns:p14="http://schemas.microsoft.com/office/powerpoint/2010/main" val="369134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75385-93A7-8711-4ACB-EC8637798A80}"/>
              </a:ext>
            </a:extLst>
          </p:cNvPr>
          <p:cNvSpPr>
            <a:spLocks noGrp="1"/>
          </p:cNvSpPr>
          <p:nvPr>
            <p:ph type="title"/>
          </p:nvPr>
        </p:nvSpPr>
        <p:spPr>
          <a:xfrm>
            <a:off x="4244340" y="2766218"/>
            <a:ext cx="3703320" cy="1325563"/>
          </a:xfrm>
        </p:spPr>
        <p:txBody>
          <a:bodyPr/>
          <a:lstStyle/>
          <a:p>
            <a:r>
              <a:rPr lang="zh-TW" altLang="en-US" dirty="0"/>
              <a:t>發生了什麼？</a:t>
            </a:r>
            <a:endParaRPr lang="en-US" dirty="0"/>
          </a:p>
        </p:txBody>
      </p:sp>
      <p:sp>
        <p:nvSpPr>
          <p:cNvPr id="3" name="Slide Number Placeholder 2">
            <a:extLst>
              <a:ext uri="{FF2B5EF4-FFF2-40B4-BE49-F238E27FC236}">
                <a16:creationId xmlns:a16="http://schemas.microsoft.com/office/drawing/2014/main" id="{7E4A406E-5DBB-434D-9F66-5572ED34AAF1}"/>
              </a:ext>
            </a:extLst>
          </p:cNvPr>
          <p:cNvSpPr>
            <a:spLocks noGrp="1"/>
          </p:cNvSpPr>
          <p:nvPr>
            <p:ph type="sldNum" sz="quarter" idx="12"/>
          </p:nvPr>
        </p:nvSpPr>
        <p:spPr/>
        <p:txBody>
          <a:bodyPr/>
          <a:lstStyle/>
          <a:p>
            <a:fld id="{7DF2C209-72C5-4BD6-83FD-73557975086B}" type="slidenum">
              <a:rPr lang="en-US" smtClean="0"/>
              <a:t>73</a:t>
            </a:fld>
            <a:endParaRPr lang="en-US"/>
          </a:p>
        </p:txBody>
      </p:sp>
    </p:spTree>
    <p:extLst>
      <p:ext uri="{BB962C8B-B14F-4D97-AF65-F5344CB8AC3E}">
        <p14:creationId xmlns:p14="http://schemas.microsoft.com/office/powerpoint/2010/main" val="22631331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371C-84FC-703F-F12E-93680196274A}"/>
              </a:ext>
            </a:extLst>
          </p:cNvPr>
          <p:cNvSpPr>
            <a:spLocks noGrp="1"/>
          </p:cNvSpPr>
          <p:nvPr>
            <p:ph type="title"/>
          </p:nvPr>
        </p:nvSpPr>
        <p:spPr/>
        <p:txBody>
          <a:bodyPr/>
          <a:lstStyle/>
          <a:p>
            <a:r>
              <a:rPr lang="en-US" altLang="zh-TW" dirty="0"/>
              <a:t>SIMBA</a:t>
            </a:r>
            <a:r>
              <a:rPr lang="zh-TW" altLang="en-US" dirty="0"/>
              <a:t>網站上給的</a:t>
            </a:r>
            <a:r>
              <a:rPr lang="en-US" altLang="zh-TW" dirty="0"/>
              <a:t>GitHub</a:t>
            </a:r>
            <a:endParaRPr lang="en-US" dirty="0"/>
          </a:p>
        </p:txBody>
      </p:sp>
      <p:sp>
        <p:nvSpPr>
          <p:cNvPr id="3" name="Content Placeholder 2">
            <a:extLst>
              <a:ext uri="{FF2B5EF4-FFF2-40B4-BE49-F238E27FC236}">
                <a16:creationId xmlns:a16="http://schemas.microsoft.com/office/drawing/2014/main" id="{9E13925E-3C66-8219-DF2A-FF2CA738A77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D3558EB-7107-AFE8-FB92-0284380FAD78}"/>
              </a:ext>
            </a:extLst>
          </p:cNvPr>
          <p:cNvPicPr>
            <a:picLocks noChangeAspect="1"/>
          </p:cNvPicPr>
          <p:nvPr/>
        </p:nvPicPr>
        <p:blipFill>
          <a:blip r:embed="rId2"/>
          <a:stretch>
            <a:fillRect/>
          </a:stretch>
        </p:blipFill>
        <p:spPr>
          <a:xfrm>
            <a:off x="838200" y="1564036"/>
            <a:ext cx="10515600" cy="4928839"/>
          </a:xfrm>
          <a:prstGeom prst="rect">
            <a:avLst/>
          </a:prstGeom>
        </p:spPr>
      </p:pic>
      <p:sp>
        <p:nvSpPr>
          <p:cNvPr id="6" name="TextBox 5">
            <a:hlinkClick r:id="rId3"/>
            <a:extLst>
              <a:ext uri="{FF2B5EF4-FFF2-40B4-BE49-F238E27FC236}">
                <a16:creationId xmlns:a16="http://schemas.microsoft.com/office/drawing/2014/main" id="{6ADB3318-7C6E-C36A-A987-DA4C3D9252E8}"/>
              </a:ext>
            </a:extLst>
          </p:cNvPr>
          <p:cNvSpPr txBox="1"/>
          <p:nvPr/>
        </p:nvSpPr>
        <p:spPr>
          <a:xfrm>
            <a:off x="9039224" y="6540500"/>
            <a:ext cx="3152776" cy="307777"/>
          </a:xfrm>
          <a:prstGeom prst="rect">
            <a:avLst/>
          </a:prstGeom>
          <a:noFill/>
        </p:spPr>
        <p:txBody>
          <a:bodyPr wrap="square">
            <a:spAutoFit/>
          </a:bodyPr>
          <a:lstStyle/>
          <a:p>
            <a:r>
              <a:rPr lang="en-US" sz="1400" dirty="0">
                <a:hlinkClick r:id="rId3"/>
              </a:rPr>
              <a:t>https://github.com/huidongchen/simba</a:t>
            </a:r>
            <a:endParaRPr lang="en-US" sz="1400" dirty="0"/>
          </a:p>
        </p:txBody>
      </p:sp>
      <p:pic>
        <p:nvPicPr>
          <p:cNvPr id="8" name="Picture 7">
            <a:extLst>
              <a:ext uri="{FF2B5EF4-FFF2-40B4-BE49-F238E27FC236}">
                <a16:creationId xmlns:a16="http://schemas.microsoft.com/office/drawing/2014/main" id="{08B4D83F-5F5E-3B8A-B971-F654C2685E40}"/>
              </a:ext>
            </a:extLst>
          </p:cNvPr>
          <p:cNvPicPr>
            <a:picLocks noChangeAspect="1"/>
          </p:cNvPicPr>
          <p:nvPr/>
        </p:nvPicPr>
        <p:blipFill>
          <a:blip r:embed="rId4"/>
          <a:stretch>
            <a:fillRect/>
          </a:stretch>
        </p:blipFill>
        <p:spPr>
          <a:xfrm>
            <a:off x="7410450" y="502802"/>
            <a:ext cx="2825285" cy="879466"/>
          </a:xfrm>
          <a:prstGeom prst="rect">
            <a:avLst/>
          </a:prstGeom>
        </p:spPr>
      </p:pic>
      <p:sp>
        <p:nvSpPr>
          <p:cNvPr id="4" name="Slide Number Placeholder 3">
            <a:extLst>
              <a:ext uri="{FF2B5EF4-FFF2-40B4-BE49-F238E27FC236}">
                <a16:creationId xmlns:a16="http://schemas.microsoft.com/office/drawing/2014/main" id="{3FAB9A96-A748-9CFF-CA8C-3DBE737CC9BE}"/>
              </a:ext>
            </a:extLst>
          </p:cNvPr>
          <p:cNvSpPr>
            <a:spLocks noGrp="1"/>
          </p:cNvSpPr>
          <p:nvPr>
            <p:ph type="sldNum" sz="quarter" idx="12"/>
          </p:nvPr>
        </p:nvSpPr>
        <p:spPr/>
        <p:txBody>
          <a:bodyPr/>
          <a:lstStyle/>
          <a:p>
            <a:fld id="{7DF2C209-72C5-4BD6-83FD-73557975086B}" type="slidenum">
              <a:rPr lang="en-US" smtClean="0"/>
              <a:t>74</a:t>
            </a:fld>
            <a:endParaRPr lang="en-US"/>
          </a:p>
        </p:txBody>
      </p:sp>
    </p:spTree>
    <p:extLst>
      <p:ext uri="{BB962C8B-B14F-4D97-AF65-F5344CB8AC3E}">
        <p14:creationId xmlns:p14="http://schemas.microsoft.com/office/powerpoint/2010/main" val="2298882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371C-84FC-703F-F12E-93680196274A}"/>
              </a:ext>
            </a:extLst>
          </p:cNvPr>
          <p:cNvSpPr>
            <a:spLocks noGrp="1"/>
          </p:cNvSpPr>
          <p:nvPr>
            <p:ph type="title"/>
          </p:nvPr>
        </p:nvSpPr>
        <p:spPr/>
        <p:txBody>
          <a:bodyPr/>
          <a:lstStyle/>
          <a:p>
            <a:r>
              <a:rPr lang="zh-TW" altLang="en-US" dirty="0"/>
              <a:t>實際安裝用的</a:t>
            </a:r>
            <a:r>
              <a:rPr lang="en-US" altLang="zh-TW" dirty="0"/>
              <a:t>GitHub</a:t>
            </a:r>
            <a:endParaRPr lang="en-US" dirty="0"/>
          </a:p>
        </p:txBody>
      </p:sp>
      <p:pic>
        <p:nvPicPr>
          <p:cNvPr id="6" name="Picture 5">
            <a:extLst>
              <a:ext uri="{FF2B5EF4-FFF2-40B4-BE49-F238E27FC236}">
                <a16:creationId xmlns:a16="http://schemas.microsoft.com/office/drawing/2014/main" id="{EB4FF6C7-68B9-1D43-B75E-B93A0DDA211A}"/>
              </a:ext>
            </a:extLst>
          </p:cNvPr>
          <p:cNvPicPr>
            <a:picLocks noChangeAspect="1"/>
          </p:cNvPicPr>
          <p:nvPr/>
        </p:nvPicPr>
        <p:blipFill>
          <a:blip r:embed="rId2"/>
          <a:stretch>
            <a:fillRect/>
          </a:stretch>
        </p:blipFill>
        <p:spPr>
          <a:xfrm>
            <a:off x="838200" y="1552527"/>
            <a:ext cx="10779760" cy="5020239"/>
          </a:xfrm>
          <a:prstGeom prst="rect">
            <a:avLst/>
          </a:prstGeom>
        </p:spPr>
      </p:pic>
      <p:sp>
        <p:nvSpPr>
          <p:cNvPr id="4" name="TextBox 3">
            <a:extLst>
              <a:ext uri="{FF2B5EF4-FFF2-40B4-BE49-F238E27FC236}">
                <a16:creationId xmlns:a16="http://schemas.microsoft.com/office/drawing/2014/main" id="{689EAFF5-1CE9-660B-8429-ADAC9ED7BB64}"/>
              </a:ext>
            </a:extLst>
          </p:cNvPr>
          <p:cNvSpPr txBox="1"/>
          <p:nvPr/>
        </p:nvSpPr>
        <p:spPr>
          <a:xfrm>
            <a:off x="7210425" y="6578798"/>
            <a:ext cx="5057775" cy="307777"/>
          </a:xfrm>
          <a:prstGeom prst="rect">
            <a:avLst/>
          </a:prstGeom>
          <a:noFill/>
        </p:spPr>
        <p:txBody>
          <a:bodyPr wrap="square">
            <a:spAutoFit/>
          </a:bodyPr>
          <a:lstStyle/>
          <a:p>
            <a:r>
              <a:rPr lang="en-US" sz="1400" dirty="0">
                <a:hlinkClick r:id="rId3"/>
              </a:rPr>
              <a:t>https://github.com/pinellolab/simba/tree/master/simba/datasets</a:t>
            </a:r>
            <a:endParaRPr lang="en-US" sz="1400" dirty="0"/>
          </a:p>
        </p:txBody>
      </p:sp>
      <p:sp>
        <p:nvSpPr>
          <p:cNvPr id="3" name="Slide Number Placeholder 2">
            <a:extLst>
              <a:ext uri="{FF2B5EF4-FFF2-40B4-BE49-F238E27FC236}">
                <a16:creationId xmlns:a16="http://schemas.microsoft.com/office/drawing/2014/main" id="{0897E652-CD94-1C99-3F46-834DD17871C9}"/>
              </a:ext>
            </a:extLst>
          </p:cNvPr>
          <p:cNvSpPr>
            <a:spLocks noGrp="1"/>
          </p:cNvSpPr>
          <p:nvPr>
            <p:ph type="sldNum" sz="quarter" idx="12"/>
          </p:nvPr>
        </p:nvSpPr>
        <p:spPr/>
        <p:txBody>
          <a:bodyPr/>
          <a:lstStyle/>
          <a:p>
            <a:fld id="{7DF2C209-72C5-4BD6-83FD-73557975086B}" type="slidenum">
              <a:rPr lang="en-US" smtClean="0"/>
              <a:t>75</a:t>
            </a:fld>
            <a:endParaRPr lang="en-US"/>
          </a:p>
        </p:txBody>
      </p:sp>
    </p:spTree>
    <p:extLst>
      <p:ext uri="{BB962C8B-B14F-4D97-AF65-F5344CB8AC3E}">
        <p14:creationId xmlns:p14="http://schemas.microsoft.com/office/powerpoint/2010/main" val="37147233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C95F-2DA7-82FD-14B0-B0CA80272425}"/>
              </a:ext>
            </a:extLst>
          </p:cNvPr>
          <p:cNvSpPr>
            <a:spLocks noGrp="1"/>
          </p:cNvSpPr>
          <p:nvPr>
            <p:ph type="title"/>
          </p:nvPr>
        </p:nvSpPr>
        <p:spPr/>
        <p:txBody>
          <a:bodyPr/>
          <a:lstStyle/>
          <a:p>
            <a:r>
              <a:rPr lang="zh-TW" altLang="en-US" dirty="0"/>
              <a:t>安裝 </a:t>
            </a:r>
            <a:r>
              <a:rPr lang="en-US" altLang="zh-TW" dirty="0"/>
              <a:t>SIMBA</a:t>
            </a:r>
            <a:r>
              <a:rPr lang="zh-TW" altLang="en-US" dirty="0"/>
              <a:t> 的正確指令</a:t>
            </a:r>
            <a:endParaRPr lang="en-US" dirty="0"/>
          </a:p>
        </p:txBody>
      </p:sp>
      <p:pic>
        <p:nvPicPr>
          <p:cNvPr id="7" name="Picture 6">
            <a:extLst>
              <a:ext uri="{FF2B5EF4-FFF2-40B4-BE49-F238E27FC236}">
                <a16:creationId xmlns:a16="http://schemas.microsoft.com/office/drawing/2014/main" id="{3076EB57-EC5F-FA59-2656-0F802AE39EA6}"/>
              </a:ext>
            </a:extLst>
          </p:cNvPr>
          <p:cNvPicPr>
            <a:picLocks noChangeAspect="1"/>
          </p:cNvPicPr>
          <p:nvPr/>
        </p:nvPicPr>
        <p:blipFill>
          <a:blip r:embed="rId2"/>
          <a:stretch>
            <a:fillRect/>
          </a:stretch>
        </p:blipFill>
        <p:spPr>
          <a:xfrm>
            <a:off x="449388" y="2102714"/>
            <a:ext cx="11293222" cy="3352484"/>
          </a:xfrm>
          <a:prstGeom prst="rect">
            <a:avLst/>
          </a:prstGeom>
        </p:spPr>
      </p:pic>
      <p:sp>
        <p:nvSpPr>
          <p:cNvPr id="5" name="TextBox 4">
            <a:extLst>
              <a:ext uri="{FF2B5EF4-FFF2-40B4-BE49-F238E27FC236}">
                <a16:creationId xmlns:a16="http://schemas.microsoft.com/office/drawing/2014/main" id="{0460B271-F368-D02A-33AC-7E1B1AA1A851}"/>
              </a:ext>
            </a:extLst>
          </p:cNvPr>
          <p:cNvSpPr txBox="1"/>
          <p:nvPr/>
        </p:nvSpPr>
        <p:spPr>
          <a:xfrm>
            <a:off x="449388" y="1690688"/>
            <a:ext cx="1435008" cy="369332"/>
          </a:xfrm>
          <a:prstGeom prst="rect">
            <a:avLst/>
          </a:prstGeom>
          <a:noFill/>
        </p:spPr>
        <p:txBody>
          <a:bodyPr wrap="none" rtlCol="0">
            <a:spAutoFit/>
          </a:bodyPr>
          <a:lstStyle/>
          <a:p>
            <a:r>
              <a:rPr lang="en-US" altLang="zh-TW" dirty="0"/>
              <a:t>Google </a:t>
            </a:r>
            <a:r>
              <a:rPr lang="en-US" altLang="zh-TW" dirty="0" err="1"/>
              <a:t>Colab</a:t>
            </a:r>
            <a:endParaRPr lang="en-US" dirty="0"/>
          </a:p>
        </p:txBody>
      </p:sp>
      <p:sp>
        <p:nvSpPr>
          <p:cNvPr id="3" name="Slide Number Placeholder 2">
            <a:extLst>
              <a:ext uri="{FF2B5EF4-FFF2-40B4-BE49-F238E27FC236}">
                <a16:creationId xmlns:a16="http://schemas.microsoft.com/office/drawing/2014/main" id="{BD5BAEC2-1892-07CF-4B72-239D9BF3FB58}"/>
              </a:ext>
            </a:extLst>
          </p:cNvPr>
          <p:cNvSpPr>
            <a:spLocks noGrp="1"/>
          </p:cNvSpPr>
          <p:nvPr>
            <p:ph type="sldNum" sz="quarter" idx="12"/>
          </p:nvPr>
        </p:nvSpPr>
        <p:spPr/>
        <p:txBody>
          <a:bodyPr/>
          <a:lstStyle/>
          <a:p>
            <a:fld id="{7DF2C209-72C5-4BD6-83FD-73557975086B}" type="slidenum">
              <a:rPr lang="en-US" smtClean="0"/>
              <a:t>76</a:t>
            </a:fld>
            <a:endParaRPr lang="en-US"/>
          </a:p>
        </p:txBody>
      </p:sp>
    </p:spTree>
    <p:extLst>
      <p:ext uri="{BB962C8B-B14F-4D97-AF65-F5344CB8AC3E}">
        <p14:creationId xmlns:p14="http://schemas.microsoft.com/office/powerpoint/2010/main" val="31260802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C95F-2DA7-82FD-14B0-B0CA80272425}"/>
              </a:ext>
            </a:extLst>
          </p:cNvPr>
          <p:cNvSpPr>
            <a:spLocks noGrp="1"/>
          </p:cNvSpPr>
          <p:nvPr>
            <p:ph type="title"/>
          </p:nvPr>
        </p:nvSpPr>
        <p:spPr/>
        <p:txBody>
          <a:bodyPr/>
          <a:lstStyle/>
          <a:p>
            <a:r>
              <a:rPr lang="zh-TW" altLang="en-US" dirty="0"/>
              <a:t>安裝 </a:t>
            </a:r>
            <a:r>
              <a:rPr lang="en-US" altLang="zh-TW" dirty="0"/>
              <a:t>SIMBA</a:t>
            </a:r>
            <a:r>
              <a:rPr lang="zh-TW" altLang="en-US" dirty="0"/>
              <a:t> 的正確指令</a:t>
            </a:r>
            <a:endParaRPr lang="en-US" dirty="0"/>
          </a:p>
        </p:txBody>
      </p:sp>
      <p:sp>
        <p:nvSpPr>
          <p:cNvPr id="5" name="TextBox 4">
            <a:extLst>
              <a:ext uri="{FF2B5EF4-FFF2-40B4-BE49-F238E27FC236}">
                <a16:creationId xmlns:a16="http://schemas.microsoft.com/office/drawing/2014/main" id="{0460B271-F368-D02A-33AC-7E1B1AA1A851}"/>
              </a:ext>
            </a:extLst>
          </p:cNvPr>
          <p:cNvSpPr txBox="1"/>
          <p:nvPr/>
        </p:nvSpPr>
        <p:spPr>
          <a:xfrm>
            <a:off x="449388" y="1690688"/>
            <a:ext cx="1713418" cy="369332"/>
          </a:xfrm>
          <a:prstGeom prst="rect">
            <a:avLst/>
          </a:prstGeom>
          <a:noFill/>
        </p:spPr>
        <p:txBody>
          <a:bodyPr wrap="none" rtlCol="0">
            <a:spAutoFit/>
          </a:bodyPr>
          <a:lstStyle/>
          <a:p>
            <a:r>
              <a:rPr lang="en-US" dirty="0" err="1"/>
              <a:t>Vscode</a:t>
            </a:r>
            <a:r>
              <a:rPr lang="en-US" dirty="0"/>
              <a:t> Terminal</a:t>
            </a:r>
          </a:p>
        </p:txBody>
      </p:sp>
      <p:pic>
        <p:nvPicPr>
          <p:cNvPr id="4" name="Picture 3">
            <a:extLst>
              <a:ext uri="{FF2B5EF4-FFF2-40B4-BE49-F238E27FC236}">
                <a16:creationId xmlns:a16="http://schemas.microsoft.com/office/drawing/2014/main" id="{FB1846BD-EFA4-DA08-2B00-3A1329D9FB6D}"/>
              </a:ext>
            </a:extLst>
          </p:cNvPr>
          <p:cNvPicPr>
            <a:picLocks noChangeAspect="1"/>
          </p:cNvPicPr>
          <p:nvPr/>
        </p:nvPicPr>
        <p:blipFill>
          <a:blip r:embed="rId2"/>
          <a:stretch>
            <a:fillRect/>
          </a:stretch>
        </p:blipFill>
        <p:spPr>
          <a:xfrm>
            <a:off x="48709" y="2422013"/>
            <a:ext cx="12094582" cy="3391764"/>
          </a:xfrm>
          <a:prstGeom prst="rect">
            <a:avLst/>
          </a:prstGeom>
        </p:spPr>
      </p:pic>
      <p:sp>
        <p:nvSpPr>
          <p:cNvPr id="3" name="Slide Number Placeholder 2">
            <a:extLst>
              <a:ext uri="{FF2B5EF4-FFF2-40B4-BE49-F238E27FC236}">
                <a16:creationId xmlns:a16="http://schemas.microsoft.com/office/drawing/2014/main" id="{9AA75A50-9BBE-B21A-E72D-6862F5CA9DFC}"/>
              </a:ext>
            </a:extLst>
          </p:cNvPr>
          <p:cNvSpPr>
            <a:spLocks noGrp="1"/>
          </p:cNvSpPr>
          <p:nvPr>
            <p:ph type="sldNum" sz="quarter" idx="12"/>
          </p:nvPr>
        </p:nvSpPr>
        <p:spPr/>
        <p:txBody>
          <a:bodyPr/>
          <a:lstStyle/>
          <a:p>
            <a:fld id="{7DF2C209-72C5-4BD6-83FD-73557975086B}" type="slidenum">
              <a:rPr lang="en-US" smtClean="0"/>
              <a:t>77</a:t>
            </a:fld>
            <a:endParaRPr lang="en-US"/>
          </a:p>
        </p:txBody>
      </p:sp>
    </p:spTree>
    <p:extLst>
      <p:ext uri="{BB962C8B-B14F-4D97-AF65-F5344CB8AC3E}">
        <p14:creationId xmlns:p14="http://schemas.microsoft.com/office/powerpoint/2010/main" val="680435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5BF23-2C24-D4ED-3092-BEE0A1161562}"/>
              </a:ext>
            </a:extLst>
          </p:cNvPr>
          <p:cNvSpPr>
            <a:spLocks noGrp="1"/>
          </p:cNvSpPr>
          <p:nvPr>
            <p:ph type="title"/>
          </p:nvPr>
        </p:nvSpPr>
        <p:spPr/>
        <p:txBody>
          <a:bodyPr/>
          <a:lstStyle/>
          <a:p>
            <a:r>
              <a:rPr lang="zh-TW" altLang="en-US" dirty="0"/>
              <a:t>查看 </a:t>
            </a:r>
            <a:r>
              <a:rPr lang="en-US" altLang="zh-TW" dirty="0"/>
              <a:t>SIMBA </a:t>
            </a:r>
            <a:r>
              <a:rPr lang="zh-TW" altLang="en-US" dirty="0"/>
              <a:t>版本號</a:t>
            </a:r>
            <a:endParaRPr lang="en-US" dirty="0"/>
          </a:p>
        </p:txBody>
      </p:sp>
      <p:pic>
        <p:nvPicPr>
          <p:cNvPr id="5" name="Picture 4">
            <a:extLst>
              <a:ext uri="{FF2B5EF4-FFF2-40B4-BE49-F238E27FC236}">
                <a16:creationId xmlns:a16="http://schemas.microsoft.com/office/drawing/2014/main" id="{D0E02C5F-F761-94DB-8AF9-905274F42A29}"/>
              </a:ext>
            </a:extLst>
          </p:cNvPr>
          <p:cNvPicPr>
            <a:picLocks noChangeAspect="1"/>
          </p:cNvPicPr>
          <p:nvPr/>
        </p:nvPicPr>
        <p:blipFill>
          <a:blip r:embed="rId2"/>
          <a:stretch>
            <a:fillRect/>
          </a:stretch>
        </p:blipFill>
        <p:spPr>
          <a:xfrm>
            <a:off x="183836" y="2504594"/>
            <a:ext cx="11824327" cy="1802898"/>
          </a:xfrm>
          <a:prstGeom prst="rect">
            <a:avLst/>
          </a:prstGeom>
        </p:spPr>
      </p:pic>
      <p:sp>
        <p:nvSpPr>
          <p:cNvPr id="3" name="Slide Number Placeholder 2">
            <a:extLst>
              <a:ext uri="{FF2B5EF4-FFF2-40B4-BE49-F238E27FC236}">
                <a16:creationId xmlns:a16="http://schemas.microsoft.com/office/drawing/2014/main" id="{7930A2A8-9940-9B00-5049-D1B5BD753389}"/>
              </a:ext>
            </a:extLst>
          </p:cNvPr>
          <p:cNvSpPr>
            <a:spLocks noGrp="1"/>
          </p:cNvSpPr>
          <p:nvPr>
            <p:ph type="sldNum" sz="quarter" idx="12"/>
          </p:nvPr>
        </p:nvSpPr>
        <p:spPr/>
        <p:txBody>
          <a:bodyPr/>
          <a:lstStyle/>
          <a:p>
            <a:fld id="{7DF2C209-72C5-4BD6-83FD-73557975086B}" type="slidenum">
              <a:rPr lang="en-US" smtClean="0"/>
              <a:t>78</a:t>
            </a:fld>
            <a:endParaRPr lang="en-US"/>
          </a:p>
        </p:txBody>
      </p:sp>
    </p:spTree>
    <p:extLst>
      <p:ext uri="{BB962C8B-B14F-4D97-AF65-F5344CB8AC3E}">
        <p14:creationId xmlns:p14="http://schemas.microsoft.com/office/powerpoint/2010/main" val="37345859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75385-93A7-8711-4ACB-EC8637798A80}"/>
              </a:ext>
            </a:extLst>
          </p:cNvPr>
          <p:cNvSpPr>
            <a:spLocks noGrp="1"/>
          </p:cNvSpPr>
          <p:nvPr>
            <p:ph type="title"/>
          </p:nvPr>
        </p:nvSpPr>
        <p:spPr>
          <a:xfrm>
            <a:off x="3789680" y="2418080"/>
            <a:ext cx="4663440" cy="2011680"/>
          </a:xfrm>
        </p:spPr>
        <p:txBody>
          <a:bodyPr>
            <a:normAutofit/>
          </a:bodyPr>
          <a:lstStyle/>
          <a:p>
            <a:pPr algn="ctr">
              <a:lnSpc>
                <a:spcPct val="150000"/>
              </a:lnSpc>
            </a:pPr>
            <a:r>
              <a:rPr lang="en-US" altLang="zh-TW" dirty="0"/>
              <a:t>SIMBA</a:t>
            </a:r>
            <a:r>
              <a:rPr lang="zh-TW" altLang="en-US" dirty="0"/>
              <a:t> </a:t>
            </a:r>
            <a:r>
              <a:rPr lang="en-US" altLang="zh-TW" dirty="0"/>
              <a:t>- </a:t>
            </a:r>
            <a:br>
              <a:rPr lang="en-US" altLang="zh-TW" dirty="0"/>
            </a:br>
            <a:r>
              <a:rPr lang="en-US" altLang="zh-TW" dirty="0" err="1"/>
              <a:t>scRNA</a:t>
            </a:r>
            <a:r>
              <a:rPr lang="en-US" altLang="zh-TW" dirty="0"/>
              <a:t> Analysis</a:t>
            </a:r>
            <a:endParaRPr lang="en-US" dirty="0"/>
          </a:p>
        </p:txBody>
      </p:sp>
      <p:sp>
        <p:nvSpPr>
          <p:cNvPr id="3" name="Slide Number Placeholder 2">
            <a:extLst>
              <a:ext uri="{FF2B5EF4-FFF2-40B4-BE49-F238E27FC236}">
                <a16:creationId xmlns:a16="http://schemas.microsoft.com/office/drawing/2014/main" id="{54F67169-21F2-B035-887C-555E94543C55}"/>
              </a:ext>
            </a:extLst>
          </p:cNvPr>
          <p:cNvSpPr>
            <a:spLocks noGrp="1"/>
          </p:cNvSpPr>
          <p:nvPr>
            <p:ph type="sldNum" sz="quarter" idx="12"/>
          </p:nvPr>
        </p:nvSpPr>
        <p:spPr/>
        <p:txBody>
          <a:bodyPr/>
          <a:lstStyle/>
          <a:p>
            <a:fld id="{7DF2C209-72C5-4BD6-83FD-73557975086B}" type="slidenum">
              <a:rPr lang="en-US" smtClean="0"/>
              <a:t>79</a:t>
            </a:fld>
            <a:endParaRPr lang="en-US"/>
          </a:p>
        </p:txBody>
      </p:sp>
    </p:spTree>
    <p:extLst>
      <p:ext uri="{BB962C8B-B14F-4D97-AF65-F5344CB8AC3E}">
        <p14:creationId xmlns:p14="http://schemas.microsoft.com/office/powerpoint/2010/main" val="14651176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65FAD-E5CE-0DE6-5219-CA6EBAF19ADF}"/>
              </a:ext>
            </a:extLst>
          </p:cNvPr>
          <p:cNvSpPr>
            <a:spLocks noGrp="1"/>
          </p:cNvSpPr>
          <p:nvPr>
            <p:ph type="title"/>
          </p:nvPr>
        </p:nvSpPr>
        <p:spPr/>
        <p:txBody>
          <a:bodyPr/>
          <a:lstStyle/>
          <a:p>
            <a:r>
              <a:rPr lang="en-US" dirty="0"/>
              <a:t>Import </a:t>
            </a:r>
            <a:r>
              <a:rPr lang="en-US" dirty="0" err="1"/>
              <a:t>os</a:t>
            </a:r>
            <a:endParaRPr lang="en-US" dirty="0"/>
          </a:p>
        </p:txBody>
      </p:sp>
      <p:sp>
        <p:nvSpPr>
          <p:cNvPr id="3" name="Content Placeholder 2">
            <a:extLst>
              <a:ext uri="{FF2B5EF4-FFF2-40B4-BE49-F238E27FC236}">
                <a16:creationId xmlns:a16="http://schemas.microsoft.com/office/drawing/2014/main" id="{05A05AD9-5474-684D-4833-83CEED81FCC4}"/>
              </a:ext>
            </a:extLst>
          </p:cNvPr>
          <p:cNvSpPr>
            <a:spLocks noGrp="1"/>
          </p:cNvSpPr>
          <p:nvPr>
            <p:ph idx="1"/>
          </p:nvPr>
        </p:nvSpPr>
        <p:spPr>
          <a:xfrm>
            <a:off x="91439" y="1825625"/>
            <a:ext cx="4612333" cy="4351338"/>
          </a:xfrm>
        </p:spPr>
        <p:txBody>
          <a:bodyPr>
            <a:normAutofit/>
          </a:bodyPr>
          <a:lstStyle/>
          <a:p>
            <a:pPr>
              <a:lnSpc>
                <a:spcPct val="150000"/>
              </a:lnSpc>
            </a:pPr>
            <a:r>
              <a:rPr lang="zh-TW" altLang="en-US" sz="2400" b="0" i="0" dirty="0">
                <a:solidFill>
                  <a:srgbClr val="374151"/>
                </a:solidFill>
                <a:effectLst/>
                <a:latin typeface="Söhne"/>
              </a:rPr>
              <a:t>導入名為 </a:t>
            </a:r>
            <a:r>
              <a:rPr lang="en-US" altLang="zh-TW" sz="2400" b="0" i="0" dirty="0">
                <a:solidFill>
                  <a:srgbClr val="374151"/>
                </a:solidFill>
                <a:effectLst/>
                <a:latin typeface="Söhne"/>
              </a:rPr>
              <a:t>"</a:t>
            </a:r>
            <a:r>
              <a:rPr lang="en-US" altLang="zh-TW" sz="2400" b="0" i="0" dirty="0" err="1">
                <a:solidFill>
                  <a:srgbClr val="374151"/>
                </a:solidFill>
                <a:effectLst/>
                <a:latin typeface="Söhne"/>
              </a:rPr>
              <a:t>os</a:t>
            </a:r>
            <a:r>
              <a:rPr lang="en-US" altLang="zh-TW" sz="2400" b="0" i="0" dirty="0">
                <a:solidFill>
                  <a:srgbClr val="374151"/>
                </a:solidFill>
                <a:effectLst/>
                <a:latin typeface="Söhne"/>
              </a:rPr>
              <a:t>" </a:t>
            </a:r>
            <a:r>
              <a:rPr lang="zh-TW" altLang="en-US" sz="2400" b="0" i="0" dirty="0">
                <a:solidFill>
                  <a:srgbClr val="374151"/>
                </a:solidFill>
                <a:effectLst/>
                <a:latin typeface="Söhne"/>
              </a:rPr>
              <a:t>的標準庫模組</a:t>
            </a:r>
            <a:endParaRPr lang="en-US" altLang="zh-TW" sz="2400" b="0" i="0" dirty="0">
              <a:solidFill>
                <a:srgbClr val="374151"/>
              </a:solidFill>
              <a:effectLst/>
              <a:latin typeface="Söhne"/>
            </a:endParaRPr>
          </a:p>
          <a:p>
            <a:pPr>
              <a:lnSpc>
                <a:spcPct val="150000"/>
              </a:lnSpc>
            </a:pPr>
            <a:r>
              <a:rPr lang="zh-TW" altLang="en-US" sz="2400" dirty="0"/>
              <a:t>提供方法與作業系統進行互動。包括文件和目錄的創建、刪除和修改，以及獲取環境變量和執行系統命令等功能</a:t>
            </a:r>
            <a:endParaRPr lang="en-US" sz="2400" dirty="0"/>
          </a:p>
        </p:txBody>
      </p:sp>
      <p:pic>
        <p:nvPicPr>
          <p:cNvPr id="5" name="Picture 4">
            <a:extLst>
              <a:ext uri="{FF2B5EF4-FFF2-40B4-BE49-F238E27FC236}">
                <a16:creationId xmlns:a16="http://schemas.microsoft.com/office/drawing/2014/main" id="{F8FE7B73-234D-5889-B794-31B06B6F3FF9}"/>
              </a:ext>
            </a:extLst>
          </p:cNvPr>
          <p:cNvPicPr>
            <a:picLocks noChangeAspect="1"/>
          </p:cNvPicPr>
          <p:nvPr/>
        </p:nvPicPr>
        <p:blipFill>
          <a:blip r:embed="rId2"/>
          <a:stretch>
            <a:fillRect/>
          </a:stretch>
        </p:blipFill>
        <p:spPr>
          <a:xfrm>
            <a:off x="3861986" y="573208"/>
            <a:ext cx="4039794" cy="910152"/>
          </a:xfrm>
          <a:prstGeom prst="rect">
            <a:avLst/>
          </a:prstGeom>
        </p:spPr>
      </p:pic>
      <p:pic>
        <p:nvPicPr>
          <p:cNvPr id="8" name="Picture 7">
            <a:extLst>
              <a:ext uri="{FF2B5EF4-FFF2-40B4-BE49-F238E27FC236}">
                <a16:creationId xmlns:a16="http://schemas.microsoft.com/office/drawing/2014/main" id="{DCFC342E-15EA-FA95-A140-5B2B01BC3B71}"/>
              </a:ext>
            </a:extLst>
          </p:cNvPr>
          <p:cNvPicPr>
            <a:picLocks noChangeAspect="1"/>
          </p:cNvPicPr>
          <p:nvPr/>
        </p:nvPicPr>
        <p:blipFill>
          <a:blip r:embed="rId3"/>
          <a:stretch>
            <a:fillRect/>
          </a:stretch>
        </p:blipFill>
        <p:spPr>
          <a:xfrm>
            <a:off x="4703773" y="1690688"/>
            <a:ext cx="7071973" cy="4679085"/>
          </a:xfrm>
          <a:prstGeom prst="rect">
            <a:avLst/>
          </a:prstGeom>
        </p:spPr>
      </p:pic>
      <p:sp>
        <p:nvSpPr>
          <p:cNvPr id="4" name="Slide Number Placeholder 3">
            <a:extLst>
              <a:ext uri="{FF2B5EF4-FFF2-40B4-BE49-F238E27FC236}">
                <a16:creationId xmlns:a16="http://schemas.microsoft.com/office/drawing/2014/main" id="{3960B1FF-08AF-AF7C-5C87-9B330759AC83}"/>
              </a:ext>
            </a:extLst>
          </p:cNvPr>
          <p:cNvSpPr>
            <a:spLocks noGrp="1"/>
          </p:cNvSpPr>
          <p:nvPr>
            <p:ph type="sldNum" sz="quarter" idx="12"/>
          </p:nvPr>
        </p:nvSpPr>
        <p:spPr/>
        <p:txBody>
          <a:bodyPr/>
          <a:lstStyle/>
          <a:p>
            <a:fld id="{7DF2C209-72C5-4BD6-83FD-73557975086B}" type="slidenum">
              <a:rPr lang="en-US" smtClean="0"/>
              <a:t>80</a:t>
            </a:fld>
            <a:endParaRPr lang="en-US"/>
          </a:p>
        </p:txBody>
      </p:sp>
    </p:spTree>
    <p:extLst>
      <p:ext uri="{BB962C8B-B14F-4D97-AF65-F5344CB8AC3E}">
        <p14:creationId xmlns:p14="http://schemas.microsoft.com/office/powerpoint/2010/main" val="17588731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8A6B2-5065-9243-5034-920E7584F3B0}"/>
              </a:ext>
            </a:extLst>
          </p:cNvPr>
          <p:cNvSpPr>
            <a:spLocks noGrp="1"/>
          </p:cNvSpPr>
          <p:nvPr>
            <p:ph type="title"/>
          </p:nvPr>
        </p:nvSpPr>
        <p:spPr/>
        <p:txBody>
          <a:bodyPr/>
          <a:lstStyle/>
          <a:p>
            <a:r>
              <a:rPr lang="en-US" dirty="0" err="1"/>
              <a:t>si.settings.set_figure_params</a:t>
            </a:r>
            <a:r>
              <a:rPr lang="en-US" altLang="zh-TW" dirty="0"/>
              <a:t>()</a:t>
            </a:r>
            <a:endParaRPr lang="en-US" dirty="0"/>
          </a:p>
        </p:txBody>
      </p:sp>
      <p:pic>
        <p:nvPicPr>
          <p:cNvPr id="5" name="Picture 4">
            <a:extLst>
              <a:ext uri="{FF2B5EF4-FFF2-40B4-BE49-F238E27FC236}">
                <a16:creationId xmlns:a16="http://schemas.microsoft.com/office/drawing/2014/main" id="{CBBBBFDB-BB39-03BE-7EAD-FECA45AB61F1}"/>
              </a:ext>
            </a:extLst>
          </p:cNvPr>
          <p:cNvPicPr>
            <a:picLocks noChangeAspect="1"/>
          </p:cNvPicPr>
          <p:nvPr/>
        </p:nvPicPr>
        <p:blipFill>
          <a:blip r:embed="rId3"/>
          <a:stretch>
            <a:fillRect/>
          </a:stretch>
        </p:blipFill>
        <p:spPr>
          <a:xfrm>
            <a:off x="990278" y="1820435"/>
            <a:ext cx="9574175" cy="2062943"/>
          </a:xfrm>
          <a:prstGeom prst="rect">
            <a:avLst/>
          </a:prstGeom>
        </p:spPr>
      </p:pic>
      <p:sp>
        <p:nvSpPr>
          <p:cNvPr id="3" name="Slide Number Placeholder 2">
            <a:extLst>
              <a:ext uri="{FF2B5EF4-FFF2-40B4-BE49-F238E27FC236}">
                <a16:creationId xmlns:a16="http://schemas.microsoft.com/office/drawing/2014/main" id="{8DC82004-6420-7DC7-773E-1AD82C61ED1C}"/>
              </a:ext>
            </a:extLst>
          </p:cNvPr>
          <p:cNvSpPr>
            <a:spLocks noGrp="1"/>
          </p:cNvSpPr>
          <p:nvPr>
            <p:ph type="sldNum" sz="quarter" idx="12"/>
          </p:nvPr>
        </p:nvSpPr>
        <p:spPr/>
        <p:txBody>
          <a:bodyPr/>
          <a:lstStyle/>
          <a:p>
            <a:fld id="{7DF2C209-72C5-4BD6-83FD-73557975086B}" type="slidenum">
              <a:rPr lang="en-US" smtClean="0"/>
              <a:t>81</a:t>
            </a:fld>
            <a:endParaRPr lang="en-US"/>
          </a:p>
        </p:txBody>
      </p:sp>
    </p:spTree>
    <p:extLst>
      <p:ext uri="{BB962C8B-B14F-4D97-AF65-F5344CB8AC3E}">
        <p14:creationId xmlns:p14="http://schemas.microsoft.com/office/powerpoint/2010/main" val="28576656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B485-DF7B-D0C1-890E-6D1E87A159B1}"/>
              </a:ext>
            </a:extLst>
          </p:cNvPr>
          <p:cNvSpPr>
            <a:spLocks noGrp="1"/>
          </p:cNvSpPr>
          <p:nvPr>
            <p:ph type="title"/>
          </p:nvPr>
        </p:nvSpPr>
        <p:spPr/>
        <p:txBody>
          <a:bodyPr/>
          <a:lstStyle/>
          <a:p>
            <a:r>
              <a:rPr lang="en-US" dirty="0"/>
              <a:t>import </a:t>
            </a:r>
            <a:r>
              <a:rPr lang="en-US" dirty="0" err="1"/>
              <a:t>set_matplotlib_formats</a:t>
            </a:r>
            <a:endParaRPr lang="en-US" dirty="0"/>
          </a:p>
        </p:txBody>
      </p:sp>
      <p:pic>
        <p:nvPicPr>
          <p:cNvPr id="5" name="Picture 4">
            <a:extLst>
              <a:ext uri="{FF2B5EF4-FFF2-40B4-BE49-F238E27FC236}">
                <a16:creationId xmlns:a16="http://schemas.microsoft.com/office/drawing/2014/main" id="{D838A310-282B-7683-1696-CB82AFBB9A9E}"/>
              </a:ext>
            </a:extLst>
          </p:cNvPr>
          <p:cNvPicPr>
            <a:picLocks noChangeAspect="1"/>
          </p:cNvPicPr>
          <p:nvPr/>
        </p:nvPicPr>
        <p:blipFill>
          <a:blip r:embed="rId3"/>
          <a:stretch>
            <a:fillRect/>
          </a:stretch>
        </p:blipFill>
        <p:spPr>
          <a:xfrm>
            <a:off x="838200" y="2093426"/>
            <a:ext cx="9481053" cy="1512602"/>
          </a:xfrm>
          <a:prstGeom prst="rect">
            <a:avLst/>
          </a:prstGeom>
        </p:spPr>
      </p:pic>
      <p:sp>
        <p:nvSpPr>
          <p:cNvPr id="3" name="Slide Number Placeholder 2">
            <a:extLst>
              <a:ext uri="{FF2B5EF4-FFF2-40B4-BE49-F238E27FC236}">
                <a16:creationId xmlns:a16="http://schemas.microsoft.com/office/drawing/2014/main" id="{1F72B8CF-80FE-71AD-10A9-81426512F3EE}"/>
              </a:ext>
            </a:extLst>
          </p:cNvPr>
          <p:cNvSpPr>
            <a:spLocks noGrp="1"/>
          </p:cNvSpPr>
          <p:nvPr>
            <p:ph type="sldNum" sz="quarter" idx="12"/>
          </p:nvPr>
        </p:nvSpPr>
        <p:spPr/>
        <p:txBody>
          <a:bodyPr/>
          <a:lstStyle/>
          <a:p>
            <a:fld id="{7DF2C209-72C5-4BD6-83FD-73557975086B}" type="slidenum">
              <a:rPr lang="en-US" smtClean="0"/>
              <a:t>82</a:t>
            </a:fld>
            <a:endParaRPr lang="en-US"/>
          </a:p>
        </p:txBody>
      </p:sp>
    </p:spTree>
    <p:extLst>
      <p:ext uri="{BB962C8B-B14F-4D97-AF65-F5344CB8AC3E}">
        <p14:creationId xmlns:p14="http://schemas.microsoft.com/office/powerpoint/2010/main" val="1463769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842BC-4A34-7F29-32E2-0993A437D238}"/>
              </a:ext>
            </a:extLst>
          </p:cNvPr>
          <p:cNvSpPr>
            <a:spLocks noGrp="1"/>
          </p:cNvSpPr>
          <p:nvPr>
            <p:ph type="title"/>
          </p:nvPr>
        </p:nvSpPr>
        <p:spPr/>
        <p:txBody>
          <a:bodyPr/>
          <a:lstStyle/>
          <a:p>
            <a:r>
              <a:rPr lang="en-US" altLang="zh-TW" dirty="0"/>
              <a:t>Load Data</a:t>
            </a:r>
            <a:endParaRPr lang="en-US" dirty="0"/>
          </a:p>
        </p:txBody>
      </p:sp>
      <p:pic>
        <p:nvPicPr>
          <p:cNvPr id="5" name="Picture 4">
            <a:extLst>
              <a:ext uri="{FF2B5EF4-FFF2-40B4-BE49-F238E27FC236}">
                <a16:creationId xmlns:a16="http://schemas.microsoft.com/office/drawing/2014/main" id="{F30DD60C-E545-A467-2916-B70033D8B8CE}"/>
              </a:ext>
            </a:extLst>
          </p:cNvPr>
          <p:cNvPicPr>
            <a:picLocks noChangeAspect="1"/>
          </p:cNvPicPr>
          <p:nvPr/>
        </p:nvPicPr>
        <p:blipFill>
          <a:blip r:embed="rId2"/>
          <a:stretch>
            <a:fillRect/>
          </a:stretch>
        </p:blipFill>
        <p:spPr>
          <a:xfrm>
            <a:off x="1533632" y="1721533"/>
            <a:ext cx="8671525" cy="4705748"/>
          </a:xfrm>
          <a:prstGeom prst="rect">
            <a:avLst/>
          </a:prstGeom>
        </p:spPr>
      </p:pic>
      <p:sp>
        <p:nvSpPr>
          <p:cNvPr id="3" name="Slide Number Placeholder 2">
            <a:extLst>
              <a:ext uri="{FF2B5EF4-FFF2-40B4-BE49-F238E27FC236}">
                <a16:creationId xmlns:a16="http://schemas.microsoft.com/office/drawing/2014/main" id="{782A5362-D611-346F-0B18-3012769294AB}"/>
              </a:ext>
            </a:extLst>
          </p:cNvPr>
          <p:cNvSpPr>
            <a:spLocks noGrp="1"/>
          </p:cNvSpPr>
          <p:nvPr>
            <p:ph type="sldNum" sz="quarter" idx="12"/>
          </p:nvPr>
        </p:nvSpPr>
        <p:spPr/>
        <p:txBody>
          <a:bodyPr/>
          <a:lstStyle/>
          <a:p>
            <a:fld id="{7DF2C209-72C5-4BD6-83FD-73557975086B}" type="slidenum">
              <a:rPr lang="en-US" smtClean="0"/>
              <a:t>83</a:t>
            </a:fld>
            <a:endParaRPr lang="en-US"/>
          </a:p>
        </p:txBody>
      </p:sp>
    </p:spTree>
    <p:extLst>
      <p:ext uri="{BB962C8B-B14F-4D97-AF65-F5344CB8AC3E}">
        <p14:creationId xmlns:p14="http://schemas.microsoft.com/office/powerpoint/2010/main" val="28997645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4E60-D951-9646-5F92-23529D70153D}"/>
              </a:ext>
            </a:extLst>
          </p:cNvPr>
          <p:cNvSpPr>
            <a:spLocks noGrp="1"/>
          </p:cNvSpPr>
          <p:nvPr>
            <p:ph type="title"/>
          </p:nvPr>
        </p:nvSpPr>
        <p:spPr/>
        <p:txBody>
          <a:bodyPr/>
          <a:lstStyle/>
          <a:p>
            <a:r>
              <a:rPr lang="en-US" dirty="0"/>
              <a:t>Preprocessing</a:t>
            </a:r>
          </a:p>
        </p:txBody>
      </p:sp>
      <p:pic>
        <p:nvPicPr>
          <p:cNvPr id="5" name="Picture 4">
            <a:extLst>
              <a:ext uri="{FF2B5EF4-FFF2-40B4-BE49-F238E27FC236}">
                <a16:creationId xmlns:a16="http://schemas.microsoft.com/office/drawing/2014/main" id="{D4BF757B-0B15-4465-F347-70365230E560}"/>
              </a:ext>
            </a:extLst>
          </p:cNvPr>
          <p:cNvPicPr>
            <a:picLocks noChangeAspect="1"/>
          </p:cNvPicPr>
          <p:nvPr/>
        </p:nvPicPr>
        <p:blipFill>
          <a:blip r:embed="rId2"/>
          <a:stretch>
            <a:fillRect/>
          </a:stretch>
        </p:blipFill>
        <p:spPr>
          <a:xfrm>
            <a:off x="2661471" y="1353028"/>
            <a:ext cx="7094835" cy="5258256"/>
          </a:xfrm>
          <a:prstGeom prst="rect">
            <a:avLst/>
          </a:prstGeom>
        </p:spPr>
      </p:pic>
      <p:sp>
        <p:nvSpPr>
          <p:cNvPr id="3" name="Slide Number Placeholder 2">
            <a:extLst>
              <a:ext uri="{FF2B5EF4-FFF2-40B4-BE49-F238E27FC236}">
                <a16:creationId xmlns:a16="http://schemas.microsoft.com/office/drawing/2014/main" id="{4282623C-0092-4479-F19E-B9116A36F93A}"/>
              </a:ext>
            </a:extLst>
          </p:cNvPr>
          <p:cNvSpPr>
            <a:spLocks noGrp="1"/>
          </p:cNvSpPr>
          <p:nvPr>
            <p:ph type="sldNum" sz="quarter" idx="12"/>
          </p:nvPr>
        </p:nvSpPr>
        <p:spPr/>
        <p:txBody>
          <a:bodyPr/>
          <a:lstStyle/>
          <a:p>
            <a:fld id="{7DF2C209-72C5-4BD6-83FD-73557975086B}" type="slidenum">
              <a:rPr lang="en-US" smtClean="0"/>
              <a:t>84</a:t>
            </a:fld>
            <a:endParaRPr lang="en-US"/>
          </a:p>
        </p:txBody>
      </p:sp>
    </p:spTree>
    <p:extLst>
      <p:ext uri="{BB962C8B-B14F-4D97-AF65-F5344CB8AC3E}">
        <p14:creationId xmlns:p14="http://schemas.microsoft.com/office/powerpoint/2010/main" val="30802525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0DFB-D6AD-C37A-D617-7FFB65C8DDB4}"/>
              </a:ext>
            </a:extLst>
          </p:cNvPr>
          <p:cNvSpPr>
            <a:spLocks noGrp="1"/>
          </p:cNvSpPr>
          <p:nvPr>
            <p:ph type="title"/>
          </p:nvPr>
        </p:nvSpPr>
        <p:spPr>
          <a:xfrm>
            <a:off x="951089" y="2766218"/>
            <a:ext cx="2480733" cy="1325563"/>
          </a:xfrm>
        </p:spPr>
        <p:txBody>
          <a:bodyPr/>
          <a:lstStyle/>
          <a:p>
            <a:r>
              <a:rPr lang="en-US" dirty="0"/>
              <a:t>Normalize</a:t>
            </a:r>
          </a:p>
        </p:txBody>
      </p:sp>
      <p:pic>
        <p:nvPicPr>
          <p:cNvPr id="5" name="Picture 4">
            <a:extLst>
              <a:ext uri="{FF2B5EF4-FFF2-40B4-BE49-F238E27FC236}">
                <a16:creationId xmlns:a16="http://schemas.microsoft.com/office/drawing/2014/main" id="{8CB39334-47B7-D6F8-7F58-D5854E24F05F}"/>
              </a:ext>
            </a:extLst>
          </p:cNvPr>
          <p:cNvPicPr>
            <a:picLocks noChangeAspect="1"/>
          </p:cNvPicPr>
          <p:nvPr/>
        </p:nvPicPr>
        <p:blipFill>
          <a:blip r:embed="rId2"/>
          <a:stretch>
            <a:fillRect/>
          </a:stretch>
        </p:blipFill>
        <p:spPr>
          <a:xfrm>
            <a:off x="4626553" y="365125"/>
            <a:ext cx="5883401" cy="6317746"/>
          </a:xfrm>
          <a:prstGeom prst="rect">
            <a:avLst/>
          </a:prstGeom>
        </p:spPr>
      </p:pic>
      <p:sp>
        <p:nvSpPr>
          <p:cNvPr id="3" name="Slide Number Placeholder 2">
            <a:extLst>
              <a:ext uri="{FF2B5EF4-FFF2-40B4-BE49-F238E27FC236}">
                <a16:creationId xmlns:a16="http://schemas.microsoft.com/office/drawing/2014/main" id="{B23AD797-A55B-9D91-7CD9-2184DD00C648}"/>
              </a:ext>
            </a:extLst>
          </p:cNvPr>
          <p:cNvSpPr>
            <a:spLocks noGrp="1"/>
          </p:cNvSpPr>
          <p:nvPr>
            <p:ph type="sldNum" sz="quarter" idx="12"/>
          </p:nvPr>
        </p:nvSpPr>
        <p:spPr/>
        <p:txBody>
          <a:bodyPr/>
          <a:lstStyle/>
          <a:p>
            <a:fld id="{7DF2C209-72C5-4BD6-83FD-73557975086B}" type="slidenum">
              <a:rPr lang="en-US" smtClean="0"/>
              <a:t>85</a:t>
            </a:fld>
            <a:endParaRPr lang="en-US"/>
          </a:p>
        </p:txBody>
      </p:sp>
    </p:spTree>
    <p:extLst>
      <p:ext uri="{BB962C8B-B14F-4D97-AF65-F5344CB8AC3E}">
        <p14:creationId xmlns:p14="http://schemas.microsoft.com/office/powerpoint/2010/main" val="623940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A4A31-ECB6-E116-E219-9E9EB92A29D6}"/>
              </a:ext>
            </a:extLst>
          </p:cNvPr>
          <p:cNvSpPr>
            <a:spLocks noGrp="1"/>
          </p:cNvSpPr>
          <p:nvPr>
            <p:ph type="title"/>
          </p:nvPr>
        </p:nvSpPr>
        <p:spPr>
          <a:xfrm>
            <a:off x="793044" y="2766218"/>
            <a:ext cx="3496733" cy="1325563"/>
          </a:xfrm>
        </p:spPr>
        <p:txBody>
          <a:bodyPr/>
          <a:lstStyle/>
          <a:p>
            <a:r>
              <a:rPr lang="en-US" dirty="0"/>
              <a:t>Discretize RNA expression</a:t>
            </a:r>
          </a:p>
        </p:txBody>
      </p:sp>
      <p:pic>
        <p:nvPicPr>
          <p:cNvPr id="5" name="Picture 4">
            <a:extLst>
              <a:ext uri="{FF2B5EF4-FFF2-40B4-BE49-F238E27FC236}">
                <a16:creationId xmlns:a16="http://schemas.microsoft.com/office/drawing/2014/main" id="{5BE1BCE2-AF22-1C19-0F67-BD9D89C7BC96}"/>
              </a:ext>
            </a:extLst>
          </p:cNvPr>
          <p:cNvPicPr>
            <a:picLocks noChangeAspect="1"/>
          </p:cNvPicPr>
          <p:nvPr/>
        </p:nvPicPr>
        <p:blipFill>
          <a:blip r:embed="rId2"/>
          <a:stretch>
            <a:fillRect/>
          </a:stretch>
        </p:blipFill>
        <p:spPr>
          <a:xfrm>
            <a:off x="5407850" y="1027906"/>
            <a:ext cx="5372566" cy="5151566"/>
          </a:xfrm>
          <a:prstGeom prst="rect">
            <a:avLst/>
          </a:prstGeom>
        </p:spPr>
      </p:pic>
      <p:sp>
        <p:nvSpPr>
          <p:cNvPr id="3" name="Slide Number Placeholder 2">
            <a:extLst>
              <a:ext uri="{FF2B5EF4-FFF2-40B4-BE49-F238E27FC236}">
                <a16:creationId xmlns:a16="http://schemas.microsoft.com/office/drawing/2014/main" id="{05BEE1D2-FF1E-BA8D-96E4-E1930B9CDCAD}"/>
              </a:ext>
            </a:extLst>
          </p:cNvPr>
          <p:cNvSpPr>
            <a:spLocks noGrp="1"/>
          </p:cNvSpPr>
          <p:nvPr>
            <p:ph type="sldNum" sz="quarter" idx="12"/>
          </p:nvPr>
        </p:nvSpPr>
        <p:spPr/>
        <p:txBody>
          <a:bodyPr/>
          <a:lstStyle/>
          <a:p>
            <a:fld id="{7DF2C209-72C5-4BD6-83FD-73557975086B}" type="slidenum">
              <a:rPr lang="en-US" smtClean="0"/>
              <a:t>86</a:t>
            </a:fld>
            <a:endParaRPr lang="en-US"/>
          </a:p>
        </p:txBody>
      </p:sp>
    </p:spTree>
    <p:extLst>
      <p:ext uri="{BB962C8B-B14F-4D97-AF65-F5344CB8AC3E}">
        <p14:creationId xmlns:p14="http://schemas.microsoft.com/office/powerpoint/2010/main" val="19788562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F8B2-3FFA-B3F3-28B7-A0ECB00A206B}"/>
              </a:ext>
            </a:extLst>
          </p:cNvPr>
          <p:cNvSpPr>
            <a:spLocks noGrp="1"/>
          </p:cNvSpPr>
          <p:nvPr>
            <p:ph type="title"/>
          </p:nvPr>
        </p:nvSpPr>
        <p:spPr/>
        <p:txBody>
          <a:bodyPr/>
          <a:lstStyle/>
          <a:p>
            <a:r>
              <a:rPr lang="en-US" dirty="0"/>
              <a:t>Generate a Graph for training</a:t>
            </a:r>
          </a:p>
        </p:txBody>
      </p:sp>
      <p:pic>
        <p:nvPicPr>
          <p:cNvPr id="5" name="Picture 4">
            <a:extLst>
              <a:ext uri="{FF2B5EF4-FFF2-40B4-BE49-F238E27FC236}">
                <a16:creationId xmlns:a16="http://schemas.microsoft.com/office/drawing/2014/main" id="{806FD673-6971-BC3D-A1C1-E814218CB612}"/>
              </a:ext>
            </a:extLst>
          </p:cNvPr>
          <p:cNvPicPr>
            <a:picLocks noChangeAspect="1"/>
          </p:cNvPicPr>
          <p:nvPr/>
        </p:nvPicPr>
        <p:blipFill>
          <a:blip r:embed="rId3"/>
          <a:stretch>
            <a:fillRect/>
          </a:stretch>
        </p:blipFill>
        <p:spPr>
          <a:xfrm>
            <a:off x="1106678" y="1915561"/>
            <a:ext cx="9250173" cy="4440083"/>
          </a:xfrm>
          <a:prstGeom prst="rect">
            <a:avLst/>
          </a:prstGeom>
        </p:spPr>
      </p:pic>
      <p:sp>
        <p:nvSpPr>
          <p:cNvPr id="3" name="Slide Number Placeholder 2">
            <a:extLst>
              <a:ext uri="{FF2B5EF4-FFF2-40B4-BE49-F238E27FC236}">
                <a16:creationId xmlns:a16="http://schemas.microsoft.com/office/drawing/2014/main" id="{3ADA4A38-A915-18E0-3FA1-F451F63E16EF}"/>
              </a:ext>
            </a:extLst>
          </p:cNvPr>
          <p:cNvSpPr>
            <a:spLocks noGrp="1"/>
          </p:cNvSpPr>
          <p:nvPr>
            <p:ph type="sldNum" sz="quarter" idx="12"/>
          </p:nvPr>
        </p:nvSpPr>
        <p:spPr/>
        <p:txBody>
          <a:bodyPr/>
          <a:lstStyle/>
          <a:p>
            <a:fld id="{7DF2C209-72C5-4BD6-83FD-73557975086B}" type="slidenum">
              <a:rPr lang="en-US" smtClean="0"/>
              <a:t>87</a:t>
            </a:fld>
            <a:endParaRPr lang="en-US"/>
          </a:p>
        </p:txBody>
      </p:sp>
    </p:spTree>
    <p:extLst>
      <p:ext uri="{BB962C8B-B14F-4D97-AF65-F5344CB8AC3E}">
        <p14:creationId xmlns:p14="http://schemas.microsoft.com/office/powerpoint/2010/main" val="16354626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4D804-D672-3626-0EEA-B6A5E13D1228}"/>
              </a:ext>
            </a:extLst>
          </p:cNvPr>
          <p:cNvSpPr>
            <a:spLocks noGrp="1"/>
          </p:cNvSpPr>
          <p:nvPr>
            <p:ph type="title"/>
          </p:nvPr>
        </p:nvSpPr>
        <p:spPr/>
        <p:txBody>
          <a:bodyPr/>
          <a:lstStyle/>
          <a:p>
            <a:r>
              <a:rPr lang="en-US" dirty="0"/>
              <a:t>PBG training - parameters</a:t>
            </a:r>
          </a:p>
        </p:txBody>
      </p:sp>
      <p:pic>
        <p:nvPicPr>
          <p:cNvPr id="5" name="Content Placeholder 4">
            <a:extLst>
              <a:ext uri="{FF2B5EF4-FFF2-40B4-BE49-F238E27FC236}">
                <a16:creationId xmlns:a16="http://schemas.microsoft.com/office/drawing/2014/main" id="{5D8E6CD2-CA80-26BB-F883-500499AA0211}"/>
              </a:ext>
            </a:extLst>
          </p:cNvPr>
          <p:cNvPicPr>
            <a:picLocks noGrp="1" noChangeAspect="1"/>
          </p:cNvPicPr>
          <p:nvPr>
            <p:ph idx="1"/>
          </p:nvPr>
        </p:nvPicPr>
        <p:blipFill>
          <a:blip r:embed="rId3"/>
          <a:stretch>
            <a:fillRect/>
          </a:stretch>
        </p:blipFill>
        <p:spPr>
          <a:xfrm>
            <a:off x="1681638" y="1921306"/>
            <a:ext cx="7672611" cy="4366605"/>
          </a:xfrm>
        </p:spPr>
      </p:pic>
      <p:sp>
        <p:nvSpPr>
          <p:cNvPr id="3" name="Slide Number Placeholder 2">
            <a:extLst>
              <a:ext uri="{FF2B5EF4-FFF2-40B4-BE49-F238E27FC236}">
                <a16:creationId xmlns:a16="http://schemas.microsoft.com/office/drawing/2014/main" id="{9D521F83-7297-1ABD-CAA3-8A05C0C1C85C}"/>
              </a:ext>
            </a:extLst>
          </p:cNvPr>
          <p:cNvSpPr>
            <a:spLocks noGrp="1"/>
          </p:cNvSpPr>
          <p:nvPr>
            <p:ph type="sldNum" sz="quarter" idx="12"/>
          </p:nvPr>
        </p:nvSpPr>
        <p:spPr/>
        <p:txBody>
          <a:bodyPr/>
          <a:lstStyle/>
          <a:p>
            <a:fld id="{7DF2C209-72C5-4BD6-83FD-73557975086B}" type="slidenum">
              <a:rPr lang="en-US" smtClean="0"/>
              <a:t>88</a:t>
            </a:fld>
            <a:endParaRPr lang="en-US"/>
          </a:p>
        </p:txBody>
      </p:sp>
    </p:spTree>
    <p:extLst>
      <p:ext uri="{BB962C8B-B14F-4D97-AF65-F5344CB8AC3E}">
        <p14:creationId xmlns:p14="http://schemas.microsoft.com/office/powerpoint/2010/main" val="41396003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DE54-40D4-FA03-9DCF-7F19DBA3C208}"/>
              </a:ext>
            </a:extLst>
          </p:cNvPr>
          <p:cNvSpPr>
            <a:spLocks noGrp="1"/>
          </p:cNvSpPr>
          <p:nvPr>
            <p:ph type="title"/>
          </p:nvPr>
        </p:nvSpPr>
        <p:spPr/>
        <p:txBody>
          <a:bodyPr/>
          <a:lstStyle/>
          <a:p>
            <a:r>
              <a:rPr lang="zh-TW" altLang="en-US" dirty="0"/>
              <a:t>更改超參數</a:t>
            </a:r>
            <a:endParaRPr lang="en-US" dirty="0"/>
          </a:p>
        </p:txBody>
      </p:sp>
      <p:pic>
        <p:nvPicPr>
          <p:cNvPr id="5" name="Picture 4">
            <a:extLst>
              <a:ext uri="{FF2B5EF4-FFF2-40B4-BE49-F238E27FC236}">
                <a16:creationId xmlns:a16="http://schemas.microsoft.com/office/drawing/2014/main" id="{302CF870-F580-273B-9049-F5958E2A8279}"/>
              </a:ext>
            </a:extLst>
          </p:cNvPr>
          <p:cNvPicPr>
            <a:picLocks noChangeAspect="1"/>
          </p:cNvPicPr>
          <p:nvPr/>
        </p:nvPicPr>
        <p:blipFill>
          <a:blip r:embed="rId2"/>
          <a:stretch>
            <a:fillRect/>
          </a:stretch>
        </p:blipFill>
        <p:spPr>
          <a:xfrm>
            <a:off x="308353" y="1930261"/>
            <a:ext cx="11575293" cy="4447962"/>
          </a:xfrm>
          <a:prstGeom prst="rect">
            <a:avLst/>
          </a:prstGeom>
        </p:spPr>
      </p:pic>
      <p:sp>
        <p:nvSpPr>
          <p:cNvPr id="8" name="TextBox 7">
            <a:extLst>
              <a:ext uri="{FF2B5EF4-FFF2-40B4-BE49-F238E27FC236}">
                <a16:creationId xmlns:a16="http://schemas.microsoft.com/office/drawing/2014/main" id="{71D002FA-69A3-43E9-5FA9-AB7F6A376140}"/>
              </a:ext>
            </a:extLst>
          </p:cNvPr>
          <p:cNvSpPr txBox="1"/>
          <p:nvPr/>
        </p:nvSpPr>
        <p:spPr>
          <a:xfrm>
            <a:off x="4230510" y="1027906"/>
            <a:ext cx="6180666" cy="369332"/>
          </a:xfrm>
          <a:prstGeom prst="rect">
            <a:avLst/>
          </a:prstGeom>
          <a:noFill/>
        </p:spPr>
        <p:txBody>
          <a:bodyPr wrap="square">
            <a:spAutoFit/>
          </a:bodyPr>
          <a:lstStyle/>
          <a:p>
            <a:r>
              <a:rPr lang="zh-TW" altLang="en-US" dirty="0"/>
              <a:t>用 </a:t>
            </a:r>
            <a:r>
              <a:rPr lang="en-US" dirty="0" err="1"/>
              <a:t>si.tl.pbg_train</a:t>
            </a:r>
            <a:r>
              <a:rPr lang="en-US" altLang="zh-TW" dirty="0"/>
              <a:t>()</a:t>
            </a:r>
            <a:r>
              <a:rPr lang="zh-TW" altLang="en-US" dirty="0"/>
              <a:t> 這個函數就可以直接</a:t>
            </a:r>
            <a:r>
              <a:rPr lang="en-US" altLang="zh-TW" dirty="0"/>
              <a:t>train</a:t>
            </a:r>
            <a:r>
              <a:rPr lang="zh-TW" altLang="en-US" dirty="0"/>
              <a:t>了</a:t>
            </a:r>
            <a:endParaRPr lang="en-US" dirty="0"/>
          </a:p>
        </p:txBody>
      </p:sp>
      <p:sp>
        <p:nvSpPr>
          <p:cNvPr id="3" name="Slide Number Placeholder 2">
            <a:extLst>
              <a:ext uri="{FF2B5EF4-FFF2-40B4-BE49-F238E27FC236}">
                <a16:creationId xmlns:a16="http://schemas.microsoft.com/office/drawing/2014/main" id="{8F00FD15-4B4E-BD08-2FC1-737929CC2F62}"/>
              </a:ext>
            </a:extLst>
          </p:cNvPr>
          <p:cNvSpPr>
            <a:spLocks noGrp="1"/>
          </p:cNvSpPr>
          <p:nvPr>
            <p:ph type="sldNum" sz="quarter" idx="12"/>
          </p:nvPr>
        </p:nvSpPr>
        <p:spPr/>
        <p:txBody>
          <a:bodyPr/>
          <a:lstStyle/>
          <a:p>
            <a:fld id="{7DF2C209-72C5-4BD6-83FD-73557975086B}" type="slidenum">
              <a:rPr lang="en-US" smtClean="0"/>
              <a:t>89</a:t>
            </a:fld>
            <a:endParaRPr lang="en-US"/>
          </a:p>
        </p:txBody>
      </p:sp>
    </p:spTree>
    <p:extLst>
      <p:ext uri="{BB962C8B-B14F-4D97-AF65-F5344CB8AC3E}">
        <p14:creationId xmlns:p14="http://schemas.microsoft.com/office/powerpoint/2010/main" val="29771081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01FC-0930-A2B3-B8AF-27545C1CA0D6}"/>
              </a:ext>
            </a:extLst>
          </p:cNvPr>
          <p:cNvSpPr>
            <a:spLocks noGrp="1"/>
          </p:cNvSpPr>
          <p:nvPr>
            <p:ph type="title"/>
          </p:nvPr>
        </p:nvSpPr>
        <p:spPr>
          <a:xfrm>
            <a:off x="672750" y="203440"/>
            <a:ext cx="4267199" cy="1325563"/>
          </a:xfrm>
        </p:spPr>
        <p:txBody>
          <a:bodyPr/>
          <a:lstStyle/>
          <a:p>
            <a:r>
              <a:rPr lang="zh-TW" altLang="en-US" dirty="0"/>
              <a:t>檢測 </a:t>
            </a:r>
            <a:r>
              <a:rPr lang="en-US" altLang="zh-TW" dirty="0"/>
              <a:t>overfitting</a:t>
            </a:r>
            <a:endParaRPr lang="en-US" dirty="0"/>
          </a:p>
        </p:txBody>
      </p:sp>
      <p:pic>
        <p:nvPicPr>
          <p:cNvPr id="5" name="Picture 4">
            <a:extLst>
              <a:ext uri="{FF2B5EF4-FFF2-40B4-BE49-F238E27FC236}">
                <a16:creationId xmlns:a16="http://schemas.microsoft.com/office/drawing/2014/main" id="{E522FFA9-5092-4248-0C3C-C6B547C2A768}"/>
              </a:ext>
            </a:extLst>
          </p:cNvPr>
          <p:cNvPicPr>
            <a:picLocks noChangeAspect="1"/>
          </p:cNvPicPr>
          <p:nvPr/>
        </p:nvPicPr>
        <p:blipFill rotWithShape="1">
          <a:blip r:embed="rId3"/>
          <a:srcRect t="33333" b="33550"/>
          <a:stretch/>
        </p:blipFill>
        <p:spPr>
          <a:xfrm>
            <a:off x="7252051" y="1520426"/>
            <a:ext cx="4507531" cy="2652889"/>
          </a:xfrm>
          <a:prstGeom prst="rect">
            <a:avLst/>
          </a:prstGeom>
        </p:spPr>
      </p:pic>
      <p:sp>
        <p:nvSpPr>
          <p:cNvPr id="6" name="TextBox 5">
            <a:extLst>
              <a:ext uri="{FF2B5EF4-FFF2-40B4-BE49-F238E27FC236}">
                <a16:creationId xmlns:a16="http://schemas.microsoft.com/office/drawing/2014/main" id="{363E13F4-BDB5-6D0B-C41D-E217E709FABC}"/>
              </a:ext>
            </a:extLst>
          </p:cNvPr>
          <p:cNvSpPr txBox="1"/>
          <p:nvPr/>
        </p:nvSpPr>
        <p:spPr>
          <a:xfrm>
            <a:off x="4648296" y="866221"/>
            <a:ext cx="2895408" cy="369332"/>
          </a:xfrm>
          <a:prstGeom prst="rect">
            <a:avLst/>
          </a:prstGeom>
          <a:noFill/>
        </p:spPr>
        <p:txBody>
          <a:bodyPr wrap="none" rtlCol="0">
            <a:spAutoFit/>
          </a:bodyPr>
          <a:lstStyle/>
          <a:p>
            <a:r>
              <a:rPr lang="en-US" dirty="0" err="1"/>
              <a:t>si.pl.pbg_metrics</a:t>
            </a:r>
            <a:r>
              <a:rPr lang="en-US" dirty="0"/>
              <a:t>(</a:t>
            </a:r>
            <a:r>
              <a:rPr lang="en-US" dirty="0" err="1"/>
              <a:t>fig_ncol</a:t>
            </a:r>
            <a:r>
              <a:rPr lang="en-US" dirty="0"/>
              <a:t>=1)</a:t>
            </a:r>
          </a:p>
        </p:txBody>
      </p:sp>
      <p:pic>
        <p:nvPicPr>
          <p:cNvPr id="7" name="Picture 6">
            <a:extLst>
              <a:ext uri="{FF2B5EF4-FFF2-40B4-BE49-F238E27FC236}">
                <a16:creationId xmlns:a16="http://schemas.microsoft.com/office/drawing/2014/main" id="{B8418A49-40D6-ECB4-A948-9561D6945211}"/>
              </a:ext>
            </a:extLst>
          </p:cNvPr>
          <p:cNvPicPr>
            <a:picLocks noChangeAspect="1"/>
          </p:cNvPicPr>
          <p:nvPr/>
        </p:nvPicPr>
        <p:blipFill rotWithShape="1">
          <a:blip r:embed="rId3"/>
          <a:srcRect t="66433" b="159"/>
          <a:stretch/>
        </p:blipFill>
        <p:spPr>
          <a:xfrm>
            <a:off x="3957039" y="3984977"/>
            <a:ext cx="4277921" cy="2540001"/>
          </a:xfrm>
          <a:prstGeom prst="rect">
            <a:avLst/>
          </a:prstGeom>
        </p:spPr>
      </p:pic>
      <p:pic>
        <p:nvPicPr>
          <p:cNvPr id="9" name="Picture 8">
            <a:extLst>
              <a:ext uri="{FF2B5EF4-FFF2-40B4-BE49-F238E27FC236}">
                <a16:creationId xmlns:a16="http://schemas.microsoft.com/office/drawing/2014/main" id="{6F3BDC4F-3F4C-FA5A-DFA0-04F2F6043B60}"/>
              </a:ext>
            </a:extLst>
          </p:cNvPr>
          <p:cNvPicPr>
            <a:picLocks noChangeAspect="1"/>
          </p:cNvPicPr>
          <p:nvPr/>
        </p:nvPicPr>
        <p:blipFill rotWithShape="1">
          <a:blip r:embed="rId3"/>
          <a:srcRect b="66884"/>
          <a:stretch/>
        </p:blipFill>
        <p:spPr>
          <a:xfrm>
            <a:off x="330818" y="1511849"/>
            <a:ext cx="4507531" cy="2652889"/>
          </a:xfrm>
          <a:prstGeom prst="rect">
            <a:avLst/>
          </a:prstGeom>
        </p:spPr>
      </p:pic>
      <p:sp>
        <p:nvSpPr>
          <p:cNvPr id="3" name="Slide Number Placeholder 2">
            <a:extLst>
              <a:ext uri="{FF2B5EF4-FFF2-40B4-BE49-F238E27FC236}">
                <a16:creationId xmlns:a16="http://schemas.microsoft.com/office/drawing/2014/main" id="{658B040A-F81C-615F-EAE0-2F4814C00E62}"/>
              </a:ext>
            </a:extLst>
          </p:cNvPr>
          <p:cNvSpPr>
            <a:spLocks noGrp="1"/>
          </p:cNvSpPr>
          <p:nvPr>
            <p:ph type="sldNum" sz="quarter" idx="12"/>
          </p:nvPr>
        </p:nvSpPr>
        <p:spPr/>
        <p:txBody>
          <a:bodyPr/>
          <a:lstStyle/>
          <a:p>
            <a:fld id="{7DF2C209-72C5-4BD6-83FD-73557975086B}" type="slidenum">
              <a:rPr lang="en-US" smtClean="0"/>
              <a:t>90</a:t>
            </a:fld>
            <a:endParaRPr lang="en-US"/>
          </a:p>
        </p:txBody>
      </p:sp>
    </p:spTree>
    <p:extLst>
      <p:ext uri="{BB962C8B-B14F-4D97-AF65-F5344CB8AC3E}">
        <p14:creationId xmlns:p14="http://schemas.microsoft.com/office/powerpoint/2010/main" val="35833586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AFC5F-B090-0C14-0A95-49518CC6FC9E}"/>
              </a:ext>
            </a:extLst>
          </p:cNvPr>
          <p:cNvSpPr>
            <a:spLocks noGrp="1"/>
          </p:cNvSpPr>
          <p:nvPr>
            <p:ph type="title"/>
          </p:nvPr>
        </p:nvSpPr>
        <p:spPr/>
        <p:txBody>
          <a:bodyPr/>
          <a:lstStyle/>
          <a:p>
            <a:r>
              <a:rPr lang="en-US" dirty="0"/>
              <a:t>Post-</a:t>
            </a:r>
            <a:r>
              <a:rPr lang="en-US" altLang="zh-TW" dirty="0"/>
              <a:t>Training Analysis</a:t>
            </a:r>
            <a:endParaRPr lang="en-US" dirty="0"/>
          </a:p>
        </p:txBody>
      </p:sp>
      <p:pic>
        <p:nvPicPr>
          <p:cNvPr id="5" name="Picture 4">
            <a:extLst>
              <a:ext uri="{FF2B5EF4-FFF2-40B4-BE49-F238E27FC236}">
                <a16:creationId xmlns:a16="http://schemas.microsoft.com/office/drawing/2014/main" id="{B904BD6F-1004-EE60-D5E3-60E53D7D4ACC}"/>
              </a:ext>
            </a:extLst>
          </p:cNvPr>
          <p:cNvPicPr>
            <a:picLocks noChangeAspect="1"/>
          </p:cNvPicPr>
          <p:nvPr/>
        </p:nvPicPr>
        <p:blipFill>
          <a:blip r:embed="rId2"/>
          <a:stretch>
            <a:fillRect/>
          </a:stretch>
        </p:blipFill>
        <p:spPr>
          <a:xfrm>
            <a:off x="2159092" y="1989404"/>
            <a:ext cx="6917175" cy="4374451"/>
          </a:xfrm>
          <a:prstGeom prst="rect">
            <a:avLst/>
          </a:prstGeom>
        </p:spPr>
      </p:pic>
      <p:sp>
        <p:nvSpPr>
          <p:cNvPr id="3" name="Slide Number Placeholder 2">
            <a:extLst>
              <a:ext uri="{FF2B5EF4-FFF2-40B4-BE49-F238E27FC236}">
                <a16:creationId xmlns:a16="http://schemas.microsoft.com/office/drawing/2014/main" id="{5F755BE1-5747-981F-1E33-E38353BBB3C7}"/>
              </a:ext>
            </a:extLst>
          </p:cNvPr>
          <p:cNvSpPr>
            <a:spLocks noGrp="1"/>
          </p:cNvSpPr>
          <p:nvPr>
            <p:ph type="sldNum" sz="quarter" idx="12"/>
          </p:nvPr>
        </p:nvSpPr>
        <p:spPr/>
        <p:txBody>
          <a:bodyPr/>
          <a:lstStyle/>
          <a:p>
            <a:fld id="{7DF2C209-72C5-4BD6-83FD-73557975086B}" type="slidenum">
              <a:rPr lang="en-US" smtClean="0"/>
              <a:t>91</a:t>
            </a:fld>
            <a:endParaRPr lang="en-US"/>
          </a:p>
        </p:txBody>
      </p:sp>
    </p:spTree>
    <p:extLst>
      <p:ext uri="{BB962C8B-B14F-4D97-AF65-F5344CB8AC3E}">
        <p14:creationId xmlns:p14="http://schemas.microsoft.com/office/powerpoint/2010/main" val="7956710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1ACE2-0EB4-5199-35F3-9CF851084124}"/>
              </a:ext>
            </a:extLst>
          </p:cNvPr>
          <p:cNvSpPr>
            <a:spLocks noGrp="1"/>
          </p:cNvSpPr>
          <p:nvPr>
            <p:ph type="title"/>
          </p:nvPr>
        </p:nvSpPr>
        <p:spPr/>
        <p:txBody>
          <a:bodyPr/>
          <a:lstStyle/>
          <a:p>
            <a:r>
              <a:rPr lang="en-US" dirty="0"/>
              <a:t>Visualize Cell Annotation</a:t>
            </a:r>
          </a:p>
        </p:txBody>
      </p:sp>
      <p:pic>
        <p:nvPicPr>
          <p:cNvPr id="5" name="Picture 4">
            <a:extLst>
              <a:ext uri="{FF2B5EF4-FFF2-40B4-BE49-F238E27FC236}">
                <a16:creationId xmlns:a16="http://schemas.microsoft.com/office/drawing/2014/main" id="{24128042-1E22-91B5-2EDC-BEC6596F5B31}"/>
              </a:ext>
            </a:extLst>
          </p:cNvPr>
          <p:cNvPicPr>
            <a:picLocks noChangeAspect="1"/>
          </p:cNvPicPr>
          <p:nvPr/>
        </p:nvPicPr>
        <p:blipFill>
          <a:blip r:embed="rId2"/>
          <a:stretch>
            <a:fillRect/>
          </a:stretch>
        </p:blipFill>
        <p:spPr>
          <a:xfrm>
            <a:off x="1346200" y="1690688"/>
            <a:ext cx="8870244" cy="4950379"/>
          </a:xfrm>
          <a:prstGeom prst="rect">
            <a:avLst/>
          </a:prstGeom>
        </p:spPr>
      </p:pic>
      <p:sp>
        <p:nvSpPr>
          <p:cNvPr id="3" name="Slide Number Placeholder 2">
            <a:extLst>
              <a:ext uri="{FF2B5EF4-FFF2-40B4-BE49-F238E27FC236}">
                <a16:creationId xmlns:a16="http://schemas.microsoft.com/office/drawing/2014/main" id="{E349DD90-1B3C-AD57-C1A5-2CEE5C20032F}"/>
              </a:ext>
            </a:extLst>
          </p:cNvPr>
          <p:cNvSpPr>
            <a:spLocks noGrp="1"/>
          </p:cNvSpPr>
          <p:nvPr>
            <p:ph type="sldNum" sz="quarter" idx="12"/>
          </p:nvPr>
        </p:nvSpPr>
        <p:spPr/>
        <p:txBody>
          <a:bodyPr/>
          <a:lstStyle/>
          <a:p>
            <a:fld id="{7DF2C209-72C5-4BD6-83FD-73557975086B}" type="slidenum">
              <a:rPr lang="en-US" smtClean="0"/>
              <a:t>92</a:t>
            </a:fld>
            <a:endParaRPr lang="en-US"/>
          </a:p>
        </p:txBody>
      </p:sp>
    </p:spTree>
    <p:extLst>
      <p:ext uri="{BB962C8B-B14F-4D97-AF65-F5344CB8AC3E}">
        <p14:creationId xmlns:p14="http://schemas.microsoft.com/office/powerpoint/2010/main" val="3432057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F1A96-1E39-5787-6A13-9B85A3B9E883}"/>
              </a:ext>
            </a:extLst>
          </p:cNvPr>
          <p:cNvSpPr>
            <a:spLocks noGrp="1"/>
          </p:cNvSpPr>
          <p:nvPr>
            <p:ph type="title"/>
          </p:nvPr>
        </p:nvSpPr>
        <p:spPr>
          <a:xfrm>
            <a:off x="440267" y="1659468"/>
            <a:ext cx="2946399" cy="3304998"/>
          </a:xfrm>
        </p:spPr>
        <p:txBody>
          <a:bodyPr>
            <a:normAutofit/>
          </a:bodyPr>
          <a:lstStyle/>
          <a:p>
            <a:r>
              <a:rPr lang="en-US" dirty="0"/>
              <a:t>Visualize embeddings of cells and all genes</a:t>
            </a:r>
          </a:p>
        </p:txBody>
      </p:sp>
      <p:pic>
        <p:nvPicPr>
          <p:cNvPr id="5" name="Picture 4">
            <a:extLst>
              <a:ext uri="{FF2B5EF4-FFF2-40B4-BE49-F238E27FC236}">
                <a16:creationId xmlns:a16="http://schemas.microsoft.com/office/drawing/2014/main" id="{8C636FE5-CDA7-9419-FBF6-F9457F3F47FD}"/>
              </a:ext>
            </a:extLst>
          </p:cNvPr>
          <p:cNvPicPr>
            <a:picLocks noChangeAspect="1"/>
          </p:cNvPicPr>
          <p:nvPr/>
        </p:nvPicPr>
        <p:blipFill>
          <a:blip r:embed="rId2"/>
          <a:stretch>
            <a:fillRect/>
          </a:stretch>
        </p:blipFill>
        <p:spPr>
          <a:xfrm>
            <a:off x="3814429" y="112889"/>
            <a:ext cx="8377571" cy="6745111"/>
          </a:xfrm>
          <a:prstGeom prst="rect">
            <a:avLst/>
          </a:prstGeom>
        </p:spPr>
      </p:pic>
      <p:sp>
        <p:nvSpPr>
          <p:cNvPr id="3" name="Slide Number Placeholder 2">
            <a:extLst>
              <a:ext uri="{FF2B5EF4-FFF2-40B4-BE49-F238E27FC236}">
                <a16:creationId xmlns:a16="http://schemas.microsoft.com/office/drawing/2014/main" id="{64642BF1-078F-EFF7-1366-47DE5EE6E82F}"/>
              </a:ext>
            </a:extLst>
          </p:cNvPr>
          <p:cNvSpPr>
            <a:spLocks noGrp="1"/>
          </p:cNvSpPr>
          <p:nvPr>
            <p:ph type="sldNum" sz="quarter" idx="12"/>
          </p:nvPr>
        </p:nvSpPr>
        <p:spPr/>
        <p:txBody>
          <a:bodyPr/>
          <a:lstStyle/>
          <a:p>
            <a:fld id="{7DF2C209-72C5-4BD6-83FD-73557975086B}" type="slidenum">
              <a:rPr lang="en-US" smtClean="0"/>
              <a:t>93</a:t>
            </a:fld>
            <a:endParaRPr lang="en-US"/>
          </a:p>
        </p:txBody>
      </p:sp>
    </p:spTree>
    <p:extLst>
      <p:ext uri="{BB962C8B-B14F-4D97-AF65-F5344CB8AC3E}">
        <p14:creationId xmlns:p14="http://schemas.microsoft.com/office/powerpoint/2010/main" val="18178992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A7CC3-F8BF-B1AF-4494-D9CBD393DA95}"/>
              </a:ext>
            </a:extLst>
          </p:cNvPr>
          <p:cNvSpPr>
            <a:spLocks noGrp="1"/>
          </p:cNvSpPr>
          <p:nvPr>
            <p:ph type="title"/>
          </p:nvPr>
        </p:nvSpPr>
        <p:spPr/>
        <p:txBody>
          <a:bodyPr/>
          <a:lstStyle/>
          <a:p>
            <a:r>
              <a:rPr lang="en-US" altLang="zh-TW" dirty="0"/>
              <a:t>Draw UMAP</a:t>
            </a:r>
            <a:endParaRPr lang="en-US" dirty="0"/>
          </a:p>
        </p:txBody>
      </p:sp>
      <p:pic>
        <p:nvPicPr>
          <p:cNvPr id="5" name="Picture 4">
            <a:extLst>
              <a:ext uri="{FF2B5EF4-FFF2-40B4-BE49-F238E27FC236}">
                <a16:creationId xmlns:a16="http://schemas.microsoft.com/office/drawing/2014/main" id="{2188D7BD-2AB1-03BF-EF5B-BC3C8B40A98D}"/>
              </a:ext>
            </a:extLst>
          </p:cNvPr>
          <p:cNvPicPr>
            <a:picLocks noChangeAspect="1"/>
          </p:cNvPicPr>
          <p:nvPr/>
        </p:nvPicPr>
        <p:blipFill>
          <a:blip r:embed="rId2"/>
          <a:stretch>
            <a:fillRect/>
          </a:stretch>
        </p:blipFill>
        <p:spPr>
          <a:xfrm>
            <a:off x="1028261" y="1690688"/>
            <a:ext cx="10135478" cy="4557155"/>
          </a:xfrm>
          <a:prstGeom prst="rect">
            <a:avLst/>
          </a:prstGeom>
        </p:spPr>
      </p:pic>
      <p:sp>
        <p:nvSpPr>
          <p:cNvPr id="3" name="Slide Number Placeholder 2">
            <a:extLst>
              <a:ext uri="{FF2B5EF4-FFF2-40B4-BE49-F238E27FC236}">
                <a16:creationId xmlns:a16="http://schemas.microsoft.com/office/drawing/2014/main" id="{EEE5DACA-B749-086C-4248-4767B640C59C}"/>
              </a:ext>
            </a:extLst>
          </p:cNvPr>
          <p:cNvSpPr>
            <a:spLocks noGrp="1"/>
          </p:cNvSpPr>
          <p:nvPr>
            <p:ph type="sldNum" sz="quarter" idx="12"/>
          </p:nvPr>
        </p:nvSpPr>
        <p:spPr/>
        <p:txBody>
          <a:bodyPr/>
          <a:lstStyle/>
          <a:p>
            <a:fld id="{7DF2C209-72C5-4BD6-83FD-73557975086B}" type="slidenum">
              <a:rPr lang="en-US" smtClean="0"/>
              <a:t>94</a:t>
            </a:fld>
            <a:endParaRPr lang="en-US"/>
          </a:p>
        </p:txBody>
      </p:sp>
    </p:spTree>
    <p:extLst>
      <p:ext uri="{BB962C8B-B14F-4D97-AF65-F5344CB8AC3E}">
        <p14:creationId xmlns:p14="http://schemas.microsoft.com/office/powerpoint/2010/main" val="38556666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05E01-044C-D1AD-483E-6BB5DB4DCAF3}"/>
              </a:ext>
            </a:extLst>
          </p:cNvPr>
          <p:cNvSpPr>
            <a:spLocks noGrp="1"/>
          </p:cNvSpPr>
          <p:nvPr>
            <p:ph type="title"/>
          </p:nvPr>
        </p:nvSpPr>
        <p:spPr/>
        <p:txBody>
          <a:bodyPr/>
          <a:lstStyle/>
          <a:p>
            <a:r>
              <a:rPr lang="en-US" dirty="0"/>
              <a:t>Highlight some marker genes</a:t>
            </a:r>
          </a:p>
        </p:txBody>
      </p:sp>
      <p:pic>
        <p:nvPicPr>
          <p:cNvPr id="5" name="Picture 4">
            <a:extLst>
              <a:ext uri="{FF2B5EF4-FFF2-40B4-BE49-F238E27FC236}">
                <a16:creationId xmlns:a16="http://schemas.microsoft.com/office/drawing/2014/main" id="{103036F6-817D-BC21-0E89-6C50927D18A0}"/>
              </a:ext>
            </a:extLst>
          </p:cNvPr>
          <p:cNvPicPr>
            <a:picLocks noChangeAspect="1"/>
          </p:cNvPicPr>
          <p:nvPr/>
        </p:nvPicPr>
        <p:blipFill>
          <a:blip r:embed="rId2"/>
          <a:stretch>
            <a:fillRect/>
          </a:stretch>
        </p:blipFill>
        <p:spPr>
          <a:xfrm>
            <a:off x="838200" y="1690688"/>
            <a:ext cx="7007395" cy="4950178"/>
          </a:xfrm>
          <a:prstGeom prst="rect">
            <a:avLst/>
          </a:prstGeom>
        </p:spPr>
      </p:pic>
      <p:pic>
        <p:nvPicPr>
          <p:cNvPr id="7" name="Picture 6">
            <a:extLst>
              <a:ext uri="{FF2B5EF4-FFF2-40B4-BE49-F238E27FC236}">
                <a16:creationId xmlns:a16="http://schemas.microsoft.com/office/drawing/2014/main" id="{84899C41-FB4E-57C8-B026-947315785A47}"/>
              </a:ext>
            </a:extLst>
          </p:cNvPr>
          <p:cNvPicPr>
            <a:picLocks noChangeAspect="1"/>
          </p:cNvPicPr>
          <p:nvPr/>
        </p:nvPicPr>
        <p:blipFill>
          <a:blip r:embed="rId3"/>
          <a:stretch>
            <a:fillRect/>
          </a:stretch>
        </p:blipFill>
        <p:spPr>
          <a:xfrm>
            <a:off x="5129243" y="5025286"/>
            <a:ext cx="6607113" cy="1615580"/>
          </a:xfrm>
          <a:prstGeom prst="rect">
            <a:avLst/>
          </a:prstGeom>
        </p:spPr>
      </p:pic>
      <p:sp>
        <p:nvSpPr>
          <p:cNvPr id="3" name="Slide Number Placeholder 2">
            <a:extLst>
              <a:ext uri="{FF2B5EF4-FFF2-40B4-BE49-F238E27FC236}">
                <a16:creationId xmlns:a16="http://schemas.microsoft.com/office/drawing/2014/main" id="{A7C97382-4BC3-38A2-C6C6-8CD3A04D40EA}"/>
              </a:ext>
            </a:extLst>
          </p:cNvPr>
          <p:cNvSpPr>
            <a:spLocks noGrp="1"/>
          </p:cNvSpPr>
          <p:nvPr>
            <p:ph type="sldNum" sz="quarter" idx="12"/>
          </p:nvPr>
        </p:nvSpPr>
        <p:spPr/>
        <p:txBody>
          <a:bodyPr/>
          <a:lstStyle/>
          <a:p>
            <a:fld id="{7DF2C209-72C5-4BD6-83FD-73557975086B}" type="slidenum">
              <a:rPr lang="en-US" smtClean="0"/>
              <a:t>95</a:t>
            </a:fld>
            <a:endParaRPr lang="en-US"/>
          </a:p>
        </p:txBody>
      </p:sp>
    </p:spTree>
    <p:extLst>
      <p:ext uri="{BB962C8B-B14F-4D97-AF65-F5344CB8AC3E}">
        <p14:creationId xmlns:p14="http://schemas.microsoft.com/office/powerpoint/2010/main" val="39758594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75385-93A7-8711-4ACB-EC8637798A80}"/>
              </a:ext>
            </a:extLst>
          </p:cNvPr>
          <p:cNvSpPr>
            <a:spLocks noGrp="1"/>
          </p:cNvSpPr>
          <p:nvPr>
            <p:ph type="title"/>
          </p:nvPr>
        </p:nvSpPr>
        <p:spPr>
          <a:xfrm>
            <a:off x="3789680" y="2418080"/>
            <a:ext cx="4663440" cy="2011680"/>
          </a:xfrm>
        </p:spPr>
        <p:txBody>
          <a:bodyPr>
            <a:normAutofit/>
          </a:bodyPr>
          <a:lstStyle/>
          <a:p>
            <a:pPr algn="ctr">
              <a:lnSpc>
                <a:spcPct val="150000"/>
              </a:lnSpc>
            </a:pPr>
            <a:r>
              <a:rPr lang="en-US" altLang="zh-TW" dirty="0"/>
              <a:t>SIMBA</a:t>
            </a:r>
            <a:r>
              <a:rPr lang="zh-TW" altLang="en-US" dirty="0"/>
              <a:t> </a:t>
            </a:r>
            <a:r>
              <a:rPr lang="en-US" altLang="zh-TW" dirty="0"/>
              <a:t>- </a:t>
            </a:r>
            <a:br>
              <a:rPr lang="en-US" altLang="zh-TW" dirty="0"/>
            </a:br>
            <a:r>
              <a:rPr lang="en-US" altLang="zh-TW" dirty="0" err="1"/>
              <a:t>scATAC</a:t>
            </a:r>
            <a:r>
              <a:rPr lang="en-US" altLang="zh-TW" dirty="0"/>
              <a:t> Analysis</a:t>
            </a:r>
            <a:endParaRPr lang="en-US" dirty="0"/>
          </a:p>
        </p:txBody>
      </p:sp>
      <p:sp>
        <p:nvSpPr>
          <p:cNvPr id="3" name="Slide Number Placeholder 2">
            <a:extLst>
              <a:ext uri="{FF2B5EF4-FFF2-40B4-BE49-F238E27FC236}">
                <a16:creationId xmlns:a16="http://schemas.microsoft.com/office/drawing/2014/main" id="{7AB8978F-62A7-72BA-4201-AD84E282DC4A}"/>
              </a:ext>
            </a:extLst>
          </p:cNvPr>
          <p:cNvSpPr>
            <a:spLocks noGrp="1"/>
          </p:cNvSpPr>
          <p:nvPr>
            <p:ph type="sldNum" sz="quarter" idx="12"/>
          </p:nvPr>
        </p:nvSpPr>
        <p:spPr/>
        <p:txBody>
          <a:bodyPr/>
          <a:lstStyle/>
          <a:p>
            <a:fld id="{7DF2C209-72C5-4BD6-83FD-73557975086B}" type="slidenum">
              <a:rPr lang="en-US" smtClean="0"/>
              <a:t>96</a:t>
            </a:fld>
            <a:endParaRPr lang="en-US"/>
          </a:p>
        </p:txBody>
      </p:sp>
    </p:spTree>
    <p:extLst>
      <p:ext uri="{BB962C8B-B14F-4D97-AF65-F5344CB8AC3E}">
        <p14:creationId xmlns:p14="http://schemas.microsoft.com/office/powerpoint/2010/main" val="15640133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5ADD-5DAB-73E6-1892-DBF771E87E7B}"/>
              </a:ext>
            </a:extLst>
          </p:cNvPr>
          <p:cNvSpPr>
            <a:spLocks noGrp="1"/>
          </p:cNvSpPr>
          <p:nvPr>
            <p:ph type="title"/>
          </p:nvPr>
        </p:nvSpPr>
        <p:spPr/>
        <p:txBody>
          <a:bodyPr/>
          <a:lstStyle/>
          <a:p>
            <a:r>
              <a:rPr lang="en-US" dirty="0"/>
              <a:t>Data Fetch</a:t>
            </a:r>
          </a:p>
        </p:txBody>
      </p:sp>
      <p:sp>
        <p:nvSpPr>
          <p:cNvPr id="4" name="TextBox 3">
            <a:extLst>
              <a:ext uri="{FF2B5EF4-FFF2-40B4-BE49-F238E27FC236}">
                <a16:creationId xmlns:a16="http://schemas.microsoft.com/office/drawing/2014/main" id="{A269D23D-471C-76DE-A6F8-848C216C18F6}"/>
              </a:ext>
            </a:extLst>
          </p:cNvPr>
          <p:cNvSpPr txBox="1"/>
          <p:nvPr/>
        </p:nvSpPr>
        <p:spPr>
          <a:xfrm>
            <a:off x="959556" y="2540000"/>
            <a:ext cx="3787704" cy="2862322"/>
          </a:xfrm>
          <a:prstGeom prst="rect">
            <a:avLst/>
          </a:prstGeom>
          <a:noFill/>
        </p:spPr>
        <p:txBody>
          <a:bodyPr wrap="none" rtlCol="0">
            <a:spAutoFit/>
          </a:bodyPr>
          <a:lstStyle/>
          <a:p>
            <a:r>
              <a:rPr lang="en-US" b="0" i="0" dirty="0">
                <a:solidFill>
                  <a:srgbClr val="343541"/>
                </a:solidFill>
                <a:effectLst/>
                <a:latin typeface="Söhne"/>
              </a:rPr>
              <a:t>$ </a:t>
            </a:r>
            <a:r>
              <a:rPr lang="en-US" b="0" i="0" dirty="0" err="1">
                <a:solidFill>
                  <a:srgbClr val="343541"/>
                </a:solidFill>
                <a:effectLst/>
                <a:latin typeface="Söhne"/>
              </a:rPr>
              <a:t>conda</a:t>
            </a:r>
            <a:r>
              <a:rPr lang="en-US" b="0" i="0" dirty="0">
                <a:solidFill>
                  <a:srgbClr val="343541"/>
                </a:solidFill>
                <a:effectLst/>
                <a:latin typeface="Söhne"/>
              </a:rPr>
              <a:t> install </a:t>
            </a:r>
          </a:p>
          <a:p>
            <a:r>
              <a:rPr lang="en-US" b="0" i="0" dirty="0">
                <a:solidFill>
                  <a:srgbClr val="343541"/>
                </a:solidFill>
                <a:effectLst/>
                <a:latin typeface="Söhne"/>
              </a:rPr>
              <a:t>r-essentials</a:t>
            </a:r>
          </a:p>
          <a:p>
            <a:r>
              <a:rPr lang="en-US" b="0" i="0" dirty="0">
                <a:solidFill>
                  <a:srgbClr val="343541"/>
                </a:solidFill>
                <a:effectLst/>
                <a:latin typeface="Söhne"/>
              </a:rPr>
              <a:t>r-</a:t>
            </a:r>
            <a:r>
              <a:rPr lang="en-US" b="0" i="0" dirty="0" err="1">
                <a:solidFill>
                  <a:srgbClr val="343541"/>
                </a:solidFill>
                <a:effectLst/>
                <a:latin typeface="Söhne"/>
              </a:rPr>
              <a:t>optparse</a:t>
            </a:r>
            <a:r>
              <a:rPr lang="en-US" b="0" i="0" dirty="0">
                <a:solidFill>
                  <a:srgbClr val="343541"/>
                </a:solidFill>
                <a:effectLst/>
                <a:latin typeface="Söhne"/>
              </a:rPr>
              <a:t> </a:t>
            </a:r>
          </a:p>
          <a:p>
            <a:r>
              <a:rPr lang="en-US" b="0" i="0" dirty="0">
                <a:solidFill>
                  <a:srgbClr val="343541"/>
                </a:solidFill>
                <a:effectLst/>
                <a:latin typeface="Söhne"/>
              </a:rPr>
              <a:t>bioconductor-jaspar2020 </a:t>
            </a:r>
          </a:p>
          <a:p>
            <a:r>
              <a:rPr lang="en-US" b="0" i="0" dirty="0" err="1">
                <a:solidFill>
                  <a:srgbClr val="343541"/>
                </a:solidFill>
                <a:effectLst/>
                <a:latin typeface="Söhne"/>
              </a:rPr>
              <a:t>bioconductor-biostrings</a:t>
            </a:r>
            <a:r>
              <a:rPr lang="en-US" b="0" i="0" dirty="0">
                <a:solidFill>
                  <a:srgbClr val="343541"/>
                </a:solidFill>
                <a:effectLst/>
                <a:latin typeface="Söhne"/>
              </a:rPr>
              <a:t> </a:t>
            </a:r>
          </a:p>
          <a:p>
            <a:r>
              <a:rPr lang="en-US" b="0" i="0" dirty="0" err="1">
                <a:solidFill>
                  <a:srgbClr val="343541"/>
                </a:solidFill>
                <a:effectLst/>
                <a:latin typeface="Söhne"/>
              </a:rPr>
              <a:t>bioconductor-tfbstools</a:t>
            </a:r>
            <a:r>
              <a:rPr lang="en-US" b="0" i="0" dirty="0">
                <a:solidFill>
                  <a:srgbClr val="343541"/>
                </a:solidFill>
                <a:effectLst/>
                <a:latin typeface="Söhne"/>
              </a:rPr>
              <a:t> </a:t>
            </a:r>
          </a:p>
          <a:p>
            <a:r>
              <a:rPr lang="en-US" b="0" i="0" dirty="0" err="1">
                <a:solidFill>
                  <a:srgbClr val="343541"/>
                </a:solidFill>
                <a:effectLst/>
                <a:latin typeface="Söhne"/>
              </a:rPr>
              <a:t>bioconductor-motifmatchr</a:t>
            </a:r>
            <a:r>
              <a:rPr lang="en-US" b="0" i="0" dirty="0">
                <a:solidFill>
                  <a:srgbClr val="343541"/>
                </a:solidFill>
                <a:effectLst/>
                <a:latin typeface="Söhne"/>
              </a:rPr>
              <a:t> </a:t>
            </a:r>
          </a:p>
          <a:p>
            <a:r>
              <a:rPr lang="en-US" b="0" i="0" dirty="0" err="1">
                <a:solidFill>
                  <a:srgbClr val="343541"/>
                </a:solidFill>
                <a:effectLst/>
                <a:latin typeface="Söhne"/>
              </a:rPr>
              <a:t>bioconductor-summarizedexperiment</a:t>
            </a:r>
            <a:r>
              <a:rPr lang="en-US" b="0" i="0" dirty="0">
                <a:solidFill>
                  <a:srgbClr val="343541"/>
                </a:solidFill>
                <a:effectLst/>
                <a:latin typeface="Söhne"/>
              </a:rPr>
              <a:t> </a:t>
            </a:r>
          </a:p>
          <a:p>
            <a:r>
              <a:rPr lang="en-US" b="0" i="0" dirty="0">
                <a:solidFill>
                  <a:srgbClr val="343541"/>
                </a:solidFill>
                <a:effectLst/>
                <a:latin typeface="Söhne"/>
              </a:rPr>
              <a:t>r-</a:t>
            </a:r>
            <a:r>
              <a:rPr lang="en-US" b="0" i="0" dirty="0" err="1">
                <a:solidFill>
                  <a:srgbClr val="343541"/>
                </a:solidFill>
                <a:effectLst/>
                <a:latin typeface="Söhne"/>
              </a:rPr>
              <a:t>doparallel</a:t>
            </a:r>
            <a:r>
              <a:rPr lang="en-US" b="0" i="0" dirty="0">
                <a:solidFill>
                  <a:srgbClr val="343541"/>
                </a:solidFill>
                <a:effectLst/>
                <a:latin typeface="Söhne"/>
              </a:rPr>
              <a:t> bioconductor-rhdf5 </a:t>
            </a:r>
          </a:p>
          <a:p>
            <a:r>
              <a:rPr lang="en-US" b="0" i="0" dirty="0">
                <a:solidFill>
                  <a:srgbClr val="343541"/>
                </a:solidFill>
                <a:effectLst/>
                <a:latin typeface="Söhne"/>
              </a:rPr>
              <a:t>bioconductor-hdf5array </a:t>
            </a:r>
            <a:endParaRPr lang="en-US" dirty="0"/>
          </a:p>
        </p:txBody>
      </p:sp>
      <p:sp>
        <p:nvSpPr>
          <p:cNvPr id="3" name="Slide Number Placeholder 2">
            <a:extLst>
              <a:ext uri="{FF2B5EF4-FFF2-40B4-BE49-F238E27FC236}">
                <a16:creationId xmlns:a16="http://schemas.microsoft.com/office/drawing/2014/main" id="{B7567436-F48D-428A-6017-423663F5C804}"/>
              </a:ext>
            </a:extLst>
          </p:cNvPr>
          <p:cNvSpPr>
            <a:spLocks noGrp="1"/>
          </p:cNvSpPr>
          <p:nvPr>
            <p:ph type="sldNum" sz="quarter" idx="12"/>
          </p:nvPr>
        </p:nvSpPr>
        <p:spPr/>
        <p:txBody>
          <a:bodyPr/>
          <a:lstStyle/>
          <a:p>
            <a:fld id="{7DF2C209-72C5-4BD6-83FD-73557975086B}" type="slidenum">
              <a:rPr lang="en-US" smtClean="0"/>
              <a:t>97</a:t>
            </a:fld>
            <a:endParaRPr lang="en-US"/>
          </a:p>
        </p:txBody>
      </p:sp>
    </p:spTree>
    <p:extLst>
      <p:ext uri="{BB962C8B-B14F-4D97-AF65-F5344CB8AC3E}">
        <p14:creationId xmlns:p14="http://schemas.microsoft.com/office/powerpoint/2010/main" val="21477063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679C2-9A16-7CA0-89C5-D1AF67C02265}"/>
              </a:ext>
            </a:extLst>
          </p:cNvPr>
          <p:cNvSpPr>
            <a:spLocks noGrp="1"/>
          </p:cNvSpPr>
          <p:nvPr>
            <p:ph type="title"/>
          </p:nvPr>
        </p:nvSpPr>
        <p:spPr/>
        <p:txBody>
          <a:bodyPr/>
          <a:lstStyle/>
          <a:p>
            <a:r>
              <a:rPr lang="en-US" dirty="0"/>
              <a:t>Preprocessing </a:t>
            </a:r>
          </a:p>
        </p:txBody>
      </p:sp>
      <p:pic>
        <p:nvPicPr>
          <p:cNvPr id="5" name="Picture 4">
            <a:extLst>
              <a:ext uri="{FF2B5EF4-FFF2-40B4-BE49-F238E27FC236}">
                <a16:creationId xmlns:a16="http://schemas.microsoft.com/office/drawing/2014/main" id="{7611C9A2-361C-4864-D771-6768A79B06A3}"/>
              </a:ext>
            </a:extLst>
          </p:cNvPr>
          <p:cNvPicPr>
            <a:picLocks noChangeAspect="1"/>
          </p:cNvPicPr>
          <p:nvPr/>
        </p:nvPicPr>
        <p:blipFill>
          <a:blip r:embed="rId2"/>
          <a:stretch>
            <a:fillRect/>
          </a:stretch>
        </p:blipFill>
        <p:spPr>
          <a:xfrm>
            <a:off x="1222021" y="1690688"/>
            <a:ext cx="9152467" cy="4894088"/>
          </a:xfrm>
          <a:prstGeom prst="rect">
            <a:avLst/>
          </a:prstGeom>
        </p:spPr>
      </p:pic>
      <p:sp>
        <p:nvSpPr>
          <p:cNvPr id="3" name="Slide Number Placeholder 2">
            <a:extLst>
              <a:ext uri="{FF2B5EF4-FFF2-40B4-BE49-F238E27FC236}">
                <a16:creationId xmlns:a16="http://schemas.microsoft.com/office/drawing/2014/main" id="{09CD8AE5-3BB7-32B8-51F3-64D66AEAC48F}"/>
              </a:ext>
            </a:extLst>
          </p:cNvPr>
          <p:cNvSpPr>
            <a:spLocks noGrp="1"/>
          </p:cNvSpPr>
          <p:nvPr>
            <p:ph type="sldNum" sz="quarter" idx="12"/>
          </p:nvPr>
        </p:nvSpPr>
        <p:spPr/>
        <p:txBody>
          <a:bodyPr/>
          <a:lstStyle/>
          <a:p>
            <a:fld id="{7DF2C209-72C5-4BD6-83FD-73557975086B}" type="slidenum">
              <a:rPr lang="en-US" smtClean="0"/>
              <a:t>98</a:t>
            </a:fld>
            <a:endParaRPr lang="en-US"/>
          </a:p>
        </p:txBody>
      </p:sp>
    </p:spTree>
    <p:extLst>
      <p:ext uri="{BB962C8B-B14F-4D97-AF65-F5344CB8AC3E}">
        <p14:creationId xmlns:p14="http://schemas.microsoft.com/office/powerpoint/2010/main" val="17610989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EB475-E1A2-24E2-38E7-D3663944255F}"/>
              </a:ext>
            </a:extLst>
          </p:cNvPr>
          <p:cNvSpPr>
            <a:spLocks noGrp="1"/>
          </p:cNvSpPr>
          <p:nvPr>
            <p:ph type="title"/>
          </p:nvPr>
        </p:nvSpPr>
        <p:spPr/>
        <p:txBody>
          <a:bodyPr/>
          <a:lstStyle/>
          <a:p>
            <a:r>
              <a:rPr lang="en-US" dirty="0" err="1"/>
              <a:t>Si.pl.hist</a:t>
            </a:r>
            <a:r>
              <a:rPr lang="en-US" dirty="0"/>
              <a:t>()</a:t>
            </a:r>
          </a:p>
        </p:txBody>
      </p:sp>
      <p:pic>
        <p:nvPicPr>
          <p:cNvPr id="5" name="Picture 4">
            <a:extLst>
              <a:ext uri="{FF2B5EF4-FFF2-40B4-BE49-F238E27FC236}">
                <a16:creationId xmlns:a16="http://schemas.microsoft.com/office/drawing/2014/main" id="{390DFE49-0763-A80A-FE5A-C505F36087FF}"/>
              </a:ext>
            </a:extLst>
          </p:cNvPr>
          <p:cNvPicPr>
            <a:picLocks noChangeAspect="1"/>
          </p:cNvPicPr>
          <p:nvPr/>
        </p:nvPicPr>
        <p:blipFill>
          <a:blip r:embed="rId2"/>
          <a:stretch>
            <a:fillRect/>
          </a:stretch>
        </p:blipFill>
        <p:spPr>
          <a:xfrm>
            <a:off x="1297126" y="1894569"/>
            <a:ext cx="9597747" cy="4963431"/>
          </a:xfrm>
          <a:prstGeom prst="rect">
            <a:avLst/>
          </a:prstGeom>
        </p:spPr>
      </p:pic>
      <p:sp>
        <p:nvSpPr>
          <p:cNvPr id="3" name="Slide Number Placeholder 2">
            <a:extLst>
              <a:ext uri="{FF2B5EF4-FFF2-40B4-BE49-F238E27FC236}">
                <a16:creationId xmlns:a16="http://schemas.microsoft.com/office/drawing/2014/main" id="{884F01F6-4194-9F7D-EB2F-DA4D0BCE97D0}"/>
              </a:ext>
            </a:extLst>
          </p:cNvPr>
          <p:cNvSpPr>
            <a:spLocks noGrp="1"/>
          </p:cNvSpPr>
          <p:nvPr>
            <p:ph type="sldNum" sz="quarter" idx="12"/>
          </p:nvPr>
        </p:nvSpPr>
        <p:spPr/>
        <p:txBody>
          <a:bodyPr/>
          <a:lstStyle/>
          <a:p>
            <a:fld id="{7DF2C209-72C5-4BD6-83FD-73557975086B}" type="slidenum">
              <a:rPr lang="en-US" smtClean="0"/>
              <a:t>99</a:t>
            </a:fld>
            <a:endParaRPr lang="en-US"/>
          </a:p>
        </p:txBody>
      </p:sp>
    </p:spTree>
    <p:extLst>
      <p:ext uri="{BB962C8B-B14F-4D97-AF65-F5344CB8AC3E}">
        <p14:creationId xmlns:p14="http://schemas.microsoft.com/office/powerpoint/2010/main" val="20213459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49004-59BF-CA62-1012-A1A079C938D0}"/>
              </a:ext>
            </a:extLst>
          </p:cNvPr>
          <p:cNvSpPr>
            <a:spLocks noGrp="1"/>
          </p:cNvSpPr>
          <p:nvPr>
            <p:ph type="title"/>
          </p:nvPr>
        </p:nvSpPr>
        <p:spPr/>
        <p:txBody>
          <a:bodyPr/>
          <a:lstStyle/>
          <a:p>
            <a:r>
              <a:rPr lang="zh-TW" altLang="en-US" dirty="0"/>
              <a:t>對 </a:t>
            </a:r>
            <a:r>
              <a:rPr lang="en-US" altLang="zh-TW" dirty="0"/>
              <a:t>peak </a:t>
            </a:r>
            <a:r>
              <a:rPr lang="zh-TW" altLang="en-US" dirty="0"/>
              <a:t>做降維</a:t>
            </a:r>
            <a:endParaRPr lang="en-US" dirty="0"/>
          </a:p>
        </p:txBody>
      </p:sp>
      <p:pic>
        <p:nvPicPr>
          <p:cNvPr id="5" name="Picture 4">
            <a:extLst>
              <a:ext uri="{FF2B5EF4-FFF2-40B4-BE49-F238E27FC236}">
                <a16:creationId xmlns:a16="http://schemas.microsoft.com/office/drawing/2014/main" id="{82A07E00-93BE-7B81-8141-A80DD92A0C30}"/>
              </a:ext>
            </a:extLst>
          </p:cNvPr>
          <p:cNvPicPr>
            <a:picLocks noChangeAspect="1"/>
          </p:cNvPicPr>
          <p:nvPr/>
        </p:nvPicPr>
        <p:blipFill>
          <a:blip r:embed="rId3"/>
          <a:stretch>
            <a:fillRect/>
          </a:stretch>
        </p:blipFill>
        <p:spPr>
          <a:xfrm>
            <a:off x="2588620" y="1546949"/>
            <a:ext cx="7014760" cy="5311051"/>
          </a:xfrm>
          <a:prstGeom prst="rect">
            <a:avLst/>
          </a:prstGeom>
        </p:spPr>
      </p:pic>
      <p:sp>
        <p:nvSpPr>
          <p:cNvPr id="3" name="Slide Number Placeholder 2">
            <a:extLst>
              <a:ext uri="{FF2B5EF4-FFF2-40B4-BE49-F238E27FC236}">
                <a16:creationId xmlns:a16="http://schemas.microsoft.com/office/drawing/2014/main" id="{DC4C27C7-4DA1-9F8D-69D9-FF0B47834D0F}"/>
              </a:ext>
            </a:extLst>
          </p:cNvPr>
          <p:cNvSpPr>
            <a:spLocks noGrp="1"/>
          </p:cNvSpPr>
          <p:nvPr>
            <p:ph type="sldNum" sz="quarter" idx="12"/>
          </p:nvPr>
        </p:nvSpPr>
        <p:spPr/>
        <p:txBody>
          <a:bodyPr/>
          <a:lstStyle/>
          <a:p>
            <a:fld id="{7DF2C209-72C5-4BD6-83FD-73557975086B}" type="slidenum">
              <a:rPr lang="en-US" smtClean="0"/>
              <a:t>100</a:t>
            </a:fld>
            <a:endParaRPr lang="en-US"/>
          </a:p>
        </p:txBody>
      </p:sp>
    </p:spTree>
    <p:extLst>
      <p:ext uri="{BB962C8B-B14F-4D97-AF65-F5344CB8AC3E}">
        <p14:creationId xmlns:p14="http://schemas.microsoft.com/office/powerpoint/2010/main" val="29395364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0B34C-EDBB-030E-2AA7-EE16B822FEF9}"/>
              </a:ext>
            </a:extLst>
          </p:cNvPr>
          <p:cNvPicPr>
            <a:picLocks noChangeAspect="1"/>
          </p:cNvPicPr>
          <p:nvPr/>
        </p:nvPicPr>
        <p:blipFill>
          <a:blip r:embed="rId2"/>
          <a:stretch>
            <a:fillRect/>
          </a:stretch>
        </p:blipFill>
        <p:spPr>
          <a:xfrm>
            <a:off x="1901473" y="522419"/>
            <a:ext cx="8389053" cy="5813161"/>
          </a:xfrm>
          <a:prstGeom prst="rect">
            <a:avLst/>
          </a:prstGeom>
        </p:spPr>
      </p:pic>
      <p:sp>
        <p:nvSpPr>
          <p:cNvPr id="2" name="Slide Number Placeholder 1">
            <a:extLst>
              <a:ext uri="{FF2B5EF4-FFF2-40B4-BE49-F238E27FC236}">
                <a16:creationId xmlns:a16="http://schemas.microsoft.com/office/drawing/2014/main" id="{7847A260-9BE9-DAD3-1745-FC64E4019FDA}"/>
              </a:ext>
            </a:extLst>
          </p:cNvPr>
          <p:cNvSpPr>
            <a:spLocks noGrp="1"/>
          </p:cNvSpPr>
          <p:nvPr>
            <p:ph type="sldNum" sz="quarter" idx="12"/>
          </p:nvPr>
        </p:nvSpPr>
        <p:spPr/>
        <p:txBody>
          <a:bodyPr/>
          <a:lstStyle/>
          <a:p>
            <a:fld id="{7DF2C209-72C5-4BD6-83FD-73557975086B}" type="slidenum">
              <a:rPr lang="en-US" smtClean="0"/>
              <a:t>101</a:t>
            </a:fld>
            <a:endParaRPr lang="en-US"/>
          </a:p>
        </p:txBody>
      </p:sp>
    </p:spTree>
    <p:extLst>
      <p:ext uri="{BB962C8B-B14F-4D97-AF65-F5344CB8AC3E}">
        <p14:creationId xmlns:p14="http://schemas.microsoft.com/office/powerpoint/2010/main" val="9505152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87E97-48A5-79CE-4DAE-643E410D5F5B}"/>
              </a:ext>
            </a:extLst>
          </p:cNvPr>
          <p:cNvSpPr>
            <a:spLocks noGrp="1"/>
          </p:cNvSpPr>
          <p:nvPr>
            <p:ph type="title"/>
          </p:nvPr>
        </p:nvSpPr>
        <p:spPr/>
        <p:txBody>
          <a:bodyPr/>
          <a:lstStyle/>
          <a:p>
            <a:r>
              <a:rPr lang="zh-TW" altLang="en-US" dirty="0"/>
              <a:t>選擇主成分</a:t>
            </a:r>
            <a:endParaRPr lang="en-US" dirty="0"/>
          </a:p>
        </p:txBody>
      </p:sp>
      <p:sp>
        <p:nvSpPr>
          <p:cNvPr id="3" name="Content Placeholder 2">
            <a:extLst>
              <a:ext uri="{FF2B5EF4-FFF2-40B4-BE49-F238E27FC236}">
                <a16:creationId xmlns:a16="http://schemas.microsoft.com/office/drawing/2014/main" id="{3EA6F0C4-A8A2-1B63-4D7A-FB2A37FE66A2}"/>
              </a:ext>
            </a:extLst>
          </p:cNvPr>
          <p:cNvSpPr>
            <a:spLocks noGrp="1"/>
          </p:cNvSpPr>
          <p:nvPr>
            <p:ph idx="1"/>
          </p:nvPr>
        </p:nvSpPr>
        <p:spPr>
          <a:xfrm>
            <a:off x="838200" y="1825625"/>
            <a:ext cx="6826956" cy="567619"/>
          </a:xfrm>
        </p:spPr>
        <p:txBody>
          <a:bodyPr/>
          <a:lstStyle/>
          <a:p>
            <a:r>
              <a:rPr lang="en-US" dirty="0" err="1"/>
              <a:t>si.pl.pcs_features</a:t>
            </a:r>
            <a:r>
              <a:rPr lang="en-US" dirty="0"/>
              <a:t>(</a:t>
            </a:r>
            <a:r>
              <a:rPr lang="en-US" dirty="0" err="1"/>
              <a:t>adata_CP</a:t>
            </a:r>
            <a:r>
              <a:rPr lang="en-US" dirty="0"/>
              <a:t>, </a:t>
            </a:r>
            <a:r>
              <a:rPr lang="en-US" dirty="0" err="1"/>
              <a:t>fig_ncol</a:t>
            </a:r>
            <a:r>
              <a:rPr lang="en-US" dirty="0"/>
              <a:t>=10)</a:t>
            </a:r>
          </a:p>
        </p:txBody>
      </p:sp>
      <p:pic>
        <p:nvPicPr>
          <p:cNvPr id="3074" name="Picture 2">
            <a:extLst>
              <a:ext uri="{FF2B5EF4-FFF2-40B4-BE49-F238E27FC236}">
                <a16:creationId xmlns:a16="http://schemas.microsoft.com/office/drawing/2014/main" id="{555C3534-67A6-D28E-98E8-D4F0FDA54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7" y="2761220"/>
            <a:ext cx="12147785" cy="340707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D5615C32-5A8D-92FA-2B8D-90FB6B1F754D}"/>
              </a:ext>
            </a:extLst>
          </p:cNvPr>
          <p:cNvSpPr>
            <a:spLocks noGrp="1"/>
          </p:cNvSpPr>
          <p:nvPr>
            <p:ph type="sldNum" sz="quarter" idx="12"/>
          </p:nvPr>
        </p:nvSpPr>
        <p:spPr/>
        <p:txBody>
          <a:bodyPr/>
          <a:lstStyle/>
          <a:p>
            <a:fld id="{7DF2C209-72C5-4BD6-83FD-73557975086B}" type="slidenum">
              <a:rPr lang="en-US" smtClean="0"/>
              <a:t>102</a:t>
            </a:fld>
            <a:endParaRPr lang="en-US"/>
          </a:p>
        </p:txBody>
      </p:sp>
    </p:spTree>
    <p:extLst>
      <p:ext uri="{BB962C8B-B14F-4D97-AF65-F5344CB8AC3E}">
        <p14:creationId xmlns:p14="http://schemas.microsoft.com/office/powerpoint/2010/main" val="16543998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75385-93A7-8711-4ACB-EC8637798A80}"/>
              </a:ext>
            </a:extLst>
          </p:cNvPr>
          <p:cNvSpPr>
            <a:spLocks noGrp="1"/>
          </p:cNvSpPr>
          <p:nvPr>
            <p:ph type="title"/>
          </p:nvPr>
        </p:nvSpPr>
        <p:spPr>
          <a:xfrm>
            <a:off x="3789680" y="2418080"/>
            <a:ext cx="4663440" cy="2011680"/>
          </a:xfrm>
        </p:spPr>
        <p:txBody>
          <a:bodyPr>
            <a:normAutofit fontScale="90000"/>
          </a:bodyPr>
          <a:lstStyle/>
          <a:p>
            <a:pPr algn="ctr">
              <a:lnSpc>
                <a:spcPct val="150000"/>
              </a:lnSpc>
            </a:pPr>
            <a:r>
              <a:rPr lang="en-US" altLang="zh-TW" dirty="0"/>
              <a:t>SIMBA</a:t>
            </a:r>
            <a:r>
              <a:rPr lang="zh-TW" altLang="en-US" dirty="0"/>
              <a:t> </a:t>
            </a:r>
            <a:r>
              <a:rPr lang="en-US" altLang="zh-TW" dirty="0"/>
              <a:t>- </a:t>
            </a:r>
            <a:br>
              <a:rPr lang="en-US" altLang="zh-TW" dirty="0"/>
            </a:br>
            <a:r>
              <a:rPr lang="en-US" altLang="zh-TW" dirty="0"/>
              <a:t>Multimodal Analysis</a:t>
            </a:r>
            <a:endParaRPr lang="en-US" dirty="0"/>
          </a:p>
        </p:txBody>
      </p:sp>
      <p:sp>
        <p:nvSpPr>
          <p:cNvPr id="3" name="Slide Number Placeholder 2">
            <a:extLst>
              <a:ext uri="{FF2B5EF4-FFF2-40B4-BE49-F238E27FC236}">
                <a16:creationId xmlns:a16="http://schemas.microsoft.com/office/drawing/2014/main" id="{AED819C6-AA47-E9D8-5FA6-92757961AA84}"/>
              </a:ext>
            </a:extLst>
          </p:cNvPr>
          <p:cNvSpPr>
            <a:spLocks noGrp="1"/>
          </p:cNvSpPr>
          <p:nvPr>
            <p:ph type="sldNum" sz="quarter" idx="12"/>
          </p:nvPr>
        </p:nvSpPr>
        <p:spPr/>
        <p:txBody>
          <a:bodyPr/>
          <a:lstStyle/>
          <a:p>
            <a:fld id="{7DF2C209-72C5-4BD6-83FD-73557975086B}" type="slidenum">
              <a:rPr lang="en-US" smtClean="0"/>
              <a:t>103</a:t>
            </a:fld>
            <a:endParaRPr lang="en-US"/>
          </a:p>
        </p:txBody>
      </p:sp>
    </p:spTree>
    <p:extLst>
      <p:ext uri="{BB962C8B-B14F-4D97-AF65-F5344CB8AC3E}">
        <p14:creationId xmlns:p14="http://schemas.microsoft.com/office/powerpoint/2010/main" val="41002988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2311-437C-9A53-BF58-E6713FB8F92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FCB3330-C712-2864-E6F5-AFA0242F85F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0F885B5-5438-C1AA-6F67-F996DC203D3C}"/>
              </a:ext>
            </a:extLst>
          </p:cNvPr>
          <p:cNvSpPr>
            <a:spLocks noGrp="1"/>
          </p:cNvSpPr>
          <p:nvPr>
            <p:ph type="sldNum" sz="quarter" idx="12"/>
          </p:nvPr>
        </p:nvSpPr>
        <p:spPr/>
        <p:txBody>
          <a:bodyPr/>
          <a:lstStyle/>
          <a:p>
            <a:fld id="{7DF2C209-72C5-4BD6-83FD-73557975086B}" type="slidenum">
              <a:rPr lang="en-US" smtClean="0"/>
              <a:t>104</a:t>
            </a:fld>
            <a:endParaRPr lang="en-US"/>
          </a:p>
        </p:txBody>
      </p:sp>
    </p:spTree>
    <p:extLst>
      <p:ext uri="{BB962C8B-B14F-4D97-AF65-F5344CB8AC3E}">
        <p14:creationId xmlns:p14="http://schemas.microsoft.com/office/powerpoint/2010/main" val="3058823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5608</TotalTime>
  <Words>8587</Words>
  <Application>Microsoft Office PowerPoint</Application>
  <PresentationFormat>Widescreen</PresentationFormat>
  <Paragraphs>709</Paragraphs>
  <Slides>104</Slides>
  <Notes>55</Notes>
  <HiddenSlides>32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104</vt:i4>
      </vt:variant>
    </vt:vector>
  </HeadingPairs>
  <TitlesOfParts>
    <vt:vector size="113" baseType="lpstr">
      <vt:lpstr>Harding</vt:lpstr>
      <vt:lpstr>KaTeX_Main</vt:lpstr>
      <vt:lpstr>KaTeX_Math</vt:lpstr>
      <vt:lpstr>Söhne</vt:lpstr>
      <vt:lpstr>Arial</vt:lpstr>
      <vt:lpstr>Calibri</vt:lpstr>
      <vt:lpstr>Calibri Light</vt:lpstr>
      <vt:lpstr>Lato</vt:lpstr>
      <vt:lpstr>Office Theme</vt:lpstr>
      <vt:lpstr>SIMBA: single-cell embedding along with features</vt:lpstr>
      <vt:lpstr>先前沒讀到的細節補充</vt:lpstr>
      <vt:lpstr>評估多組學整合性能的指標們(待補)</vt:lpstr>
      <vt:lpstr>Negative samples are produced in two ways</vt:lpstr>
      <vt:lpstr>The resulting graph embeddings have two desirable properties</vt:lpstr>
      <vt:lpstr>有關於 Clustering 的問題 (WED)</vt:lpstr>
      <vt:lpstr>有關於 Clustering 的問題 (WED)</vt:lpstr>
      <vt:lpstr>針對我未來在實驗室的研究</vt:lpstr>
      <vt:lpstr>PowerPoint Presentation</vt:lpstr>
      <vt:lpstr>Background</vt:lpstr>
      <vt:lpstr>General Workflow  for scRNA Analysis</vt:lpstr>
      <vt:lpstr>The Limitation of Clustering</vt:lpstr>
      <vt:lpstr>PowerPoint Presentation</vt:lpstr>
      <vt:lpstr>This is what SIMBA want to ACHIEVE</vt:lpstr>
      <vt:lpstr>This is what SIMBA want to ACHIEVE</vt:lpstr>
      <vt:lpstr>PowerPoint Presentation</vt:lpstr>
      <vt:lpstr>SIMBA 和別人不同的地方</vt:lpstr>
      <vt:lpstr>SIMBA 的方法</vt:lpstr>
      <vt:lpstr>邊緣的添加方式</vt:lpstr>
      <vt:lpstr>圖形構建之後</vt:lpstr>
      <vt:lpstr>幾個重要問題</vt:lpstr>
      <vt:lpstr>Results</vt:lpstr>
      <vt:lpstr>PowerPoint Presentation</vt:lpstr>
      <vt:lpstr>PowerPoint Presentation</vt:lpstr>
      <vt:lpstr>PowerPoint Presentation</vt:lpstr>
      <vt:lpstr>SIMBA Indication（Max Value &amp; Gini Index Score）</vt:lpstr>
      <vt:lpstr>PowerPoint Presentation</vt:lpstr>
      <vt:lpstr>PowerPoint Presentation</vt:lpstr>
      <vt:lpstr>PowerPoint Presentation</vt:lpstr>
      <vt:lpstr>PowerPoint Presentation</vt:lpstr>
      <vt:lpstr>PowerPoint Presentation</vt:lpstr>
      <vt:lpstr>SIMBA Indication（Max Value &amp; Gini Index Score）</vt:lpstr>
      <vt:lpstr>PowerPoint Presentation</vt:lpstr>
      <vt:lpstr>PowerPoint Presentation</vt:lpstr>
      <vt:lpstr>PowerPoint Presentation</vt:lpstr>
      <vt:lpstr>Methods</vt:lpstr>
      <vt:lpstr>Methods</vt:lpstr>
      <vt:lpstr>Single-cell RNA seq Analysis</vt:lpstr>
      <vt:lpstr>Single-cell ATAC-seq analysis</vt:lpstr>
      <vt:lpstr>Multimodal Analysis</vt:lpstr>
      <vt:lpstr>Multimodal Analysis</vt:lpstr>
      <vt:lpstr>Batch correction analysis</vt:lpstr>
      <vt:lpstr>About Truncated Randomized SVD…</vt:lpstr>
      <vt:lpstr>Multi-omics Integration </vt:lpstr>
      <vt:lpstr>Methods</vt:lpstr>
      <vt:lpstr>Vector</vt:lpstr>
      <vt:lpstr>Negative Sampling</vt:lpstr>
      <vt:lpstr>Negative Sampling</vt:lpstr>
      <vt:lpstr>Negative Sampling </vt:lpstr>
      <vt:lpstr>Negative Sampling</vt:lpstr>
      <vt:lpstr>Evaluation</vt:lpstr>
      <vt:lpstr>Can our model predict precisely?</vt:lpstr>
      <vt:lpstr>Can our model predict precisely?</vt:lpstr>
      <vt:lpstr>Evaluation</vt:lpstr>
      <vt:lpstr>Metrics to assess cell-type specificity</vt:lpstr>
      <vt:lpstr>Metrics to assess cell-type specificity</vt:lpstr>
      <vt:lpstr>PyTorch-BigGraph  (PBG)</vt:lpstr>
      <vt:lpstr>PBG Concept</vt:lpstr>
      <vt:lpstr>Discussion</vt:lpstr>
      <vt:lpstr>The Great Idea of SIMBA</vt:lpstr>
      <vt:lpstr>SIMBA！To do more？</vt:lpstr>
      <vt:lpstr>Thank you</vt:lpstr>
      <vt:lpstr>PowerPoint Presentation</vt:lpstr>
      <vt:lpstr>SIMBA 實作 </vt:lpstr>
      <vt:lpstr>建置環境</vt:lpstr>
      <vt:lpstr>PowerPoint Presentation</vt:lpstr>
      <vt:lpstr>我想像中的安裝 </vt:lpstr>
      <vt:lpstr>實際上的安裝</vt:lpstr>
      <vt:lpstr>PowerPoint Presentation</vt:lpstr>
      <vt:lpstr>PowerPoint Presentation</vt:lpstr>
      <vt:lpstr>連 PyTorch都要裝上去了</vt:lpstr>
      <vt:lpstr>解救安裝的最後一根稻草</vt:lpstr>
      <vt:lpstr>發生了什麼？</vt:lpstr>
      <vt:lpstr>SIMBA網站上給的GitHub</vt:lpstr>
      <vt:lpstr>實際安裝用的GitHub</vt:lpstr>
      <vt:lpstr>安裝 SIMBA 的正確指令</vt:lpstr>
      <vt:lpstr>安裝 SIMBA 的正確指令</vt:lpstr>
      <vt:lpstr>查看 SIMBA 版本號</vt:lpstr>
      <vt:lpstr>SIMBA -  scRNA Analysis</vt:lpstr>
      <vt:lpstr>Import os</vt:lpstr>
      <vt:lpstr>si.settings.set_figure_params()</vt:lpstr>
      <vt:lpstr>import set_matplotlib_formats</vt:lpstr>
      <vt:lpstr>Load Data</vt:lpstr>
      <vt:lpstr>Preprocessing</vt:lpstr>
      <vt:lpstr>Normalize</vt:lpstr>
      <vt:lpstr>Discretize RNA expression</vt:lpstr>
      <vt:lpstr>Generate a Graph for training</vt:lpstr>
      <vt:lpstr>PBG training - parameters</vt:lpstr>
      <vt:lpstr>更改超參數</vt:lpstr>
      <vt:lpstr>檢測 overfitting</vt:lpstr>
      <vt:lpstr>Post-Training Analysis</vt:lpstr>
      <vt:lpstr>Visualize Cell Annotation</vt:lpstr>
      <vt:lpstr>Visualize embeddings of cells and all genes</vt:lpstr>
      <vt:lpstr>Draw UMAP</vt:lpstr>
      <vt:lpstr>Highlight some marker genes</vt:lpstr>
      <vt:lpstr>SIMBA -  scATAC Analysis</vt:lpstr>
      <vt:lpstr>Data Fetch</vt:lpstr>
      <vt:lpstr>Preprocessing </vt:lpstr>
      <vt:lpstr>Si.pl.hist()</vt:lpstr>
      <vt:lpstr>對 peak 做降維</vt:lpstr>
      <vt:lpstr>PowerPoint Presentation</vt:lpstr>
      <vt:lpstr>選擇主成分</vt:lpstr>
      <vt:lpstr>SIMBA -  Multimodal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 Jie Chen</dc:creator>
  <cp:lastModifiedBy>Yi Jie Chen</cp:lastModifiedBy>
  <cp:revision>144</cp:revision>
  <dcterms:created xsi:type="dcterms:W3CDTF">2023-09-16T02:13:27Z</dcterms:created>
  <dcterms:modified xsi:type="dcterms:W3CDTF">2023-11-18T11:02:30Z</dcterms:modified>
</cp:coreProperties>
</file>