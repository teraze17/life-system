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9" r:id="rId3"/>
    <p:sldId id="258" r:id="rId4"/>
    <p:sldId id="260" r:id="rId5"/>
    <p:sldId id="261" r:id="rId6"/>
    <p:sldId id="272" r:id="rId7"/>
    <p:sldId id="262" r:id="rId8"/>
    <p:sldId id="263" r:id="rId9"/>
    <p:sldId id="264" r:id="rId10"/>
    <p:sldId id="265" r:id="rId11"/>
    <p:sldId id="269" r:id="rId12"/>
    <p:sldId id="268" r:id="rId13"/>
    <p:sldId id="270" r:id="rId14"/>
    <p:sldId id="271" r:id="rId15"/>
    <p:sldId id="267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35" autoAdjust="0"/>
  </p:normalViewPr>
  <p:slideViewPr>
    <p:cSldViewPr snapToGrid="0">
      <p:cViewPr varScale="1">
        <p:scale>
          <a:sx n="93" d="100"/>
          <a:sy n="93" d="100"/>
        </p:scale>
        <p:origin x="12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BB718-F3A6-44DB-B162-7E52364EC658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74275-3A70-4F67-8068-34366FD45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8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Monlcle3 </a:t>
            </a:r>
            <a:r>
              <a:rPr lang="zh-TW" altLang="en-US" dirty="0"/>
              <a:t>和 </a:t>
            </a:r>
            <a:r>
              <a:rPr lang="en-US" altLang="zh-TW" dirty="0"/>
              <a:t>Monocle2 </a:t>
            </a:r>
            <a:r>
              <a:rPr lang="zh-TW" altLang="en-US" dirty="0"/>
              <a:t>可以視為兩個不同的工具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3149A-5CEE-485E-B722-2D0A63FFEA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15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zh-TW" altLang="en-US" dirty="0"/>
              <a:t>模式重複性：新基序如果在多個細胞或實驗條件下出現，且具有統計顯著性，他可能會被識別為一個有效的 </a:t>
            </a:r>
            <a:r>
              <a:rPr lang="en-US" altLang="zh-TW" dirty="0"/>
              <a:t>motif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保守性：新發現的基序是否具有一定程度的保守性，即是否在不同細胞類型或不同生物體中都存在相似的模式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與基因表達的相關性：通過計算 </a:t>
            </a:r>
            <a:r>
              <a:rPr lang="en-US" altLang="zh-TW" dirty="0"/>
              <a:t>Spearman</a:t>
            </a:r>
            <a:r>
              <a:rPr lang="zh-TW" altLang="en-US" dirty="0"/>
              <a:t>，對 </a:t>
            </a:r>
            <a:r>
              <a:rPr lang="en-US" altLang="zh-TW" dirty="0"/>
              <a:t>motif cluster c</a:t>
            </a:r>
            <a:r>
              <a:rPr lang="zh-TW" altLang="en-US" dirty="0"/>
              <a:t>中基序的總影響得分與所有 </a:t>
            </a:r>
            <a:r>
              <a:rPr lang="en-US" altLang="zh-TW" dirty="0"/>
              <a:t>pool </a:t>
            </a:r>
            <a:r>
              <a:rPr lang="zh-TW" altLang="en-US" dirty="0"/>
              <a:t>中 </a:t>
            </a:r>
            <a:r>
              <a:rPr lang="en-US" altLang="zh-TW" dirty="0"/>
              <a:t>TF t</a:t>
            </a:r>
            <a:r>
              <a:rPr lang="zh-TW" altLang="en-US" dirty="0"/>
              <a:t>的表達水平之間的關係進行排序。 </a:t>
            </a:r>
            <a:r>
              <a:rPr lang="en-US" altLang="zh-TW" dirty="0"/>
              <a:t>(motif </a:t>
            </a:r>
            <a:r>
              <a:rPr lang="zh-TW" altLang="en-US" dirty="0"/>
              <a:t>與特定</a:t>
            </a:r>
            <a:r>
              <a:rPr lang="en-US" altLang="zh-TW" dirty="0"/>
              <a:t>TF</a:t>
            </a:r>
            <a:r>
              <a:rPr lang="zh-TW" altLang="en-US" dirty="0"/>
              <a:t>結合的關聯程度</a:t>
            </a:r>
            <a:r>
              <a:rPr lang="en-US" altLang="zh-TW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10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3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zh-TW" altLang="en-US" dirty="0"/>
              <a:t> 是每個數據點在每個典型點上的權重</a:t>
            </a:r>
            <a:endParaRPr lang="en-US" altLang="zh-TW" dirty="0"/>
          </a:p>
          <a:p>
            <a:r>
              <a:rPr lang="en-US" altLang="zh-TW" dirty="0"/>
              <a:t>S</a:t>
            </a:r>
            <a:r>
              <a:rPr lang="zh-TW" altLang="en-US" dirty="0"/>
              <a:t> 是典型點的集合</a:t>
            </a:r>
            <a:endParaRPr lang="en-US" altLang="zh-TW" dirty="0"/>
          </a:p>
          <a:p>
            <a:r>
              <a:rPr lang="en-US" altLang="zh-TW" dirty="0"/>
              <a:t>B^(T)</a:t>
            </a:r>
            <a:r>
              <a:rPr lang="zh-TW" altLang="en-US" dirty="0"/>
              <a:t> 是將典型點重新組合回原始數據空間的轉置矩陣。也就是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我們可以通過這些典型點來近似重建原始數據集</a:t>
            </a:r>
            <a:endParaRPr lang="en-US" altLang="zh-TW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最小化數據點和他們投影之間的距離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51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26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9F79-FE60-0B92-3DAD-60BCE6C85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4848D-79AC-76BF-936F-9D6A6A500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D9684-FAB8-3123-0B0C-A0BD500E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B43EF-9654-BB77-39A5-08DF13027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DBC1D-BA84-A04F-1A11-76A78AB7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7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478BA-B6B1-643A-BB5D-FA7E19F62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EC7E8-865B-0C39-C216-C245B04D4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57A1-5726-17A7-2BD7-3C96A3D6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0947-EB93-87F2-A321-EEC5F7A9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68D26-BCFC-F891-E3A9-605249C7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4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B7E0-7CAA-F46A-56D4-0DEE7F790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20452-AA1D-ABC3-4229-0F44E6CFF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4073B-487D-ADBA-6A73-E16F39D4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863BE-AB51-50F3-2CF9-575C5A66A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67B0-81DE-AEF4-FA6B-B58E1E95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0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5B1C-C1D3-406A-5D6B-097E36D7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7552-55D0-CF96-73C8-7EC54B55A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E305B-7AC1-DCC3-B01E-91848CAE9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D432D-12BC-F148-1D68-C6FD7521D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2C030-2CE2-CE02-D50B-936733F5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2CB63-D329-8507-1348-A1E22C60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4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488F-513D-C175-8CE1-40237E1F1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22756-DC8D-C580-EEE9-FFB03061C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680CD-7312-C4F9-FFF8-9132350E6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8E28F-DF2A-835F-E060-D85E7B787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5D35C-AD0F-70F9-A971-311207A66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746A9-FE2A-D4ED-C454-9A62C1277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D7613-498A-B750-29B1-0E6E1E48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867F5-941F-EF9C-70E3-322519C3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0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6BE8-4EED-6CBA-FB2C-3B6C9CBB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599F8-76BF-4F71-6CB2-9145597AC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B9E07-DC95-3EE5-AA4D-0F65A6C3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7659C-5E07-838A-4FA6-6F5EE5A2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3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F5D75-3213-EEC7-A647-7065FEB8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2FEB5-121B-CB04-2898-AB314966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54A00-258A-D40F-E565-BE454615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9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30D9-CF12-9C58-0122-616D10F1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D4F3-ECFE-D5A6-8099-679EA2147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7E464-C43A-A8F3-AE18-2F7D07FE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CED7C-6567-CB0C-5142-F12F7722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22EFC-4F25-4383-6B8C-41DBFF29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28333-FB44-89C9-2C99-BA818076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91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D095-8169-15D6-D472-204A37322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16447-B383-F3E7-6CE8-97C3E4C29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F20DA-AEDC-74B5-0F2D-25D2178FF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31278-F66C-98D6-71CB-BEE4F708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2EFAD-7678-8F6F-E177-1DED7736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26AA1-BF66-16F4-0C9C-F9F2D565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9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3D75-7B4F-EB77-8068-71DFE15B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3ACB0-1285-1C4E-B19A-B664303B9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00D66-1FD3-5280-FDBF-48B4712D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D2306-7472-B0A9-779B-AE971717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59CE-0DDA-F2B5-4F3D-BFB38861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1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893D10-8CBB-C46E-7F1B-AFEF58452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38282-6B03-10B3-10C7-B74924825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CFFA-29EC-14A6-E26C-C89DA159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7E322-A970-C413-06FB-9E1324DE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D4D79-E0A3-A4A0-FFDB-03D13FC2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4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B34DD-029F-E1C5-4C0B-A17B1792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08663-568E-62AB-C76C-5B61C8568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AF277-E27E-82D7-F2BD-0AC857552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38690-3584-4D31-AC74-796033DDBE1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1741E-6092-A4FE-A001-3C94C0270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B5EBA-965F-7A33-E1FD-49E91F63D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8742B-83F0-45EB-9BE4-972E64631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3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4E17C4-40C8-990A-DEF5-62E466F8E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4855"/>
            <a:ext cx="9144000" cy="975107"/>
          </a:xfrm>
        </p:spPr>
        <p:txBody>
          <a:bodyPr/>
          <a:lstStyle/>
          <a:p>
            <a:r>
              <a:rPr lang="en-US" altLang="zh-TW" dirty="0"/>
              <a:t>Progress Report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8B01626-1B31-0D9C-EA4F-B86F9100C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sz="3200" dirty="0"/>
              <a:t>Chen, Yi Jie</a:t>
            </a:r>
          </a:p>
          <a:p>
            <a:r>
              <a:rPr lang="en-US" dirty="0"/>
              <a:t>2024.01.05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2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40242B-31D4-FF0D-EBED-51DCFABB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DECE67-ADAF-59EB-60F5-B8954155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3200" dirty="0"/>
              <a:t>Two Questions</a:t>
            </a:r>
          </a:p>
          <a:p>
            <a:pPr>
              <a:lnSpc>
                <a:spcPct val="150000"/>
              </a:lnSpc>
            </a:pPr>
            <a:r>
              <a:rPr lang="en-US" altLang="zh-TW" sz="3200" dirty="0" err="1"/>
              <a:t>Scover</a:t>
            </a:r>
            <a:r>
              <a:rPr lang="en-US" altLang="zh-TW" sz="3200" dirty="0"/>
              <a:t> preprocessing -- </a:t>
            </a:r>
            <a:r>
              <a:rPr lang="en-US" altLang="zh-TW" sz="3200" dirty="0" err="1"/>
              <a:t>SEACells</a:t>
            </a:r>
            <a:endParaRPr lang="en-US" altLang="zh-TW" sz="3200" dirty="0"/>
          </a:p>
          <a:p>
            <a:pPr marL="0" indent="0">
              <a:lnSpc>
                <a:spcPct val="150000"/>
              </a:lnSpc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36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FAE1CC-A8CF-9D6B-CFB4-41D2ABB929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891"/>
          <a:stretch/>
        </p:blipFill>
        <p:spPr>
          <a:xfrm>
            <a:off x="800141" y="2267338"/>
            <a:ext cx="10762359" cy="18101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1E4B8B-7EE3-121D-B2F8-FCA356E6A67E}"/>
              </a:ext>
            </a:extLst>
          </p:cNvPr>
          <p:cNvSpPr/>
          <p:nvPr/>
        </p:nvSpPr>
        <p:spPr>
          <a:xfrm>
            <a:off x="8005665" y="2659224"/>
            <a:ext cx="1912776" cy="1156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21BC261-F2B3-10DC-08F4-37F06627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Ten 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632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3FACD1-87DE-528F-1BEF-6B83DEA26C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891"/>
          <a:stretch/>
        </p:blipFill>
        <p:spPr>
          <a:xfrm>
            <a:off x="800141" y="2267338"/>
            <a:ext cx="10762359" cy="18101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A2A880-0102-4460-27E1-7886DB4671A5}"/>
              </a:ext>
            </a:extLst>
          </p:cNvPr>
          <p:cNvSpPr/>
          <p:nvPr/>
        </p:nvSpPr>
        <p:spPr>
          <a:xfrm>
            <a:off x="9871788" y="2341982"/>
            <a:ext cx="1912776" cy="1810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9419E0-3DCE-9397-33D8-77A4D7D9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De Novo?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2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752E-C749-4198-7B2C-E52ABC183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5" y="2766218"/>
            <a:ext cx="5810250" cy="1325563"/>
          </a:xfrm>
        </p:spPr>
        <p:txBody>
          <a:bodyPr/>
          <a:lstStyle/>
          <a:p>
            <a:r>
              <a:rPr lang="en-US" dirty="0"/>
              <a:t>Preprocessing - </a:t>
            </a:r>
            <a:r>
              <a:rPr lang="en-US" dirty="0" err="1"/>
              <a:t>SEACells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23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C8D2-E392-AF72-DA6B-92A326FE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Solve Sparse Matrix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E453B-5C82-0B81-FBEB-D167BE2FF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Pseudo-Bulk RNA</a:t>
            </a:r>
          </a:p>
          <a:p>
            <a:r>
              <a:rPr lang="en-US" dirty="0" err="1"/>
              <a:t>MetaCell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90EA5F-7EA8-C24A-E7E4-03F031685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081" y="3326773"/>
            <a:ext cx="4157288" cy="326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A602879-1FE1-C3DC-0DD7-FA7543FAD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359" y="3318579"/>
            <a:ext cx="3161217" cy="326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1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B5D5-EA29-F1F9-0F29-628462C1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Steps for </a:t>
            </a:r>
            <a:r>
              <a:rPr lang="en-US" dirty="0" err="1"/>
              <a:t>SEACells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5DD2B-A6F5-F4D2-C887-09911B23B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r>
              <a:rPr lang="en-US" dirty="0"/>
              <a:t>1. Construct </a:t>
            </a:r>
            <a:r>
              <a:rPr lang="en-US" dirty="0">
                <a:solidFill>
                  <a:srgbClr val="FF0000"/>
                </a:solidFill>
              </a:rPr>
              <a:t>k-NN Graph</a:t>
            </a:r>
          </a:p>
          <a:p>
            <a:pPr lvl="1"/>
            <a:r>
              <a:rPr lang="en-US" dirty="0"/>
              <a:t>Euclidean Distance</a:t>
            </a:r>
          </a:p>
          <a:p>
            <a:r>
              <a:rPr lang="en-US" dirty="0"/>
              <a:t>2.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Derive an </a:t>
            </a:r>
            <a:r>
              <a:rPr lang="en-US" b="0" i="0" dirty="0">
                <a:solidFill>
                  <a:srgbClr val="FF0000"/>
                </a:solidFill>
                <a:effectLst/>
                <a:latin typeface="Harding"/>
              </a:rPr>
              <a:t>affinity matrix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of cell-to-cell similarities using k-NN graph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Harding"/>
              </a:rPr>
              <a:t>Adaptive Gaussian Kernel</a:t>
            </a:r>
          </a:p>
          <a:p>
            <a:r>
              <a:rPr lang="en-US" dirty="0">
                <a:solidFill>
                  <a:srgbClr val="222222"/>
                </a:solidFill>
                <a:latin typeface="Harding"/>
              </a:rPr>
              <a:t>3.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Use the kernel matrix as the input for </a:t>
            </a:r>
            <a:r>
              <a:rPr lang="en-US" b="0" i="0" dirty="0">
                <a:solidFill>
                  <a:srgbClr val="FF0000"/>
                </a:solidFill>
                <a:effectLst/>
                <a:latin typeface="Harding"/>
              </a:rPr>
              <a:t>archetypal analysis </a:t>
            </a:r>
          </a:p>
          <a:p>
            <a:pPr lvl="1"/>
            <a:r>
              <a:rPr lang="en-US" dirty="0">
                <a:effectLst/>
              </a:rPr>
              <a:t>archetype matrix </a:t>
            </a:r>
            <a:endParaRPr lang="en-US" dirty="0">
              <a:solidFill>
                <a:srgbClr val="222222"/>
              </a:solidFill>
              <a:latin typeface="Harding"/>
            </a:endParaRPr>
          </a:p>
          <a:p>
            <a:pPr lvl="1"/>
            <a:r>
              <a:rPr lang="en-US" dirty="0">
                <a:solidFill>
                  <a:srgbClr val="222222"/>
                </a:solidFill>
                <a:latin typeface="Harding"/>
              </a:rPr>
              <a:t>membership matrix</a:t>
            </a:r>
          </a:p>
          <a:p>
            <a:r>
              <a:rPr lang="en-US" dirty="0">
                <a:solidFill>
                  <a:srgbClr val="222222"/>
                </a:solidFill>
                <a:latin typeface="Harding"/>
              </a:rPr>
              <a:t>4.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Derive a </a:t>
            </a:r>
            <a:r>
              <a:rPr lang="en-US" b="0" i="0" dirty="0" err="1">
                <a:solidFill>
                  <a:srgbClr val="0070C0"/>
                </a:solidFill>
                <a:effectLst/>
                <a:latin typeface="Harding"/>
              </a:rPr>
              <a:t>metacell</a:t>
            </a:r>
            <a:r>
              <a:rPr lang="en-US" b="0" i="0" dirty="0">
                <a:solidFill>
                  <a:srgbClr val="0070C0"/>
                </a:solidFill>
                <a:effectLst/>
                <a:latin typeface="Harding"/>
              </a:rPr>
              <a:t>-by-feature count matrix</a:t>
            </a:r>
            <a:endParaRPr lang="en-US" dirty="0">
              <a:solidFill>
                <a:srgbClr val="0070C0"/>
              </a:solidFill>
              <a:latin typeface="Harding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5. Normalize </a:t>
            </a:r>
            <a:r>
              <a:rPr lang="en-US" b="0" i="0" dirty="0">
                <a:solidFill>
                  <a:srgbClr val="0070C0"/>
                </a:solidFill>
                <a:effectLst/>
                <a:latin typeface="Harding"/>
              </a:rPr>
              <a:t>count matrices</a:t>
            </a:r>
            <a:endParaRPr lang="en-US" dirty="0">
              <a:solidFill>
                <a:srgbClr val="0070C0"/>
              </a:solidFill>
              <a:latin typeface="Harding"/>
            </a:endParaRPr>
          </a:p>
        </p:txBody>
      </p:sp>
    </p:spTree>
    <p:extLst>
      <p:ext uri="{BB962C8B-B14F-4D97-AF65-F5344CB8AC3E}">
        <p14:creationId xmlns:p14="http://schemas.microsoft.com/office/powerpoint/2010/main" val="78499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6ED7DD-0A83-F58D-8C3C-9576FA29B74A}"/>
              </a:ext>
            </a:extLst>
          </p:cNvPr>
          <p:cNvSpPr txBox="1">
            <a:spLocks/>
          </p:cNvSpPr>
          <p:nvPr/>
        </p:nvSpPr>
        <p:spPr>
          <a:xfrm>
            <a:off x="838200" y="4215545"/>
            <a:ext cx="10970342" cy="25465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FORMULA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FOR SINGLE CELL</a:t>
            </a:r>
          </a:p>
          <a:p>
            <a:pPr lvl="1"/>
            <a:r>
              <a:rPr lang="en-US" dirty="0"/>
              <a:t>Understanding Heterogeneity</a:t>
            </a:r>
          </a:p>
          <a:p>
            <a:pPr lvl="1"/>
            <a:r>
              <a:rPr lang="en-US" dirty="0"/>
              <a:t>Revealing Hidden Patterns: Identify less observable or rare phenomena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4051F-EBFC-B9D1-1267-199294A17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183189"/>
            <a:ext cx="10515600" cy="1325563"/>
          </a:xfrm>
        </p:spPr>
        <p:txBody>
          <a:bodyPr/>
          <a:lstStyle/>
          <a:p>
            <a:r>
              <a:rPr lang="en-US" altLang="zh-TW" dirty="0"/>
              <a:t>Archetype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24BA-C904-6899-46DC-07171F8EE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7312742" cy="2625033"/>
          </a:xfrm>
        </p:spPr>
        <p:txBody>
          <a:bodyPr>
            <a:normAutofit/>
          </a:bodyPr>
          <a:lstStyle/>
          <a:p>
            <a:r>
              <a:rPr lang="en-US" dirty="0"/>
              <a:t>DEFINITION</a:t>
            </a:r>
          </a:p>
          <a:p>
            <a:pPr lvl="1"/>
            <a:r>
              <a:rPr lang="en-US" dirty="0"/>
              <a:t>An unsupervised learning method used to identify extreme patterns or "archetypes" from data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Find representative points for extreme behaviors in the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2E74E-8C7A-DF87-AADE-CCB030A4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84" y="4686047"/>
            <a:ext cx="1209844" cy="37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891526-D1A6-4114-702E-7C650CC71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087" y="3900948"/>
            <a:ext cx="3953427" cy="211484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744A13-BC76-4EDD-5A21-16DD5E9231C6}"/>
              </a:ext>
            </a:extLst>
          </p:cNvPr>
          <p:cNvSpPr/>
          <p:nvPr/>
        </p:nvSpPr>
        <p:spPr>
          <a:xfrm>
            <a:off x="10668000" y="4215545"/>
            <a:ext cx="147484" cy="1303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C265E1-1814-5252-CC73-C3F69F1E0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440" y="4597794"/>
            <a:ext cx="2419688" cy="523948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EFDE00-A64C-FED9-32FE-EEC832603A75}"/>
              </a:ext>
            </a:extLst>
          </p:cNvPr>
          <p:cNvSpPr/>
          <p:nvPr/>
        </p:nvSpPr>
        <p:spPr>
          <a:xfrm>
            <a:off x="3202646" y="4732188"/>
            <a:ext cx="344129" cy="27924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9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6C1C33-AE4F-02DA-218F-87537D5A9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109074"/>
            <a:ext cx="8535591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64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79CED2-ACCF-B39E-71B4-1B0B1B143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69" y="1638193"/>
            <a:ext cx="9513661" cy="358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93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7F63-B33D-1762-7735-FA36CB11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(Original) UMAP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2D788-1F4D-6056-7E7C-A1339503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1681162"/>
            <a:ext cx="115728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05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81C8-46EB-FAD1-02E6-C564553FD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(Sketch) UMAP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F82C7-702D-EF65-BA7B-2C3A0AF2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1690688"/>
            <a:ext cx="11572875" cy="3495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B25EB8-6DA3-BD57-24A2-1802FCA764E0}"/>
              </a:ext>
            </a:extLst>
          </p:cNvPr>
          <p:cNvSpPr txBox="1"/>
          <p:nvPr/>
        </p:nvSpPr>
        <p:spPr>
          <a:xfrm>
            <a:off x="5539183" y="5085117"/>
            <a:ext cx="644599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N_seeds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X_umap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N_seeds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replace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B4B4B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ad_sketch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ad_sketch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X_pca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X_pca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ad_sketch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X_umap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X_umap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72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A70A41-C380-EB97-D8C9-0849A551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4909"/>
            <a:ext cx="12192000" cy="275182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85904BD-32BF-9851-9E43-689A11A4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385673"/>
            <a:ext cx="10515600" cy="1325563"/>
          </a:xfrm>
        </p:spPr>
        <p:txBody>
          <a:bodyPr/>
          <a:lstStyle/>
          <a:p>
            <a:r>
              <a:rPr lang="en-US" dirty="0"/>
              <a:t>Original Dataset</a:t>
            </a:r>
          </a:p>
        </p:txBody>
      </p:sp>
    </p:spTree>
    <p:extLst>
      <p:ext uri="{BB962C8B-B14F-4D97-AF65-F5344CB8AC3E}">
        <p14:creationId xmlns:p14="http://schemas.microsoft.com/office/powerpoint/2010/main" val="4178560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A388-CB7F-19FC-8FB3-8170F009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Pooled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050E5-6385-393B-53B4-17C81E639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277063"/>
            <a:ext cx="1150620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9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752E-C749-4198-7B2C-E52ABC183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554" y="2766218"/>
            <a:ext cx="3620891" cy="1325563"/>
          </a:xfrm>
        </p:spPr>
        <p:txBody>
          <a:bodyPr/>
          <a:lstStyle/>
          <a:p>
            <a:pPr algn="ctr"/>
            <a:r>
              <a:rPr lang="en-US" dirty="0"/>
              <a:t>Get Sequence</a:t>
            </a:r>
          </a:p>
        </p:txBody>
      </p:sp>
    </p:spTree>
    <p:extLst>
      <p:ext uri="{BB962C8B-B14F-4D97-AF65-F5344CB8AC3E}">
        <p14:creationId xmlns:p14="http://schemas.microsoft.com/office/powerpoint/2010/main" val="633202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CF30-3D4C-4695-90C2-90E8EAFC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6307-7443-D931-71C2-6186CA156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07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2660</TotalTime>
  <Words>505</Words>
  <Application>Microsoft Office PowerPoint</Application>
  <PresentationFormat>Widescreen</PresentationFormat>
  <Paragraphs>61</Paragraphs>
  <Slides>16</Slides>
  <Notes>5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Harding</vt:lpstr>
      <vt:lpstr>Söhne</vt:lpstr>
      <vt:lpstr>Arial</vt:lpstr>
      <vt:lpstr>Calibri</vt:lpstr>
      <vt:lpstr>Calibri Light</vt:lpstr>
      <vt:lpstr>Consolas</vt:lpstr>
      <vt:lpstr>Office Theme</vt:lpstr>
      <vt:lpstr>Progress Report</vt:lpstr>
      <vt:lpstr>Outline</vt:lpstr>
      <vt:lpstr>Ten Neural Networks</vt:lpstr>
      <vt:lpstr>De Novo?</vt:lpstr>
      <vt:lpstr>Preprocessing - SEACells</vt:lpstr>
      <vt:lpstr>To Solve Sparse Matrix Problem</vt:lpstr>
      <vt:lpstr>Five Steps for SEACells Algorithm</vt:lpstr>
      <vt:lpstr>Archetype Analysis</vt:lpstr>
      <vt:lpstr>PowerPoint Presentation</vt:lpstr>
      <vt:lpstr>PowerPoint Presentation</vt:lpstr>
      <vt:lpstr>(Original) UMAP</vt:lpstr>
      <vt:lpstr>(Sketch) UMAP</vt:lpstr>
      <vt:lpstr>Original Dataset</vt:lpstr>
      <vt:lpstr>Pooled Dataset</vt:lpstr>
      <vt:lpstr>Get Sequence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Yi Jie Chen</dc:creator>
  <cp:lastModifiedBy>Yi Jie Chen</cp:lastModifiedBy>
  <cp:revision>15</cp:revision>
  <dcterms:created xsi:type="dcterms:W3CDTF">2024-01-02T00:23:07Z</dcterms:created>
  <dcterms:modified xsi:type="dcterms:W3CDTF">2024-01-05T03:22:07Z</dcterms:modified>
</cp:coreProperties>
</file>