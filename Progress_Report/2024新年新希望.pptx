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72" r:id="rId11"/>
    <p:sldId id="273" r:id="rId12"/>
    <p:sldId id="274" r:id="rId13"/>
    <p:sldId id="264" r:id="rId14"/>
    <p:sldId id="265" r:id="rId15"/>
    <p:sldId id="269" r:id="rId16"/>
    <p:sldId id="268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134" autoAdjust="0"/>
  </p:normalViewPr>
  <p:slideViewPr>
    <p:cSldViewPr snapToGrid="0">
      <p:cViewPr varScale="1">
        <p:scale>
          <a:sx n="67" d="100"/>
          <a:sy n="67" d="100"/>
        </p:scale>
        <p:origin x="12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E483F-9623-4A5F-ADC2-6C7EF0C91723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0EEA8-DFB7-479D-8D7F-F645A2038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61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0EEA8-DFB7-479D-8D7F-F645A20384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76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Monlcle3 </a:t>
            </a:r>
            <a:r>
              <a:rPr lang="zh-TW" altLang="en-US" dirty="0"/>
              <a:t>和 </a:t>
            </a:r>
            <a:r>
              <a:rPr lang="en-US" altLang="zh-TW" dirty="0"/>
              <a:t>Monocle2 </a:t>
            </a:r>
            <a:r>
              <a:rPr lang="zh-TW" altLang="en-US" dirty="0"/>
              <a:t>可以視為兩個不同的工具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3149A-5CEE-485E-B722-2D0A63FFEA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15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zh-TW" altLang="en-US" dirty="0"/>
              <a:t>模式重複性：新基序如果在多個細胞或實驗條件下出現，且具有統計顯著性，他可能會被識別為一個有效的 </a:t>
            </a:r>
            <a:r>
              <a:rPr lang="en-US" altLang="zh-TW" dirty="0"/>
              <a:t>motif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保守性：新發現的基序是否具有一定程度的保守性，即是否在不同細胞類型或不同生物體中都存在相似的模式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與基因表達的相關性：通過計算 </a:t>
            </a:r>
            <a:r>
              <a:rPr lang="en-US" altLang="zh-TW" dirty="0"/>
              <a:t>Spearman</a:t>
            </a:r>
            <a:r>
              <a:rPr lang="zh-TW" altLang="en-US" dirty="0"/>
              <a:t>，對 </a:t>
            </a:r>
            <a:r>
              <a:rPr lang="en-US" altLang="zh-TW" dirty="0"/>
              <a:t>motif cluster c</a:t>
            </a:r>
            <a:r>
              <a:rPr lang="zh-TW" altLang="en-US" dirty="0"/>
              <a:t>中基序的總影響得分與所有 </a:t>
            </a:r>
            <a:r>
              <a:rPr lang="en-US" altLang="zh-TW" dirty="0"/>
              <a:t>pool </a:t>
            </a:r>
            <a:r>
              <a:rPr lang="zh-TW" altLang="en-US" dirty="0"/>
              <a:t>中 </a:t>
            </a:r>
            <a:r>
              <a:rPr lang="en-US" altLang="zh-TW" dirty="0"/>
              <a:t>TF t</a:t>
            </a:r>
            <a:r>
              <a:rPr lang="zh-TW" altLang="en-US" dirty="0"/>
              <a:t>的表達水平之間的關係進行排序。 </a:t>
            </a:r>
            <a:r>
              <a:rPr lang="en-US" altLang="zh-TW" dirty="0"/>
              <a:t>(motif </a:t>
            </a:r>
            <a:r>
              <a:rPr lang="zh-TW" altLang="en-US" dirty="0"/>
              <a:t>與特定</a:t>
            </a:r>
            <a:r>
              <a:rPr lang="en-US" altLang="zh-TW" dirty="0"/>
              <a:t>TF</a:t>
            </a:r>
            <a:r>
              <a:rPr lang="zh-TW" altLang="en-US" dirty="0"/>
              <a:t>結合的關聯程度</a:t>
            </a:r>
            <a:r>
              <a:rPr lang="en-US" altLang="zh-TW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74275-3A70-4F67-8068-34366FD45F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10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74275-3A70-4F67-8068-34366FD45F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3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</a:t>
            </a:r>
            <a:r>
              <a:rPr lang="zh-TW" altLang="en-US" dirty="0"/>
              <a:t> 是每個數據點在每個典型點上的權重</a:t>
            </a:r>
            <a:endParaRPr lang="en-US" altLang="zh-TW" dirty="0"/>
          </a:p>
          <a:p>
            <a:r>
              <a:rPr lang="en-US" altLang="zh-TW" dirty="0"/>
              <a:t>S</a:t>
            </a:r>
            <a:r>
              <a:rPr lang="zh-TW" altLang="en-US" dirty="0"/>
              <a:t> 是典型點的集合</a:t>
            </a:r>
            <a:endParaRPr lang="en-US" altLang="zh-TW" dirty="0"/>
          </a:p>
          <a:p>
            <a:r>
              <a:rPr lang="en-US" altLang="zh-TW" dirty="0"/>
              <a:t>B^(T)</a:t>
            </a:r>
            <a:r>
              <a:rPr lang="zh-TW" altLang="en-US" dirty="0"/>
              <a:t> 是將典型點重新組合回原始數據空間的轉置矩陣。也就是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我們可以通過這些典型點來近似重建原始數據集</a:t>
            </a:r>
            <a:endParaRPr lang="en-US" altLang="zh-TW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最小化數據點和他們投影之間的距離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74275-3A70-4F67-8068-34366FD45F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51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</a:t>
            </a:r>
            <a:r>
              <a:rPr lang="zh-TW" altLang="en-US" dirty="0"/>
              <a:t> 分的不好的。</a:t>
            </a:r>
            <a:r>
              <a:rPr lang="en-US" altLang="zh-TW" dirty="0"/>
              <a:t>Biomarker/ methylation</a:t>
            </a:r>
          </a:p>
          <a:p>
            <a:r>
              <a:rPr lang="en-US" b="1" dirty="0"/>
              <a:t>Collect</a:t>
            </a:r>
            <a:r>
              <a:rPr lang="en-US" dirty="0"/>
              <a:t> </a:t>
            </a:r>
            <a:r>
              <a:rPr lang="en-US" u="sng" dirty="0"/>
              <a:t>Single Cell Cancer Data  </a:t>
            </a:r>
            <a:r>
              <a:rPr lang="en-US" dirty="0"/>
              <a:t>/ </a:t>
            </a:r>
            <a:r>
              <a:rPr lang="en-US" u="sng" dirty="0"/>
              <a:t>ATAC + Cell Specific Network </a:t>
            </a:r>
            <a:r>
              <a:rPr lang="en-US" dirty="0"/>
              <a:t>(</a:t>
            </a:r>
            <a:r>
              <a:rPr lang="zh-TW" altLang="en-US" dirty="0"/>
              <a:t>疾病 </a:t>
            </a:r>
            <a:r>
              <a:rPr lang="en-US" altLang="zh-TW" dirty="0"/>
              <a:t>/ Dataset)</a:t>
            </a:r>
          </a:p>
          <a:p>
            <a:endParaRPr lang="en-US" dirty="0"/>
          </a:p>
          <a:p>
            <a:r>
              <a:rPr lang="zh-TW" altLang="en-US" dirty="0"/>
              <a:t>要先 </a:t>
            </a:r>
            <a:r>
              <a:rPr lang="en-US" altLang="zh-TW" dirty="0"/>
              <a:t>focus </a:t>
            </a:r>
            <a:r>
              <a:rPr lang="zh-TW" altLang="en-US" dirty="0"/>
              <a:t>在什麼疾病，然後有沒有相關的 </a:t>
            </a:r>
            <a:r>
              <a:rPr lang="en-US" altLang="zh-TW" dirty="0"/>
              <a:t>dataset</a:t>
            </a:r>
          </a:p>
          <a:p>
            <a:r>
              <a:rPr lang="en-US" dirty="0"/>
              <a:t>Single cell kinase?? / phosphorylation</a:t>
            </a:r>
          </a:p>
          <a:p>
            <a:r>
              <a:rPr lang="zh-TW" altLang="en-US" dirty="0"/>
              <a:t>多種維度，思考 </a:t>
            </a:r>
            <a:r>
              <a:rPr lang="en-US" altLang="zh-TW" dirty="0"/>
              <a:t>single cell </a:t>
            </a:r>
            <a:r>
              <a:rPr lang="zh-TW" altLang="en-US" dirty="0"/>
              <a:t>怎麼去做 </a:t>
            </a:r>
            <a:r>
              <a:rPr lang="en-US" altLang="zh-TW" dirty="0"/>
              <a:t>modeling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74275-3A70-4F67-8068-34366FD45F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26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993B-C24E-3522-B236-479B818A1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348AA-0B15-3FAA-442C-464530BF1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CB14F-4A5D-420F-0043-A178E7132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9C5B3-5A6E-A992-88AB-843C1FDC5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5B206-2BCB-A313-36C9-7F2C3FD2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05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7AD5-CD40-A467-4151-ADD6234C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7F1E6-950B-F869-4F5A-FC3C62025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CDF5-6A8B-1D4B-DE76-7605DEB64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A76B8-4E4C-CDD0-A32D-FC166807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CF01A-21CE-1CAA-E2F4-A2C1209E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5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8CB2-6181-0235-09CB-D510E89D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A5976-F1B4-ECF3-7E1B-C7F5951BB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CE0E9-1490-4AAE-1B36-C20AE8AB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1138D-8CEE-8C44-935C-B9BC5A4AC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DB43E-9EA6-2436-6D94-B9DA7D7CF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5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A051-90D3-534D-51C0-813AF4E4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B56B2-6AFF-A3D8-097E-2FAC7DAE6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559D9-2C73-326E-A161-AAFDF5EE6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416AE-6E4E-92D0-80D4-F0B81EEE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87835-A448-B681-1CB5-1B9B7E466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5775F-700C-46C3-01A9-9EF37898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41AD-0D80-B092-3BE4-83ECAAC0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CBCCC-BE9A-9B83-B43E-9C2945A34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0E264-DA67-DF4F-A723-68BB2A027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5E72F-C32D-9C0B-F7ED-272907FCF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4C9094-3835-F740-801A-124712A33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69A4C-27FF-5F7B-53F8-922722FE2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61233-6F39-8587-1DE2-E8122F334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E3333D-C39C-26D8-C129-856B3D73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6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2D55D-FF64-7CE0-FC24-C42A71D96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A9DCBF-3303-C804-3D08-EE2A5E21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674D6-CD4B-49EE-7B5F-A176D0A3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3020B-365C-04F8-835B-B34AD825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4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694251-0B44-17ED-B586-1D1626FF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860828-D59A-ED97-E43C-6206179C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7BDA3-A3DD-F622-D8ED-F0A2F6B62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87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9255F-2F30-6FE1-7035-C56A5CAD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66788-B6D6-192C-AA35-E52803DAD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B6F82-7640-1674-CB26-327087DF3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2CBD1-D7D0-CD9C-D345-E5EA5D8B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CD108-9FD1-4250-5317-4613BDBC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FCF0B-CED3-EDC2-2B42-E5CE0ABE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3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1A36-85AA-D7D3-FC32-5F0126F2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0F813F-70A3-6C09-0E78-F2B1A95BE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A78AB-7603-70BD-8B3D-3C9953EDF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3FFDA-BA91-7FEF-C23B-70FE60B7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12438-1FD5-EAFA-7B9F-08F199E9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A79DA-BB28-C084-0EB3-16BF889B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CC04-3CFE-35A6-1DF4-1C6C819C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0807A-896C-212D-51CB-C7F7817A0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49514-30D3-1C71-3166-02D693CE1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C6E31-BD44-2497-AF06-45995175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B27AC-B280-782F-36F7-B6FD96C7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56E6E-3922-F0B5-8C88-D47C6A11F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634BF-89E3-55E9-C07C-AE38DF76A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65207-D399-7BEF-CFB5-43C0CBDF3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97C51-C555-DCEF-6E52-E2468E65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90963-3A71-D583-8ED8-E3736B91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0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7A986-B8D8-6249-8807-A0C0CD235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68624-49A7-F6F9-D7A2-B42BAAD1F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2DE69-5D36-99CA-8A07-BA9B965D7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E7B84-8DC1-47BA-935C-46FED587265A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E039-906C-770F-A48B-9D9CC6F3E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8E7B4-089C-1026-23F6-ECFDE3FF6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D43E0-AFE5-4FD9-9EEF-E3AB4DA0C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72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F082-C608-9363-4552-B66E707DFA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R</a:t>
            </a:r>
            <a:r>
              <a:rPr lang="en-US" dirty="0"/>
              <a:t>etrospect and </a:t>
            </a:r>
            <a:r>
              <a:rPr lang="en-US" altLang="zh-TW" dirty="0"/>
              <a:t>P</a:t>
            </a:r>
            <a:r>
              <a:rPr lang="en-US" dirty="0"/>
              <a:t>rospect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0EF60-482B-4779-B04A-A3962CC7B2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2024.01.05 </a:t>
            </a:r>
          </a:p>
          <a:p>
            <a:r>
              <a:rPr lang="en-US" dirty="0"/>
              <a:t>Chen, Yi-Jie</a:t>
            </a:r>
          </a:p>
        </p:txBody>
      </p:sp>
    </p:spTree>
    <p:extLst>
      <p:ext uri="{BB962C8B-B14F-4D97-AF65-F5344CB8AC3E}">
        <p14:creationId xmlns:p14="http://schemas.microsoft.com/office/powerpoint/2010/main" val="758726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71D81-3E7C-8C51-2783-AEE49C219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Reflecting on 2023...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C5512-941D-ABF5-9768-E9DA85456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 is too 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Attitude</a:t>
            </a:r>
          </a:p>
          <a:p>
            <a:pPr marL="457200" lvl="1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eeting the requirements, instead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achieving perfection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Assignments / Exams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Topics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94C5E-ABCB-CE08-66DA-B46B6CB05CC8}"/>
              </a:ext>
            </a:extLst>
          </p:cNvPr>
          <p:cNvGrpSpPr/>
          <p:nvPr/>
        </p:nvGrpSpPr>
        <p:grpSpPr>
          <a:xfrm>
            <a:off x="2881971" y="5221922"/>
            <a:ext cx="5934269" cy="130628"/>
            <a:chOff x="3063555" y="4683967"/>
            <a:chExt cx="4553333" cy="13063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47BB4A4-1F10-3304-1542-BF8CAC042159}"/>
                </a:ext>
              </a:extLst>
            </p:cNvPr>
            <p:cNvSpPr/>
            <p:nvPr/>
          </p:nvSpPr>
          <p:spPr>
            <a:xfrm rot="5400000">
              <a:off x="3378462" y="4369061"/>
              <a:ext cx="130629" cy="7604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A4CBB2-B204-DD12-D325-8C60AF065752}"/>
                </a:ext>
              </a:extLst>
            </p:cNvPr>
            <p:cNvSpPr/>
            <p:nvPr/>
          </p:nvSpPr>
          <p:spPr>
            <a:xfrm rot="5400000">
              <a:off x="4138906" y="4369062"/>
              <a:ext cx="130629" cy="7604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0149E9-E182-B5EA-3F3C-8A5B02672495}"/>
                </a:ext>
              </a:extLst>
            </p:cNvPr>
            <p:cNvSpPr/>
            <p:nvPr/>
          </p:nvSpPr>
          <p:spPr>
            <a:xfrm rot="5400000">
              <a:off x="4899351" y="4369061"/>
              <a:ext cx="130629" cy="7604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269286-75ED-904E-82DE-0515DCE20042}"/>
                </a:ext>
              </a:extLst>
            </p:cNvPr>
            <p:cNvSpPr/>
            <p:nvPr/>
          </p:nvSpPr>
          <p:spPr>
            <a:xfrm rot="5400000">
              <a:off x="5655129" y="4369060"/>
              <a:ext cx="130629" cy="7604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1DCDFE-726E-AC57-7AB1-237A68BD976C}"/>
                </a:ext>
              </a:extLst>
            </p:cNvPr>
            <p:cNvSpPr/>
            <p:nvPr/>
          </p:nvSpPr>
          <p:spPr>
            <a:xfrm rot="5400000">
              <a:off x="6410907" y="4369061"/>
              <a:ext cx="130629" cy="7604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7D8FDE-FC8A-BC35-4DF0-B1824C8AE87E}"/>
                </a:ext>
              </a:extLst>
            </p:cNvPr>
            <p:cNvSpPr/>
            <p:nvPr/>
          </p:nvSpPr>
          <p:spPr>
            <a:xfrm rot="5400000">
              <a:off x="7171351" y="4369061"/>
              <a:ext cx="130629" cy="7604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A9AE0ED-CF87-1662-D18A-09406C42220A}"/>
              </a:ext>
            </a:extLst>
          </p:cNvPr>
          <p:cNvSpPr/>
          <p:nvPr/>
        </p:nvSpPr>
        <p:spPr>
          <a:xfrm>
            <a:off x="3018277" y="4837212"/>
            <a:ext cx="718457" cy="317243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七月</a:t>
            </a:r>
            <a:endParaRPr lang="en-US" sz="1400" dirty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B19A92-C9BE-FFD7-1BBE-4B426E56AF54}"/>
              </a:ext>
            </a:extLst>
          </p:cNvPr>
          <p:cNvSpPr/>
          <p:nvPr/>
        </p:nvSpPr>
        <p:spPr>
          <a:xfrm>
            <a:off x="4009349" y="4846611"/>
            <a:ext cx="718457" cy="317243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八月</a:t>
            </a:r>
            <a:endParaRPr lang="en-US" sz="1400" dirty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4ACAFDC-E7C8-CCF2-0FBC-F1752AAF7273}"/>
              </a:ext>
            </a:extLst>
          </p:cNvPr>
          <p:cNvSpPr/>
          <p:nvPr/>
        </p:nvSpPr>
        <p:spPr>
          <a:xfrm>
            <a:off x="5043018" y="4837211"/>
            <a:ext cx="718457" cy="317243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九月</a:t>
            </a:r>
            <a:endParaRPr lang="en-US" sz="1400" dirty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6FB69A-A7F1-7FC7-05DF-DC79FFA0FEC5}"/>
              </a:ext>
            </a:extLst>
          </p:cNvPr>
          <p:cNvSpPr/>
          <p:nvPr/>
        </p:nvSpPr>
        <p:spPr>
          <a:xfrm>
            <a:off x="5997543" y="4837210"/>
            <a:ext cx="718457" cy="317243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十月</a:t>
            </a:r>
            <a:endParaRPr lang="en-US" sz="1400" dirty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1C1A98-45F4-2B03-C73A-7B28FEBF27DF}"/>
              </a:ext>
            </a:extLst>
          </p:cNvPr>
          <p:cNvSpPr/>
          <p:nvPr/>
        </p:nvSpPr>
        <p:spPr>
          <a:xfrm>
            <a:off x="6894012" y="4837210"/>
            <a:ext cx="832453" cy="317243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十一月</a:t>
            </a:r>
            <a:endParaRPr lang="en-US" sz="1400" dirty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12765C5-855B-38F1-A3DE-E8B39050DEDE}"/>
              </a:ext>
            </a:extLst>
          </p:cNvPr>
          <p:cNvSpPr/>
          <p:nvPr/>
        </p:nvSpPr>
        <p:spPr>
          <a:xfrm>
            <a:off x="7904477" y="4837210"/>
            <a:ext cx="832453" cy="317243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十二月</a:t>
            </a:r>
            <a:endParaRPr lang="en-US" altLang="zh-TW" sz="1400" dirty="0">
              <a:solidFill>
                <a:schemeClr val="tx1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5AA15A-677C-9C7A-284D-AF460FD11404}"/>
              </a:ext>
            </a:extLst>
          </p:cNvPr>
          <p:cNvSpPr txBox="1"/>
          <p:nvPr/>
        </p:nvSpPr>
        <p:spPr>
          <a:xfrm>
            <a:off x="4553644" y="5410621"/>
            <a:ext cx="6209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Seurat 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112FC3-2295-07D5-76DC-6C11A53D98A1}"/>
              </a:ext>
            </a:extLst>
          </p:cNvPr>
          <p:cNvSpPr txBox="1"/>
          <p:nvPr/>
        </p:nvSpPr>
        <p:spPr>
          <a:xfrm>
            <a:off x="3306491" y="5410620"/>
            <a:ext cx="1123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Online Courses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7B3310-4D69-634F-58D7-BD5B6AB4C1B7}"/>
              </a:ext>
            </a:extLst>
          </p:cNvPr>
          <p:cNvSpPr txBox="1"/>
          <p:nvPr/>
        </p:nvSpPr>
        <p:spPr>
          <a:xfrm>
            <a:off x="5164977" y="5414333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Monocle3 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CEE339-7FB8-8357-E6F2-3F785EC6A69C}"/>
              </a:ext>
            </a:extLst>
          </p:cNvPr>
          <p:cNvSpPr txBox="1"/>
          <p:nvPr/>
        </p:nvSpPr>
        <p:spPr>
          <a:xfrm>
            <a:off x="6043930" y="5420018"/>
            <a:ext cx="154875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SIMBA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8DCA0B-9BE0-EB44-25BA-C016FEDA98FB}"/>
              </a:ext>
            </a:extLst>
          </p:cNvPr>
          <p:cNvSpPr txBox="1"/>
          <p:nvPr/>
        </p:nvSpPr>
        <p:spPr>
          <a:xfrm>
            <a:off x="6903874" y="5764485"/>
            <a:ext cx="85151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Signac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9AA17B-F72D-6181-0C73-C6BDA05935A7}"/>
              </a:ext>
            </a:extLst>
          </p:cNvPr>
          <p:cNvSpPr txBox="1"/>
          <p:nvPr/>
        </p:nvSpPr>
        <p:spPr>
          <a:xfrm>
            <a:off x="8390963" y="5437079"/>
            <a:ext cx="5883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scover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97EA67-B567-F5D4-B614-D2AAF98859F1}"/>
              </a:ext>
            </a:extLst>
          </p:cNvPr>
          <p:cNvSpPr txBox="1"/>
          <p:nvPr/>
        </p:nvSpPr>
        <p:spPr>
          <a:xfrm>
            <a:off x="8587127" y="5710515"/>
            <a:ext cx="813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| </a:t>
            </a:r>
            <a:r>
              <a:rPr lang="en-US" sz="1200" dirty="0" err="1"/>
              <a:t>SEACells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744BF8-3250-1625-DC7C-A3CFD23A69DE}"/>
              </a:ext>
            </a:extLst>
          </p:cNvPr>
          <p:cNvSpPr txBox="1"/>
          <p:nvPr/>
        </p:nvSpPr>
        <p:spPr>
          <a:xfrm>
            <a:off x="8587127" y="5983951"/>
            <a:ext cx="6601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| </a:t>
            </a:r>
            <a:r>
              <a:rPr lang="en-US" sz="1200" dirty="0" err="1"/>
              <a:t>ArchR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397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102C-9900-44EE-79DA-5992A3B39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Prospect of 2024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0B4B3-6E60-7CA3-036E-F16339F30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729"/>
            <a:ext cx="10515600" cy="480218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3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ask some valuable questions, but give it a try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March 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Research Topics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 Tools 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Seurat</a:t>
            </a:r>
            <a:r>
              <a:rPr lang="zh-TW" altLang="en-US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Monocles</a:t>
            </a:r>
            <a:r>
              <a:rPr lang="zh-TW" altLang="en-US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SIMBA</a:t>
            </a:r>
            <a:r>
              <a:rPr lang="zh-TW" altLang="en-US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Signac</a:t>
            </a:r>
            <a:r>
              <a:rPr lang="zh-TW" altLang="en-US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scover</a:t>
            </a:r>
            <a:r>
              <a:rPr lang="zh-TW" altLang="en-US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SEACells</a:t>
            </a:r>
            <a:r>
              <a:rPr lang="zh-TW" altLang="en-US" sz="1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14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ArchR</a:t>
            </a:r>
            <a:endParaRPr lang="en-US" sz="18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Research Topics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the applicability of specific analysis methods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September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Assay Script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Preprocessing, Analysis, Visualization</a:t>
            </a:r>
          </a:p>
          <a:p>
            <a:pPr>
              <a:lnSpc>
                <a:spcPct val="13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December</a:t>
            </a:r>
          </a:p>
          <a:p>
            <a:pPr lvl="1">
              <a:lnSpc>
                <a:spcPct val="13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Assay Revise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27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D4E17C4-40C8-990A-DEF5-62E466F8E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4855"/>
            <a:ext cx="9144000" cy="975107"/>
          </a:xfrm>
        </p:spPr>
        <p:txBody>
          <a:bodyPr/>
          <a:lstStyle/>
          <a:p>
            <a:r>
              <a:rPr lang="en-US" altLang="zh-TW" dirty="0"/>
              <a:t>Progress Report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8B01626-1B31-0D9C-EA4F-B86F9100C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sz="3200" dirty="0"/>
              <a:t>Chen, Yi Jie</a:t>
            </a:r>
          </a:p>
          <a:p>
            <a:r>
              <a:rPr lang="en-US" dirty="0"/>
              <a:t>2024.01.05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25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40242B-31D4-FF0D-EBED-51DCFABB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DECE67-ADAF-59EB-60F5-B89541557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3200" dirty="0"/>
              <a:t>Two Questions</a:t>
            </a:r>
            <a:r>
              <a:rPr lang="zh-TW" altLang="en-US" sz="3200" dirty="0"/>
              <a:t> </a:t>
            </a:r>
            <a:r>
              <a:rPr lang="en-US" altLang="zh-TW" sz="3200" dirty="0"/>
              <a:t>about </a:t>
            </a:r>
            <a:r>
              <a:rPr lang="en-US" altLang="zh-TW" sz="3200" dirty="0" err="1"/>
              <a:t>scover</a:t>
            </a:r>
            <a:endParaRPr lang="en-US" altLang="zh-TW" sz="3200" dirty="0"/>
          </a:p>
          <a:p>
            <a:pPr>
              <a:lnSpc>
                <a:spcPct val="150000"/>
              </a:lnSpc>
            </a:pPr>
            <a:r>
              <a:rPr lang="en-US" altLang="zh-TW" sz="3200" dirty="0" err="1"/>
              <a:t>Scover</a:t>
            </a:r>
            <a:r>
              <a:rPr lang="en-US" altLang="zh-TW" sz="3200" dirty="0"/>
              <a:t> preprocessing -- </a:t>
            </a:r>
            <a:r>
              <a:rPr lang="en-US" altLang="zh-TW" sz="3200" dirty="0" err="1"/>
              <a:t>SEACells</a:t>
            </a:r>
            <a:endParaRPr lang="en-US" altLang="zh-TW" sz="3200" dirty="0"/>
          </a:p>
          <a:p>
            <a:pPr marL="0" indent="0">
              <a:lnSpc>
                <a:spcPct val="150000"/>
              </a:lnSpc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636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ig. 1">
            <a:extLst>
              <a:ext uri="{FF2B5EF4-FFF2-40B4-BE49-F238E27FC236}">
                <a16:creationId xmlns:a16="http://schemas.microsoft.com/office/drawing/2014/main" id="{7436DCFD-FAEF-E0B0-276B-F90148CE4C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052"/>
          <a:stretch/>
        </p:blipFill>
        <p:spPr bwMode="auto">
          <a:xfrm>
            <a:off x="2295749" y="106106"/>
            <a:ext cx="7600501" cy="664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8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FAE1CC-A8CF-9D6B-CFB4-41D2ABB929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891"/>
          <a:stretch/>
        </p:blipFill>
        <p:spPr>
          <a:xfrm>
            <a:off x="800141" y="2267338"/>
            <a:ext cx="10762359" cy="18101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1E4B8B-7EE3-121D-B2F8-FCA356E6A67E}"/>
              </a:ext>
            </a:extLst>
          </p:cNvPr>
          <p:cNvSpPr/>
          <p:nvPr/>
        </p:nvSpPr>
        <p:spPr>
          <a:xfrm>
            <a:off x="8005665" y="2659224"/>
            <a:ext cx="1912776" cy="1156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21BC261-F2B3-10DC-08F4-37F06627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Ten Neural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63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3FACD1-87DE-528F-1BEF-6B83DEA26C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7891"/>
          <a:stretch/>
        </p:blipFill>
        <p:spPr>
          <a:xfrm>
            <a:off x="800141" y="2267338"/>
            <a:ext cx="10762359" cy="18101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A2A880-0102-4460-27E1-7886DB4671A5}"/>
              </a:ext>
            </a:extLst>
          </p:cNvPr>
          <p:cNvSpPr/>
          <p:nvPr/>
        </p:nvSpPr>
        <p:spPr>
          <a:xfrm>
            <a:off x="9871788" y="2341982"/>
            <a:ext cx="1912776" cy="18101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E9419E0-3DCE-9397-33D8-77A4D7D90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De Novo?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82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752E-C749-4198-7B2C-E52ABC183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75" y="2766218"/>
            <a:ext cx="5810250" cy="1325563"/>
          </a:xfrm>
        </p:spPr>
        <p:txBody>
          <a:bodyPr/>
          <a:lstStyle/>
          <a:p>
            <a:r>
              <a:rPr lang="en-US" dirty="0"/>
              <a:t>Preprocessing - </a:t>
            </a:r>
            <a:r>
              <a:rPr lang="en-US" dirty="0" err="1"/>
              <a:t>SEACells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237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C8D2-E392-AF72-DA6B-92A326FE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Solve Sparse Matrix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E453B-5C82-0B81-FBEB-D167BE2FF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Pseudo-Bulk RNA</a:t>
            </a:r>
          </a:p>
          <a:p>
            <a:r>
              <a:rPr lang="en-US" dirty="0" err="1"/>
              <a:t>MetaCell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90EA5F-7EA8-C24A-E7E4-03F031685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081" y="3326773"/>
            <a:ext cx="4157288" cy="326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A602879-1FE1-C3DC-0DD7-FA7543FAD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359" y="3318579"/>
            <a:ext cx="3161217" cy="326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12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B5D5-EA29-F1F9-0F29-628462C1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Steps for </a:t>
            </a:r>
            <a:r>
              <a:rPr lang="en-US" dirty="0" err="1"/>
              <a:t>SEACells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5DD2B-A6F5-F4D2-C887-09911B23B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r>
              <a:rPr lang="en-US" dirty="0"/>
              <a:t>1. Construct </a:t>
            </a:r>
            <a:r>
              <a:rPr lang="en-US" dirty="0">
                <a:solidFill>
                  <a:srgbClr val="FF0000"/>
                </a:solidFill>
              </a:rPr>
              <a:t>k-NN Graph</a:t>
            </a:r>
          </a:p>
          <a:p>
            <a:pPr lvl="1"/>
            <a:r>
              <a:rPr lang="en-US" dirty="0"/>
              <a:t>Euclidean Distance</a:t>
            </a:r>
          </a:p>
          <a:p>
            <a:r>
              <a:rPr lang="en-US" dirty="0"/>
              <a:t>2. 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Derive an </a:t>
            </a:r>
            <a:r>
              <a:rPr lang="en-US" b="0" i="0" dirty="0">
                <a:solidFill>
                  <a:srgbClr val="FF0000"/>
                </a:solidFill>
                <a:effectLst/>
                <a:latin typeface="Harding"/>
              </a:rPr>
              <a:t>affinity matrix 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of cell-to-cell similarities using k-NN graph</a:t>
            </a:r>
          </a:p>
          <a:p>
            <a:pPr lvl="1"/>
            <a:r>
              <a:rPr lang="en-US" dirty="0">
                <a:solidFill>
                  <a:srgbClr val="222222"/>
                </a:solidFill>
                <a:latin typeface="Harding"/>
              </a:rPr>
              <a:t>Adaptive Gaussian Kernel</a:t>
            </a:r>
          </a:p>
          <a:p>
            <a:r>
              <a:rPr lang="en-US" dirty="0">
                <a:solidFill>
                  <a:srgbClr val="222222"/>
                </a:solidFill>
                <a:latin typeface="Harding"/>
              </a:rPr>
              <a:t>3. 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Use the kernel matrix as the input for </a:t>
            </a:r>
            <a:r>
              <a:rPr lang="en-US" b="0" i="0" dirty="0">
                <a:solidFill>
                  <a:srgbClr val="FF0000"/>
                </a:solidFill>
                <a:effectLst/>
                <a:latin typeface="Harding"/>
              </a:rPr>
              <a:t>archetypal analysis </a:t>
            </a:r>
          </a:p>
          <a:p>
            <a:pPr lvl="1"/>
            <a:r>
              <a:rPr lang="en-US" dirty="0">
                <a:effectLst/>
              </a:rPr>
              <a:t>archetype matrix </a:t>
            </a:r>
            <a:endParaRPr lang="en-US" dirty="0">
              <a:solidFill>
                <a:srgbClr val="222222"/>
              </a:solidFill>
              <a:latin typeface="Harding"/>
            </a:endParaRPr>
          </a:p>
          <a:p>
            <a:pPr lvl="1"/>
            <a:r>
              <a:rPr lang="en-US" dirty="0">
                <a:solidFill>
                  <a:srgbClr val="222222"/>
                </a:solidFill>
                <a:latin typeface="Harding"/>
              </a:rPr>
              <a:t>membership matrix</a:t>
            </a:r>
          </a:p>
          <a:p>
            <a:r>
              <a:rPr lang="en-US" dirty="0">
                <a:solidFill>
                  <a:srgbClr val="222222"/>
                </a:solidFill>
                <a:latin typeface="Harding"/>
              </a:rPr>
              <a:t>4. 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Derive a </a:t>
            </a:r>
            <a:r>
              <a:rPr lang="en-US" b="0" i="0" dirty="0" err="1">
                <a:solidFill>
                  <a:srgbClr val="0070C0"/>
                </a:solidFill>
                <a:effectLst/>
                <a:latin typeface="Harding"/>
              </a:rPr>
              <a:t>metacell</a:t>
            </a:r>
            <a:r>
              <a:rPr lang="en-US" b="0" i="0" dirty="0">
                <a:solidFill>
                  <a:srgbClr val="0070C0"/>
                </a:solidFill>
                <a:effectLst/>
                <a:latin typeface="Harding"/>
              </a:rPr>
              <a:t>-by-feature count matrix</a:t>
            </a:r>
            <a:endParaRPr lang="en-US" dirty="0">
              <a:solidFill>
                <a:srgbClr val="0070C0"/>
              </a:solidFill>
              <a:latin typeface="Harding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5. Normalize </a:t>
            </a:r>
            <a:r>
              <a:rPr lang="en-US" b="0" i="0" dirty="0">
                <a:solidFill>
                  <a:srgbClr val="0070C0"/>
                </a:solidFill>
                <a:effectLst/>
                <a:latin typeface="Harding"/>
              </a:rPr>
              <a:t>count matrices</a:t>
            </a:r>
            <a:endParaRPr lang="en-US" dirty="0">
              <a:solidFill>
                <a:srgbClr val="0070C0"/>
              </a:solidFill>
              <a:latin typeface="Harding"/>
            </a:endParaRPr>
          </a:p>
        </p:txBody>
      </p:sp>
    </p:spTree>
    <p:extLst>
      <p:ext uri="{BB962C8B-B14F-4D97-AF65-F5344CB8AC3E}">
        <p14:creationId xmlns:p14="http://schemas.microsoft.com/office/powerpoint/2010/main" val="78499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6ED7DD-0A83-F58D-8C3C-9576FA29B74A}"/>
              </a:ext>
            </a:extLst>
          </p:cNvPr>
          <p:cNvSpPr txBox="1">
            <a:spLocks/>
          </p:cNvSpPr>
          <p:nvPr/>
        </p:nvSpPr>
        <p:spPr>
          <a:xfrm>
            <a:off x="838200" y="4215545"/>
            <a:ext cx="10970342" cy="25465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FORMULA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FOR SINGLE CELL</a:t>
            </a:r>
          </a:p>
          <a:p>
            <a:pPr lvl="1"/>
            <a:r>
              <a:rPr lang="en-US" dirty="0"/>
              <a:t>Understanding Heterogeneity</a:t>
            </a:r>
          </a:p>
          <a:p>
            <a:pPr lvl="1"/>
            <a:r>
              <a:rPr lang="en-US" dirty="0"/>
              <a:t>Revealing Hidden Patterns: Identify less observable or rare phenomena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4051F-EBFC-B9D1-1267-199294A17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7" y="183189"/>
            <a:ext cx="10515600" cy="1325563"/>
          </a:xfrm>
        </p:spPr>
        <p:txBody>
          <a:bodyPr/>
          <a:lstStyle/>
          <a:p>
            <a:r>
              <a:rPr lang="en-US" altLang="zh-TW" dirty="0"/>
              <a:t>Archetype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D24BA-C904-6899-46DC-07171F8EE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8"/>
            <a:ext cx="7312742" cy="2625033"/>
          </a:xfrm>
        </p:spPr>
        <p:txBody>
          <a:bodyPr>
            <a:normAutofit/>
          </a:bodyPr>
          <a:lstStyle/>
          <a:p>
            <a:r>
              <a:rPr lang="en-US" dirty="0"/>
              <a:t>DEFINITION</a:t>
            </a:r>
          </a:p>
          <a:p>
            <a:pPr lvl="1"/>
            <a:r>
              <a:rPr lang="en-US" dirty="0"/>
              <a:t>An unsupervised learning method used to identify extreme patterns or "archetypes" from data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Find representative points for extreme behaviors in the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2E74E-8C7A-DF87-AADE-CCB030A44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84" y="4686047"/>
            <a:ext cx="1209844" cy="371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891526-D1A6-4114-702E-7C650CC71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087" y="3900948"/>
            <a:ext cx="3953427" cy="2114845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744A13-BC76-4EDD-5A21-16DD5E9231C6}"/>
              </a:ext>
            </a:extLst>
          </p:cNvPr>
          <p:cNvSpPr/>
          <p:nvPr/>
        </p:nvSpPr>
        <p:spPr>
          <a:xfrm>
            <a:off x="10668000" y="4215545"/>
            <a:ext cx="147484" cy="1303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C265E1-1814-5252-CC73-C3F69F1E0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440" y="4597794"/>
            <a:ext cx="2419688" cy="523948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EFDE00-A64C-FED9-32FE-EEC832603A75}"/>
              </a:ext>
            </a:extLst>
          </p:cNvPr>
          <p:cNvSpPr/>
          <p:nvPr/>
        </p:nvSpPr>
        <p:spPr>
          <a:xfrm>
            <a:off x="3202646" y="4732188"/>
            <a:ext cx="344129" cy="27924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96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6C1C33-AE4F-02DA-218F-87537D5A9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4" y="109074"/>
            <a:ext cx="8535591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64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79CED2-ACCF-B39E-71B4-1B0B1B143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169" y="1638193"/>
            <a:ext cx="9513661" cy="358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93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7F63-B33D-1762-7735-FA36CB11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(Original) UMAP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2D788-1F4D-6056-7E7C-A1339503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1681162"/>
            <a:ext cx="115728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05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81C8-46EB-FAD1-02E6-C564553FD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(Sketch) UMAP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F82C7-702D-EF65-BA7B-2C3A0AF22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1690688"/>
            <a:ext cx="11572875" cy="3495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B25EB8-6DA3-BD57-24A2-1802FCA764E0}"/>
              </a:ext>
            </a:extLst>
          </p:cNvPr>
          <p:cNvSpPr txBox="1"/>
          <p:nvPr/>
        </p:nvSpPr>
        <p:spPr>
          <a:xfrm>
            <a:off x="5539183" y="5085117"/>
            <a:ext cx="644599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N_seeds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ADAD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sketch_index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adata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X_umap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N_seeds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replace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ADAD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sketch_index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B4B4B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ad_sketch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sketch_index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,:]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ADAD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ad_sketch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X_pca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adata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X_pca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sketch_index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,:]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ADAD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ad_sketch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X_umap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adata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ADAD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X_umap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C9B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sketch_index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,:]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ADADA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725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A70A41-C380-EB97-D8C9-0849A5519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4909"/>
            <a:ext cx="12192000" cy="275182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85904BD-32BF-9851-9E43-689A11A4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385673"/>
            <a:ext cx="10515600" cy="1325563"/>
          </a:xfrm>
        </p:spPr>
        <p:txBody>
          <a:bodyPr/>
          <a:lstStyle/>
          <a:p>
            <a:r>
              <a:rPr lang="en-US" dirty="0"/>
              <a:t>Original Dataset</a:t>
            </a:r>
          </a:p>
        </p:txBody>
      </p:sp>
    </p:spTree>
    <p:extLst>
      <p:ext uri="{BB962C8B-B14F-4D97-AF65-F5344CB8AC3E}">
        <p14:creationId xmlns:p14="http://schemas.microsoft.com/office/powerpoint/2010/main" val="4178560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1A388-CB7F-19FC-8FB3-8170F009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Pooled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050E5-6385-393B-53B4-17C81E639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277063"/>
            <a:ext cx="1150620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94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697</Words>
  <Application>Microsoft Office PowerPoint</Application>
  <PresentationFormat>Widescreen</PresentationFormat>
  <Paragraphs>102</Paragraphs>
  <Slides>18</Slides>
  <Notes>6</Notes>
  <HiddenSlides>4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DFKai-SB</vt:lpstr>
      <vt:lpstr>Harding</vt:lpstr>
      <vt:lpstr>Söhne</vt:lpstr>
      <vt:lpstr>Arial</vt:lpstr>
      <vt:lpstr>Calibri</vt:lpstr>
      <vt:lpstr>Calibri Light</vt:lpstr>
      <vt:lpstr>Consolas</vt:lpstr>
      <vt:lpstr>Times New Roman</vt:lpstr>
      <vt:lpstr>Office Theme</vt:lpstr>
      <vt:lpstr>Retrospect and Prospect</vt:lpstr>
      <vt:lpstr>Reflecting on 2023...</vt:lpstr>
      <vt:lpstr>Prospect of 2024</vt:lpstr>
      <vt:lpstr>Progress Report</vt:lpstr>
      <vt:lpstr>Outline</vt:lpstr>
      <vt:lpstr>PowerPoint Presentation</vt:lpstr>
      <vt:lpstr>Ten Neural Networks</vt:lpstr>
      <vt:lpstr>De Novo?</vt:lpstr>
      <vt:lpstr>Preprocessing - SEACells</vt:lpstr>
      <vt:lpstr>To Solve Sparse Matrix Problem</vt:lpstr>
      <vt:lpstr>Five Steps for SEACells Algorithm</vt:lpstr>
      <vt:lpstr>Archetype Analysis</vt:lpstr>
      <vt:lpstr>PowerPoint Presentation</vt:lpstr>
      <vt:lpstr>PowerPoint Presentation</vt:lpstr>
      <vt:lpstr>(Original) UMAP</vt:lpstr>
      <vt:lpstr>(Sketch) UMAP</vt:lpstr>
      <vt:lpstr>Original Dataset</vt:lpstr>
      <vt:lpstr>Pooled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Retrospect and Prospect</dc:title>
  <dc:creator>Yi Jie Chen</dc:creator>
  <cp:lastModifiedBy>Yi Jie Chen</cp:lastModifiedBy>
  <cp:revision>17</cp:revision>
  <dcterms:created xsi:type="dcterms:W3CDTF">2024-01-03T10:35:41Z</dcterms:created>
  <dcterms:modified xsi:type="dcterms:W3CDTF">2024-01-05T12:16:26Z</dcterms:modified>
</cp:coreProperties>
</file>