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83" r:id="rId11"/>
    <p:sldId id="265" r:id="rId12"/>
    <p:sldId id="266" r:id="rId13"/>
    <p:sldId id="267" r:id="rId14"/>
    <p:sldId id="269" r:id="rId15"/>
    <p:sldId id="270" r:id="rId16"/>
    <p:sldId id="271" r:id="rId17"/>
    <p:sldId id="272" r:id="rId18"/>
    <p:sldId id="273" r:id="rId19"/>
    <p:sldId id="274" r:id="rId20"/>
    <p:sldId id="284" r:id="rId21"/>
    <p:sldId id="275" r:id="rId22"/>
    <p:sldId id="276" r:id="rId23"/>
    <p:sldId id="285" r:id="rId24"/>
    <p:sldId id="277" r:id="rId25"/>
    <p:sldId id="278" r:id="rId26"/>
    <p:sldId id="279" r:id="rId27"/>
    <p:sldId id="280" r:id="rId28"/>
    <p:sldId id="281" r:id="rId29"/>
    <p:sldId id="282" r:id="rId30"/>
    <p:sldId id="286" r:id="rId31"/>
    <p:sldId id="287" r:id="rId32"/>
    <p:sldId id="288" r:id="rId33"/>
    <p:sldId id="289" r:id="rId34"/>
    <p:sldId id="290" r:id="rId35"/>
    <p:sldId id="291" r:id="rId36"/>
    <p:sldId id="293" r:id="rId37"/>
    <p:sldId id="292" r:id="rId38"/>
    <p:sldId id="294" r:id="rId39"/>
    <p:sldId id="295" r:id="rId40"/>
    <p:sldId id="296" r:id="rId41"/>
    <p:sldId id="298" r:id="rId42"/>
    <p:sldId id="29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401" autoAdjust="0"/>
  </p:normalViewPr>
  <p:slideViewPr>
    <p:cSldViewPr snapToGrid="0">
      <p:cViewPr varScale="1">
        <p:scale>
          <a:sx n="88" d="100"/>
          <a:sy n="88" d="100"/>
        </p:scale>
        <p:origin x="14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E68BC-5068-4C7D-B7C9-610CCF77C43A}" type="datetimeFigureOut">
              <a:rPr lang="en-US" smtClean="0"/>
              <a:t>10/21/2023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F022A8-D9E0-49E1-A86C-93A7A2C7B21C}" type="slidenum">
              <a:rPr lang="en-US" smtClean="0"/>
              <a:t>‹#›</a:t>
            </a:fld>
            <a:endParaRPr lang="en-US"/>
          </a:p>
        </p:txBody>
      </p:sp>
    </p:spTree>
    <p:extLst>
      <p:ext uri="{BB962C8B-B14F-4D97-AF65-F5344CB8AC3E}">
        <p14:creationId xmlns:p14="http://schemas.microsoft.com/office/powerpoint/2010/main" val="1693738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000000"/>
                </a:solidFill>
                <a:effectLst/>
                <a:latin typeface="Verdana" panose="020B0604030504040204" pitchFamily="34" charset="0"/>
              </a:rPr>
              <a:t>從十五名診斷為</a:t>
            </a:r>
            <a:r>
              <a:rPr lang="en-US" altLang="zh-TW" b="0" i="0" dirty="0">
                <a:solidFill>
                  <a:srgbClr val="000000"/>
                </a:solidFill>
                <a:effectLst/>
                <a:latin typeface="Verdana" panose="020B0604030504040204" pitchFamily="34" charset="0"/>
              </a:rPr>
              <a:t>”</a:t>
            </a:r>
            <a:r>
              <a:rPr lang="zh-TW" altLang="en-US" b="1" i="0" dirty="0">
                <a:solidFill>
                  <a:srgbClr val="000000"/>
                </a:solidFill>
                <a:effectLst/>
                <a:latin typeface="Verdana" panose="020B0604030504040204" pitchFamily="34" charset="0"/>
              </a:rPr>
              <a:t>黑色素瘤（</a:t>
            </a:r>
            <a:r>
              <a:rPr lang="en-US" altLang="zh-TW" b="1" i="0" dirty="0">
                <a:solidFill>
                  <a:srgbClr val="000000"/>
                </a:solidFill>
                <a:effectLst/>
                <a:latin typeface="Verdana" panose="020B0604030504040204" pitchFamily="34" charset="0"/>
              </a:rPr>
              <a:t>n=3</a:t>
            </a:r>
            <a:r>
              <a:rPr lang="zh-TW" altLang="en-US" b="1" i="0" dirty="0">
                <a:solidFill>
                  <a:srgbClr val="000000"/>
                </a:solidFill>
                <a:effectLst/>
                <a:latin typeface="Verdana" panose="020B0604030504040204" pitchFamily="34" charset="0"/>
              </a:rPr>
              <a:t>）</a:t>
            </a:r>
            <a:r>
              <a:rPr lang="en-US" altLang="zh-TW" b="1" i="0" dirty="0">
                <a:solidFill>
                  <a:srgbClr val="000000"/>
                </a:solidFill>
                <a:effectLst/>
                <a:latin typeface="Verdana" panose="020B0604030504040204" pitchFamily="34" charset="0"/>
              </a:rPr>
              <a:t>”</a:t>
            </a:r>
            <a:r>
              <a:rPr lang="zh-TW" altLang="en-US" b="0" i="0" dirty="0">
                <a:solidFill>
                  <a:srgbClr val="000000"/>
                </a:solidFill>
                <a:effectLst/>
                <a:latin typeface="Verdana" panose="020B0604030504040204" pitchFamily="34" charset="0"/>
              </a:rPr>
              <a:t>、乳腺癌（</a:t>
            </a:r>
            <a:r>
              <a:rPr lang="en-US" altLang="zh-TW" b="0" i="0" dirty="0">
                <a:solidFill>
                  <a:srgbClr val="000000"/>
                </a:solidFill>
                <a:effectLst/>
                <a:latin typeface="Verdana" panose="020B0604030504040204" pitchFamily="34" charset="0"/>
              </a:rPr>
              <a:t>n=3</a:t>
            </a:r>
            <a:r>
              <a:rPr lang="zh-TW" altLang="en-US" b="0" i="0" dirty="0">
                <a:solidFill>
                  <a:srgbClr val="000000"/>
                </a:solidFill>
                <a:effectLst/>
                <a:latin typeface="Verdana" panose="020B0604030504040204" pitchFamily="34" charset="0"/>
              </a:rPr>
              <a:t>）、肺癌（</a:t>
            </a:r>
            <a:r>
              <a:rPr lang="en-US" altLang="zh-TW" b="0" i="0" dirty="0">
                <a:solidFill>
                  <a:srgbClr val="000000"/>
                </a:solidFill>
                <a:effectLst/>
                <a:latin typeface="Verdana" panose="020B0604030504040204" pitchFamily="34" charset="0"/>
              </a:rPr>
              <a:t>n=3</a:t>
            </a:r>
            <a:r>
              <a:rPr lang="zh-TW" altLang="en-US" b="0" i="0" dirty="0">
                <a:solidFill>
                  <a:srgbClr val="000000"/>
                </a:solidFill>
                <a:effectLst/>
                <a:latin typeface="Verdana" panose="020B0604030504040204" pitchFamily="34" charset="0"/>
              </a:rPr>
              <a:t>）、卵巢癌（</a:t>
            </a:r>
            <a:r>
              <a:rPr lang="en-US" altLang="zh-TW" b="0" i="0" dirty="0">
                <a:solidFill>
                  <a:srgbClr val="000000"/>
                </a:solidFill>
                <a:effectLst/>
                <a:latin typeface="Verdana" panose="020B0604030504040204" pitchFamily="34" charset="0"/>
              </a:rPr>
              <a:t>n=2</a:t>
            </a:r>
            <a:r>
              <a:rPr lang="zh-TW" altLang="en-US" b="0" i="0" dirty="0">
                <a:solidFill>
                  <a:srgbClr val="000000"/>
                </a:solidFill>
                <a:effectLst/>
                <a:latin typeface="Verdana" panose="020B0604030504040204" pitchFamily="34" charset="0"/>
              </a:rPr>
              <a:t>）、</a:t>
            </a:r>
            <a:r>
              <a:rPr lang="en-US" altLang="zh-TW" b="0" i="0" dirty="0">
                <a:solidFill>
                  <a:srgbClr val="000000"/>
                </a:solidFill>
                <a:effectLst/>
                <a:latin typeface="Verdana" panose="020B0604030504040204" pitchFamily="34" charset="0"/>
              </a:rPr>
              <a:t>CRC</a:t>
            </a:r>
            <a:r>
              <a:rPr lang="zh-TW" altLang="en-US" b="0" i="0" dirty="0">
                <a:solidFill>
                  <a:srgbClr val="000000"/>
                </a:solidFill>
                <a:effectLst/>
                <a:latin typeface="Verdana" panose="020B0604030504040204" pitchFamily="34" charset="0"/>
              </a:rPr>
              <a:t>（</a:t>
            </a:r>
            <a:r>
              <a:rPr lang="en-US" altLang="zh-TW" b="0" i="0" dirty="0">
                <a:solidFill>
                  <a:srgbClr val="000000"/>
                </a:solidFill>
                <a:effectLst/>
                <a:latin typeface="Verdana" panose="020B0604030504040204" pitchFamily="34" charset="0"/>
              </a:rPr>
              <a:t>n=1</a:t>
            </a:r>
            <a:r>
              <a:rPr lang="zh-TW" altLang="en-US" b="0" i="0" dirty="0">
                <a:solidFill>
                  <a:srgbClr val="000000"/>
                </a:solidFill>
                <a:effectLst/>
                <a:latin typeface="Verdana" panose="020B0604030504040204" pitchFamily="34" charset="0"/>
              </a:rPr>
              <a:t>）、腎細胞癌（</a:t>
            </a:r>
            <a:r>
              <a:rPr lang="en-US" altLang="zh-TW" b="0" i="0" dirty="0">
                <a:solidFill>
                  <a:srgbClr val="000000"/>
                </a:solidFill>
                <a:effectLst/>
                <a:latin typeface="Verdana" panose="020B0604030504040204" pitchFamily="34" charset="0"/>
              </a:rPr>
              <a:t>n=1</a:t>
            </a:r>
            <a:r>
              <a:rPr lang="zh-TW" altLang="en-US" b="0" i="0" dirty="0">
                <a:solidFill>
                  <a:srgbClr val="000000"/>
                </a:solidFill>
                <a:effectLst/>
                <a:latin typeface="Verdana" panose="020B0604030504040204" pitchFamily="34" charset="0"/>
              </a:rPr>
              <a:t>）、原發性未知癌（</a:t>
            </a:r>
            <a:r>
              <a:rPr lang="en-US" altLang="zh-TW" b="0" i="0" dirty="0">
                <a:solidFill>
                  <a:srgbClr val="000000"/>
                </a:solidFill>
                <a:effectLst/>
                <a:latin typeface="Verdana" panose="020B0604030504040204" pitchFamily="34" charset="0"/>
              </a:rPr>
              <a:t>n=1</a:t>
            </a:r>
            <a:r>
              <a:rPr lang="zh-TW" altLang="en-US" b="0" i="0" dirty="0">
                <a:solidFill>
                  <a:srgbClr val="000000"/>
                </a:solidFill>
                <a:effectLst/>
                <a:latin typeface="Verdana" panose="020B0604030504040204" pitchFamily="34" charset="0"/>
              </a:rPr>
              <a:t>）以及一例成人橫紋肌肉瘤（非癌性、非黑色素瘤）的患者中獲得新鮮的手術切除的腦轉移（</a:t>
            </a:r>
            <a:r>
              <a:rPr lang="en-US" altLang="zh-TW" b="0" i="0" dirty="0" err="1">
                <a:solidFill>
                  <a:srgbClr val="000000"/>
                </a:solidFill>
                <a:effectLst/>
                <a:latin typeface="Verdana" panose="020B0604030504040204" pitchFamily="34" charset="0"/>
              </a:rPr>
              <a:t>BrM</a:t>
            </a:r>
            <a:r>
              <a:rPr lang="zh-TW" altLang="en-US" b="0" i="0" dirty="0">
                <a:solidFill>
                  <a:srgbClr val="000000"/>
                </a:solidFill>
                <a:effectLst/>
                <a:latin typeface="Verdana" panose="020B0604030504040204" pitchFamily="34" charset="0"/>
              </a:rPr>
              <a:t>）樣本。所有病例均被診斷為實質性腦轉移，主要位於腦皮質</a:t>
            </a:r>
            <a:endParaRPr lang="en-US" altLang="zh-TW" b="0" i="0" dirty="0">
              <a:solidFill>
                <a:srgbClr val="000000"/>
              </a:solidFill>
              <a:effectLst/>
              <a:latin typeface="Verdana" panose="020B0604030504040204" pitchFamily="34" charset="0"/>
            </a:endParaRPr>
          </a:p>
          <a:p>
            <a:endParaRPr lang="en-US" b="0" i="0" dirty="0">
              <a:solidFill>
                <a:srgbClr val="000000"/>
              </a:solidFill>
              <a:effectLst/>
              <a:latin typeface="Verdana" panose="020B0604030504040204" pitchFamily="34" charset="0"/>
            </a:endParaRPr>
          </a:p>
          <a:p>
            <a:r>
              <a:rPr lang="zh-TW" altLang="en-US" b="0" i="0" dirty="0">
                <a:solidFill>
                  <a:srgbClr val="000000"/>
                </a:solidFill>
                <a:effectLst/>
                <a:latin typeface="Verdana" panose="020B0604030504040204" pitchFamily="34" charset="0"/>
              </a:rPr>
              <a:t>使用</a:t>
            </a:r>
            <a:r>
              <a:rPr lang="en-US" altLang="zh-TW" b="0" i="0" dirty="0">
                <a:solidFill>
                  <a:srgbClr val="000000"/>
                </a:solidFill>
                <a:effectLst/>
                <a:latin typeface="Verdana" panose="020B0604030504040204" pitchFamily="34" charset="0"/>
              </a:rPr>
              <a:t>10</a:t>
            </a:r>
            <a:r>
              <a:rPr lang="en-US" b="0" i="0" dirty="0">
                <a:solidFill>
                  <a:srgbClr val="000000"/>
                </a:solidFill>
                <a:effectLst/>
                <a:latin typeface="Verdana" panose="020B0604030504040204" pitchFamily="34" charset="0"/>
              </a:rPr>
              <a:t>x drop-seq</a:t>
            </a:r>
            <a:r>
              <a:rPr lang="zh-TW" altLang="en-US" b="0" i="0" dirty="0">
                <a:solidFill>
                  <a:srgbClr val="000000"/>
                </a:solidFill>
                <a:effectLst/>
                <a:latin typeface="Verdana" panose="020B0604030504040204" pitchFamily="34" charset="0"/>
              </a:rPr>
              <a:t>平台（</a:t>
            </a:r>
            <a:r>
              <a:rPr lang="en-US" altLang="zh-TW" b="0" i="0" dirty="0">
                <a:solidFill>
                  <a:srgbClr val="000000"/>
                </a:solidFill>
                <a:effectLst/>
                <a:latin typeface="Verdana" panose="020B0604030504040204" pitchFamily="34" charset="0"/>
              </a:rPr>
              <a:t>10</a:t>
            </a:r>
            <a:r>
              <a:rPr lang="en-US" b="0" i="0" dirty="0">
                <a:solidFill>
                  <a:srgbClr val="000000"/>
                </a:solidFill>
                <a:effectLst/>
                <a:latin typeface="Verdana" panose="020B0604030504040204" pitchFamily="34" charset="0"/>
              </a:rPr>
              <a:t>x Genomics）</a:t>
            </a:r>
            <a:r>
              <a:rPr lang="zh-TW" altLang="en-US" b="0" i="0" dirty="0">
                <a:solidFill>
                  <a:srgbClr val="000000"/>
                </a:solidFill>
                <a:effectLst/>
                <a:latin typeface="Verdana" panose="020B0604030504040204" pitchFamily="34" charset="0"/>
              </a:rPr>
              <a:t>對活細胞進行單細胞</a:t>
            </a:r>
            <a:r>
              <a:rPr lang="en-US" b="0" i="0" dirty="0">
                <a:solidFill>
                  <a:srgbClr val="000000"/>
                </a:solidFill>
                <a:effectLst/>
                <a:latin typeface="Verdana" panose="020B0604030504040204" pitchFamily="34" charset="0"/>
              </a:rPr>
              <a:t>RNA</a:t>
            </a:r>
            <a:r>
              <a:rPr lang="zh-TW" altLang="en-US" b="0" i="0" dirty="0">
                <a:solidFill>
                  <a:srgbClr val="000000"/>
                </a:solidFill>
                <a:effectLst/>
                <a:latin typeface="Verdana" panose="020B0604030504040204" pitchFamily="34" charset="0"/>
              </a:rPr>
              <a:t>测序（</a:t>
            </a:r>
            <a:r>
              <a:rPr lang="en-US" b="0" i="0" dirty="0" err="1">
                <a:solidFill>
                  <a:srgbClr val="000000"/>
                </a:solidFill>
                <a:effectLst/>
                <a:latin typeface="Verdana" panose="020B0604030504040204" pitchFamily="34" charset="0"/>
              </a:rPr>
              <a:t>scRNAseq</a:t>
            </a:r>
            <a:r>
              <a:rPr lang="en-US" b="0" i="0" dirty="0">
                <a:solidFill>
                  <a:srgbClr val="000000"/>
                </a:solidFill>
                <a:effectLst/>
                <a:latin typeface="Verdana" panose="020B0604030504040204" pitchFamily="34" charset="0"/>
              </a:rPr>
              <a:t>）</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4</a:t>
            </a:fld>
            <a:endParaRPr lang="en-US"/>
          </a:p>
        </p:txBody>
      </p:sp>
    </p:spTree>
    <p:extLst>
      <p:ext uri="{BB962C8B-B14F-4D97-AF65-F5344CB8AC3E}">
        <p14:creationId xmlns:p14="http://schemas.microsoft.com/office/powerpoint/2010/main" val="3548127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374151"/>
                </a:solidFill>
                <a:effectLst/>
                <a:latin typeface="Söhne"/>
              </a:rPr>
              <a:t>Barcodes</a:t>
            </a:r>
            <a:r>
              <a:rPr lang="zh-TW" altLang="en-US" b="0" i="0" dirty="0">
                <a:solidFill>
                  <a:srgbClr val="374151"/>
                </a:solidFill>
                <a:effectLst/>
                <a:latin typeface="Söhne"/>
              </a:rPr>
              <a:t>：識別每個單獨細胞的獨特識別碼</a:t>
            </a:r>
            <a:endParaRPr lang="en-US" altLang="zh-TW" b="0" i="0" dirty="0">
              <a:solidFill>
                <a:srgbClr val="374151"/>
              </a:solidFill>
              <a:effectLst/>
              <a:latin typeface="Söhne"/>
            </a:endParaRPr>
          </a:p>
          <a:p>
            <a:r>
              <a:rPr lang="zh-TW" altLang="en-US" b="0" i="0" dirty="0">
                <a:solidFill>
                  <a:srgbClr val="374151"/>
                </a:solidFill>
                <a:effectLst/>
                <a:latin typeface="Söhne"/>
              </a:rPr>
              <a:t>在使用 </a:t>
            </a:r>
            <a:r>
              <a:rPr lang="en-US" altLang="zh-TW" b="0" i="0" dirty="0">
                <a:solidFill>
                  <a:srgbClr val="374151"/>
                </a:solidFill>
                <a:effectLst/>
                <a:latin typeface="Söhne"/>
              </a:rPr>
              <a:t>droplet-based </a:t>
            </a:r>
            <a:r>
              <a:rPr lang="zh-TW" altLang="en-US" b="0" i="0" dirty="0">
                <a:solidFill>
                  <a:srgbClr val="374151"/>
                </a:solidFill>
                <a:effectLst/>
                <a:latin typeface="Söhne"/>
              </a:rPr>
              <a:t>技術（如 </a:t>
            </a:r>
            <a:r>
              <a:rPr lang="en-US" altLang="zh-TW" b="0" i="0" dirty="0">
                <a:solidFill>
                  <a:srgbClr val="374151"/>
                </a:solidFill>
                <a:effectLst/>
                <a:latin typeface="Söhne"/>
              </a:rPr>
              <a:t>10x Genomics</a:t>
            </a:r>
            <a:r>
              <a:rPr lang="zh-TW" altLang="en-US" b="0" i="0" dirty="0">
                <a:solidFill>
                  <a:srgbClr val="374151"/>
                </a:solidFill>
                <a:effectLst/>
                <a:latin typeface="Söhne"/>
              </a:rPr>
              <a:t>）進行單細胞測序時，每個細胞在捕獲過程中被分配一個唯一的條形碼</a:t>
            </a:r>
            <a:endParaRPr lang="en-US" altLang="zh-TW" b="0" i="0" dirty="0">
              <a:solidFill>
                <a:srgbClr val="374151"/>
              </a:solidFill>
              <a:effectLst/>
              <a:latin typeface="Söhne"/>
            </a:endParaRPr>
          </a:p>
          <a:p>
            <a:endParaRPr lang="en-US"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Söhne"/>
              </a:rPr>
              <a:t>Features</a:t>
            </a:r>
            <a:r>
              <a:rPr lang="zh-TW" altLang="en-US" b="1" i="0" dirty="0">
                <a:effectLst/>
                <a:latin typeface="Söhne"/>
              </a:rPr>
              <a:t>：</a:t>
            </a:r>
            <a:r>
              <a:rPr lang="zh-TW" altLang="en-US" b="0" i="0" dirty="0">
                <a:solidFill>
                  <a:srgbClr val="374151"/>
                </a:solidFill>
                <a:effectLst/>
                <a:latin typeface="Söhne"/>
              </a:rPr>
              <a:t>基因，包含</a:t>
            </a:r>
            <a:r>
              <a:rPr lang="en-US" altLang="zh-TW" b="0" i="0" dirty="0">
                <a:solidFill>
                  <a:srgbClr val="374151"/>
                </a:solidFill>
                <a:effectLst/>
                <a:latin typeface="Söhne"/>
              </a:rPr>
              <a:t>ENSEMBL</a:t>
            </a:r>
            <a:r>
              <a:rPr lang="zh-TW" altLang="en-US" b="0" i="0" dirty="0">
                <a:solidFill>
                  <a:srgbClr val="374151"/>
                </a:solidFill>
                <a:effectLst/>
                <a:latin typeface="Söhne"/>
              </a:rPr>
              <a:t>編號和基因名稱，那後面可能還有一些附加信息，比如染色體位置之類的</a:t>
            </a:r>
            <a:endParaRPr lang="en-US" altLang="zh-TW" b="0" i="0"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16F022A8-D9E0-49E1-A86C-93A7A2C7B21C}" type="slidenum">
              <a:rPr lang="en-US" smtClean="0"/>
              <a:t>5</a:t>
            </a:fld>
            <a:endParaRPr lang="en-US"/>
          </a:p>
        </p:txBody>
      </p:sp>
    </p:spTree>
    <p:extLst>
      <p:ext uri="{BB962C8B-B14F-4D97-AF65-F5344CB8AC3E}">
        <p14:creationId xmlns:p14="http://schemas.microsoft.com/office/powerpoint/2010/main" val="1547506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Sparse </a:t>
            </a:r>
            <a:r>
              <a:rPr lang="en-US" b="1" dirty="0" err="1"/>
              <a:t>Mtx</a:t>
            </a:r>
            <a:r>
              <a:rPr lang="zh-TW" altLang="en-US" dirty="0"/>
              <a:t>：</a:t>
            </a:r>
            <a:r>
              <a:rPr lang="zh-TW" altLang="en-US" b="0" i="0" dirty="0">
                <a:solidFill>
                  <a:srgbClr val="374151"/>
                </a:solidFill>
                <a:effectLst/>
                <a:latin typeface="Söhne"/>
              </a:rPr>
              <a:t>基因表達矩陣，他是一個稀疏矩陣，這個矩陣中有大量的零（未表達或低表達的基因）。</a:t>
            </a:r>
            <a:endParaRPr lang="en-US" altLang="zh-TW" b="0" i="0" dirty="0">
              <a:solidFill>
                <a:srgbClr val="374151"/>
              </a:solidFill>
              <a:effectLst/>
              <a:latin typeface="Söhne"/>
            </a:endParaRPr>
          </a:p>
          <a:p>
            <a:endParaRPr lang="en-US" b="0" i="0" dirty="0">
              <a:solidFill>
                <a:srgbClr val="374151"/>
              </a:solidFill>
              <a:effectLst/>
              <a:latin typeface="Söhne"/>
            </a:endParaRPr>
          </a:p>
          <a:p>
            <a:r>
              <a:rPr lang="en-US" altLang="zh-TW" dirty="0"/>
              <a:t>29371814/9800/9800 = 0.3 (</a:t>
            </a:r>
            <a:r>
              <a:rPr lang="zh-TW" altLang="en-US" dirty="0"/>
              <a:t>有資料的只佔了三成</a:t>
            </a:r>
            <a:r>
              <a:rPr lang="en-US" altLang="zh-TW" dirty="0"/>
              <a:t>)</a:t>
            </a:r>
          </a:p>
          <a:p>
            <a:endParaRPr lang="en-US" dirty="0"/>
          </a:p>
          <a:p>
            <a:r>
              <a:rPr lang="en-US" dirty="0"/>
              <a:t>%%</a:t>
            </a:r>
            <a:r>
              <a:rPr lang="en-US" dirty="0" err="1"/>
              <a:t>MatrixMarket</a:t>
            </a:r>
            <a:r>
              <a:rPr lang="en-US" dirty="0"/>
              <a:t> matrix coordinate integer general</a:t>
            </a:r>
            <a:r>
              <a:rPr lang="en-US" b="0" i="0" dirty="0">
                <a:solidFill>
                  <a:srgbClr val="374151"/>
                </a:solidFill>
                <a:effectLst/>
                <a:latin typeface="Söhne"/>
              </a:rPr>
              <a:t>: </a:t>
            </a:r>
            <a:r>
              <a:rPr lang="zh-TW" altLang="en-US" b="0" i="0" dirty="0">
                <a:solidFill>
                  <a:srgbClr val="374151"/>
                </a:solidFill>
                <a:effectLst/>
                <a:latin typeface="Söhne"/>
              </a:rPr>
              <a:t>這是 </a:t>
            </a:r>
            <a:r>
              <a:rPr lang="en-US" b="0" i="0" dirty="0" err="1">
                <a:solidFill>
                  <a:srgbClr val="374151"/>
                </a:solidFill>
                <a:effectLst/>
                <a:latin typeface="Söhne"/>
              </a:rPr>
              <a:t>MatrixMarket</a:t>
            </a:r>
            <a:r>
              <a:rPr lang="en-US" b="0" i="0" dirty="0">
                <a:solidFill>
                  <a:srgbClr val="374151"/>
                </a:solidFill>
                <a:effectLst/>
                <a:latin typeface="Söhne"/>
              </a:rPr>
              <a:t> </a:t>
            </a:r>
            <a:r>
              <a:rPr lang="zh-TW" altLang="en-US" b="0" i="0" dirty="0">
                <a:solidFill>
                  <a:srgbClr val="374151"/>
                </a:solidFill>
                <a:effectLst/>
                <a:latin typeface="Söhne"/>
              </a:rPr>
              <a:t>格式的標頭，說明這是一個用坐標格式存儲的整數矩陣</a:t>
            </a:r>
            <a:endParaRPr lang="en-US" altLang="zh-TW" b="0" i="0" dirty="0">
              <a:solidFill>
                <a:srgbClr val="374151"/>
              </a:solidFill>
              <a:effectLst/>
              <a:latin typeface="Söhne"/>
            </a:endParaRPr>
          </a:p>
          <a:p>
            <a:r>
              <a:rPr lang="en-US" altLang="zh-TW" dirty="0"/>
              <a:t>33694</a:t>
            </a:r>
            <a:r>
              <a:rPr lang="zh-TW" altLang="en-US" b="0" i="0" dirty="0">
                <a:solidFill>
                  <a:srgbClr val="374151"/>
                </a:solidFill>
                <a:effectLst/>
                <a:latin typeface="Söhne"/>
              </a:rPr>
              <a:t> 是行數，</a:t>
            </a:r>
            <a:r>
              <a:rPr lang="en-US" altLang="zh-TW" dirty="0"/>
              <a:t>9800</a:t>
            </a:r>
            <a:r>
              <a:rPr lang="zh-TW" altLang="en-US" b="0" i="0" dirty="0">
                <a:solidFill>
                  <a:srgbClr val="374151"/>
                </a:solidFill>
                <a:effectLst/>
                <a:latin typeface="Söhne"/>
              </a:rPr>
              <a:t> 是列數，而 </a:t>
            </a:r>
            <a:r>
              <a:rPr lang="en-US" altLang="zh-TW" dirty="0"/>
              <a:t>29371814</a:t>
            </a:r>
            <a:r>
              <a:rPr lang="zh-TW" altLang="en-US" b="0" i="0" dirty="0">
                <a:solidFill>
                  <a:srgbClr val="374151"/>
                </a:solidFill>
                <a:effectLst/>
                <a:latin typeface="Söhne"/>
              </a:rPr>
              <a:t> 是非零元素的數量</a:t>
            </a:r>
            <a:endParaRPr lang="en-US" altLang="zh-TW" b="0" i="0" dirty="0">
              <a:solidFill>
                <a:srgbClr val="374151"/>
              </a:solidFill>
              <a:effectLst/>
              <a:latin typeface="Söhne"/>
            </a:endParaRPr>
          </a:p>
          <a:p>
            <a:r>
              <a:rPr lang="zh-TW" altLang="en-US" b="0" i="0" dirty="0">
                <a:solidFill>
                  <a:srgbClr val="374151"/>
                </a:solidFill>
                <a:effectLst/>
                <a:latin typeface="Söhne"/>
              </a:rPr>
              <a:t>接下來的幾行（如 </a:t>
            </a:r>
            <a:r>
              <a:rPr lang="en-US" altLang="zh-TW" dirty="0"/>
              <a:t>33665 1 12</a:t>
            </a:r>
            <a:r>
              <a:rPr lang="zh-TW" altLang="en-US" b="0" i="0" dirty="0">
                <a:solidFill>
                  <a:srgbClr val="374151"/>
                </a:solidFill>
                <a:effectLst/>
                <a:latin typeface="Söhne"/>
              </a:rPr>
              <a:t>）表示矩陣中的非零元素。每一行由三個數字組成：行索引、列索引和該位置的值。例如，</a:t>
            </a:r>
            <a:r>
              <a:rPr lang="en-US" altLang="zh-TW" dirty="0"/>
              <a:t>33665 1 12</a:t>
            </a:r>
            <a:r>
              <a:rPr lang="zh-TW" altLang="en-US" b="0" i="0" dirty="0">
                <a:solidFill>
                  <a:srgbClr val="374151"/>
                </a:solidFill>
                <a:effectLst/>
                <a:latin typeface="Söhne"/>
              </a:rPr>
              <a:t> 意味著在第 </a:t>
            </a:r>
            <a:r>
              <a:rPr lang="en-US" altLang="zh-TW" dirty="0"/>
              <a:t>33665</a:t>
            </a:r>
            <a:r>
              <a:rPr lang="zh-TW" altLang="en-US" b="0" i="0" dirty="0">
                <a:solidFill>
                  <a:srgbClr val="374151"/>
                </a:solidFill>
                <a:effectLst/>
                <a:latin typeface="Söhne"/>
              </a:rPr>
              <a:t> 行、第 </a:t>
            </a:r>
            <a:r>
              <a:rPr lang="en-US" altLang="zh-TW" dirty="0"/>
              <a:t>1</a:t>
            </a:r>
            <a:r>
              <a:rPr lang="zh-TW" altLang="en-US" b="0" i="0" dirty="0">
                <a:solidFill>
                  <a:srgbClr val="374151"/>
                </a:solidFill>
                <a:effectLst/>
                <a:latin typeface="Söhne"/>
              </a:rPr>
              <a:t> 列的位置上，矩陣的值是 </a:t>
            </a:r>
            <a:r>
              <a:rPr lang="en-US" altLang="zh-TW" dirty="0"/>
              <a:t>12</a:t>
            </a:r>
            <a:r>
              <a:rPr lang="zh-TW" altLang="en-US" b="0" i="0" dirty="0">
                <a:solidFill>
                  <a:srgbClr val="374151"/>
                </a:solidFill>
                <a:effectLst/>
                <a:latin typeface="Söhne"/>
              </a:rPr>
              <a:t>。</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6</a:t>
            </a:fld>
            <a:endParaRPr lang="en-US"/>
          </a:p>
        </p:txBody>
      </p:sp>
    </p:spTree>
    <p:extLst>
      <p:ext uri="{BB962C8B-B14F-4D97-AF65-F5344CB8AC3E}">
        <p14:creationId xmlns:p14="http://schemas.microsoft.com/office/powerpoint/2010/main" val="2575546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err="1">
                <a:effectLst/>
                <a:latin typeface="Söhne"/>
              </a:rPr>
              <a:t>nFeature_RNA</a:t>
            </a:r>
            <a:endParaRPr lang="en-US" altLang="zh-TW" b="1" i="0" dirty="0">
              <a:effectLst/>
              <a:latin typeface="Söhne"/>
            </a:endParaRPr>
          </a:p>
          <a:p>
            <a:r>
              <a:rPr lang="zh-TW" altLang="en-US" b="0" i="0" dirty="0">
                <a:solidFill>
                  <a:srgbClr val="374151"/>
                </a:solidFill>
                <a:effectLst/>
                <a:latin typeface="Söhne"/>
              </a:rPr>
              <a:t>不同基因（或特徵）的數量 </a:t>
            </a:r>
            <a:endParaRPr lang="en-US" altLang="zh-TW" b="0" i="0" dirty="0">
              <a:solidFill>
                <a:srgbClr val="374151"/>
              </a:solidFill>
              <a:effectLst/>
              <a:latin typeface="Söhne"/>
            </a:endParaRPr>
          </a:p>
          <a:p>
            <a:r>
              <a:rPr lang="zh-TW" altLang="en-US" b="0" i="0" dirty="0">
                <a:solidFill>
                  <a:srgbClr val="374151"/>
                </a:solidFill>
                <a:effectLst/>
                <a:latin typeface="Söhne"/>
              </a:rPr>
              <a:t>每一點代表一個細胞</a:t>
            </a:r>
            <a:endParaRPr lang="en-US" altLang="zh-TW" b="0" i="0" dirty="0">
              <a:solidFill>
                <a:srgbClr val="374151"/>
              </a:solidFill>
              <a:effectLst/>
              <a:latin typeface="Söhne"/>
            </a:endParaRPr>
          </a:p>
          <a:p>
            <a:r>
              <a:rPr lang="zh-TW" altLang="en-US" b="0" i="0" dirty="0">
                <a:solidFill>
                  <a:srgbClr val="374151"/>
                </a:solidFill>
                <a:effectLst/>
                <a:latin typeface="Söhne"/>
              </a:rPr>
              <a:t>如果有太多或太少的特徵，這可能表示該細胞的質量不佳或其是一個雙細胞</a:t>
            </a:r>
            <a:endParaRPr lang="en-US" altLang="zh-TW" b="0" i="0" dirty="0">
              <a:solidFill>
                <a:srgbClr val="374151"/>
              </a:solidFill>
              <a:effectLst/>
              <a:latin typeface="Söhne"/>
            </a:endParaRPr>
          </a:p>
          <a:p>
            <a:endParaRPr lang="en-US" b="0" i="0" dirty="0">
              <a:solidFill>
                <a:srgbClr val="374151"/>
              </a:solidFill>
              <a:effectLst/>
              <a:latin typeface="Söhne"/>
            </a:endParaRPr>
          </a:p>
          <a:p>
            <a:r>
              <a:rPr lang="en-US" b="1" i="0" dirty="0" err="1">
                <a:effectLst/>
                <a:latin typeface="Söhne"/>
              </a:rPr>
              <a:t>nCount_RNA</a:t>
            </a:r>
            <a:r>
              <a:rPr lang="zh-TW" altLang="en-US" b="1" i="0" dirty="0">
                <a:effectLst/>
                <a:latin typeface="Söhne"/>
              </a:rPr>
              <a:t> </a:t>
            </a:r>
            <a:r>
              <a:rPr lang="zh-CN" altLang="en-US" b="1" i="0" dirty="0">
                <a:solidFill>
                  <a:srgbClr val="121212"/>
                </a:solidFill>
                <a:effectLst/>
                <a:latin typeface="-apple-system"/>
              </a:rPr>
              <a:t>单个细胞中基因表达的总数</a:t>
            </a:r>
            <a:endParaRPr lang="en-US" b="1" i="0" dirty="0">
              <a:effectLst/>
              <a:latin typeface="Söhne"/>
            </a:endParaRPr>
          </a:p>
          <a:p>
            <a:r>
              <a:rPr lang="zh-TW" altLang="en-US" b="0" i="0" dirty="0">
                <a:solidFill>
                  <a:srgbClr val="374151"/>
                </a:solidFill>
                <a:effectLst/>
                <a:latin typeface="Söhne"/>
              </a:rPr>
              <a:t>細胞中總的基因表達計數</a:t>
            </a:r>
            <a:endParaRPr lang="en-US" altLang="zh-TW" b="0" i="0" dirty="0">
              <a:solidFill>
                <a:srgbClr val="374151"/>
              </a:solidFill>
              <a:effectLst/>
              <a:latin typeface="Söhne"/>
            </a:endParaRPr>
          </a:p>
          <a:p>
            <a:r>
              <a:rPr lang="zh-TW" altLang="en-US" b="0" i="0" dirty="0">
                <a:solidFill>
                  <a:srgbClr val="374151"/>
                </a:solidFill>
                <a:effectLst/>
                <a:latin typeface="Söhne"/>
              </a:rPr>
              <a:t>所有基因的總計數，不只是不同的基因數</a:t>
            </a:r>
            <a:endParaRPr lang="en-US" altLang="zh-TW" b="0" i="0" dirty="0">
              <a:solidFill>
                <a:srgbClr val="374151"/>
              </a:solidFill>
              <a:effectLst/>
              <a:latin typeface="Söhne"/>
            </a:endParaRPr>
          </a:p>
          <a:p>
            <a:endParaRPr lang="en-US" b="0" i="0" dirty="0">
              <a:solidFill>
                <a:srgbClr val="374151"/>
              </a:solidFill>
              <a:effectLst/>
              <a:latin typeface="Söhne"/>
            </a:endParaRPr>
          </a:p>
          <a:p>
            <a:r>
              <a:rPr lang="en-US" b="1" i="0" dirty="0">
                <a:effectLst/>
                <a:latin typeface="Söhne"/>
              </a:rPr>
              <a:t>percent.mt</a:t>
            </a:r>
            <a:endParaRPr lang="en-US" b="0" i="0" dirty="0">
              <a:solidFill>
                <a:srgbClr val="374151"/>
              </a:solidFill>
              <a:effectLst/>
              <a:latin typeface="Söhne"/>
            </a:endParaRPr>
          </a:p>
          <a:p>
            <a:r>
              <a:rPr lang="zh-TW" altLang="en-US" b="0" i="0" dirty="0">
                <a:solidFill>
                  <a:srgbClr val="374151"/>
                </a:solidFill>
                <a:effectLst/>
                <a:latin typeface="Söhne"/>
              </a:rPr>
              <a:t>不同細胞粒線體基因的表達情形</a:t>
            </a:r>
            <a:endParaRPr lang="en-US" altLang="zh-TW" b="0" i="0" dirty="0">
              <a:solidFill>
                <a:srgbClr val="374151"/>
              </a:solidFill>
              <a:effectLst/>
              <a:latin typeface="Söhne"/>
            </a:endParaRPr>
          </a:p>
          <a:p>
            <a:r>
              <a:rPr lang="zh-TW" altLang="en-US" b="0" i="0" dirty="0">
                <a:solidFill>
                  <a:srgbClr val="374151"/>
                </a:solidFill>
                <a:effectLst/>
                <a:latin typeface="Söhne"/>
              </a:rPr>
              <a:t>過高的</a:t>
            </a:r>
            <a:r>
              <a:rPr lang="en-US" altLang="zh-TW" b="0" i="0" dirty="0">
                <a:solidFill>
                  <a:srgbClr val="374151"/>
                </a:solidFill>
                <a:effectLst/>
                <a:latin typeface="Söhne"/>
              </a:rPr>
              <a:t>percent.mt</a:t>
            </a:r>
            <a:r>
              <a:rPr lang="zh-TW" altLang="en-US" b="0" i="0" dirty="0">
                <a:solidFill>
                  <a:srgbClr val="374151"/>
                </a:solidFill>
                <a:effectLst/>
                <a:latin typeface="Söhne"/>
              </a:rPr>
              <a:t>可能表示細胞正在經歷壓力或死亡</a:t>
            </a:r>
            <a:endParaRPr lang="en-US" altLang="zh-TW" b="0" i="0" dirty="0">
              <a:solidFill>
                <a:srgbClr val="374151"/>
              </a:solidFill>
              <a:effectLst/>
              <a:latin typeface="Söhne"/>
            </a:endParaRPr>
          </a:p>
          <a:p>
            <a:endParaRPr lang="en-US" b="0" i="0" dirty="0">
              <a:solidFill>
                <a:srgbClr val="374151"/>
              </a:solidFill>
              <a:effectLst/>
              <a:latin typeface="Söhne"/>
            </a:endParaRPr>
          </a:p>
          <a:p>
            <a:r>
              <a:rPr lang="zh-TW" altLang="en-US" dirty="0"/>
              <a:t>根據火山圖</a:t>
            </a:r>
            <a:r>
              <a:rPr lang="en-US" altLang="zh-TW" dirty="0"/>
              <a:t>(</a:t>
            </a:r>
            <a:r>
              <a:rPr lang="en-US" altLang="zh-TW" dirty="0" err="1"/>
              <a:t>vlnplot</a:t>
            </a:r>
            <a:r>
              <a:rPr lang="en-US" altLang="zh-TW" dirty="0"/>
              <a:t>)</a:t>
            </a:r>
            <a:r>
              <a:rPr lang="zh-TW" altLang="en-US" dirty="0"/>
              <a:t>進行數據質量控制</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7</a:t>
            </a:fld>
            <a:endParaRPr lang="en-US"/>
          </a:p>
        </p:txBody>
      </p:sp>
    </p:spTree>
    <p:extLst>
      <p:ext uri="{BB962C8B-B14F-4D97-AF65-F5344CB8AC3E}">
        <p14:creationId xmlns:p14="http://schemas.microsoft.com/office/powerpoint/2010/main" val="2223077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374151"/>
                </a:solidFill>
                <a:effectLst/>
                <a:latin typeface="Söhne"/>
              </a:rPr>
              <a:t>當</a:t>
            </a:r>
            <a:r>
              <a:rPr lang="en-US" b="0" i="0" dirty="0" err="1">
                <a:solidFill>
                  <a:srgbClr val="374151"/>
                </a:solidFill>
                <a:effectLst/>
                <a:latin typeface="Söhne"/>
              </a:rPr>
              <a:t>nCount_RNA</a:t>
            </a:r>
            <a:r>
              <a:rPr lang="zh-TW" altLang="en-US" b="0" i="0" dirty="0">
                <a:solidFill>
                  <a:srgbClr val="374151"/>
                </a:solidFill>
                <a:effectLst/>
                <a:latin typeface="Söhne"/>
              </a:rPr>
              <a:t>增加時，</a:t>
            </a:r>
            <a:r>
              <a:rPr lang="en-US" b="0" i="0" dirty="0">
                <a:solidFill>
                  <a:srgbClr val="374151"/>
                </a:solidFill>
                <a:effectLst/>
                <a:latin typeface="Söhne"/>
              </a:rPr>
              <a:t>percent.mt</a:t>
            </a:r>
            <a:r>
              <a:rPr lang="zh-TW" altLang="en-US" b="0" i="0" dirty="0">
                <a:solidFill>
                  <a:srgbClr val="374151"/>
                </a:solidFill>
                <a:effectLst/>
                <a:latin typeface="Söhne"/>
              </a:rPr>
              <a:t>有所下降。這意味著</a:t>
            </a:r>
            <a:r>
              <a:rPr lang="en-US" b="0" i="0" dirty="0">
                <a:solidFill>
                  <a:srgbClr val="374151"/>
                </a:solidFill>
                <a:effectLst/>
                <a:latin typeface="Söhne"/>
              </a:rPr>
              <a:t>RNA</a:t>
            </a:r>
            <a:r>
              <a:rPr lang="zh-TW" altLang="en-US" b="0" i="0" dirty="0">
                <a:solidFill>
                  <a:srgbClr val="374151"/>
                </a:solidFill>
                <a:effectLst/>
                <a:latin typeface="Söhne"/>
              </a:rPr>
              <a:t>的總數量越高，</a:t>
            </a:r>
            <a:r>
              <a:rPr lang="en-US" b="0" i="0" dirty="0">
                <a:solidFill>
                  <a:srgbClr val="374151"/>
                </a:solidFill>
                <a:effectLst/>
                <a:latin typeface="Söhne"/>
              </a:rPr>
              <a:t>mitochondrial RNA</a:t>
            </a:r>
            <a:r>
              <a:rPr lang="zh-TW" altLang="en-US" b="0" i="0" dirty="0">
                <a:solidFill>
                  <a:srgbClr val="374151"/>
                </a:solidFill>
                <a:effectLst/>
                <a:latin typeface="Söhne"/>
              </a:rPr>
              <a:t>的比例就越低。</a:t>
            </a:r>
            <a:r>
              <a:rPr lang="en-US" altLang="zh-TW" b="0" i="0" dirty="0">
                <a:solidFill>
                  <a:srgbClr val="374151"/>
                </a:solidFill>
                <a:effectLst/>
                <a:latin typeface="Söhne"/>
              </a:rPr>
              <a:t>0.06</a:t>
            </a:r>
            <a:r>
              <a:rPr lang="zh-TW" altLang="en-US" b="0" i="0" dirty="0">
                <a:solidFill>
                  <a:srgbClr val="374151"/>
                </a:solidFill>
                <a:effectLst/>
                <a:latin typeface="Söhne"/>
              </a:rPr>
              <a:t>代表負相關</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8</a:t>
            </a:fld>
            <a:endParaRPr lang="en-US"/>
          </a:p>
        </p:txBody>
      </p:sp>
    </p:spTree>
    <p:extLst>
      <p:ext uri="{BB962C8B-B14F-4D97-AF65-F5344CB8AC3E}">
        <p14:creationId xmlns:p14="http://schemas.microsoft.com/office/powerpoint/2010/main" val="20009484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先做</a:t>
            </a:r>
            <a:r>
              <a:rPr lang="en-US" altLang="zh-TW" dirty="0"/>
              <a:t>Normalization</a:t>
            </a:r>
            <a:r>
              <a:rPr lang="zh-TW" altLang="en-US" dirty="0"/>
              <a:t>，才做</a:t>
            </a:r>
            <a:r>
              <a:rPr lang="en-US" altLang="zh-TW" dirty="0"/>
              <a:t>Feature Selection</a:t>
            </a:r>
            <a:endParaRPr lang="en-US" dirty="0"/>
          </a:p>
          <a:p>
            <a:r>
              <a:rPr lang="en-US" dirty="0" err="1"/>
              <a:t>Indentify</a:t>
            </a:r>
            <a:r>
              <a:rPr lang="en-US" dirty="0"/>
              <a:t> Top 10 genes</a:t>
            </a:r>
          </a:p>
        </p:txBody>
      </p:sp>
      <p:sp>
        <p:nvSpPr>
          <p:cNvPr id="4" name="Slide Number Placeholder 3"/>
          <p:cNvSpPr>
            <a:spLocks noGrp="1"/>
          </p:cNvSpPr>
          <p:nvPr>
            <p:ph type="sldNum" sz="quarter" idx="5"/>
          </p:nvPr>
        </p:nvSpPr>
        <p:spPr/>
        <p:txBody>
          <a:bodyPr/>
          <a:lstStyle/>
          <a:p>
            <a:fld id="{16F022A8-D9E0-49E1-A86C-93A7A2C7B21C}" type="slidenum">
              <a:rPr lang="en-US" smtClean="0"/>
              <a:t>9</a:t>
            </a:fld>
            <a:endParaRPr lang="en-US"/>
          </a:p>
        </p:txBody>
      </p:sp>
    </p:spTree>
    <p:extLst>
      <p:ext uri="{BB962C8B-B14F-4D97-AF65-F5344CB8AC3E}">
        <p14:creationId xmlns:p14="http://schemas.microsoft.com/office/powerpoint/2010/main" val="254320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降維</a:t>
            </a:r>
            <a:endParaRPr lang="en-US" altLang="zh-TW" dirty="0"/>
          </a:p>
          <a:p>
            <a:r>
              <a:rPr lang="en-US" dirty="0"/>
              <a:t>Default </a:t>
            </a:r>
            <a:r>
              <a:rPr lang="zh-TW" altLang="en-US" dirty="0"/>
              <a:t>設定是算</a:t>
            </a:r>
            <a:r>
              <a:rPr lang="en-US" altLang="zh-TW" dirty="0"/>
              <a:t>50</a:t>
            </a:r>
            <a:r>
              <a:rPr lang="zh-TW" altLang="en-US" dirty="0"/>
              <a:t>個</a:t>
            </a:r>
            <a:r>
              <a:rPr lang="en-US" dirty="0"/>
              <a:t>PC</a:t>
            </a:r>
          </a:p>
        </p:txBody>
      </p:sp>
      <p:sp>
        <p:nvSpPr>
          <p:cNvPr id="4" name="Slide Number Placeholder 3"/>
          <p:cNvSpPr>
            <a:spLocks noGrp="1"/>
          </p:cNvSpPr>
          <p:nvPr>
            <p:ph type="sldNum" sz="quarter" idx="5"/>
          </p:nvPr>
        </p:nvSpPr>
        <p:spPr/>
        <p:txBody>
          <a:bodyPr/>
          <a:lstStyle/>
          <a:p>
            <a:fld id="{16F022A8-D9E0-49E1-A86C-93A7A2C7B21C}" type="slidenum">
              <a:rPr lang="en-US" smtClean="0"/>
              <a:t>11</a:t>
            </a:fld>
            <a:endParaRPr lang="en-US"/>
          </a:p>
        </p:txBody>
      </p:sp>
    </p:spTree>
    <p:extLst>
      <p:ext uri="{BB962C8B-B14F-4D97-AF65-F5344CB8AC3E}">
        <p14:creationId xmlns:p14="http://schemas.microsoft.com/office/powerpoint/2010/main" val="3229205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a:t>
            </a:r>
            <a:r>
              <a:rPr lang="zh-TW" altLang="en-US" dirty="0"/>
              <a:t>設定是</a:t>
            </a:r>
            <a:r>
              <a:rPr lang="en-US" altLang="zh-TW" dirty="0"/>
              <a:t>20</a:t>
            </a:r>
            <a:r>
              <a:rPr lang="zh-TW" altLang="en-US" dirty="0"/>
              <a:t>個</a:t>
            </a:r>
            <a:r>
              <a:rPr lang="en-US" dirty="0"/>
              <a:t>PC</a:t>
            </a:r>
          </a:p>
        </p:txBody>
      </p:sp>
      <p:sp>
        <p:nvSpPr>
          <p:cNvPr id="4" name="Slide Number Placeholder 3"/>
          <p:cNvSpPr>
            <a:spLocks noGrp="1"/>
          </p:cNvSpPr>
          <p:nvPr>
            <p:ph type="sldNum" sz="quarter" idx="5"/>
          </p:nvPr>
        </p:nvSpPr>
        <p:spPr/>
        <p:txBody>
          <a:bodyPr/>
          <a:lstStyle/>
          <a:p>
            <a:fld id="{16F022A8-D9E0-49E1-A86C-93A7A2C7B21C}" type="slidenum">
              <a:rPr lang="en-US" smtClean="0"/>
              <a:t>12</a:t>
            </a:fld>
            <a:endParaRPr lang="en-US"/>
          </a:p>
        </p:txBody>
      </p:sp>
    </p:spTree>
    <p:extLst>
      <p:ext uri="{BB962C8B-B14F-4D97-AF65-F5344CB8AC3E}">
        <p14:creationId xmlns:p14="http://schemas.microsoft.com/office/powerpoint/2010/main" val="2828263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可以指定</a:t>
            </a:r>
            <a:r>
              <a:rPr lang="en-US" altLang="zh-TW" dirty="0"/>
              <a:t>PC</a:t>
            </a:r>
            <a:r>
              <a:rPr lang="zh-TW" altLang="en-US" dirty="0"/>
              <a:t>數量為</a:t>
            </a:r>
            <a:r>
              <a:rPr lang="en-US" altLang="zh-TW" dirty="0"/>
              <a:t>50</a:t>
            </a:r>
            <a:r>
              <a:rPr lang="zh-TW" altLang="en-US" dirty="0"/>
              <a:t>個</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13</a:t>
            </a:fld>
            <a:endParaRPr lang="en-US"/>
          </a:p>
        </p:txBody>
      </p:sp>
    </p:spTree>
    <p:extLst>
      <p:ext uri="{BB962C8B-B14F-4D97-AF65-F5344CB8AC3E}">
        <p14:creationId xmlns:p14="http://schemas.microsoft.com/office/powerpoint/2010/main" val="3909155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選取</a:t>
            </a:r>
            <a:r>
              <a:rPr lang="en-US" altLang="zh-TW" dirty="0"/>
              <a:t>1</a:t>
            </a:r>
            <a:r>
              <a:rPr lang="zh-TW" altLang="en-US" dirty="0"/>
              <a:t>到</a:t>
            </a:r>
            <a:r>
              <a:rPr lang="en-US" altLang="zh-TW" dirty="0"/>
              <a:t>35</a:t>
            </a:r>
            <a:r>
              <a:rPr lang="zh-TW" altLang="en-US" dirty="0"/>
              <a:t>個維度，進行</a:t>
            </a:r>
            <a:r>
              <a:rPr lang="en-US" altLang="zh-TW" dirty="0" err="1"/>
              <a:t>umap</a:t>
            </a:r>
            <a:r>
              <a:rPr lang="zh-TW" altLang="en-US" dirty="0"/>
              <a:t>降維</a:t>
            </a:r>
            <a:endParaRPr lang="en-US" altLang="zh-TW" dirty="0"/>
          </a:p>
          <a:p>
            <a:r>
              <a:rPr lang="en-US" altLang="zh-TW" dirty="0" err="1"/>
              <a:t>umap</a:t>
            </a:r>
            <a:r>
              <a:rPr lang="en-US" altLang="zh-TW" dirty="0"/>
              <a:t> </a:t>
            </a:r>
            <a:r>
              <a:rPr lang="zh-TW" altLang="en-US" dirty="0"/>
              <a:t>群與群之間的空間距離比較能保留</a:t>
            </a:r>
            <a:r>
              <a:rPr lang="en-US" altLang="zh-TW" dirty="0"/>
              <a:t>(</a:t>
            </a:r>
            <a:r>
              <a:rPr lang="zh-TW" altLang="en-US" dirty="0"/>
              <a:t>反應</a:t>
            </a:r>
            <a:r>
              <a:rPr lang="en-US" altLang="zh-TW" dirty="0"/>
              <a:t>)</a:t>
            </a:r>
            <a:r>
              <a:rPr lang="zh-TW" altLang="en-US" dirty="0"/>
              <a:t>真實空間距離的關係 </a:t>
            </a:r>
            <a:endParaRPr lang="en-US" altLang="zh-TW" dirty="0"/>
          </a:p>
          <a:p>
            <a:endParaRPr lang="en-US" dirty="0"/>
          </a:p>
          <a:p>
            <a:r>
              <a:rPr lang="en-US" dirty="0" err="1"/>
              <a:t>umap</a:t>
            </a:r>
            <a:r>
              <a:rPr lang="en-US" dirty="0"/>
              <a:t> </a:t>
            </a:r>
            <a:r>
              <a:rPr lang="zh-TW" altLang="en-US" dirty="0"/>
              <a:t>是一個利用 </a:t>
            </a:r>
            <a:r>
              <a:rPr lang="en-US" dirty="0"/>
              <a:t>Gradient Descent ，</a:t>
            </a:r>
            <a:r>
              <a:rPr lang="zh-TW" altLang="en-US" dirty="0"/>
              <a:t>逐漸優化的過程</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14</a:t>
            </a:fld>
            <a:endParaRPr lang="en-US"/>
          </a:p>
        </p:txBody>
      </p:sp>
    </p:spTree>
    <p:extLst>
      <p:ext uri="{BB962C8B-B14F-4D97-AF65-F5344CB8AC3E}">
        <p14:creationId xmlns:p14="http://schemas.microsoft.com/office/powerpoint/2010/main" val="1139744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第一步是先構建</a:t>
            </a:r>
            <a:r>
              <a:rPr lang="en-US" dirty="0"/>
              <a:t>KNN graph，</a:t>
            </a:r>
            <a:r>
              <a:rPr lang="zh-TW" altLang="en-US" dirty="0"/>
              <a:t>第二步構建</a:t>
            </a:r>
            <a:r>
              <a:rPr lang="en-US" dirty="0"/>
              <a:t>SNN graph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k </a:t>
            </a:r>
            <a:r>
              <a:rPr lang="zh-TW" altLang="en-US" dirty="0"/>
              <a:t>默認為</a:t>
            </a:r>
            <a:r>
              <a:rPr lang="en-US" altLang="zh-TW" dirty="0"/>
              <a:t>20</a:t>
            </a:r>
            <a:r>
              <a:rPr lang="zh-TW" altLang="en-US" dirty="0"/>
              <a:t>，默認為每一個細胞找最近的</a:t>
            </a:r>
            <a:r>
              <a:rPr lang="en-US" altLang="zh-TW" dirty="0"/>
              <a:t>20</a:t>
            </a:r>
            <a:r>
              <a:rPr lang="zh-TW" altLang="en-US" dirty="0"/>
              <a:t>個鄰居</a:t>
            </a:r>
            <a:endParaRPr lang="en-US" dirty="0"/>
          </a:p>
          <a:p>
            <a:endParaRPr lang="en-US" dirty="0"/>
          </a:p>
          <a:p>
            <a:r>
              <a:rPr lang="en-US" dirty="0"/>
              <a:t>resolution</a:t>
            </a:r>
            <a:r>
              <a:rPr lang="zh-TW" altLang="en-US" dirty="0"/>
              <a:t>愈大，細胞分群愈多</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16</a:t>
            </a:fld>
            <a:endParaRPr lang="en-US"/>
          </a:p>
        </p:txBody>
      </p:sp>
    </p:spTree>
    <p:extLst>
      <p:ext uri="{BB962C8B-B14F-4D97-AF65-F5344CB8AC3E}">
        <p14:creationId xmlns:p14="http://schemas.microsoft.com/office/powerpoint/2010/main" val="1296361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a:t>
            </a:r>
          </a:p>
        </p:txBody>
      </p:sp>
      <p:sp>
        <p:nvSpPr>
          <p:cNvPr id="4" name="Slide Number Placeholder 3"/>
          <p:cNvSpPr>
            <a:spLocks noGrp="1"/>
          </p:cNvSpPr>
          <p:nvPr>
            <p:ph type="sldNum" sz="quarter" idx="5"/>
          </p:nvPr>
        </p:nvSpPr>
        <p:spPr/>
        <p:txBody>
          <a:bodyPr/>
          <a:lstStyle/>
          <a:p>
            <a:fld id="{16F022A8-D9E0-49E1-A86C-93A7A2C7B21C}" type="slidenum">
              <a:rPr lang="en-US" smtClean="0"/>
              <a:t>17</a:t>
            </a:fld>
            <a:endParaRPr lang="en-US"/>
          </a:p>
        </p:txBody>
      </p:sp>
    </p:spTree>
    <p:extLst>
      <p:ext uri="{BB962C8B-B14F-4D97-AF65-F5344CB8AC3E}">
        <p14:creationId xmlns:p14="http://schemas.microsoft.com/office/powerpoint/2010/main" val="25574641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18</a:t>
            </a:fld>
            <a:endParaRPr lang="en-US"/>
          </a:p>
        </p:txBody>
      </p:sp>
    </p:spTree>
    <p:extLst>
      <p:ext uri="{BB962C8B-B14F-4D97-AF65-F5344CB8AC3E}">
        <p14:creationId xmlns:p14="http://schemas.microsoft.com/office/powerpoint/2010/main" val="1025797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數據集沒那麼大，試試看跑</a:t>
            </a:r>
            <a:r>
              <a:rPr lang="en-US" altLang="zh-TW" dirty="0" err="1"/>
              <a:t>tsne</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19</a:t>
            </a:fld>
            <a:endParaRPr lang="en-US"/>
          </a:p>
        </p:txBody>
      </p:sp>
    </p:spTree>
    <p:extLst>
      <p:ext uri="{BB962C8B-B14F-4D97-AF65-F5344CB8AC3E}">
        <p14:creationId xmlns:p14="http://schemas.microsoft.com/office/powerpoint/2010/main" val="297478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555666"/>
                </a:solidFill>
                <a:effectLst/>
                <a:latin typeface="-apple-system"/>
              </a:rPr>
              <a:t>數據量小，可以用。</a:t>
            </a:r>
            <a:endParaRPr lang="en-US" altLang="zh-CN" b="0" i="0" dirty="0">
              <a:solidFill>
                <a:srgbClr val="555666"/>
              </a:solidFill>
              <a:effectLst/>
              <a:latin typeface="-apple-system"/>
            </a:endParaRPr>
          </a:p>
          <a:p>
            <a:r>
              <a:rPr lang="zh-CN" altLang="en-US" b="0" i="0" dirty="0">
                <a:solidFill>
                  <a:srgbClr val="555666"/>
                </a:solidFill>
                <a:effectLst/>
                <a:latin typeface="-apple-system"/>
              </a:rPr>
              <a:t>对高维单细胞数据的可视化展示，以</a:t>
            </a:r>
            <a:r>
              <a:rPr lang="en-US" altLang="zh-CN" b="0" i="0" dirty="0">
                <a:solidFill>
                  <a:srgbClr val="555666"/>
                </a:solidFill>
                <a:effectLst/>
                <a:latin typeface="-apple-system"/>
              </a:rPr>
              <a:t>t-SNE</a:t>
            </a:r>
            <a:r>
              <a:rPr lang="zh-CN" altLang="en-US" b="0" i="0" dirty="0">
                <a:solidFill>
                  <a:srgbClr val="555666"/>
                </a:solidFill>
                <a:effectLst/>
                <a:latin typeface="-apple-system"/>
              </a:rPr>
              <a:t>为代表的非线性降维技术，由于其能够避免集群表示的过度拥挤，在重叠区域上能表示出不同的集群而被广泛运用</a:t>
            </a:r>
            <a:endParaRPr lang="en-US" altLang="zh-CN" b="0" i="0" dirty="0">
              <a:solidFill>
                <a:srgbClr val="555666"/>
              </a:solidFill>
              <a:effectLst/>
              <a:latin typeface="-apple-system"/>
            </a:endParaRPr>
          </a:p>
          <a:p>
            <a:r>
              <a:rPr lang="zh-TW" altLang="en-US" b="0" i="0" dirty="0">
                <a:solidFill>
                  <a:srgbClr val="555666"/>
                </a:solidFill>
                <a:effectLst/>
                <a:latin typeface="-apple-system"/>
              </a:rPr>
              <a:t>缺點是</a:t>
            </a:r>
            <a:r>
              <a:rPr lang="zh-CN" altLang="en-US" b="0" i="0" dirty="0">
                <a:solidFill>
                  <a:srgbClr val="555666"/>
                </a:solidFill>
                <a:effectLst/>
                <a:latin typeface="-apple-system"/>
              </a:rPr>
              <a:t>丢失大规模信息</a:t>
            </a:r>
            <a:r>
              <a:rPr lang="en-US" altLang="zh-CN" b="0" i="0" dirty="0">
                <a:solidFill>
                  <a:srgbClr val="555666"/>
                </a:solidFill>
                <a:effectLst/>
                <a:latin typeface="-apple-system"/>
              </a:rPr>
              <a:t>(</a:t>
            </a:r>
            <a:r>
              <a:rPr lang="zh-CN" altLang="en-US" b="0" i="0" dirty="0">
                <a:solidFill>
                  <a:srgbClr val="555666"/>
                </a:solidFill>
                <a:effectLst/>
                <a:latin typeface="-apple-system"/>
              </a:rPr>
              <a:t>集群间关系</a:t>
            </a:r>
            <a:r>
              <a:rPr lang="en-US" altLang="zh-CN" b="0" i="0" dirty="0">
                <a:solidFill>
                  <a:srgbClr val="555666"/>
                </a:solidFill>
                <a:effectLst/>
                <a:latin typeface="-apple-system"/>
              </a:rPr>
              <a:t>)</a:t>
            </a:r>
            <a:r>
              <a:rPr lang="zh-CN" altLang="en-US" b="0" i="0" dirty="0">
                <a:solidFill>
                  <a:srgbClr val="555666"/>
                </a:solidFill>
                <a:effectLst/>
                <a:latin typeface="-apple-system"/>
              </a:rPr>
              <a:t>、计算时间较慢</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20</a:t>
            </a:fld>
            <a:endParaRPr lang="en-US"/>
          </a:p>
        </p:txBody>
      </p:sp>
    </p:spTree>
    <p:extLst>
      <p:ext uri="{BB962C8B-B14F-4D97-AF65-F5344CB8AC3E}">
        <p14:creationId xmlns:p14="http://schemas.microsoft.com/office/powerpoint/2010/main" val="20233857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21</a:t>
            </a:fld>
            <a:endParaRPr lang="en-US"/>
          </a:p>
        </p:txBody>
      </p:sp>
    </p:spTree>
    <p:extLst>
      <p:ext uri="{BB962C8B-B14F-4D97-AF65-F5344CB8AC3E}">
        <p14:creationId xmlns:p14="http://schemas.microsoft.com/office/powerpoint/2010/main" val="783626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FindAllMarkers</a:t>
            </a:r>
            <a:r>
              <a:rPr lang="zh-TW" altLang="en-US" b="0" i="0" dirty="0">
                <a:solidFill>
                  <a:srgbClr val="374151"/>
                </a:solidFill>
                <a:effectLst/>
                <a:latin typeface="Söhne"/>
              </a:rPr>
              <a:t>函數，對每一個細胞群進行差異基因分析。目的是找到能夠區分每個群的特定基因</a:t>
            </a:r>
            <a:endParaRPr lang="en-US" altLang="zh-TW" b="0" i="0" dirty="0">
              <a:solidFill>
                <a:srgbClr val="374151"/>
              </a:solidFill>
              <a:effectLst/>
              <a:latin typeface="Söhne"/>
            </a:endParaRPr>
          </a:p>
          <a:p>
            <a:endParaRPr lang="en-US" altLang="zh-TW" dirty="0"/>
          </a:p>
          <a:p>
            <a:endParaRPr lang="en-US" altLang="zh-TW" dirty="0"/>
          </a:p>
          <a:p>
            <a:r>
              <a:rPr lang="en-US" b="0" i="0" dirty="0" err="1">
                <a:solidFill>
                  <a:srgbClr val="343541"/>
                </a:solidFill>
                <a:effectLst/>
                <a:latin typeface="Söhne"/>
              </a:rPr>
              <a:t>glioma.marker</a:t>
            </a:r>
            <a:r>
              <a:rPr lang="en-US" b="0" i="0" dirty="0">
                <a:solidFill>
                  <a:srgbClr val="343541"/>
                </a:solidFill>
                <a:effectLst/>
                <a:latin typeface="Söhne"/>
              </a:rPr>
              <a:t> &lt;- </a:t>
            </a:r>
            <a:r>
              <a:rPr lang="en-US" b="0" i="0" dirty="0" err="1">
                <a:solidFill>
                  <a:srgbClr val="343541"/>
                </a:solidFill>
                <a:effectLst/>
                <a:latin typeface="Söhne"/>
              </a:rPr>
              <a:t>FindAllMarkers</a:t>
            </a:r>
            <a:r>
              <a:rPr lang="en-US" b="0" i="0" dirty="0">
                <a:solidFill>
                  <a:srgbClr val="343541"/>
                </a:solidFill>
                <a:effectLst/>
                <a:latin typeface="Söhne"/>
              </a:rPr>
              <a:t>(</a:t>
            </a:r>
            <a:r>
              <a:rPr lang="en-US" b="0" i="0" dirty="0" err="1">
                <a:solidFill>
                  <a:srgbClr val="343541"/>
                </a:solidFill>
                <a:effectLst/>
                <a:latin typeface="Söhne"/>
              </a:rPr>
              <a:t>glioma_cluster_t</a:t>
            </a:r>
            <a:r>
              <a:rPr lang="en-US" b="0" i="0" dirty="0">
                <a:solidFill>
                  <a:srgbClr val="343541"/>
                </a:solidFill>
                <a:effectLst/>
                <a:latin typeface="Söhne"/>
              </a:rPr>
              <a:t>, </a:t>
            </a:r>
            <a:r>
              <a:rPr lang="en-US" b="0" i="0" dirty="0" err="1">
                <a:solidFill>
                  <a:srgbClr val="343541"/>
                </a:solidFill>
                <a:effectLst/>
                <a:latin typeface="Söhne"/>
              </a:rPr>
              <a:t>only.pos</a:t>
            </a:r>
            <a:r>
              <a:rPr lang="en-US" b="0" i="0" dirty="0">
                <a:solidFill>
                  <a:srgbClr val="343541"/>
                </a:solidFill>
                <a:effectLst/>
                <a:latin typeface="Söhne"/>
              </a:rPr>
              <a:t> = TRUE, min.pct = 0.25, </a:t>
            </a:r>
            <a:r>
              <a:rPr lang="en-US" b="0" i="0" dirty="0" err="1">
                <a:solidFill>
                  <a:srgbClr val="343541"/>
                </a:solidFill>
                <a:effectLst/>
                <a:latin typeface="Söhne"/>
              </a:rPr>
              <a:t>logfc.threshold</a:t>
            </a:r>
            <a:r>
              <a:rPr lang="en-US" b="0" i="0" dirty="0">
                <a:solidFill>
                  <a:srgbClr val="343541"/>
                </a:solidFill>
                <a:effectLst/>
                <a:latin typeface="Söhne"/>
              </a:rPr>
              <a:t> = 0.25)</a:t>
            </a:r>
          </a:p>
          <a:p>
            <a:r>
              <a:rPr lang="en-US" altLang="zh-TW" dirty="0" err="1"/>
              <a:t>only.pos</a:t>
            </a:r>
            <a:r>
              <a:rPr lang="en-US" altLang="zh-TW" dirty="0"/>
              <a:t> = TRUE</a:t>
            </a:r>
            <a:r>
              <a:rPr lang="en-US" altLang="zh-TW" b="0" i="0" dirty="0">
                <a:solidFill>
                  <a:srgbClr val="374151"/>
                </a:solidFill>
                <a:effectLst/>
                <a:latin typeface="Söhne"/>
              </a:rPr>
              <a:t>: </a:t>
            </a:r>
            <a:r>
              <a:rPr lang="zh-TW" altLang="en-US" b="0" i="0" dirty="0">
                <a:solidFill>
                  <a:srgbClr val="374151"/>
                </a:solidFill>
                <a:effectLst/>
                <a:latin typeface="Söhne"/>
              </a:rPr>
              <a:t>這意味著我們只對每個群的正差異基因感興趣。正差異基因是指在特定群中表達較高的基因</a:t>
            </a:r>
            <a:endParaRPr lang="en-US" altLang="zh-TW" dirty="0"/>
          </a:p>
          <a:p>
            <a:r>
              <a:rPr lang="en-US" altLang="zh-TW" dirty="0"/>
              <a:t>min.pct = 0.25</a:t>
            </a:r>
            <a:r>
              <a:rPr lang="en-US" altLang="zh-TW" b="0" i="0" dirty="0">
                <a:solidFill>
                  <a:srgbClr val="374151"/>
                </a:solidFill>
                <a:effectLst/>
                <a:latin typeface="Söhne"/>
              </a:rPr>
              <a:t>: </a:t>
            </a:r>
            <a:r>
              <a:rPr lang="zh-TW" altLang="en-US" b="0" i="0" dirty="0">
                <a:solidFill>
                  <a:srgbClr val="374151"/>
                </a:solidFill>
                <a:effectLst/>
                <a:latin typeface="Söhne"/>
              </a:rPr>
              <a:t>至少有</a:t>
            </a:r>
            <a:r>
              <a:rPr lang="en-US" altLang="zh-TW" b="0" i="0" dirty="0">
                <a:solidFill>
                  <a:srgbClr val="374151"/>
                </a:solidFill>
                <a:effectLst/>
                <a:latin typeface="Söhne"/>
              </a:rPr>
              <a:t>25%</a:t>
            </a:r>
            <a:r>
              <a:rPr lang="zh-TW" altLang="en-US" b="0" i="0" dirty="0">
                <a:solidFill>
                  <a:srgbClr val="374151"/>
                </a:solidFill>
                <a:effectLst/>
                <a:latin typeface="Söhne"/>
              </a:rPr>
              <a:t>的細胞在群中表達該基因</a:t>
            </a:r>
            <a:endParaRPr lang="en-US" altLang="zh-TW" b="0" i="0" dirty="0">
              <a:solidFill>
                <a:srgbClr val="374151"/>
              </a:solidFill>
              <a:effectLst/>
              <a:latin typeface="Söhne"/>
            </a:endParaRPr>
          </a:p>
          <a:p>
            <a:r>
              <a:rPr lang="en-US" dirty="0" err="1"/>
              <a:t>logfc.threshold</a:t>
            </a:r>
            <a:r>
              <a:rPr lang="en-US" dirty="0"/>
              <a:t> = 0.25</a:t>
            </a:r>
            <a:r>
              <a:rPr lang="en-US" b="0" i="0" dirty="0">
                <a:solidFill>
                  <a:srgbClr val="374151"/>
                </a:solidFill>
                <a:effectLst/>
                <a:latin typeface="Söhne"/>
              </a:rPr>
              <a:t>: log fold change (</a:t>
            </a:r>
            <a:r>
              <a:rPr lang="en-US" b="0" i="0" dirty="0" err="1">
                <a:solidFill>
                  <a:srgbClr val="374151"/>
                </a:solidFill>
                <a:effectLst/>
                <a:latin typeface="Söhne"/>
              </a:rPr>
              <a:t>logFC</a:t>
            </a:r>
            <a:r>
              <a:rPr lang="en-US" b="0" i="0" dirty="0">
                <a:solidFill>
                  <a:srgbClr val="374151"/>
                </a:solidFill>
                <a:effectLst/>
                <a:latin typeface="Söhne"/>
              </a:rPr>
              <a:t>) </a:t>
            </a:r>
            <a:r>
              <a:rPr lang="zh-TW" altLang="en-US" b="0" i="0" dirty="0">
                <a:solidFill>
                  <a:srgbClr val="374151"/>
                </a:solidFill>
                <a:effectLst/>
                <a:latin typeface="Söhne"/>
              </a:rPr>
              <a:t>需要超過</a:t>
            </a:r>
            <a:r>
              <a:rPr lang="en-US" altLang="zh-TW" b="0" i="0" dirty="0">
                <a:solidFill>
                  <a:srgbClr val="374151"/>
                </a:solidFill>
                <a:effectLst/>
                <a:latin typeface="Söhne"/>
              </a:rPr>
              <a:t>0.25</a:t>
            </a:r>
            <a:r>
              <a:rPr lang="zh-TW" altLang="en-US" b="0" i="0" dirty="0">
                <a:solidFill>
                  <a:srgbClr val="374151"/>
                </a:solidFill>
                <a:effectLst/>
                <a:latin typeface="Söhne"/>
              </a:rPr>
              <a:t>才能被認為是差異性表達。</a:t>
            </a:r>
            <a:r>
              <a:rPr lang="en-US" b="0" i="0" dirty="0" err="1">
                <a:solidFill>
                  <a:srgbClr val="374151"/>
                </a:solidFill>
                <a:effectLst/>
                <a:latin typeface="Söhne"/>
              </a:rPr>
              <a:t>logFC</a:t>
            </a:r>
            <a:r>
              <a:rPr lang="zh-TW" altLang="en-US" b="0" i="0" dirty="0">
                <a:solidFill>
                  <a:srgbClr val="374151"/>
                </a:solidFill>
                <a:effectLst/>
                <a:latin typeface="Söhne"/>
              </a:rPr>
              <a:t>表示一個基因在一個群中相對於其他群的表達水平變化</a:t>
            </a:r>
            <a:endParaRPr lang="en-US" altLang="zh-TW" b="0" i="0" dirty="0">
              <a:solidFill>
                <a:srgbClr val="374151"/>
              </a:solidFill>
              <a:effectLst/>
              <a:latin typeface="Söhne"/>
            </a:endParaRPr>
          </a:p>
          <a:p>
            <a:r>
              <a:rPr lang="en-US" altLang="zh-TW" b="0" i="0" dirty="0">
                <a:solidFill>
                  <a:srgbClr val="374151"/>
                </a:solidFill>
                <a:effectLst/>
                <a:latin typeface="Söhne"/>
              </a:rPr>
              <a:t>(log fold change </a:t>
            </a:r>
            <a:r>
              <a:rPr lang="zh-TW" altLang="en-US" b="0" i="0" dirty="0">
                <a:solidFill>
                  <a:srgbClr val="374151"/>
                </a:solidFill>
                <a:effectLst/>
                <a:latin typeface="Söhne"/>
              </a:rPr>
              <a:t>一般會選擇大於</a:t>
            </a:r>
            <a:r>
              <a:rPr lang="en-US" altLang="zh-TW" b="0" i="0" dirty="0">
                <a:solidFill>
                  <a:srgbClr val="374151"/>
                </a:solidFill>
                <a:effectLst/>
                <a:latin typeface="Söhne"/>
              </a:rPr>
              <a:t>2</a:t>
            </a:r>
            <a:r>
              <a:rPr lang="zh-TW" altLang="en-US" b="0" i="0" dirty="0">
                <a:solidFill>
                  <a:srgbClr val="374151"/>
                </a:solidFill>
                <a:effectLst/>
                <a:latin typeface="Söhne"/>
              </a:rPr>
              <a:t>或</a:t>
            </a:r>
            <a:r>
              <a:rPr lang="en-US" altLang="zh-TW" b="0" i="0" dirty="0">
                <a:solidFill>
                  <a:srgbClr val="374151"/>
                </a:solidFill>
                <a:effectLst/>
                <a:latin typeface="Söhne"/>
              </a:rPr>
              <a:t>1.5</a:t>
            </a:r>
            <a:r>
              <a:rPr lang="zh-TW" altLang="en-US" b="0" i="0" dirty="0">
                <a:solidFill>
                  <a:srgbClr val="374151"/>
                </a:solidFill>
                <a:effectLst/>
                <a:latin typeface="Söhne"/>
              </a:rPr>
              <a:t>。這是一個常見的做法，但在這裡選擇的閾值是</a:t>
            </a:r>
            <a:r>
              <a:rPr lang="en-US" altLang="zh-TW" b="0" i="0" dirty="0">
                <a:solidFill>
                  <a:srgbClr val="374151"/>
                </a:solidFill>
                <a:effectLst/>
                <a:latin typeface="Söhne"/>
              </a:rPr>
              <a:t>0.25</a:t>
            </a:r>
            <a:r>
              <a:rPr lang="zh-TW" altLang="en-US" b="0" i="0" dirty="0">
                <a:solidFill>
                  <a:srgbClr val="374151"/>
                </a:solidFill>
                <a:effectLst/>
                <a:latin typeface="Söhne"/>
              </a:rPr>
              <a:t>。可能是為了捕獲更多的差異基因。</a:t>
            </a:r>
            <a:r>
              <a:rPr lang="en-US" altLang="zh-TW" b="0" i="0" dirty="0">
                <a:solidFill>
                  <a:srgbClr val="374151"/>
                </a:solidFill>
                <a:effectLst/>
                <a:latin typeface="Söhne"/>
              </a:rPr>
              <a:t>)</a:t>
            </a:r>
            <a:endParaRPr lang="en-US" dirty="0"/>
          </a:p>
          <a:p>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23</a:t>
            </a:fld>
            <a:endParaRPr lang="en-US"/>
          </a:p>
        </p:txBody>
      </p:sp>
    </p:spTree>
    <p:extLst>
      <p:ext uri="{BB962C8B-B14F-4D97-AF65-F5344CB8AC3E}">
        <p14:creationId xmlns:p14="http://schemas.microsoft.com/office/powerpoint/2010/main" val="25969429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在實際分群過程中，有許多小群無法確定；此時就需要進行差異基因的分析</a:t>
            </a:r>
            <a:endParaRPr lang="en-US" altLang="zh-TW" dirty="0"/>
          </a:p>
          <a:p>
            <a:endParaRPr lang="en-US" altLang="zh-TW" dirty="0"/>
          </a:p>
          <a:p>
            <a:pPr algn="l">
              <a:buFont typeface="+mj-lt"/>
              <a:buAutoNum type="arabicPeriod"/>
            </a:pPr>
            <a:r>
              <a:rPr lang="en-US" altLang="zh-TW" b="1" i="0" dirty="0" err="1">
                <a:solidFill>
                  <a:srgbClr val="374151"/>
                </a:solidFill>
                <a:effectLst/>
                <a:latin typeface="Söhne"/>
              </a:rPr>
              <a:t>p_val</a:t>
            </a:r>
            <a:r>
              <a:rPr lang="en-US" altLang="zh-TW" b="0" i="0" dirty="0">
                <a:solidFill>
                  <a:srgbClr val="374151"/>
                </a:solidFill>
                <a:effectLst/>
                <a:latin typeface="Söhne"/>
              </a:rPr>
              <a:t>: </a:t>
            </a:r>
            <a:r>
              <a:rPr lang="zh-TW" altLang="en-US" b="0" i="0" dirty="0">
                <a:solidFill>
                  <a:srgbClr val="374151"/>
                </a:solidFill>
                <a:effectLst/>
                <a:latin typeface="Söhne"/>
              </a:rPr>
              <a:t>這是原始的</a:t>
            </a:r>
            <a:r>
              <a:rPr lang="en-US" altLang="zh-TW" b="0" i="0" dirty="0">
                <a:solidFill>
                  <a:srgbClr val="374151"/>
                </a:solidFill>
                <a:effectLst/>
                <a:latin typeface="Söhne"/>
              </a:rPr>
              <a:t>p</a:t>
            </a:r>
            <a:r>
              <a:rPr lang="zh-TW" altLang="en-US" b="0" i="0" dirty="0">
                <a:solidFill>
                  <a:srgbClr val="374151"/>
                </a:solidFill>
                <a:effectLst/>
                <a:latin typeface="Söhne"/>
              </a:rPr>
              <a:t>值，用來表示該基因在特定群組與其他群組之間的表達差異是否是統計學上的顯著。越小的</a:t>
            </a:r>
            <a:r>
              <a:rPr lang="en-US" altLang="zh-TW" b="0" i="0" dirty="0">
                <a:solidFill>
                  <a:srgbClr val="374151"/>
                </a:solidFill>
                <a:effectLst/>
                <a:latin typeface="Söhne"/>
              </a:rPr>
              <a:t>p</a:t>
            </a:r>
            <a:r>
              <a:rPr lang="zh-TW" altLang="en-US" b="0" i="0" dirty="0">
                <a:solidFill>
                  <a:srgbClr val="374151"/>
                </a:solidFill>
                <a:effectLst/>
                <a:latin typeface="Söhne"/>
              </a:rPr>
              <a:t>值意味著差異越顯著。</a:t>
            </a:r>
          </a:p>
          <a:p>
            <a:pPr algn="l">
              <a:buFont typeface="+mj-lt"/>
              <a:buAutoNum type="arabicPeriod"/>
            </a:pPr>
            <a:r>
              <a:rPr lang="en-US" altLang="zh-TW" b="1" i="0" dirty="0">
                <a:solidFill>
                  <a:srgbClr val="374151"/>
                </a:solidFill>
                <a:effectLst/>
                <a:latin typeface="Söhne"/>
              </a:rPr>
              <a:t>avg_log2FC</a:t>
            </a:r>
            <a:r>
              <a:rPr lang="en-US" altLang="zh-TW" b="0" i="0" dirty="0">
                <a:solidFill>
                  <a:srgbClr val="374151"/>
                </a:solidFill>
                <a:effectLst/>
                <a:latin typeface="Söhne"/>
              </a:rPr>
              <a:t>: </a:t>
            </a:r>
            <a:r>
              <a:rPr lang="zh-TW" altLang="en-US" b="0" i="0" dirty="0">
                <a:solidFill>
                  <a:srgbClr val="374151"/>
                </a:solidFill>
                <a:effectLst/>
                <a:latin typeface="Söhne"/>
              </a:rPr>
              <a:t>這是</a:t>
            </a:r>
            <a:r>
              <a:rPr lang="en-US" altLang="zh-TW" b="0" i="0" dirty="0">
                <a:solidFill>
                  <a:srgbClr val="374151"/>
                </a:solidFill>
                <a:effectLst/>
                <a:latin typeface="Söhne"/>
              </a:rPr>
              <a:t>log2</a:t>
            </a:r>
            <a:r>
              <a:rPr lang="zh-TW" altLang="en-US" b="0" i="0" dirty="0">
                <a:solidFill>
                  <a:srgbClr val="374151"/>
                </a:solidFill>
                <a:effectLst/>
                <a:latin typeface="Söhne"/>
              </a:rPr>
              <a:t>的</a:t>
            </a:r>
            <a:r>
              <a:rPr lang="en-US" altLang="zh-TW" b="0" i="0" dirty="0">
                <a:solidFill>
                  <a:srgbClr val="374151"/>
                </a:solidFill>
                <a:effectLst/>
                <a:latin typeface="Söhne"/>
              </a:rPr>
              <a:t>fold change</a:t>
            </a:r>
            <a:r>
              <a:rPr lang="zh-TW" altLang="en-US" b="0" i="0" dirty="0">
                <a:solidFill>
                  <a:srgbClr val="374151"/>
                </a:solidFill>
                <a:effectLst/>
                <a:latin typeface="Söhne"/>
              </a:rPr>
              <a:t>值，表示特定基因在某一群組中的平均表達量與其他群組的平均表達量之間的比率。正數表示該基因在這一群中表達較高，而負數表示該基因在這一群中表達較低。</a:t>
            </a:r>
          </a:p>
          <a:p>
            <a:pPr algn="l">
              <a:buFont typeface="+mj-lt"/>
              <a:buAutoNum type="arabicPeriod"/>
            </a:pPr>
            <a:r>
              <a:rPr lang="en-US" altLang="zh-TW" b="1" i="0" dirty="0">
                <a:solidFill>
                  <a:srgbClr val="374151"/>
                </a:solidFill>
                <a:effectLst/>
                <a:latin typeface="Söhne"/>
              </a:rPr>
              <a:t>pct.1</a:t>
            </a:r>
            <a:r>
              <a:rPr lang="zh-TW" altLang="en-US" b="0" i="0" dirty="0">
                <a:solidFill>
                  <a:srgbClr val="374151"/>
                </a:solidFill>
                <a:effectLst/>
                <a:latin typeface="Söhne"/>
              </a:rPr>
              <a:t> 和 </a:t>
            </a:r>
            <a:r>
              <a:rPr lang="en-US" altLang="zh-TW" b="1" i="0" dirty="0">
                <a:solidFill>
                  <a:srgbClr val="374151"/>
                </a:solidFill>
                <a:effectLst/>
                <a:latin typeface="Söhne"/>
              </a:rPr>
              <a:t>pct.2</a:t>
            </a:r>
            <a:r>
              <a:rPr lang="en-US" altLang="zh-TW" b="0" i="0" dirty="0">
                <a:solidFill>
                  <a:srgbClr val="374151"/>
                </a:solidFill>
                <a:effectLst/>
                <a:latin typeface="Söhne"/>
              </a:rPr>
              <a:t>: </a:t>
            </a:r>
            <a:r>
              <a:rPr lang="zh-TW" altLang="en-US" b="0" i="0" dirty="0">
                <a:solidFill>
                  <a:srgbClr val="374151"/>
                </a:solidFill>
                <a:effectLst/>
                <a:latin typeface="Söhne"/>
              </a:rPr>
              <a:t>這是兩個百分比值，分別表示該基因在特定群組和其他群組中被表達的細胞比例。</a:t>
            </a:r>
          </a:p>
          <a:p>
            <a:pPr algn="l">
              <a:buFont typeface="+mj-lt"/>
              <a:buAutoNum type="arabicPeriod"/>
            </a:pPr>
            <a:r>
              <a:rPr lang="en-US" altLang="zh-TW" b="1" i="0" dirty="0" err="1">
                <a:solidFill>
                  <a:srgbClr val="374151"/>
                </a:solidFill>
                <a:effectLst/>
                <a:latin typeface="Söhne"/>
              </a:rPr>
              <a:t>p_val_adj</a:t>
            </a:r>
            <a:r>
              <a:rPr lang="en-US" altLang="zh-TW" b="0" i="0" dirty="0">
                <a:solidFill>
                  <a:srgbClr val="374151"/>
                </a:solidFill>
                <a:effectLst/>
                <a:latin typeface="Söhne"/>
              </a:rPr>
              <a:t>: </a:t>
            </a:r>
            <a:r>
              <a:rPr lang="zh-TW" altLang="en-US" b="0" i="0" dirty="0">
                <a:solidFill>
                  <a:srgbClr val="374151"/>
                </a:solidFill>
                <a:effectLst/>
                <a:latin typeface="Söhne"/>
              </a:rPr>
              <a:t>這是經過</a:t>
            </a:r>
            <a:r>
              <a:rPr lang="en-US" altLang="zh-TW" b="0" i="0" dirty="0">
                <a:solidFill>
                  <a:srgbClr val="374151"/>
                </a:solidFill>
                <a:effectLst/>
                <a:latin typeface="Söhne"/>
              </a:rPr>
              <a:t>Bonferroni</a:t>
            </a:r>
            <a:r>
              <a:rPr lang="zh-TW" altLang="en-US" b="0" i="0" dirty="0">
                <a:solidFill>
                  <a:srgbClr val="374151"/>
                </a:solidFill>
                <a:effectLst/>
                <a:latin typeface="Söhne"/>
              </a:rPr>
              <a:t>或</a:t>
            </a:r>
            <a:r>
              <a:rPr lang="en-US" altLang="zh-TW" b="0" i="0" dirty="0" err="1">
                <a:solidFill>
                  <a:srgbClr val="374151"/>
                </a:solidFill>
                <a:effectLst/>
                <a:latin typeface="Söhne"/>
              </a:rPr>
              <a:t>Benjamini</a:t>
            </a:r>
            <a:r>
              <a:rPr lang="en-US" altLang="zh-TW" b="0" i="0" dirty="0">
                <a:solidFill>
                  <a:srgbClr val="374151"/>
                </a:solidFill>
                <a:effectLst/>
                <a:latin typeface="Söhne"/>
              </a:rPr>
              <a:t>-Hochberg</a:t>
            </a:r>
            <a:r>
              <a:rPr lang="zh-TW" altLang="en-US" b="0" i="0" dirty="0">
                <a:solidFill>
                  <a:srgbClr val="374151"/>
                </a:solidFill>
                <a:effectLst/>
                <a:latin typeface="Söhne"/>
              </a:rPr>
              <a:t>等方法調整後的</a:t>
            </a:r>
            <a:r>
              <a:rPr lang="en-US" altLang="zh-TW" b="0" i="0" dirty="0">
                <a:solidFill>
                  <a:srgbClr val="374151"/>
                </a:solidFill>
                <a:effectLst/>
                <a:latin typeface="Söhne"/>
              </a:rPr>
              <a:t>p</a:t>
            </a:r>
            <a:r>
              <a:rPr lang="zh-TW" altLang="en-US" b="0" i="0" dirty="0">
                <a:solidFill>
                  <a:srgbClr val="374151"/>
                </a:solidFill>
                <a:effectLst/>
                <a:latin typeface="Söhne"/>
              </a:rPr>
              <a:t>值，以控制偽發現率</a:t>
            </a:r>
            <a:r>
              <a:rPr lang="en-US" altLang="zh-TW" b="0" i="0" dirty="0">
                <a:solidFill>
                  <a:srgbClr val="374151"/>
                </a:solidFill>
                <a:effectLst/>
                <a:latin typeface="Söhne"/>
              </a:rPr>
              <a:t>(false discovery rate, FDR)</a:t>
            </a:r>
            <a:r>
              <a:rPr lang="zh-TW" altLang="en-US" b="0" i="0" dirty="0">
                <a:solidFill>
                  <a:srgbClr val="374151"/>
                </a:solidFill>
                <a:effectLst/>
                <a:latin typeface="Söhne"/>
              </a:rPr>
              <a:t>。調整後的</a:t>
            </a:r>
            <a:r>
              <a:rPr lang="en-US" altLang="zh-TW" b="0" i="0" dirty="0">
                <a:solidFill>
                  <a:srgbClr val="374151"/>
                </a:solidFill>
                <a:effectLst/>
                <a:latin typeface="Söhne"/>
              </a:rPr>
              <a:t>p</a:t>
            </a:r>
            <a:r>
              <a:rPr lang="zh-TW" altLang="en-US" b="0" i="0" dirty="0">
                <a:solidFill>
                  <a:srgbClr val="374151"/>
                </a:solidFill>
                <a:effectLst/>
                <a:latin typeface="Söhne"/>
              </a:rPr>
              <a:t>值通常比原始的</a:t>
            </a:r>
            <a:r>
              <a:rPr lang="en-US" altLang="zh-TW" b="0" i="0" dirty="0">
                <a:solidFill>
                  <a:srgbClr val="374151"/>
                </a:solidFill>
                <a:effectLst/>
                <a:latin typeface="Söhne"/>
              </a:rPr>
              <a:t>p</a:t>
            </a:r>
            <a:r>
              <a:rPr lang="zh-TW" altLang="en-US" b="0" i="0" dirty="0">
                <a:solidFill>
                  <a:srgbClr val="374151"/>
                </a:solidFill>
                <a:effectLst/>
                <a:latin typeface="Söhne"/>
              </a:rPr>
              <a:t>值大。</a:t>
            </a:r>
          </a:p>
          <a:p>
            <a:pPr algn="l">
              <a:buFont typeface="+mj-lt"/>
              <a:buAutoNum type="arabicPeriod"/>
            </a:pPr>
            <a:r>
              <a:rPr lang="en-US" altLang="zh-TW" b="1" i="0" dirty="0">
                <a:solidFill>
                  <a:srgbClr val="374151"/>
                </a:solidFill>
                <a:effectLst/>
                <a:latin typeface="Söhne"/>
              </a:rPr>
              <a:t>cluster</a:t>
            </a:r>
            <a:r>
              <a:rPr lang="en-US" altLang="zh-TW" b="0" i="0" dirty="0">
                <a:solidFill>
                  <a:srgbClr val="374151"/>
                </a:solidFill>
                <a:effectLst/>
                <a:latin typeface="Söhne"/>
              </a:rPr>
              <a:t>: </a:t>
            </a:r>
            <a:r>
              <a:rPr lang="zh-TW" altLang="en-US" b="0" i="0" dirty="0">
                <a:solidFill>
                  <a:srgbClr val="374151"/>
                </a:solidFill>
                <a:effectLst/>
                <a:latin typeface="Söhne"/>
              </a:rPr>
              <a:t>這是指的特定的細胞群</a:t>
            </a:r>
            <a:r>
              <a:rPr lang="en-US" altLang="zh-TW" b="0" i="0" dirty="0">
                <a:solidFill>
                  <a:srgbClr val="374151"/>
                </a:solidFill>
                <a:effectLst/>
                <a:latin typeface="Söhne"/>
              </a:rPr>
              <a:t>(cluster)</a:t>
            </a:r>
            <a:r>
              <a:rPr lang="zh-TW" altLang="en-US" b="0" i="0" dirty="0">
                <a:solidFill>
                  <a:srgbClr val="374151"/>
                </a:solidFill>
                <a:effectLst/>
                <a:latin typeface="Söhne"/>
              </a:rPr>
              <a:t>。例如，“</a:t>
            </a:r>
            <a:r>
              <a:rPr lang="en-US" altLang="zh-TW" b="0" i="0" dirty="0">
                <a:solidFill>
                  <a:srgbClr val="374151"/>
                </a:solidFill>
                <a:effectLst/>
                <a:latin typeface="Söhne"/>
              </a:rPr>
              <a:t>Fibroblast”</a:t>
            </a:r>
            <a:r>
              <a:rPr lang="zh-TW" altLang="en-US" b="0" i="0" dirty="0">
                <a:solidFill>
                  <a:srgbClr val="374151"/>
                </a:solidFill>
                <a:effectLst/>
                <a:latin typeface="Söhne"/>
              </a:rPr>
              <a:t>是一個細胞類型，而“</a:t>
            </a:r>
            <a:r>
              <a:rPr lang="en-US" altLang="zh-TW" b="0" i="0" dirty="0">
                <a:solidFill>
                  <a:srgbClr val="374151"/>
                </a:solidFill>
                <a:effectLst/>
                <a:latin typeface="Söhne"/>
              </a:rPr>
              <a:t>Unknown”</a:t>
            </a:r>
            <a:r>
              <a:rPr lang="zh-TW" altLang="en-US" b="0" i="0" dirty="0">
                <a:solidFill>
                  <a:srgbClr val="374151"/>
                </a:solidFill>
                <a:effectLst/>
                <a:latin typeface="Söhne"/>
              </a:rPr>
              <a:t>可能表示分析師無法確定該細胞群的身份。</a:t>
            </a:r>
          </a:p>
          <a:p>
            <a:endParaRPr lang="en-US" altLang="zh-TW" dirty="0"/>
          </a:p>
        </p:txBody>
      </p:sp>
      <p:sp>
        <p:nvSpPr>
          <p:cNvPr id="4" name="Slide Number Placeholder 3"/>
          <p:cNvSpPr>
            <a:spLocks noGrp="1"/>
          </p:cNvSpPr>
          <p:nvPr>
            <p:ph type="sldNum" sz="quarter" idx="5"/>
          </p:nvPr>
        </p:nvSpPr>
        <p:spPr/>
        <p:txBody>
          <a:bodyPr/>
          <a:lstStyle/>
          <a:p>
            <a:fld id="{16F022A8-D9E0-49E1-A86C-93A7A2C7B21C}" type="slidenum">
              <a:rPr lang="en-US" smtClean="0"/>
              <a:t>24</a:t>
            </a:fld>
            <a:endParaRPr lang="en-US"/>
          </a:p>
        </p:txBody>
      </p:sp>
    </p:spTree>
    <p:extLst>
      <p:ext uri="{BB962C8B-B14F-4D97-AF65-F5344CB8AC3E}">
        <p14:creationId xmlns:p14="http://schemas.microsoft.com/office/powerpoint/2010/main" val="3369415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0" i="0" dirty="0">
                <a:solidFill>
                  <a:srgbClr val="202124"/>
                </a:solidFill>
                <a:effectLst/>
                <a:latin typeface="Google Sans"/>
              </a:rPr>
              <a:t>TISCH2</a:t>
            </a:r>
            <a:r>
              <a:rPr lang="zh-CN" altLang="en-US" b="0" i="0" dirty="0">
                <a:solidFill>
                  <a:srgbClr val="202124"/>
                </a:solidFill>
                <a:effectLst/>
                <a:latin typeface="Google Sans"/>
              </a:rPr>
              <a:t>数据库</a:t>
            </a:r>
            <a:r>
              <a:rPr lang="zh-CN" altLang="en-US" b="0" i="0" dirty="0">
                <a:solidFill>
                  <a:srgbClr val="040C28"/>
                </a:solidFill>
                <a:effectLst/>
                <a:latin typeface="Google Sans"/>
              </a:rPr>
              <a:t>整合了</a:t>
            </a:r>
            <a:r>
              <a:rPr lang="en-US" altLang="zh-CN" b="0" i="0" dirty="0">
                <a:solidFill>
                  <a:srgbClr val="040C28"/>
                </a:solidFill>
                <a:effectLst/>
                <a:latin typeface="Google Sans"/>
              </a:rPr>
              <a:t>50</a:t>
            </a:r>
            <a:r>
              <a:rPr lang="zh-CN" altLang="en-US" b="0" i="0" dirty="0">
                <a:solidFill>
                  <a:srgbClr val="040C28"/>
                </a:solidFill>
                <a:effectLst/>
                <a:latin typeface="Google Sans"/>
              </a:rPr>
              <a:t>种癌症类型的超过</a:t>
            </a:r>
            <a:r>
              <a:rPr lang="en-US" altLang="zh-CN" b="0" i="0" dirty="0">
                <a:solidFill>
                  <a:srgbClr val="040C28"/>
                </a:solidFill>
                <a:effectLst/>
                <a:latin typeface="Google Sans"/>
              </a:rPr>
              <a:t>600</a:t>
            </a:r>
            <a:r>
              <a:rPr lang="zh-CN" altLang="en-US" b="0" i="0" dirty="0">
                <a:solidFill>
                  <a:srgbClr val="040C28"/>
                </a:solidFill>
                <a:effectLst/>
                <a:latin typeface="Google Sans"/>
              </a:rPr>
              <a:t>万个细胞的单细胞数据，并重点提供了关于肿瘤免疫微环境中基因表达和细胞互作的信息</a:t>
            </a:r>
            <a:endParaRPr lang="en-US" altLang="zh-CN" b="0" i="0" dirty="0">
              <a:solidFill>
                <a:srgbClr val="040C28"/>
              </a:solidFill>
              <a:effectLst/>
              <a:latin typeface="Google Sans"/>
            </a:endParaRPr>
          </a:p>
          <a:p>
            <a:r>
              <a:rPr lang="en-US" b="0" i="0" dirty="0">
                <a:solidFill>
                  <a:srgbClr val="202020"/>
                </a:solidFill>
                <a:effectLst/>
                <a:latin typeface="微软雅黑" panose="020B0503020204020204" pitchFamily="34" charset="-122"/>
                <a:ea typeface="微软雅黑" panose="020B0503020204020204" pitchFamily="34" charset="-122"/>
              </a:rPr>
              <a:t>HLA-DRA</a:t>
            </a:r>
            <a:r>
              <a:rPr lang="zh-TW" altLang="en-US" b="0" i="0" dirty="0">
                <a:solidFill>
                  <a:srgbClr val="202020"/>
                </a:solidFill>
                <a:effectLst/>
                <a:latin typeface="微软雅黑" panose="020B0503020204020204" pitchFamily="34" charset="-122"/>
                <a:ea typeface="微软雅黑" panose="020B0503020204020204" pitchFamily="34" charset="-122"/>
              </a:rPr>
              <a:t>在不同癌单细胞数据集中所有细胞类型的表达情况（ </a:t>
            </a:r>
            <a:r>
              <a:rPr lang="en-US" b="0" i="0" dirty="0">
                <a:solidFill>
                  <a:srgbClr val="202020"/>
                </a:solidFill>
                <a:effectLst/>
                <a:latin typeface="微软雅黑" panose="020B0503020204020204" pitchFamily="34" charset="-122"/>
                <a:ea typeface="微软雅黑" panose="020B0503020204020204" pitchFamily="34" charset="-122"/>
              </a:rPr>
              <a:t>Average gene expression ）。 </a:t>
            </a:r>
            <a:r>
              <a:rPr lang="zh-TW" altLang="en-US" b="0" i="0" dirty="0">
                <a:solidFill>
                  <a:srgbClr val="202020"/>
                </a:solidFill>
                <a:effectLst/>
                <a:latin typeface="微软雅黑" panose="020B0503020204020204" pitchFamily="34" charset="-122"/>
                <a:ea typeface="微软雅黑" panose="020B0503020204020204" pitchFamily="34" charset="-122"/>
              </a:rPr>
              <a:t>红色越深表示表达量越高</a:t>
            </a:r>
            <a:endParaRPr lang="en-US" altLang="zh-CN" b="0" i="0" dirty="0">
              <a:solidFill>
                <a:srgbClr val="040C28"/>
              </a:solidFill>
              <a:effectLst/>
              <a:latin typeface="Google Sans"/>
            </a:endParaRPr>
          </a:p>
          <a:p>
            <a:endParaRPr lang="en-US" altLang="zh-CN" b="0" i="0" dirty="0">
              <a:solidFill>
                <a:srgbClr val="040C28"/>
              </a:solidFill>
              <a:effectLst/>
              <a:latin typeface="Google Sans"/>
            </a:endParaRPr>
          </a:p>
          <a:p>
            <a:endParaRPr lang="en-US" b="0" i="0" dirty="0">
              <a:solidFill>
                <a:srgbClr val="040C28"/>
              </a:solidFill>
              <a:effectLst/>
              <a:latin typeface="Google Sans"/>
            </a:endParaRPr>
          </a:p>
          <a:p>
            <a:r>
              <a:rPr lang="en-US" b="0" i="0" dirty="0">
                <a:solidFill>
                  <a:srgbClr val="202020"/>
                </a:solidFill>
                <a:effectLst/>
                <a:latin typeface="微软雅黑" panose="020B0503020204020204" pitchFamily="34" charset="-122"/>
                <a:ea typeface="微软雅黑" panose="020B0503020204020204" pitchFamily="34" charset="-122"/>
              </a:rPr>
              <a:t>TISCH</a:t>
            </a:r>
            <a:r>
              <a:rPr lang="zh-TW" altLang="en-US" b="0" i="0" dirty="0">
                <a:solidFill>
                  <a:srgbClr val="202020"/>
                </a:solidFill>
                <a:effectLst/>
                <a:latin typeface="微软雅黑" panose="020B0503020204020204" pitchFamily="34" charset="-122"/>
                <a:ea typeface="微软雅黑" panose="020B0503020204020204" pitchFamily="34" charset="-122"/>
              </a:rPr>
              <a:t>首次于</a:t>
            </a:r>
            <a:r>
              <a:rPr lang="en-US" altLang="zh-TW" b="0" i="0" dirty="0">
                <a:solidFill>
                  <a:srgbClr val="202020"/>
                </a:solidFill>
                <a:effectLst/>
                <a:latin typeface="微软雅黑" panose="020B0503020204020204" pitchFamily="34" charset="-122"/>
                <a:ea typeface="微软雅黑" panose="020B0503020204020204" pitchFamily="34" charset="-122"/>
              </a:rPr>
              <a:t>2020 </a:t>
            </a:r>
            <a:r>
              <a:rPr lang="zh-TW" altLang="en-US" b="0" i="0" dirty="0">
                <a:solidFill>
                  <a:srgbClr val="202020"/>
                </a:solidFill>
                <a:effectLst/>
                <a:latin typeface="微软雅黑" panose="020B0503020204020204" pitchFamily="34" charset="-122"/>
                <a:ea typeface="微软雅黑" panose="020B0503020204020204" pitchFamily="34" charset="-122"/>
              </a:rPr>
              <a:t>年发表在</a:t>
            </a:r>
            <a:r>
              <a:rPr lang="en-US" b="0" i="0" dirty="0">
                <a:solidFill>
                  <a:srgbClr val="202020"/>
                </a:solidFill>
                <a:effectLst/>
                <a:latin typeface="微软雅黑" panose="020B0503020204020204" pitchFamily="34" charset="-122"/>
                <a:ea typeface="微软雅黑" panose="020B0503020204020204" pitchFamily="34" charset="-122"/>
              </a:rPr>
              <a:t>NAR</a:t>
            </a:r>
            <a:r>
              <a:rPr lang="en-US" altLang="zh-TW" b="0" i="0" dirty="0">
                <a:solidFill>
                  <a:srgbClr val="202020"/>
                </a:solidFill>
                <a:effectLst/>
                <a:latin typeface="微软雅黑" panose="020B0503020204020204" pitchFamily="34" charset="-122"/>
                <a:ea typeface="微软雅黑" panose="020B0503020204020204" pitchFamily="34" charset="-122"/>
              </a:rPr>
              <a:t>(Nucleic Acid Research)</a:t>
            </a:r>
            <a:r>
              <a:rPr lang="zh-TW" altLang="en-US" b="0" i="0" dirty="0">
                <a:solidFill>
                  <a:srgbClr val="202020"/>
                </a:solidFill>
                <a:effectLst/>
                <a:latin typeface="微软雅黑" panose="020B0503020204020204" pitchFamily="34" charset="-122"/>
                <a:ea typeface="微软雅黑" panose="020B0503020204020204" pitchFamily="34" charset="-122"/>
              </a:rPr>
              <a:t>上，目前被引用近</a:t>
            </a:r>
            <a:r>
              <a:rPr lang="en-US" altLang="zh-TW" b="0" i="0" dirty="0">
                <a:solidFill>
                  <a:srgbClr val="202020"/>
                </a:solidFill>
                <a:effectLst/>
                <a:latin typeface="微软雅黑" panose="020B0503020204020204" pitchFamily="34" charset="-122"/>
                <a:ea typeface="微软雅黑" panose="020B0503020204020204" pitchFamily="34" charset="-122"/>
              </a:rPr>
              <a:t>200</a:t>
            </a:r>
            <a:r>
              <a:rPr lang="zh-TW" altLang="en-US" b="0" i="0" dirty="0">
                <a:solidFill>
                  <a:srgbClr val="202020"/>
                </a:solidFill>
                <a:effectLst/>
                <a:latin typeface="微软雅黑" panose="020B0503020204020204" pitchFamily="34" charset="-122"/>
                <a:ea typeface="微软雅黑" panose="020B0503020204020204" pitchFamily="34" charset="-122"/>
              </a:rPr>
              <a:t>多次。今年该课题组再次在  </a:t>
            </a:r>
            <a:r>
              <a:rPr lang="en-US" b="0" i="0" dirty="0">
                <a:solidFill>
                  <a:srgbClr val="202020"/>
                </a:solidFill>
                <a:effectLst/>
                <a:latin typeface="微软雅黑" panose="020B0503020204020204" pitchFamily="34" charset="-122"/>
                <a:ea typeface="微软雅黑" panose="020B0503020204020204" pitchFamily="34" charset="-122"/>
              </a:rPr>
              <a:t>NAR  </a:t>
            </a:r>
            <a:r>
              <a:rPr lang="zh-TW" altLang="en-US" b="0" i="0" dirty="0">
                <a:solidFill>
                  <a:srgbClr val="202020"/>
                </a:solidFill>
                <a:effectLst/>
                <a:latin typeface="微软雅黑" panose="020B0503020204020204" pitchFamily="34" charset="-122"/>
                <a:ea typeface="微软雅黑" panose="020B0503020204020204" pitchFamily="34" charset="-122"/>
              </a:rPr>
              <a:t>上发表文章  </a:t>
            </a:r>
            <a:r>
              <a:rPr lang="en-US" b="0" i="0" dirty="0">
                <a:solidFill>
                  <a:srgbClr val="202020"/>
                </a:solidFill>
                <a:effectLst/>
                <a:latin typeface="微软雅黑" panose="020B0503020204020204" pitchFamily="34" charset="-122"/>
                <a:ea typeface="微软雅黑" panose="020B0503020204020204" pitchFamily="34" charset="-122"/>
              </a:rPr>
              <a:t>TISCH2，</a:t>
            </a:r>
            <a:r>
              <a:rPr lang="zh-TW" altLang="en-US" b="0" i="0" dirty="0">
                <a:solidFill>
                  <a:srgbClr val="202020"/>
                </a:solidFill>
                <a:effectLst/>
                <a:latin typeface="微软雅黑" panose="020B0503020204020204" pitchFamily="34" charset="-122"/>
                <a:ea typeface="微软雅黑" panose="020B0503020204020204" pitchFamily="34" charset="-122"/>
              </a:rPr>
              <a:t>更新了</a:t>
            </a:r>
            <a:r>
              <a:rPr lang="en-US" b="0" i="0" dirty="0">
                <a:solidFill>
                  <a:srgbClr val="202020"/>
                </a:solidFill>
                <a:effectLst/>
                <a:latin typeface="微软雅黑" panose="020B0503020204020204" pitchFamily="34" charset="-122"/>
                <a:ea typeface="微软雅黑" panose="020B0503020204020204" pitchFamily="34" charset="-122"/>
              </a:rPr>
              <a:t>TISCH</a:t>
            </a:r>
            <a:r>
              <a:rPr lang="zh-TW" altLang="en-US" b="0" i="0" dirty="0">
                <a:solidFill>
                  <a:srgbClr val="202020"/>
                </a:solidFill>
                <a:effectLst/>
                <a:latin typeface="微软雅黑" panose="020B0503020204020204" pitchFamily="34" charset="-122"/>
                <a:ea typeface="微软雅黑" panose="020B0503020204020204" pitchFamily="34" charset="-122"/>
              </a:rPr>
              <a:t>数据库，涵盖了</a:t>
            </a:r>
            <a:r>
              <a:rPr lang="en-US" altLang="zh-TW" b="0" i="0" dirty="0">
                <a:solidFill>
                  <a:srgbClr val="202020"/>
                </a:solidFill>
                <a:effectLst/>
                <a:latin typeface="微软雅黑" panose="020B0503020204020204" pitchFamily="34" charset="-122"/>
                <a:ea typeface="微软雅黑" panose="020B0503020204020204" pitchFamily="34" charset="-122"/>
              </a:rPr>
              <a:t>3</a:t>
            </a:r>
            <a:r>
              <a:rPr lang="zh-TW" altLang="en-US" b="0" i="0" dirty="0">
                <a:solidFill>
                  <a:srgbClr val="202020"/>
                </a:solidFill>
                <a:effectLst/>
                <a:latin typeface="微软雅黑" panose="020B0503020204020204" pitchFamily="34" charset="-122"/>
                <a:ea typeface="微软雅黑" panose="020B0503020204020204" pitchFamily="34" charset="-122"/>
              </a:rPr>
              <a:t>倍于</a:t>
            </a:r>
            <a:r>
              <a:rPr lang="en-US" b="0" i="0" dirty="0">
                <a:solidFill>
                  <a:srgbClr val="202020"/>
                </a:solidFill>
                <a:effectLst/>
                <a:latin typeface="微软雅黑" panose="020B0503020204020204" pitchFamily="34" charset="-122"/>
                <a:ea typeface="微软雅黑" panose="020B0503020204020204" pitchFamily="34" charset="-122"/>
              </a:rPr>
              <a:t>TISCH1</a:t>
            </a:r>
            <a:r>
              <a:rPr lang="zh-TW" altLang="en-US" b="0" i="0" dirty="0">
                <a:solidFill>
                  <a:srgbClr val="202020"/>
                </a:solidFill>
                <a:effectLst/>
                <a:latin typeface="微软雅黑" panose="020B0503020204020204" pitchFamily="34" charset="-122"/>
                <a:ea typeface="微软雅黑" panose="020B0503020204020204" pitchFamily="34" charset="-122"/>
              </a:rPr>
              <a:t>的数据，提供更为丰富的分析功能</a:t>
            </a:r>
            <a:endParaRPr lang="en-US" altLang="zh-TW" b="0" i="0" dirty="0">
              <a:solidFill>
                <a:srgbClr val="202020"/>
              </a:solidFill>
              <a:effectLst/>
              <a:latin typeface="微软雅黑" panose="020B0503020204020204" pitchFamily="34" charset="-122"/>
              <a:ea typeface="微软雅黑" panose="020B0503020204020204" pitchFamily="34" charset="-122"/>
            </a:endParaRPr>
          </a:p>
          <a:p>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25</a:t>
            </a:fld>
            <a:endParaRPr lang="en-US"/>
          </a:p>
        </p:txBody>
      </p:sp>
    </p:spTree>
    <p:extLst>
      <p:ext uri="{BB962C8B-B14F-4D97-AF65-F5344CB8AC3E}">
        <p14:creationId xmlns:p14="http://schemas.microsoft.com/office/powerpoint/2010/main" val="1753496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「耗竭」</a:t>
            </a:r>
            <a:r>
              <a:rPr lang="en-US" altLang="zh-TW" dirty="0"/>
              <a:t>(exhaustion) </a:t>
            </a:r>
            <a:r>
              <a:rPr lang="zh-TW" altLang="en-US" dirty="0"/>
              <a:t>通常指的是特定細胞，尤其是</a:t>
            </a:r>
            <a:r>
              <a:rPr lang="en-US" altLang="zh-TW" dirty="0"/>
              <a:t>T</a:t>
            </a:r>
            <a:r>
              <a:rPr lang="zh-TW" altLang="en-US" dirty="0"/>
              <a:t>細胞，因長時間或強烈的抗原刺激而進入的功能低下狀態。這種狀態的特點是細胞反應能力減弱，例如對抗原的反應降低</a:t>
            </a:r>
            <a:endParaRPr lang="en-US" altLang="zh-TW" dirty="0"/>
          </a:p>
          <a:p>
            <a:r>
              <a:rPr lang="zh-TW" altLang="en-US" dirty="0"/>
              <a:t>在免疫治療和其他臨床背景中，了解細胞的耗竭狀態尤為重要，因為這可能影響療效。例如，在癌症治療中，耗竭的</a:t>
            </a:r>
            <a:r>
              <a:rPr lang="en-US" altLang="zh-TW" dirty="0"/>
              <a:t>T</a:t>
            </a:r>
            <a:r>
              <a:rPr lang="zh-TW" altLang="en-US" dirty="0"/>
              <a:t>細胞可能不太能有效地攻擊腫瘤。</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27</a:t>
            </a:fld>
            <a:endParaRPr lang="en-US"/>
          </a:p>
        </p:txBody>
      </p:sp>
    </p:spTree>
    <p:extLst>
      <p:ext uri="{BB962C8B-B14F-4D97-AF65-F5344CB8AC3E}">
        <p14:creationId xmlns:p14="http://schemas.microsoft.com/office/powerpoint/2010/main" val="3091329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細胞軌跡分析 </a:t>
            </a:r>
            <a:r>
              <a:rPr lang="en-US" altLang="zh-TW" dirty="0"/>
              <a:t>(</a:t>
            </a:r>
            <a:r>
              <a:rPr lang="zh-TW" altLang="en-US" dirty="0"/>
              <a:t>擬時分析</a:t>
            </a:r>
            <a:r>
              <a:rPr lang="en-US" altLang="zh-TW" dirty="0"/>
              <a:t>)</a:t>
            </a:r>
          </a:p>
          <a:p>
            <a:endParaRPr lang="en-US" dirty="0"/>
          </a:p>
          <a:p>
            <a:r>
              <a:rPr lang="zh-TW" altLang="en-US" dirty="0"/>
              <a:t>根據每個細胞的基因表達情況找出關鍵基因的表達模式來對細胞進行排序，反推出細胞發育的軌跡。</a:t>
            </a:r>
            <a:endParaRPr lang="en-US" altLang="zh-TW" dirty="0"/>
          </a:p>
          <a:p>
            <a:r>
              <a:rPr lang="zh-TW" altLang="en-US" dirty="0"/>
              <a:t>用於細胞分化的研究</a:t>
            </a:r>
            <a:r>
              <a:rPr lang="en-US" altLang="zh-TW" dirty="0"/>
              <a:t>(</a:t>
            </a:r>
            <a:r>
              <a:rPr lang="zh-TW" altLang="en-US" dirty="0"/>
              <a:t>胚胎發育、細胞重編程、癌細胞分化 </a:t>
            </a:r>
            <a:r>
              <a:rPr lang="en-US" altLang="zh-TW" dirty="0"/>
              <a:t>etc.)</a:t>
            </a:r>
          </a:p>
          <a:p>
            <a:endParaRPr lang="en-US" dirty="0"/>
          </a:p>
          <a:p>
            <a:r>
              <a:rPr lang="zh-TW" altLang="en-US" dirty="0"/>
              <a:t>可以直接導入 </a:t>
            </a:r>
            <a:r>
              <a:rPr lang="en-US" altLang="zh-TW" dirty="0" err="1"/>
              <a:t>seurat</a:t>
            </a:r>
            <a:r>
              <a:rPr lang="zh-TW" altLang="en-US" dirty="0"/>
              <a:t>的檔案</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29</a:t>
            </a:fld>
            <a:endParaRPr lang="en-US"/>
          </a:p>
        </p:txBody>
      </p:sp>
    </p:spTree>
    <p:extLst>
      <p:ext uri="{BB962C8B-B14F-4D97-AF65-F5344CB8AC3E}">
        <p14:creationId xmlns:p14="http://schemas.microsoft.com/office/powerpoint/2010/main" val="39264206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通过</a:t>
            </a:r>
            <a:r>
              <a:rPr lang="en-US" altLang="zh-CN" dirty="0" err="1">
                <a:solidFill>
                  <a:srgbClr val="EB5757"/>
                </a:solidFill>
                <a:effectLst/>
                <a:latin typeface="SFMono-Regular"/>
              </a:rPr>
              <a:t>pData</a:t>
            </a:r>
            <a:r>
              <a:rPr lang="zh-CN" altLang="en-US" dirty="0"/>
              <a:t>和</a:t>
            </a:r>
            <a:r>
              <a:rPr lang="en-US" altLang="zh-CN" dirty="0" err="1">
                <a:solidFill>
                  <a:srgbClr val="EB5757"/>
                </a:solidFill>
                <a:effectLst/>
                <a:latin typeface="SFMono-Regular"/>
              </a:rPr>
              <a:t>fData</a:t>
            </a:r>
            <a:r>
              <a:rPr lang="zh-CN" altLang="en-US" dirty="0"/>
              <a:t>两个函数，可以查看基因和细胞的相关信息</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31</a:t>
            </a:fld>
            <a:endParaRPr lang="en-US"/>
          </a:p>
        </p:txBody>
      </p:sp>
    </p:spTree>
    <p:extLst>
      <p:ext uri="{BB962C8B-B14F-4D97-AF65-F5344CB8AC3E}">
        <p14:creationId xmlns:p14="http://schemas.microsoft.com/office/powerpoint/2010/main" val="3735853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在准备样品细胞的过程中，不可避免地会引入一下死的细胞，或者说是</a:t>
            </a:r>
            <a:r>
              <a:rPr lang="en-US" altLang="zh-CN" dirty="0"/>
              <a:t>doublets(</a:t>
            </a:r>
            <a:r>
              <a:rPr lang="zh-CN" altLang="en-US" dirty="0"/>
              <a:t>两个细胞被标记成一个细胞</a:t>
            </a:r>
            <a:r>
              <a:rPr lang="en-US" altLang="zh-CN" dirty="0"/>
              <a:t>)</a:t>
            </a:r>
            <a:r>
              <a:rPr lang="zh-CN" altLang="en-US" dirty="0"/>
              <a:t>。 这些细胞对下游分析的影响会比较大，它们很有可能会占去很大分析权重。所以我们需要把它们去除掉。 去除它们的办法就是设置一个比较合理的表达总值的上下限，然后把处于上下限外围的细胞都去除掉。</a:t>
            </a:r>
            <a:endParaRPr lang="en-US" altLang="zh-CN" dirty="0"/>
          </a:p>
          <a:p>
            <a:r>
              <a:rPr lang="zh-CN" altLang="en-US" dirty="0"/>
              <a:t>一般的，我们是没有数据告诉我们哪些细胞是死的或者空的，哪些细胞是</a:t>
            </a:r>
            <a:r>
              <a:rPr lang="en-US" altLang="zh-CN" dirty="0"/>
              <a:t>doublets</a:t>
            </a:r>
            <a:r>
              <a:rPr lang="zh-CN" altLang="en-US" dirty="0"/>
              <a:t>的。但是通常而方言，我们都会拿到</a:t>
            </a:r>
            <a:r>
              <a:rPr lang="en-US" altLang="zh-CN" dirty="0"/>
              <a:t>RPC(reads per cell)</a:t>
            </a:r>
            <a:r>
              <a:rPr lang="zh-CN" altLang="en-US" dirty="0"/>
              <a:t>的计数，我们可以人为的设定一下表达总值的上下限</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32</a:t>
            </a:fld>
            <a:endParaRPr lang="en-US"/>
          </a:p>
        </p:txBody>
      </p:sp>
    </p:spTree>
    <p:extLst>
      <p:ext uri="{BB962C8B-B14F-4D97-AF65-F5344CB8AC3E}">
        <p14:creationId xmlns:p14="http://schemas.microsoft.com/office/powerpoint/2010/main" val="3735909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細胞數目有</a:t>
            </a:r>
            <a:r>
              <a:rPr lang="en-US" altLang="zh-TW" dirty="0"/>
              <a:t>6688</a:t>
            </a:r>
            <a:r>
              <a:rPr lang="zh-TW" altLang="en-US" dirty="0"/>
              <a:t>個，現在變成</a:t>
            </a:r>
            <a:r>
              <a:rPr lang="en-US" altLang="zh-TW" dirty="0"/>
              <a:t>5998</a:t>
            </a:r>
            <a:r>
              <a:rPr lang="zh-TW" altLang="en-US" dirty="0"/>
              <a:t>個</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33</a:t>
            </a:fld>
            <a:endParaRPr lang="en-US"/>
          </a:p>
        </p:txBody>
      </p:sp>
    </p:spTree>
    <p:extLst>
      <p:ext uri="{BB962C8B-B14F-4D97-AF65-F5344CB8AC3E}">
        <p14:creationId xmlns:p14="http://schemas.microsoft.com/office/powerpoint/2010/main" val="21094543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检查过滤细胞的效果，过滤后的值基本上是符合</a:t>
            </a:r>
            <a:r>
              <a:rPr lang="en-US" altLang="zh-CN" dirty="0"/>
              <a:t>lognormal</a:t>
            </a:r>
            <a:r>
              <a:rPr lang="zh-CN" altLang="en-US" dirty="0"/>
              <a:t>分布的。</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34</a:t>
            </a:fld>
            <a:endParaRPr lang="en-US"/>
          </a:p>
        </p:txBody>
      </p:sp>
    </p:spTree>
    <p:extLst>
      <p:ext uri="{BB962C8B-B14F-4D97-AF65-F5344CB8AC3E}">
        <p14:creationId xmlns:p14="http://schemas.microsoft.com/office/powerpoint/2010/main" val="40089472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404040"/>
                </a:solidFill>
                <a:effectLst/>
                <a:latin typeface="-apple-system"/>
              </a:rPr>
              <a:t>筛选基因</a:t>
            </a:r>
            <a:r>
              <a:rPr lang="en-US" altLang="zh-CN" b="1" i="0" dirty="0">
                <a:solidFill>
                  <a:srgbClr val="404040"/>
                </a:solidFill>
                <a:effectLst/>
                <a:latin typeface="-apple-system"/>
              </a:rPr>
              <a:t>(</a:t>
            </a:r>
            <a:r>
              <a:rPr lang="zh-CN" altLang="en-US" b="1" i="0" dirty="0">
                <a:solidFill>
                  <a:srgbClr val="404040"/>
                </a:solidFill>
                <a:effectLst/>
                <a:latin typeface="-apple-system"/>
              </a:rPr>
              <a:t>用于拟分析时序</a:t>
            </a:r>
            <a:r>
              <a:rPr lang="en-US" altLang="zh-CN" b="1" i="0" dirty="0">
                <a:solidFill>
                  <a:srgbClr val="404040"/>
                </a:solidFill>
                <a:effectLst/>
                <a:latin typeface="-apple-system"/>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dirty="0">
                <a:solidFill>
                  <a:srgbClr val="404040"/>
                </a:solidFill>
                <a:effectLst/>
                <a:latin typeface="-apple-system"/>
              </a:rPr>
              <a:t>1 </a:t>
            </a:r>
            <a:r>
              <a:rPr lang="zh-CN" altLang="en-US" b="1" i="0" dirty="0">
                <a:solidFill>
                  <a:srgbClr val="404040"/>
                </a:solidFill>
                <a:effectLst/>
                <a:latin typeface="-apple-system"/>
              </a:rPr>
              <a:t>一般过滤标准</a:t>
            </a:r>
          </a:p>
          <a:p>
            <a:r>
              <a:rPr lang="en-US" dirty="0" err="1"/>
              <a:t>unsup_clustering_genes</a:t>
            </a:r>
            <a:r>
              <a:rPr lang="en-US" dirty="0"/>
              <a:t> </a:t>
            </a:r>
            <a:r>
              <a:rPr lang="en-US" dirty="0">
                <a:solidFill>
                  <a:srgbClr val="67CDCC"/>
                </a:solidFill>
                <a:effectLst/>
              </a:rPr>
              <a:t>&lt;-</a:t>
            </a:r>
            <a:r>
              <a:rPr lang="en-US" dirty="0"/>
              <a:t> subset</a:t>
            </a:r>
            <a:r>
              <a:rPr lang="en-US" dirty="0">
                <a:solidFill>
                  <a:srgbClr val="CCCCCC"/>
                </a:solidFill>
                <a:effectLst/>
              </a:rPr>
              <a:t>(</a:t>
            </a:r>
            <a:r>
              <a:rPr lang="en-US" dirty="0" err="1"/>
              <a:t>disp_table</a:t>
            </a:r>
            <a:r>
              <a:rPr lang="en-US" dirty="0">
                <a:solidFill>
                  <a:srgbClr val="CCCCCC"/>
                </a:solidFill>
                <a:effectLst/>
              </a:rPr>
              <a:t>,</a:t>
            </a:r>
            <a:r>
              <a:rPr lang="en-US" dirty="0"/>
              <a:t> </a:t>
            </a:r>
            <a:r>
              <a:rPr lang="en-US" dirty="0" err="1"/>
              <a:t>mean_expression</a:t>
            </a:r>
            <a:r>
              <a:rPr lang="en-US" dirty="0"/>
              <a:t> </a:t>
            </a:r>
            <a:r>
              <a:rPr lang="en-US" dirty="0">
                <a:solidFill>
                  <a:srgbClr val="67CDCC"/>
                </a:solidFill>
                <a:effectLst/>
              </a:rPr>
              <a:t>&gt;=</a:t>
            </a:r>
            <a:r>
              <a:rPr lang="en-US" dirty="0"/>
              <a:t> </a:t>
            </a:r>
            <a:r>
              <a:rPr lang="en-US" dirty="0">
                <a:solidFill>
                  <a:srgbClr val="F08D49"/>
                </a:solidFill>
                <a:effectLst/>
              </a:rPr>
              <a:t>0.1</a:t>
            </a:r>
            <a:r>
              <a:rPr lang="en-US" dirty="0">
                <a:solidFill>
                  <a:srgbClr val="CCCCCC"/>
                </a:solidFill>
                <a:effectLst/>
              </a:rPr>
              <a:t>)</a:t>
            </a:r>
          </a:p>
          <a:p>
            <a:endParaRPr lang="en-US" dirty="0">
              <a:solidFill>
                <a:srgbClr val="CCCCCC"/>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i="0" dirty="0">
                <a:solidFill>
                  <a:srgbClr val="404040"/>
                </a:solidFill>
                <a:effectLst/>
                <a:latin typeface="-apple-system"/>
              </a:rPr>
              <a:t>2 </a:t>
            </a:r>
            <a:r>
              <a:rPr lang="zh-CN" altLang="en-US" b="1" i="0" dirty="0">
                <a:solidFill>
                  <a:srgbClr val="404040"/>
                </a:solidFill>
                <a:effectLst/>
                <a:latin typeface="-apple-system"/>
              </a:rPr>
              <a:t>使用差异表达基因</a:t>
            </a:r>
          </a:p>
          <a:p>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35</a:t>
            </a:fld>
            <a:endParaRPr lang="en-US"/>
          </a:p>
        </p:txBody>
      </p:sp>
    </p:spTree>
    <p:extLst>
      <p:ext uri="{BB962C8B-B14F-4D97-AF65-F5344CB8AC3E}">
        <p14:creationId xmlns:p14="http://schemas.microsoft.com/office/powerpoint/2010/main" val="24195168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a:t>
            </a:r>
            <a:r>
              <a:rPr lang="zh-TW" altLang="en-US" dirty="0"/>
              <a:t>在這之前有做</a:t>
            </a:r>
            <a:r>
              <a:rPr lang="en-US" altLang="zh-TW" dirty="0"/>
              <a:t>Dimensionality Reduction)</a:t>
            </a:r>
            <a:endParaRPr lang="en-US" altLang="zh-CN" dirty="0"/>
          </a:p>
          <a:p>
            <a:r>
              <a:rPr lang="zh-CN" altLang="en-US" dirty="0"/>
              <a:t>降维之后，在二维空间展示细胞</a:t>
            </a:r>
            <a:r>
              <a:rPr lang="en-US" altLang="zh-CN" dirty="0" err="1"/>
              <a:t>pseudotime</a:t>
            </a:r>
            <a:r>
              <a:rPr lang="zh-CN" altLang="en-US" dirty="0"/>
              <a:t>的分布，可以看到是一个树状结构</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37</a:t>
            </a:fld>
            <a:endParaRPr lang="en-US"/>
          </a:p>
        </p:txBody>
      </p:sp>
    </p:spTree>
    <p:extLst>
      <p:ext uri="{BB962C8B-B14F-4D97-AF65-F5344CB8AC3E}">
        <p14:creationId xmlns:p14="http://schemas.microsoft.com/office/powerpoint/2010/main" val="9112551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根据</a:t>
            </a:r>
            <a:r>
              <a:rPr lang="en-US" altLang="zh-CN" dirty="0" err="1"/>
              <a:t>pseudotime</a:t>
            </a:r>
            <a:r>
              <a:rPr lang="zh-CN" altLang="en-US" dirty="0"/>
              <a:t>的值给细胞赋颜色</a:t>
            </a:r>
            <a:r>
              <a:rPr lang="zh-TW" altLang="en-US" dirty="0"/>
              <a:t>，知道起始點和終點</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38</a:t>
            </a:fld>
            <a:endParaRPr lang="en-US"/>
          </a:p>
        </p:txBody>
      </p:sp>
    </p:spTree>
    <p:extLst>
      <p:ext uri="{BB962C8B-B14F-4D97-AF65-F5344CB8AC3E}">
        <p14:creationId xmlns:p14="http://schemas.microsoft.com/office/powerpoint/2010/main" val="4196646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39</a:t>
            </a:fld>
            <a:endParaRPr lang="en-US"/>
          </a:p>
        </p:txBody>
      </p:sp>
    </p:spTree>
    <p:extLst>
      <p:ext uri="{BB962C8B-B14F-4D97-AF65-F5344CB8AC3E}">
        <p14:creationId xmlns:p14="http://schemas.microsoft.com/office/powerpoint/2010/main" val="38661799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DNB (Dynamic Network Biomarker)</a:t>
            </a:r>
          </a:p>
          <a:p>
            <a:r>
              <a:rPr lang="en-US" dirty="0"/>
              <a:t>+ GCN</a:t>
            </a:r>
            <a:br>
              <a:rPr lang="en-US" dirty="0"/>
            </a:br>
            <a:br>
              <a:rPr lang="en-US" dirty="0"/>
            </a:br>
            <a:r>
              <a:rPr lang="zh-TW" altLang="en-US" dirty="0"/>
              <a:t>每個 </a:t>
            </a:r>
            <a:r>
              <a:rPr lang="en-US" altLang="zh-TW" dirty="0"/>
              <a:t>DNB</a:t>
            </a:r>
            <a:r>
              <a:rPr lang="zh-TW" altLang="en-US" dirty="0"/>
              <a:t> 就是一組一組的基因</a:t>
            </a:r>
            <a:endParaRPr lang="en-US" altLang="zh-TW" dirty="0"/>
          </a:p>
          <a:p>
            <a:r>
              <a:rPr lang="en-US" altLang="zh-TW" dirty="0"/>
              <a:t>WGCNA</a:t>
            </a:r>
            <a:endParaRPr lang="en-US" dirty="0"/>
          </a:p>
        </p:txBody>
      </p:sp>
      <p:sp>
        <p:nvSpPr>
          <p:cNvPr id="4" name="Slide Number Placeholder 3"/>
          <p:cNvSpPr>
            <a:spLocks noGrp="1"/>
          </p:cNvSpPr>
          <p:nvPr>
            <p:ph type="sldNum" sz="quarter" idx="5"/>
          </p:nvPr>
        </p:nvSpPr>
        <p:spPr/>
        <p:txBody>
          <a:bodyPr/>
          <a:lstStyle/>
          <a:p>
            <a:fld id="{16F022A8-D9E0-49E1-A86C-93A7A2C7B21C}" type="slidenum">
              <a:rPr lang="en-US" smtClean="0"/>
              <a:t>40</a:t>
            </a:fld>
            <a:endParaRPr lang="en-US"/>
          </a:p>
        </p:txBody>
      </p:sp>
    </p:spTree>
    <p:extLst>
      <p:ext uri="{BB962C8B-B14F-4D97-AF65-F5344CB8AC3E}">
        <p14:creationId xmlns:p14="http://schemas.microsoft.com/office/powerpoint/2010/main" val="3686493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每個 </a:t>
            </a:r>
            <a:r>
              <a:rPr lang="en-US" altLang="zh-TW" dirty="0"/>
              <a:t>DNB</a:t>
            </a:r>
            <a:r>
              <a:rPr lang="zh-TW" altLang="en-US" dirty="0"/>
              <a:t> 就是一組一組的基因</a:t>
            </a:r>
            <a:endParaRPr lang="en-US" altLang="zh-TW" dirty="0"/>
          </a:p>
        </p:txBody>
      </p:sp>
      <p:sp>
        <p:nvSpPr>
          <p:cNvPr id="4" name="Slide Number Placeholder 3"/>
          <p:cNvSpPr>
            <a:spLocks noGrp="1"/>
          </p:cNvSpPr>
          <p:nvPr>
            <p:ph type="sldNum" sz="quarter" idx="5"/>
          </p:nvPr>
        </p:nvSpPr>
        <p:spPr/>
        <p:txBody>
          <a:bodyPr/>
          <a:lstStyle/>
          <a:p>
            <a:fld id="{16F022A8-D9E0-49E1-A86C-93A7A2C7B21C}" type="slidenum">
              <a:rPr lang="en-US" smtClean="0"/>
              <a:t>41</a:t>
            </a:fld>
            <a:endParaRPr lang="en-US"/>
          </a:p>
        </p:txBody>
      </p:sp>
    </p:spTree>
    <p:extLst>
      <p:ext uri="{BB962C8B-B14F-4D97-AF65-F5344CB8AC3E}">
        <p14:creationId xmlns:p14="http://schemas.microsoft.com/office/powerpoint/2010/main" val="27442712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每個 </a:t>
            </a:r>
            <a:r>
              <a:rPr lang="en-US" altLang="zh-TW" dirty="0"/>
              <a:t>DNB</a:t>
            </a:r>
            <a:r>
              <a:rPr lang="zh-TW" altLang="en-US" dirty="0"/>
              <a:t> 就是一組一組的基因</a:t>
            </a:r>
            <a:endParaRPr lang="en-US" altLang="zh-TW" dirty="0"/>
          </a:p>
        </p:txBody>
      </p:sp>
      <p:sp>
        <p:nvSpPr>
          <p:cNvPr id="4" name="Slide Number Placeholder 3"/>
          <p:cNvSpPr>
            <a:spLocks noGrp="1"/>
          </p:cNvSpPr>
          <p:nvPr>
            <p:ph type="sldNum" sz="quarter" idx="5"/>
          </p:nvPr>
        </p:nvSpPr>
        <p:spPr/>
        <p:txBody>
          <a:bodyPr/>
          <a:lstStyle/>
          <a:p>
            <a:fld id="{16F022A8-D9E0-49E1-A86C-93A7A2C7B21C}" type="slidenum">
              <a:rPr lang="en-US" smtClean="0"/>
              <a:t>42</a:t>
            </a:fld>
            <a:endParaRPr lang="en-US"/>
          </a:p>
        </p:txBody>
      </p:sp>
    </p:spTree>
    <p:extLst>
      <p:ext uri="{BB962C8B-B14F-4D97-AF65-F5344CB8AC3E}">
        <p14:creationId xmlns:p14="http://schemas.microsoft.com/office/powerpoint/2010/main" val="998106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EC853-97A9-D4C1-BACF-DEF5907D2D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26396E-24FB-F27F-F5ED-CE06564CC0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F84B8F-BD12-F758-2A2C-B44020326F2C}"/>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5" name="Footer Placeholder 4">
            <a:extLst>
              <a:ext uri="{FF2B5EF4-FFF2-40B4-BE49-F238E27FC236}">
                <a16:creationId xmlns:a16="http://schemas.microsoft.com/office/drawing/2014/main" id="{E776032A-817B-AD21-6FF5-9DB76F9861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2CA6D-7EC5-511A-8738-807C360B5D9D}"/>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2775481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0EE93-A422-4CD2-C6CE-A3637356E9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E97B8D-BD00-C9AF-D403-7C2EBE9B11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69D78-92CF-5288-DF36-F04EACCBBE2C}"/>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5" name="Footer Placeholder 4">
            <a:extLst>
              <a:ext uri="{FF2B5EF4-FFF2-40B4-BE49-F238E27FC236}">
                <a16:creationId xmlns:a16="http://schemas.microsoft.com/office/drawing/2014/main" id="{6166E9BA-B339-DDA1-6CBB-5A3557F09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DA97C4-1915-DA1C-F79D-7CF148ECEB20}"/>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3759125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61BD9-4B81-7C8F-6101-6F0E407389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D9660C-30E2-5E11-38C9-5B116B496B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ED613D-9AD4-BFB7-08B8-1D8F652C6501}"/>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5" name="Footer Placeholder 4">
            <a:extLst>
              <a:ext uri="{FF2B5EF4-FFF2-40B4-BE49-F238E27FC236}">
                <a16:creationId xmlns:a16="http://schemas.microsoft.com/office/drawing/2014/main" id="{28207F1D-5292-0247-8A81-A089DC2318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4E5ED-716D-4FEB-A8DC-CC34655DE41B}"/>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37615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E6F8D-DE54-60A5-4BA1-847065DDFB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BDED17-7FBA-B07C-932D-33FC9C72BE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BA6196-2170-CD1F-BFCB-2CE75A1191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9252516-AD9A-938D-426D-98BE2D7BE69B}"/>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6" name="Footer Placeholder 5">
            <a:extLst>
              <a:ext uri="{FF2B5EF4-FFF2-40B4-BE49-F238E27FC236}">
                <a16:creationId xmlns:a16="http://schemas.microsoft.com/office/drawing/2014/main" id="{4575BB42-CCB5-C056-EA2F-9B0AB4FA91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53864A-79B3-C88F-D183-38BAC5B590A5}"/>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3049568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6721-A05A-A47B-8FED-336C6B5CDD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1D0CA3-7BD2-77BC-BC61-D69329A0BF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6DFADC-B53B-5943-EFA9-8ADDD1F615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587DC6-7AC3-9D01-3E27-5F5230B7C6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974950-905C-22DC-FF6D-C2E19E075A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FA8384-83CD-DA1D-74B0-29A74AA2E5F4}"/>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8" name="Footer Placeholder 7">
            <a:extLst>
              <a:ext uri="{FF2B5EF4-FFF2-40B4-BE49-F238E27FC236}">
                <a16:creationId xmlns:a16="http://schemas.microsoft.com/office/drawing/2014/main" id="{A624647F-39CB-64D4-FC78-E8BE0AF869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51ECED-1B98-AD44-2E5F-8EBF995A7A13}"/>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1003792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EAF3A-532C-88F7-18E4-327E8DB92D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54CFCC-482C-DC3C-3105-59FBE7CD804C}"/>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4" name="Footer Placeholder 3">
            <a:extLst>
              <a:ext uri="{FF2B5EF4-FFF2-40B4-BE49-F238E27FC236}">
                <a16:creationId xmlns:a16="http://schemas.microsoft.com/office/drawing/2014/main" id="{386735BC-515F-8154-E0B9-D939FAEE28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CDF943-0700-03A6-41E7-6264EB9045B3}"/>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3871946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DF3BC9-717F-80E2-3BC0-0EBF6C430634}"/>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3" name="Footer Placeholder 2">
            <a:extLst>
              <a:ext uri="{FF2B5EF4-FFF2-40B4-BE49-F238E27FC236}">
                <a16:creationId xmlns:a16="http://schemas.microsoft.com/office/drawing/2014/main" id="{0B23635F-238B-287E-D200-52DDFF4A01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ECA627-C2E1-58CF-1FAC-803ECD0F7798}"/>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3109472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9913-8C31-B574-3C0F-1D98276081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3738F1-7684-4A2F-35BB-AB5942F8F1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F1B82A-B4BF-367D-FEE8-FC08216709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EC352C-7FFB-2CFC-A47F-4B9ED599C1B5}"/>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6" name="Footer Placeholder 5">
            <a:extLst>
              <a:ext uri="{FF2B5EF4-FFF2-40B4-BE49-F238E27FC236}">
                <a16:creationId xmlns:a16="http://schemas.microsoft.com/office/drawing/2014/main" id="{D3DF777F-974A-20E1-47CC-C362644828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A5AEC4-9BD4-84EE-5810-3A26C81C1434}"/>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3930829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14AFF-6315-76AA-AE44-71B7E331BC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3DE852-3801-3014-C7E2-CB15636FC8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95765E-CF45-FE60-4A8E-0EBE41B1B3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AE85FE-F712-3A3F-C50D-04810D83DDF8}"/>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6" name="Footer Placeholder 5">
            <a:extLst>
              <a:ext uri="{FF2B5EF4-FFF2-40B4-BE49-F238E27FC236}">
                <a16:creationId xmlns:a16="http://schemas.microsoft.com/office/drawing/2014/main" id="{DB268466-8B59-425F-D097-92CD3F6E07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85C16-7FB3-EC81-262D-6806DD6AA2C4}"/>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2167372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3156D-89E3-446D-3E60-A0F66C68FE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8E7AA9-4096-8CEE-25DE-058FA35CC7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9C7BF-4E17-212F-F11D-0BC67B06FFA9}"/>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5" name="Footer Placeholder 4">
            <a:extLst>
              <a:ext uri="{FF2B5EF4-FFF2-40B4-BE49-F238E27FC236}">
                <a16:creationId xmlns:a16="http://schemas.microsoft.com/office/drawing/2014/main" id="{EB78E542-C63E-5C78-76E9-9F501F1BF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699972-DE00-9D4B-2DC8-1C2693800AB9}"/>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1411067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62419E-4243-5FE4-60E1-72CD32D913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D0C954-D7FB-7706-A968-D5E267C0C9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29E9DA-FFEF-BFED-C187-16590FA74CD2}"/>
              </a:ext>
            </a:extLst>
          </p:cNvPr>
          <p:cNvSpPr>
            <a:spLocks noGrp="1"/>
          </p:cNvSpPr>
          <p:nvPr>
            <p:ph type="dt" sz="half" idx="10"/>
          </p:nvPr>
        </p:nvSpPr>
        <p:spPr/>
        <p:txBody>
          <a:bodyPr/>
          <a:lstStyle/>
          <a:p>
            <a:fld id="{6E10E3D9-C555-44C8-9367-6373B1F46613}" type="datetimeFigureOut">
              <a:rPr lang="en-US" smtClean="0"/>
              <a:t>10/21/2023</a:t>
            </a:fld>
            <a:endParaRPr lang="en-US"/>
          </a:p>
        </p:txBody>
      </p:sp>
      <p:sp>
        <p:nvSpPr>
          <p:cNvPr id="5" name="Footer Placeholder 4">
            <a:extLst>
              <a:ext uri="{FF2B5EF4-FFF2-40B4-BE49-F238E27FC236}">
                <a16:creationId xmlns:a16="http://schemas.microsoft.com/office/drawing/2014/main" id="{62884CC3-CB4C-D096-9D33-D4A6B2CEB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082177-33CC-B841-0D0C-59FBAE853AE3}"/>
              </a:ext>
            </a:extLst>
          </p:cNvPr>
          <p:cNvSpPr>
            <a:spLocks noGrp="1"/>
          </p:cNvSpPr>
          <p:nvPr>
            <p:ph type="sldNum" sz="quarter" idx="12"/>
          </p:nvPr>
        </p:nvSpPr>
        <p:spPr/>
        <p:txBody>
          <a:bodyPr/>
          <a:lstStyle/>
          <a:p>
            <a:fld id="{266BA895-9E84-4D11-BA44-25A682386C82}" type="slidenum">
              <a:rPr lang="en-US" smtClean="0"/>
              <a:t>‹#›</a:t>
            </a:fld>
            <a:endParaRPr lang="en-US"/>
          </a:p>
        </p:txBody>
      </p:sp>
    </p:spTree>
    <p:extLst>
      <p:ext uri="{BB962C8B-B14F-4D97-AF65-F5344CB8AC3E}">
        <p14:creationId xmlns:p14="http://schemas.microsoft.com/office/powerpoint/2010/main" val="81383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0F40C5-9562-DC60-D994-FFFB3D2C04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018A3F-39FF-8C62-E97E-98D092E94E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B3BFA3-A5C4-8118-38DC-84A3ABF846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0E3D9-C555-44C8-9367-6373B1F46613}" type="datetimeFigureOut">
              <a:rPr lang="en-US" smtClean="0"/>
              <a:t>10/21/2023</a:t>
            </a:fld>
            <a:endParaRPr lang="en-US"/>
          </a:p>
        </p:txBody>
      </p:sp>
      <p:sp>
        <p:nvSpPr>
          <p:cNvPr id="5" name="Footer Placeholder 4">
            <a:extLst>
              <a:ext uri="{FF2B5EF4-FFF2-40B4-BE49-F238E27FC236}">
                <a16:creationId xmlns:a16="http://schemas.microsoft.com/office/drawing/2014/main" id="{8BE9A084-6A0D-5CD3-7A4B-3402366C0F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D5E5B8-232A-3C48-0D68-342A4BEA20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6BA895-9E84-4D11-BA44-25A682386C82}" type="slidenum">
              <a:rPr lang="en-US" smtClean="0"/>
              <a:t>‹#›</a:t>
            </a:fld>
            <a:endParaRPr lang="en-US"/>
          </a:p>
        </p:txBody>
      </p:sp>
    </p:spTree>
    <p:extLst>
      <p:ext uri="{BB962C8B-B14F-4D97-AF65-F5344CB8AC3E}">
        <p14:creationId xmlns:p14="http://schemas.microsoft.com/office/powerpoint/2010/main" val="3898643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tisch.comp-genomics.org/search-gene/"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D4E17C4-40C8-990A-DEF5-62E466F8EE4B}"/>
              </a:ext>
            </a:extLst>
          </p:cNvPr>
          <p:cNvSpPr>
            <a:spLocks noGrp="1"/>
          </p:cNvSpPr>
          <p:nvPr>
            <p:ph type="ctrTitle"/>
          </p:nvPr>
        </p:nvSpPr>
        <p:spPr>
          <a:xfrm>
            <a:off x="1524000" y="2534855"/>
            <a:ext cx="9144000" cy="975107"/>
          </a:xfrm>
        </p:spPr>
        <p:txBody>
          <a:bodyPr/>
          <a:lstStyle/>
          <a:p>
            <a:r>
              <a:rPr lang="en-US" altLang="zh-TW" dirty="0"/>
              <a:t>Progress Report</a:t>
            </a:r>
            <a:endParaRPr lang="en-US" dirty="0"/>
          </a:p>
        </p:txBody>
      </p:sp>
      <p:sp>
        <p:nvSpPr>
          <p:cNvPr id="5" name="Subtitle 2">
            <a:extLst>
              <a:ext uri="{FF2B5EF4-FFF2-40B4-BE49-F238E27FC236}">
                <a16:creationId xmlns:a16="http://schemas.microsoft.com/office/drawing/2014/main" id="{38B01626-1B31-0D9C-EA4F-B86F9100C0DD}"/>
              </a:ext>
            </a:extLst>
          </p:cNvPr>
          <p:cNvSpPr>
            <a:spLocks noGrp="1"/>
          </p:cNvSpPr>
          <p:nvPr>
            <p:ph type="subTitle" idx="1"/>
          </p:nvPr>
        </p:nvSpPr>
        <p:spPr>
          <a:xfrm>
            <a:off x="1524000" y="3602038"/>
            <a:ext cx="9144000" cy="1655762"/>
          </a:xfrm>
        </p:spPr>
        <p:txBody>
          <a:bodyPr/>
          <a:lstStyle/>
          <a:p>
            <a:r>
              <a:rPr lang="en-US" sz="3200" dirty="0"/>
              <a:t>Chen, Yi Jie</a:t>
            </a:r>
          </a:p>
          <a:p>
            <a:r>
              <a:rPr lang="en-US" dirty="0"/>
              <a:t>2023.10.13</a:t>
            </a:r>
          </a:p>
          <a:p>
            <a:endParaRPr lang="en-US" dirty="0"/>
          </a:p>
        </p:txBody>
      </p:sp>
    </p:spTree>
    <p:extLst>
      <p:ext uri="{BB962C8B-B14F-4D97-AF65-F5344CB8AC3E}">
        <p14:creationId xmlns:p14="http://schemas.microsoft.com/office/powerpoint/2010/main" val="988725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940242B-31D4-FF0D-EBED-51DCFABB516E}"/>
              </a:ext>
            </a:extLst>
          </p:cNvPr>
          <p:cNvSpPr>
            <a:spLocks noGrp="1"/>
          </p:cNvSpPr>
          <p:nvPr>
            <p:ph type="title"/>
          </p:nvPr>
        </p:nvSpPr>
        <p:spPr>
          <a:xfrm>
            <a:off x="838200" y="365125"/>
            <a:ext cx="10515600" cy="1325563"/>
          </a:xfrm>
        </p:spPr>
        <p:txBody>
          <a:bodyPr/>
          <a:lstStyle/>
          <a:p>
            <a:r>
              <a:rPr lang="en-US" dirty="0"/>
              <a:t>Outline</a:t>
            </a:r>
          </a:p>
        </p:txBody>
      </p:sp>
      <p:sp>
        <p:nvSpPr>
          <p:cNvPr id="5" name="Content Placeholder 2">
            <a:extLst>
              <a:ext uri="{FF2B5EF4-FFF2-40B4-BE49-F238E27FC236}">
                <a16:creationId xmlns:a16="http://schemas.microsoft.com/office/drawing/2014/main" id="{14DECE67-ADAF-59EB-60F5-B89541557492}"/>
              </a:ext>
            </a:extLst>
          </p:cNvPr>
          <p:cNvSpPr>
            <a:spLocks noGrp="1"/>
          </p:cNvSpPr>
          <p:nvPr>
            <p:ph idx="1"/>
          </p:nvPr>
        </p:nvSpPr>
        <p:spPr>
          <a:xfrm>
            <a:off x="838200" y="1825625"/>
            <a:ext cx="10515600" cy="4351338"/>
          </a:xfrm>
        </p:spPr>
        <p:txBody>
          <a:bodyPr/>
          <a:lstStyle/>
          <a:p>
            <a:pPr>
              <a:lnSpc>
                <a:spcPct val="150000"/>
              </a:lnSpc>
            </a:pPr>
            <a:r>
              <a:rPr lang="en-US" altLang="zh-TW" sz="3200" dirty="0"/>
              <a:t>Single Cell Analysis</a:t>
            </a:r>
          </a:p>
          <a:p>
            <a:pPr lvl="1">
              <a:lnSpc>
                <a:spcPct val="150000"/>
              </a:lnSpc>
            </a:pPr>
            <a:r>
              <a:rPr lang="en-US" altLang="zh-TW" sz="2800" dirty="0"/>
              <a:t>Seurat </a:t>
            </a:r>
          </a:p>
          <a:p>
            <a:pPr lvl="1">
              <a:lnSpc>
                <a:spcPct val="150000"/>
              </a:lnSpc>
            </a:pPr>
            <a:r>
              <a:rPr lang="en-US" altLang="zh-TW" sz="2800" dirty="0"/>
              <a:t>Monocle2</a:t>
            </a:r>
          </a:p>
          <a:p>
            <a:pPr>
              <a:lnSpc>
                <a:spcPct val="150000"/>
              </a:lnSpc>
            </a:pPr>
            <a:r>
              <a:rPr lang="en-US" sz="3200" dirty="0"/>
              <a:t>Future Work</a:t>
            </a:r>
          </a:p>
          <a:p>
            <a:pPr marL="0" indent="0">
              <a:buNone/>
            </a:pPr>
            <a:endParaRPr lang="en-US" dirty="0"/>
          </a:p>
          <a:p>
            <a:endParaRPr lang="en-US" dirty="0"/>
          </a:p>
        </p:txBody>
      </p:sp>
    </p:spTree>
    <p:extLst>
      <p:ext uri="{BB962C8B-B14F-4D97-AF65-F5344CB8AC3E}">
        <p14:creationId xmlns:p14="http://schemas.microsoft.com/office/powerpoint/2010/main" val="2735636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145EF4DA-8492-0C6F-500E-7B72B37F2D27}"/>
              </a:ext>
            </a:extLst>
          </p:cNvPr>
          <p:cNvPicPr>
            <a:picLocks noGrp="1" noChangeAspect="1"/>
          </p:cNvPicPr>
          <p:nvPr>
            <p:ph idx="1"/>
          </p:nvPr>
        </p:nvPicPr>
        <p:blipFill>
          <a:blip r:embed="rId2"/>
          <a:stretch>
            <a:fillRect/>
          </a:stretch>
        </p:blipFill>
        <p:spPr>
          <a:xfrm>
            <a:off x="2077400" y="712055"/>
            <a:ext cx="8037199" cy="5433890"/>
          </a:xfrm>
        </p:spPr>
      </p:pic>
    </p:spTree>
    <p:extLst>
      <p:ext uri="{BB962C8B-B14F-4D97-AF65-F5344CB8AC3E}">
        <p14:creationId xmlns:p14="http://schemas.microsoft.com/office/powerpoint/2010/main" val="429382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093C5-1340-4102-570E-916658079050}"/>
              </a:ext>
            </a:extLst>
          </p:cNvPr>
          <p:cNvSpPr>
            <a:spLocks noGrp="1"/>
          </p:cNvSpPr>
          <p:nvPr>
            <p:ph type="title"/>
          </p:nvPr>
        </p:nvSpPr>
        <p:spPr/>
        <p:txBody>
          <a:bodyPr/>
          <a:lstStyle/>
          <a:p>
            <a:r>
              <a:rPr lang="en-US" altLang="zh-TW" dirty="0"/>
              <a:t>Dataset: Glioma</a:t>
            </a:r>
            <a:endParaRPr lang="en-US" dirty="0"/>
          </a:p>
        </p:txBody>
      </p:sp>
      <p:pic>
        <p:nvPicPr>
          <p:cNvPr id="5" name="Picture 4">
            <a:extLst>
              <a:ext uri="{FF2B5EF4-FFF2-40B4-BE49-F238E27FC236}">
                <a16:creationId xmlns:a16="http://schemas.microsoft.com/office/drawing/2014/main" id="{200002B6-9F7F-512A-85B7-7C0E63FB1AFA}"/>
              </a:ext>
            </a:extLst>
          </p:cNvPr>
          <p:cNvPicPr>
            <a:picLocks noChangeAspect="1"/>
          </p:cNvPicPr>
          <p:nvPr/>
        </p:nvPicPr>
        <p:blipFill>
          <a:blip r:embed="rId3"/>
          <a:stretch>
            <a:fillRect/>
          </a:stretch>
        </p:blipFill>
        <p:spPr>
          <a:xfrm>
            <a:off x="3016723" y="1690688"/>
            <a:ext cx="6158553" cy="4969952"/>
          </a:xfrm>
          <a:prstGeom prst="rect">
            <a:avLst/>
          </a:prstGeom>
        </p:spPr>
      </p:pic>
      <p:pic>
        <p:nvPicPr>
          <p:cNvPr id="4" name="Picture 3">
            <a:extLst>
              <a:ext uri="{FF2B5EF4-FFF2-40B4-BE49-F238E27FC236}">
                <a16:creationId xmlns:a16="http://schemas.microsoft.com/office/drawing/2014/main" id="{D19B6903-580B-E1BB-C5AD-7AB6E27F9EA4}"/>
              </a:ext>
            </a:extLst>
          </p:cNvPr>
          <p:cNvPicPr>
            <a:picLocks noChangeAspect="1"/>
          </p:cNvPicPr>
          <p:nvPr/>
        </p:nvPicPr>
        <p:blipFill>
          <a:blip r:embed="rId4"/>
          <a:stretch>
            <a:fillRect/>
          </a:stretch>
        </p:blipFill>
        <p:spPr>
          <a:xfrm>
            <a:off x="6772772" y="5167312"/>
            <a:ext cx="5204911" cy="739204"/>
          </a:xfrm>
          <a:prstGeom prst="rect">
            <a:avLst/>
          </a:prstGeom>
        </p:spPr>
      </p:pic>
    </p:spTree>
    <p:extLst>
      <p:ext uri="{BB962C8B-B14F-4D97-AF65-F5344CB8AC3E}">
        <p14:creationId xmlns:p14="http://schemas.microsoft.com/office/powerpoint/2010/main" val="840434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25C9B-9E2B-0C47-64A9-BF2A239B7983}"/>
              </a:ext>
            </a:extLst>
          </p:cNvPr>
          <p:cNvSpPr>
            <a:spLocks noGrp="1"/>
          </p:cNvSpPr>
          <p:nvPr>
            <p:ph type="title"/>
          </p:nvPr>
        </p:nvSpPr>
        <p:spPr/>
        <p:txBody>
          <a:bodyPr/>
          <a:lstStyle/>
          <a:p>
            <a:r>
              <a:rPr lang="en-US" dirty="0"/>
              <a:t>Barcodes/ Features/ Sparse </a:t>
            </a:r>
            <a:r>
              <a:rPr lang="en-US" dirty="0" err="1"/>
              <a:t>Mtx</a:t>
            </a:r>
            <a:endParaRPr lang="en-US" dirty="0"/>
          </a:p>
        </p:txBody>
      </p:sp>
      <p:pic>
        <p:nvPicPr>
          <p:cNvPr id="5" name="Picture 4">
            <a:extLst>
              <a:ext uri="{FF2B5EF4-FFF2-40B4-BE49-F238E27FC236}">
                <a16:creationId xmlns:a16="http://schemas.microsoft.com/office/drawing/2014/main" id="{E79FE46E-5DA4-1854-514E-1C39E596213D}"/>
              </a:ext>
            </a:extLst>
          </p:cNvPr>
          <p:cNvPicPr>
            <a:picLocks noChangeAspect="1"/>
          </p:cNvPicPr>
          <p:nvPr/>
        </p:nvPicPr>
        <p:blipFill>
          <a:blip r:embed="rId3"/>
          <a:stretch>
            <a:fillRect/>
          </a:stretch>
        </p:blipFill>
        <p:spPr>
          <a:xfrm>
            <a:off x="0" y="1690688"/>
            <a:ext cx="12192000" cy="1481328"/>
          </a:xfrm>
          <a:prstGeom prst="rect">
            <a:avLst/>
          </a:prstGeom>
        </p:spPr>
      </p:pic>
      <p:pic>
        <p:nvPicPr>
          <p:cNvPr id="7" name="Picture 6">
            <a:extLst>
              <a:ext uri="{FF2B5EF4-FFF2-40B4-BE49-F238E27FC236}">
                <a16:creationId xmlns:a16="http://schemas.microsoft.com/office/drawing/2014/main" id="{5BA23331-0FD0-D1CE-A002-401D7019D751}"/>
              </a:ext>
            </a:extLst>
          </p:cNvPr>
          <p:cNvPicPr>
            <a:picLocks noChangeAspect="1"/>
          </p:cNvPicPr>
          <p:nvPr/>
        </p:nvPicPr>
        <p:blipFill>
          <a:blip r:embed="rId4"/>
          <a:stretch>
            <a:fillRect/>
          </a:stretch>
        </p:blipFill>
        <p:spPr>
          <a:xfrm>
            <a:off x="0" y="3581717"/>
            <a:ext cx="12192000" cy="2529840"/>
          </a:xfrm>
          <a:prstGeom prst="rect">
            <a:avLst/>
          </a:prstGeom>
        </p:spPr>
      </p:pic>
    </p:spTree>
    <p:extLst>
      <p:ext uri="{BB962C8B-B14F-4D97-AF65-F5344CB8AC3E}">
        <p14:creationId xmlns:p14="http://schemas.microsoft.com/office/powerpoint/2010/main" val="4048144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25C9B-9E2B-0C47-64A9-BF2A239B7983}"/>
              </a:ext>
            </a:extLst>
          </p:cNvPr>
          <p:cNvSpPr>
            <a:spLocks noGrp="1"/>
          </p:cNvSpPr>
          <p:nvPr>
            <p:ph type="title"/>
          </p:nvPr>
        </p:nvSpPr>
        <p:spPr/>
        <p:txBody>
          <a:bodyPr/>
          <a:lstStyle/>
          <a:p>
            <a:r>
              <a:rPr lang="en-US" dirty="0"/>
              <a:t>Barcodes/ Features/ Sparse </a:t>
            </a:r>
            <a:r>
              <a:rPr lang="en-US" dirty="0" err="1"/>
              <a:t>Mtx</a:t>
            </a:r>
            <a:endParaRPr lang="en-US" dirty="0"/>
          </a:p>
        </p:txBody>
      </p:sp>
      <p:pic>
        <p:nvPicPr>
          <p:cNvPr id="4" name="Picture 3">
            <a:extLst>
              <a:ext uri="{FF2B5EF4-FFF2-40B4-BE49-F238E27FC236}">
                <a16:creationId xmlns:a16="http://schemas.microsoft.com/office/drawing/2014/main" id="{10373AC1-934F-43B4-4AE9-37FB9A3D1ED5}"/>
              </a:ext>
            </a:extLst>
          </p:cNvPr>
          <p:cNvPicPr>
            <a:picLocks noChangeAspect="1"/>
          </p:cNvPicPr>
          <p:nvPr/>
        </p:nvPicPr>
        <p:blipFill>
          <a:blip r:embed="rId3"/>
          <a:stretch>
            <a:fillRect/>
          </a:stretch>
        </p:blipFill>
        <p:spPr>
          <a:xfrm>
            <a:off x="0" y="2088405"/>
            <a:ext cx="12192000" cy="1798320"/>
          </a:xfrm>
          <a:prstGeom prst="rect">
            <a:avLst/>
          </a:prstGeom>
        </p:spPr>
      </p:pic>
      <p:pic>
        <p:nvPicPr>
          <p:cNvPr id="5" name="Picture 4">
            <a:extLst>
              <a:ext uri="{FF2B5EF4-FFF2-40B4-BE49-F238E27FC236}">
                <a16:creationId xmlns:a16="http://schemas.microsoft.com/office/drawing/2014/main" id="{31A42DC1-4063-10ED-FBF2-D23F905349F8}"/>
              </a:ext>
            </a:extLst>
          </p:cNvPr>
          <p:cNvPicPr>
            <a:picLocks noChangeAspect="1"/>
          </p:cNvPicPr>
          <p:nvPr/>
        </p:nvPicPr>
        <p:blipFill>
          <a:blip r:embed="rId4"/>
          <a:stretch>
            <a:fillRect/>
          </a:stretch>
        </p:blipFill>
        <p:spPr>
          <a:xfrm>
            <a:off x="409902" y="4526389"/>
            <a:ext cx="10731063" cy="1716970"/>
          </a:xfrm>
          <a:prstGeom prst="rect">
            <a:avLst/>
          </a:prstGeom>
        </p:spPr>
      </p:pic>
    </p:spTree>
    <p:extLst>
      <p:ext uri="{BB962C8B-B14F-4D97-AF65-F5344CB8AC3E}">
        <p14:creationId xmlns:p14="http://schemas.microsoft.com/office/powerpoint/2010/main" val="3332374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25C9B-9E2B-0C47-64A9-BF2A239B7983}"/>
              </a:ext>
            </a:extLst>
          </p:cNvPr>
          <p:cNvSpPr>
            <a:spLocks noGrp="1"/>
          </p:cNvSpPr>
          <p:nvPr>
            <p:ph type="title"/>
          </p:nvPr>
        </p:nvSpPr>
        <p:spPr>
          <a:xfrm>
            <a:off x="1037895" y="2766218"/>
            <a:ext cx="3429000" cy="1325563"/>
          </a:xfrm>
        </p:spPr>
        <p:txBody>
          <a:bodyPr/>
          <a:lstStyle/>
          <a:p>
            <a:r>
              <a:rPr lang="en-US" dirty="0"/>
              <a:t>Volcano Plot</a:t>
            </a:r>
          </a:p>
        </p:txBody>
      </p:sp>
      <p:pic>
        <p:nvPicPr>
          <p:cNvPr id="5" name="Picture 4">
            <a:extLst>
              <a:ext uri="{FF2B5EF4-FFF2-40B4-BE49-F238E27FC236}">
                <a16:creationId xmlns:a16="http://schemas.microsoft.com/office/drawing/2014/main" id="{564963F1-4140-BAE5-B537-B1F9A5288AC9}"/>
              </a:ext>
            </a:extLst>
          </p:cNvPr>
          <p:cNvPicPr>
            <a:picLocks noChangeAspect="1"/>
          </p:cNvPicPr>
          <p:nvPr/>
        </p:nvPicPr>
        <p:blipFill>
          <a:blip r:embed="rId3"/>
          <a:stretch>
            <a:fillRect/>
          </a:stretch>
        </p:blipFill>
        <p:spPr>
          <a:xfrm>
            <a:off x="4918621" y="237095"/>
            <a:ext cx="6653267" cy="6383810"/>
          </a:xfrm>
          <a:prstGeom prst="rect">
            <a:avLst/>
          </a:prstGeom>
        </p:spPr>
      </p:pic>
    </p:spTree>
    <p:extLst>
      <p:ext uri="{BB962C8B-B14F-4D97-AF65-F5344CB8AC3E}">
        <p14:creationId xmlns:p14="http://schemas.microsoft.com/office/powerpoint/2010/main" val="1775570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59C46-1D7C-6C2E-DD07-E2FC00EB9B5E}"/>
              </a:ext>
            </a:extLst>
          </p:cNvPr>
          <p:cNvSpPr>
            <a:spLocks noGrp="1"/>
          </p:cNvSpPr>
          <p:nvPr>
            <p:ph type="title"/>
          </p:nvPr>
        </p:nvSpPr>
        <p:spPr>
          <a:xfrm>
            <a:off x="680545" y="2766218"/>
            <a:ext cx="3733800" cy="1325563"/>
          </a:xfrm>
        </p:spPr>
        <p:txBody>
          <a:bodyPr>
            <a:normAutofit fontScale="90000"/>
          </a:bodyPr>
          <a:lstStyle/>
          <a:p>
            <a:r>
              <a:rPr lang="en-US" altLang="zh-TW" dirty="0"/>
              <a:t>The proportional of the Data</a:t>
            </a:r>
            <a:endParaRPr lang="en-US" dirty="0"/>
          </a:p>
        </p:txBody>
      </p:sp>
      <p:pic>
        <p:nvPicPr>
          <p:cNvPr id="5" name="Picture 4">
            <a:extLst>
              <a:ext uri="{FF2B5EF4-FFF2-40B4-BE49-F238E27FC236}">
                <a16:creationId xmlns:a16="http://schemas.microsoft.com/office/drawing/2014/main" id="{EE0674FA-140E-E84B-B6D5-49DEDC7D46AA}"/>
              </a:ext>
            </a:extLst>
          </p:cNvPr>
          <p:cNvPicPr>
            <a:picLocks noChangeAspect="1"/>
          </p:cNvPicPr>
          <p:nvPr/>
        </p:nvPicPr>
        <p:blipFill>
          <a:blip r:embed="rId3"/>
          <a:stretch>
            <a:fillRect/>
          </a:stretch>
        </p:blipFill>
        <p:spPr>
          <a:xfrm>
            <a:off x="4739946" y="0"/>
            <a:ext cx="7147473" cy="6858000"/>
          </a:xfrm>
          <a:prstGeom prst="rect">
            <a:avLst/>
          </a:prstGeom>
        </p:spPr>
      </p:pic>
    </p:spTree>
    <p:extLst>
      <p:ext uri="{BB962C8B-B14F-4D97-AF65-F5344CB8AC3E}">
        <p14:creationId xmlns:p14="http://schemas.microsoft.com/office/powerpoint/2010/main" val="2041410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6E5BE-56D6-7760-DA78-81C054E08D80}"/>
              </a:ext>
            </a:extLst>
          </p:cNvPr>
          <p:cNvSpPr>
            <a:spLocks noGrp="1"/>
          </p:cNvSpPr>
          <p:nvPr>
            <p:ph type="title"/>
          </p:nvPr>
        </p:nvSpPr>
        <p:spPr>
          <a:xfrm>
            <a:off x="1037896" y="2435662"/>
            <a:ext cx="2745828" cy="1325563"/>
          </a:xfrm>
        </p:spPr>
        <p:txBody>
          <a:bodyPr/>
          <a:lstStyle/>
          <a:p>
            <a:r>
              <a:rPr lang="en-US" dirty="0"/>
              <a:t>Average Expression</a:t>
            </a:r>
          </a:p>
        </p:txBody>
      </p:sp>
      <p:pic>
        <p:nvPicPr>
          <p:cNvPr id="5" name="Picture 4">
            <a:extLst>
              <a:ext uri="{FF2B5EF4-FFF2-40B4-BE49-F238E27FC236}">
                <a16:creationId xmlns:a16="http://schemas.microsoft.com/office/drawing/2014/main" id="{4357A0AE-E950-0763-BE91-9E2A988EC732}"/>
              </a:ext>
            </a:extLst>
          </p:cNvPr>
          <p:cNvPicPr>
            <a:picLocks noChangeAspect="1"/>
          </p:cNvPicPr>
          <p:nvPr/>
        </p:nvPicPr>
        <p:blipFill>
          <a:blip r:embed="rId3"/>
          <a:stretch>
            <a:fillRect/>
          </a:stretch>
        </p:blipFill>
        <p:spPr>
          <a:xfrm>
            <a:off x="4813518" y="0"/>
            <a:ext cx="7147473" cy="6858000"/>
          </a:xfrm>
          <a:prstGeom prst="rect">
            <a:avLst/>
          </a:prstGeom>
        </p:spPr>
      </p:pic>
    </p:spTree>
    <p:extLst>
      <p:ext uri="{BB962C8B-B14F-4D97-AF65-F5344CB8AC3E}">
        <p14:creationId xmlns:p14="http://schemas.microsoft.com/office/powerpoint/2010/main" val="420544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66A12-A311-2A48-959D-26EA072095D5}"/>
              </a:ext>
            </a:extLst>
          </p:cNvPr>
          <p:cNvSpPr>
            <a:spLocks noGrp="1"/>
          </p:cNvSpPr>
          <p:nvPr>
            <p:ph type="title"/>
          </p:nvPr>
        </p:nvSpPr>
        <p:spPr/>
        <p:txBody>
          <a:bodyPr/>
          <a:lstStyle/>
          <a:p>
            <a:r>
              <a:rPr lang="en-US" altLang="zh-TW" dirty="0"/>
              <a:t>Normalization</a:t>
            </a:r>
            <a:endParaRPr lang="en-US" dirty="0"/>
          </a:p>
        </p:txBody>
      </p:sp>
      <p:pic>
        <p:nvPicPr>
          <p:cNvPr id="5" name="Content Placeholder 4">
            <a:extLst>
              <a:ext uri="{FF2B5EF4-FFF2-40B4-BE49-F238E27FC236}">
                <a16:creationId xmlns:a16="http://schemas.microsoft.com/office/drawing/2014/main" id="{09083D27-CC43-FD64-EBA0-E0818A0FF8BD}"/>
              </a:ext>
            </a:extLst>
          </p:cNvPr>
          <p:cNvPicPr>
            <a:picLocks noGrp="1" noChangeAspect="1"/>
          </p:cNvPicPr>
          <p:nvPr>
            <p:ph idx="1"/>
          </p:nvPr>
        </p:nvPicPr>
        <p:blipFill>
          <a:blip r:embed="rId2"/>
          <a:stretch>
            <a:fillRect/>
          </a:stretch>
        </p:blipFill>
        <p:spPr>
          <a:xfrm>
            <a:off x="1691258" y="2606713"/>
            <a:ext cx="8809483" cy="2789162"/>
          </a:xfrm>
        </p:spPr>
      </p:pic>
    </p:spTree>
    <p:extLst>
      <p:ext uri="{BB962C8B-B14F-4D97-AF65-F5344CB8AC3E}">
        <p14:creationId xmlns:p14="http://schemas.microsoft.com/office/powerpoint/2010/main" val="2229950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50E278-749D-1A46-D1DE-FDF12A9EE40D}"/>
              </a:ext>
            </a:extLst>
          </p:cNvPr>
          <p:cNvPicPr>
            <a:picLocks noChangeAspect="1"/>
          </p:cNvPicPr>
          <p:nvPr/>
        </p:nvPicPr>
        <p:blipFill>
          <a:blip r:embed="rId3"/>
          <a:stretch>
            <a:fillRect/>
          </a:stretch>
        </p:blipFill>
        <p:spPr>
          <a:xfrm>
            <a:off x="756992" y="716045"/>
            <a:ext cx="6431837" cy="5425910"/>
          </a:xfrm>
          <a:prstGeom prst="rect">
            <a:avLst/>
          </a:prstGeom>
        </p:spPr>
      </p:pic>
      <p:pic>
        <p:nvPicPr>
          <p:cNvPr id="7" name="Picture 6">
            <a:extLst>
              <a:ext uri="{FF2B5EF4-FFF2-40B4-BE49-F238E27FC236}">
                <a16:creationId xmlns:a16="http://schemas.microsoft.com/office/drawing/2014/main" id="{D1583CDF-C350-BC75-57C4-772C6E06C087}"/>
              </a:ext>
            </a:extLst>
          </p:cNvPr>
          <p:cNvPicPr>
            <a:picLocks noChangeAspect="1"/>
          </p:cNvPicPr>
          <p:nvPr/>
        </p:nvPicPr>
        <p:blipFill>
          <a:blip r:embed="rId4"/>
          <a:stretch>
            <a:fillRect/>
          </a:stretch>
        </p:blipFill>
        <p:spPr>
          <a:xfrm>
            <a:off x="7094236" y="2091939"/>
            <a:ext cx="5003171" cy="4650447"/>
          </a:xfrm>
          <a:prstGeom prst="rect">
            <a:avLst/>
          </a:prstGeom>
        </p:spPr>
      </p:pic>
    </p:spTree>
    <p:extLst>
      <p:ext uri="{BB962C8B-B14F-4D97-AF65-F5344CB8AC3E}">
        <p14:creationId xmlns:p14="http://schemas.microsoft.com/office/powerpoint/2010/main" val="390449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E2B0-29AC-C593-AC94-C5065E903BD1}"/>
              </a:ext>
            </a:extLst>
          </p:cNvPr>
          <p:cNvSpPr>
            <a:spLocks noGrp="1"/>
          </p:cNvSpPr>
          <p:nvPr>
            <p:ph type="title"/>
          </p:nvPr>
        </p:nvSpPr>
        <p:spPr>
          <a:xfrm>
            <a:off x="1111469" y="2766218"/>
            <a:ext cx="3292366" cy="1325563"/>
          </a:xfrm>
        </p:spPr>
        <p:txBody>
          <a:bodyPr/>
          <a:lstStyle/>
          <a:p>
            <a:r>
              <a:rPr lang="en-US" dirty="0"/>
              <a:t>Elbow Plot</a:t>
            </a:r>
          </a:p>
        </p:txBody>
      </p:sp>
      <p:pic>
        <p:nvPicPr>
          <p:cNvPr id="5" name="Picture 4">
            <a:extLst>
              <a:ext uri="{FF2B5EF4-FFF2-40B4-BE49-F238E27FC236}">
                <a16:creationId xmlns:a16="http://schemas.microsoft.com/office/drawing/2014/main" id="{DC84DFF8-66E4-54FF-671D-15CD65B15F83}"/>
              </a:ext>
            </a:extLst>
          </p:cNvPr>
          <p:cNvPicPr>
            <a:picLocks noChangeAspect="1"/>
          </p:cNvPicPr>
          <p:nvPr/>
        </p:nvPicPr>
        <p:blipFill>
          <a:blip r:embed="rId3"/>
          <a:stretch>
            <a:fillRect/>
          </a:stretch>
        </p:blipFill>
        <p:spPr>
          <a:xfrm>
            <a:off x="5160361" y="990709"/>
            <a:ext cx="5734410" cy="5502166"/>
          </a:xfrm>
          <a:prstGeom prst="rect">
            <a:avLst/>
          </a:prstGeom>
        </p:spPr>
      </p:pic>
    </p:spTree>
    <p:extLst>
      <p:ext uri="{BB962C8B-B14F-4D97-AF65-F5344CB8AC3E}">
        <p14:creationId xmlns:p14="http://schemas.microsoft.com/office/powerpoint/2010/main" val="4279721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E2B0-29AC-C593-AC94-C5065E903BD1}"/>
              </a:ext>
            </a:extLst>
          </p:cNvPr>
          <p:cNvSpPr>
            <a:spLocks noGrp="1"/>
          </p:cNvSpPr>
          <p:nvPr>
            <p:ph type="title"/>
          </p:nvPr>
        </p:nvSpPr>
        <p:spPr>
          <a:xfrm>
            <a:off x="1111469" y="2766218"/>
            <a:ext cx="3292366" cy="1325563"/>
          </a:xfrm>
        </p:spPr>
        <p:txBody>
          <a:bodyPr/>
          <a:lstStyle/>
          <a:p>
            <a:r>
              <a:rPr lang="en-US" dirty="0"/>
              <a:t>Elbow Plot</a:t>
            </a:r>
          </a:p>
        </p:txBody>
      </p:sp>
      <p:pic>
        <p:nvPicPr>
          <p:cNvPr id="4" name="Picture 3">
            <a:extLst>
              <a:ext uri="{FF2B5EF4-FFF2-40B4-BE49-F238E27FC236}">
                <a16:creationId xmlns:a16="http://schemas.microsoft.com/office/drawing/2014/main" id="{D5DD95F9-6C85-5155-49A2-A25AF4597E74}"/>
              </a:ext>
            </a:extLst>
          </p:cNvPr>
          <p:cNvPicPr>
            <a:picLocks noChangeAspect="1"/>
          </p:cNvPicPr>
          <p:nvPr/>
        </p:nvPicPr>
        <p:blipFill>
          <a:blip r:embed="rId3"/>
          <a:stretch>
            <a:fillRect/>
          </a:stretch>
        </p:blipFill>
        <p:spPr>
          <a:xfrm>
            <a:off x="5181380" y="275803"/>
            <a:ext cx="6750489" cy="6477094"/>
          </a:xfrm>
          <a:prstGeom prst="rect">
            <a:avLst/>
          </a:prstGeom>
        </p:spPr>
      </p:pic>
    </p:spTree>
    <p:extLst>
      <p:ext uri="{BB962C8B-B14F-4D97-AF65-F5344CB8AC3E}">
        <p14:creationId xmlns:p14="http://schemas.microsoft.com/office/powerpoint/2010/main" val="599387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2E6F1-BFB7-8A10-E14A-5794C753F159}"/>
              </a:ext>
            </a:extLst>
          </p:cNvPr>
          <p:cNvSpPr>
            <a:spLocks noGrp="1"/>
          </p:cNvSpPr>
          <p:nvPr>
            <p:ph type="title"/>
          </p:nvPr>
        </p:nvSpPr>
        <p:spPr/>
        <p:txBody>
          <a:bodyPr/>
          <a:lstStyle/>
          <a:p>
            <a:r>
              <a:rPr lang="en-US" dirty="0"/>
              <a:t>UMAP</a:t>
            </a:r>
          </a:p>
        </p:txBody>
      </p:sp>
      <p:pic>
        <p:nvPicPr>
          <p:cNvPr id="5" name="Picture 4">
            <a:extLst>
              <a:ext uri="{FF2B5EF4-FFF2-40B4-BE49-F238E27FC236}">
                <a16:creationId xmlns:a16="http://schemas.microsoft.com/office/drawing/2014/main" id="{634AC161-B6D2-60AC-1EBF-CDE51EBE50DC}"/>
              </a:ext>
            </a:extLst>
          </p:cNvPr>
          <p:cNvPicPr>
            <a:picLocks noChangeAspect="1"/>
          </p:cNvPicPr>
          <p:nvPr/>
        </p:nvPicPr>
        <p:blipFill>
          <a:blip r:embed="rId3"/>
          <a:stretch>
            <a:fillRect/>
          </a:stretch>
        </p:blipFill>
        <p:spPr>
          <a:xfrm>
            <a:off x="698939" y="1566193"/>
            <a:ext cx="11046372" cy="4926682"/>
          </a:xfrm>
          <a:prstGeom prst="rect">
            <a:avLst/>
          </a:prstGeom>
        </p:spPr>
      </p:pic>
    </p:spTree>
    <p:extLst>
      <p:ext uri="{BB962C8B-B14F-4D97-AF65-F5344CB8AC3E}">
        <p14:creationId xmlns:p14="http://schemas.microsoft.com/office/powerpoint/2010/main" val="461849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99A63-870C-706D-5042-8E3F4AF68787}"/>
              </a:ext>
            </a:extLst>
          </p:cNvPr>
          <p:cNvSpPr>
            <a:spLocks noGrp="1"/>
          </p:cNvSpPr>
          <p:nvPr>
            <p:ph type="title"/>
          </p:nvPr>
        </p:nvSpPr>
        <p:spPr>
          <a:xfrm>
            <a:off x="8471558" y="2974427"/>
            <a:ext cx="3331780" cy="1060068"/>
          </a:xfrm>
        </p:spPr>
        <p:txBody>
          <a:bodyPr>
            <a:normAutofit fontScale="90000"/>
          </a:bodyPr>
          <a:lstStyle/>
          <a:p>
            <a:r>
              <a:rPr lang="en-US" dirty="0"/>
              <a:t>UMAP – </a:t>
            </a:r>
            <a:br>
              <a:rPr lang="en-US" dirty="0"/>
            </a:br>
            <a:r>
              <a:rPr lang="en-US" dirty="0"/>
              <a:t>Single Gene</a:t>
            </a:r>
          </a:p>
        </p:txBody>
      </p:sp>
      <p:pic>
        <p:nvPicPr>
          <p:cNvPr id="6" name="Picture 5">
            <a:extLst>
              <a:ext uri="{FF2B5EF4-FFF2-40B4-BE49-F238E27FC236}">
                <a16:creationId xmlns:a16="http://schemas.microsoft.com/office/drawing/2014/main" id="{199475B7-F86F-E763-05D0-5C788C1D7CF9}"/>
              </a:ext>
            </a:extLst>
          </p:cNvPr>
          <p:cNvPicPr>
            <a:picLocks noChangeAspect="1"/>
          </p:cNvPicPr>
          <p:nvPr/>
        </p:nvPicPr>
        <p:blipFill>
          <a:blip r:embed="rId2"/>
          <a:stretch>
            <a:fillRect/>
          </a:stretch>
        </p:blipFill>
        <p:spPr>
          <a:xfrm>
            <a:off x="388662" y="462028"/>
            <a:ext cx="6285407" cy="6030847"/>
          </a:xfrm>
          <a:prstGeom prst="rect">
            <a:avLst/>
          </a:prstGeom>
        </p:spPr>
      </p:pic>
    </p:spTree>
    <p:extLst>
      <p:ext uri="{BB962C8B-B14F-4D97-AF65-F5344CB8AC3E}">
        <p14:creationId xmlns:p14="http://schemas.microsoft.com/office/powerpoint/2010/main" val="2878837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3EA3D-6FE1-9FE1-BCB2-8BC533B8FD56}"/>
              </a:ext>
            </a:extLst>
          </p:cNvPr>
          <p:cNvSpPr>
            <a:spLocks noGrp="1"/>
          </p:cNvSpPr>
          <p:nvPr>
            <p:ph type="title"/>
          </p:nvPr>
        </p:nvSpPr>
        <p:spPr/>
        <p:txBody>
          <a:bodyPr/>
          <a:lstStyle/>
          <a:p>
            <a:r>
              <a:rPr lang="en-US" dirty="0"/>
              <a:t>Clustering</a:t>
            </a:r>
          </a:p>
        </p:txBody>
      </p:sp>
      <p:pic>
        <p:nvPicPr>
          <p:cNvPr id="5" name="Picture 4">
            <a:extLst>
              <a:ext uri="{FF2B5EF4-FFF2-40B4-BE49-F238E27FC236}">
                <a16:creationId xmlns:a16="http://schemas.microsoft.com/office/drawing/2014/main" id="{C944BBC3-CC24-7606-A139-004C98F5F754}"/>
              </a:ext>
            </a:extLst>
          </p:cNvPr>
          <p:cNvPicPr>
            <a:picLocks noChangeAspect="1"/>
          </p:cNvPicPr>
          <p:nvPr/>
        </p:nvPicPr>
        <p:blipFill>
          <a:blip r:embed="rId3"/>
          <a:stretch>
            <a:fillRect/>
          </a:stretch>
        </p:blipFill>
        <p:spPr>
          <a:xfrm>
            <a:off x="265386" y="2124040"/>
            <a:ext cx="11088414" cy="4368835"/>
          </a:xfrm>
          <a:prstGeom prst="rect">
            <a:avLst/>
          </a:prstGeom>
        </p:spPr>
      </p:pic>
      <p:pic>
        <p:nvPicPr>
          <p:cNvPr id="4" name="Picture 3">
            <a:extLst>
              <a:ext uri="{FF2B5EF4-FFF2-40B4-BE49-F238E27FC236}">
                <a16:creationId xmlns:a16="http://schemas.microsoft.com/office/drawing/2014/main" id="{13080035-51A6-B996-B6EA-CC7C6FC1177B}"/>
              </a:ext>
            </a:extLst>
          </p:cNvPr>
          <p:cNvPicPr>
            <a:picLocks noChangeAspect="1"/>
          </p:cNvPicPr>
          <p:nvPr/>
        </p:nvPicPr>
        <p:blipFill>
          <a:blip r:embed="rId4"/>
          <a:stretch>
            <a:fillRect/>
          </a:stretch>
        </p:blipFill>
        <p:spPr>
          <a:xfrm>
            <a:off x="7272454" y="129099"/>
            <a:ext cx="4613633" cy="6599802"/>
          </a:xfrm>
          <a:prstGeom prst="rect">
            <a:avLst/>
          </a:prstGeom>
        </p:spPr>
      </p:pic>
    </p:spTree>
    <p:extLst>
      <p:ext uri="{BB962C8B-B14F-4D97-AF65-F5344CB8AC3E}">
        <p14:creationId xmlns:p14="http://schemas.microsoft.com/office/powerpoint/2010/main" val="990333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FE2B78-531A-5407-9074-522C801D1766}"/>
              </a:ext>
            </a:extLst>
          </p:cNvPr>
          <p:cNvPicPr>
            <a:picLocks noChangeAspect="1"/>
          </p:cNvPicPr>
          <p:nvPr/>
        </p:nvPicPr>
        <p:blipFill>
          <a:blip r:embed="rId3"/>
          <a:stretch>
            <a:fillRect/>
          </a:stretch>
        </p:blipFill>
        <p:spPr>
          <a:xfrm>
            <a:off x="2080828" y="0"/>
            <a:ext cx="7147473" cy="6858000"/>
          </a:xfrm>
          <a:prstGeom prst="rect">
            <a:avLst/>
          </a:prstGeom>
        </p:spPr>
      </p:pic>
    </p:spTree>
    <p:extLst>
      <p:ext uri="{BB962C8B-B14F-4D97-AF65-F5344CB8AC3E}">
        <p14:creationId xmlns:p14="http://schemas.microsoft.com/office/powerpoint/2010/main" val="3870550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96DB27-4CCC-4871-FD23-606A7E9A1D4F}"/>
              </a:ext>
            </a:extLst>
          </p:cNvPr>
          <p:cNvPicPr>
            <a:picLocks noChangeAspect="1"/>
          </p:cNvPicPr>
          <p:nvPr/>
        </p:nvPicPr>
        <p:blipFill>
          <a:blip r:embed="rId3"/>
          <a:stretch>
            <a:fillRect/>
          </a:stretch>
        </p:blipFill>
        <p:spPr>
          <a:xfrm>
            <a:off x="1715960" y="945930"/>
            <a:ext cx="8760080" cy="5260428"/>
          </a:xfrm>
          <a:prstGeom prst="rect">
            <a:avLst/>
          </a:prstGeom>
        </p:spPr>
      </p:pic>
    </p:spTree>
    <p:extLst>
      <p:ext uri="{BB962C8B-B14F-4D97-AF65-F5344CB8AC3E}">
        <p14:creationId xmlns:p14="http://schemas.microsoft.com/office/powerpoint/2010/main" val="64647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6500B-C27F-3A3C-ED4C-3798CEE53491}"/>
              </a:ext>
            </a:extLst>
          </p:cNvPr>
          <p:cNvSpPr>
            <a:spLocks noGrp="1"/>
          </p:cNvSpPr>
          <p:nvPr>
            <p:ph type="title"/>
          </p:nvPr>
        </p:nvSpPr>
        <p:spPr/>
        <p:txBody>
          <a:bodyPr/>
          <a:lstStyle/>
          <a:p>
            <a:r>
              <a:rPr lang="en-US" dirty="0" err="1"/>
              <a:t>tsne</a:t>
            </a:r>
            <a:endParaRPr lang="en-US" dirty="0"/>
          </a:p>
        </p:txBody>
      </p:sp>
      <p:pic>
        <p:nvPicPr>
          <p:cNvPr id="5" name="Picture 4">
            <a:extLst>
              <a:ext uri="{FF2B5EF4-FFF2-40B4-BE49-F238E27FC236}">
                <a16:creationId xmlns:a16="http://schemas.microsoft.com/office/drawing/2014/main" id="{BDDCE5AB-257F-F81A-AA3F-173D405B211A}"/>
              </a:ext>
            </a:extLst>
          </p:cNvPr>
          <p:cNvPicPr>
            <a:picLocks noChangeAspect="1"/>
          </p:cNvPicPr>
          <p:nvPr/>
        </p:nvPicPr>
        <p:blipFill>
          <a:blip r:embed="rId3"/>
          <a:stretch>
            <a:fillRect/>
          </a:stretch>
        </p:blipFill>
        <p:spPr>
          <a:xfrm>
            <a:off x="550185" y="1961697"/>
            <a:ext cx="11335902" cy="4092261"/>
          </a:xfrm>
          <a:prstGeom prst="rect">
            <a:avLst/>
          </a:prstGeom>
        </p:spPr>
      </p:pic>
    </p:spTree>
    <p:extLst>
      <p:ext uri="{BB962C8B-B14F-4D97-AF65-F5344CB8AC3E}">
        <p14:creationId xmlns:p14="http://schemas.microsoft.com/office/powerpoint/2010/main" val="1807089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802AC0-AB5E-E8FF-441F-7BDB616B1AE5}"/>
              </a:ext>
            </a:extLst>
          </p:cNvPr>
          <p:cNvPicPr>
            <a:picLocks noChangeAspect="1"/>
          </p:cNvPicPr>
          <p:nvPr/>
        </p:nvPicPr>
        <p:blipFill>
          <a:blip r:embed="rId3"/>
          <a:stretch>
            <a:fillRect/>
          </a:stretch>
        </p:blipFill>
        <p:spPr>
          <a:xfrm>
            <a:off x="1263835" y="394400"/>
            <a:ext cx="9664329" cy="6069199"/>
          </a:xfrm>
          <a:prstGeom prst="rect">
            <a:avLst/>
          </a:prstGeom>
        </p:spPr>
      </p:pic>
    </p:spTree>
    <p:extLst>
      <p:ext uri="{BB962C8B-B14F-4D97-AF65-F5344CB8AC3E}">
        <p14:creationId xmlns:p14="http://schemas.microsoft.com/office/powerpoint/2010/main" val="3017028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5C3DFB-9450-4BC1-16F4-0852A7EA6672}"/>
              </a:ext>
            </a:extLst>
          </p:cNvPr>
          <p:cNvPicPr>
            <a:picLocks noChangeAspect="1"/>
          </p:cNvPicPr>
          <p:nvPr/>
        </p:nvPicPr>
        <p:blipFill>
          <a:blip r:embed="rId3"/>
          <a:stretch>
            <a:fillRect/>
          </a:stretch>
        </p:blipFill>
        <p:spPr>
          <a:xfrm>
            <a:off x="1997558" y="801476"/>
            <a:ext cx="9868621" cy="5940910"/>
          </a:xfrm>
          <a:prstGeom prst="rect">
            <a:avLst/>
          </a:prstGeom>
        </p:spPr>
      </p:pic>
      <p:sp>
        <p:nvSpPr>
          <p:cNvPr id="8" name="Title 1">
            <a:extLst>
              <a:ext uri="{FF2B5EF4-FFF2-40B4-BE49-F238E27FC236}">
                <a16:creationId xmlns:a16="http://schemas.microsoft.com/office/drawing/2014/main" id="{0653A385-9B00-6D3B-954F-AA708808B27F}"/>
              </a:ext>
            </a:extLst>
          </p:cNvPr>
          <p:cNvSpPr>
            <a:spLocks noGrp="1"/>
          </p:cNvSpPr>
          <p:nvPr>
            <p:ph type="title"/>
          </p:nvPr>
        </p:nvSpPr>
        <p:spPr>
          <a:xfrm>
            <a:off x="168166" y="3298335"/>
            <a:ext cx="2808889" cy="1325563"/>
          </a:xfrm>
        </p:spPr>
        <p:txBody>
          <a:bodyPr/>
          <a:lstStyle/>
          <a:p>
            <a:pPr algn="ctr"/>
            <a:r>
              <a:rPr lang="en-US" dirty="0"/>
              <a:t>Cell Annotation</a:t>
            </a:r>
          </a:p>
        </p:txBody>
      </p:sp>
    </p:spTree>
    <p:extLst>
      <p:ext uri="{BB962C8B-B14F-4D97-AF65-F5344CB8AC3E}">
        <p14:creationId xmlns:p14="http://schemas.microsoft.com/office/powerpoint/2010/main" val="1633007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0775B-02D4-6927-D2CF-61930431BAE0}"/>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07DA992E-68A5-89C2-9460-A594EE4201BB}"/>
              </a:ext>
            </a:extLst>
          </p:cNvPr>
          <p:cNvPicPr>
            <a:picLocks noChangeAspect="1"/>
          </p:cNvPicPr>
          <p:nvPr/>
        </p:nvPicPr>
        <p:blipFill>
          <a:blip r:embed="rId2"/>
          <a:stretch>
            <a:fillRect/>
          </a:stretch>
        </p:blipFill>
        <p:spPr>
          <a:xfrm>
            <a:off x="0" y="170688"/>
            <a:ext cx="12192000" cy="6516624"/>
          </a:xfrm>
          <a:prstGeom prst="rect">
            <a:avLst/>
          </a:prstGeom>
        </p:spPr>
      </p:pic>
    </p:spTree>
    <p:extLst>
      <p:ext uri="{BB962C8B-B14F-4D97-AF65-F5344CB8AC3E}">
        <p14:creationId xmlns:p14="http://schemas.microsoft.com/office/powerpoint/2010/main" val="2026485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FD2C0-9EEF-5502-EF3B-1A662C987F31}"/>
              </a:ext>
            </a:extLst>
          </p:cNvPr>
          <p:cNvSpPr>
            <a:spLocks noGrp="1"/>
          </p:cNvSpPr>
          <p:nvPr>
            <p:ph type="title"/>
          </p:nvPr>
        </p:nvSpPr>
        <p:spPr/>
        <p:txBody>
          <a:bodyPr/>
          <a:lstStyle/>
          <a:p>
            <a:r>
              <a:rPr lang="en-US" dirty="0" err="1"/>
              <a:t>FindAllMarkers</a:t>
            </a:r>
            <a:r>
              <a:rPr lang="en-US" dirty="0"/>
              <a:t> </a:t>
            </a:r>
          </a:p>
        </p:txBody>
      </p:sp>
      <p:pic>
        <p:nvPicPr>
          <p:cNvPr id="5" name="Picture 4">
            <a:extLst>
              <a:ext uri="{FF2B5EF4-FFF2-40B4-BE49-F238E27FC236}">
                <a16:creationId xmlns:a16="http://schemas.microsoft.com/office/drawing/2014/main" id="{FFBF6C94-EDF8-BE43-612E-6F261341FA01}"/>
              </a:ext>
            </a:extLst>
          </p:cNvPr>
          <p:cNvPicPr>
            <a:picLocks noChangeAspect="1"/>
          </p:cNvPicPr>
          <p:nvPr/>
        </p:nvPicPr>
        <p:blipFill>
          <a:blip r:embed="rId3"/>
          <a:stretch>
            <a:fillRect/>
          </a:stretch>
        </p:blipFill>
        <p:spPr>
          <a:xfrm>
            <a:off x="1676223" y="1690688"/>
            <a:ext cx="8304919" cy="4335328"/>
          </a:xfrm>
          <a:prstGeom prst="rect">
            <a:avLst/>
          </a:prstGeom>
        </p:spPr>
      </p:pic>
    </p:spTree>
    <p:extLst>
      <p:ext uri="{BB962C8B-B14F-4D97-AF65-F5344CB8AC3E}">
        <p14:creationId xmlns:p14="http://schemas.microsoft.com/office/powerpoint/2010/main" val="1159292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23017-4EE2-E8D0-F2F7-5B4FA96EA51F}"/>
              </a:ext>
            </a:extLst>
          </p:cNvPr>
          <p:cNvSpPr>
            <a:spLocks noGrp="1"/>
          </p:cNvSpPr>
          <p:nvPr>
            <p:ph type="title"/>
          </p:nvPr>
        </p:nvSpPr>
        <p:spPr>
          <a:xfrm>
            <a:off x="357351" y="2766218"/>
            <a:ext cx="2932386" cy="1325563"/>
          </a:xfrm>
        </p:spPr>
        <p:txBody>
          <a:bodyPr/>
          <a:lstStyle/>
          <a:p>
            <a:r>
              <a:rPr lang="en-US" dirty="0"/>
              <a:t>DE Analysis</a:t>
            </a:r>
          </a:p>
        </p:txBody>
      </p:sp>
      <p:pic>
        <p:nvPicPr>
          <p:cNvPr id="5" name="Picture 4">
            <a:extLst>
              <a:ext uri="{FF2B5EF4-FFF2-40B4-BE49-F238E27FC236}">
                <a16:creationId xmlns:a16="http://schemas.microsoft.com/office/drawing/2014/main" id="{256D1800-3166-5574-C27E-9878F48156AC}"/>
              </a:ext>
            </a:extLst>
          </p:cNvPr>
          <p:cNvPicPr>
            <a:picLocks noChangeAspect="1"/>
          </p:cNvPicPr>
          <p:nvPr/>
        </p:nvPicPr>
        <p:blipFill>
          <a:blip r:embed="rId3"/>
          <a:stretch>
            <a:fillRect/>
          </a:stretch>
        </p:blipFill>
        <p:spPr>
          <a:xfrm>
            <a:off x="3289737" y="977463"/>
            <a:ext cx="8753069" cy="5523186"/>
          </a:xfrm>
          <a:prstGeom prst="rect">
            <a:avLst/>
          </a:prstGeom>
        </p:spPr>
      </p:pic>
    </p:spTree>
    <p:extLst>
      <p:ext uri="{BB962C8B-B14F-4D97-AF65-F5344CB8AC3E}">
        <p14:creationId xmlns:p14="http://schemas.microsoft.com/office/powerpoint/2010/main" val="3446530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40C9B1-0D79-3083-883C-2E33315AF9B1}"/>
              </a:ext>
            </a:extLst>
          </p:cNvPr>
          <p:cNvPicPr>
            <a:picLocks noChangeAspect="1"/>
          </p:cNvPicPr>
          <p:nvPr/>
        </p:nvPicPr>
        <p:blipFill>
          <a:blip r:embed="rId3"/>
          <a:stretch>
            <a:fillRect/>
          </a:stretch>
        </p:blipFill>
        <p:spPr>
          <a:xfrm>
            <a:off x="1781690" y="262296"/>
            <a:ext cx="8628620" cy="6333407"/>
          </a:xfrm>
          <a:prstGeom prst="rect">
            <a:avLst/>
          </a:prstGeom>
        </p:spPr>
      </p:pic>
      <p:sp>
        <p:nvSpPr>
          <p:cNvPr id="7" name="TextBox 6">
            <a:extLst>
              <a:ext uri="{FF2B5EF4-FFF2-40B4-BE49-F238E27FC236}">
                <a16:creationId xmlns:a16="http://schemas.microsoft.com/office/drawing/2014/main" id="{5699F58A-CF92-F60A-4A9D-37DC4205BB54}"/>
              </a:ext>
            </a:extLst>
          </p:cNvPr>
          <p:cNvSpPr txBox="1"/>
          <p:nvPr/>
        </p:nvSpPr>
        <p:spPr>
          <a:xfrm>
            <a:off x="7714593" y="6488668"/>
            <a:ext cx="4803228" cy="369332"/>
          </a:xfrm>
          <a:prstGeom prst="rect">
            <a:avLst/>
          </a:prstGeom>
          <a:noFill/>
        </p:spPr>
        <p:txBody>
          <a:bodyPr wrap="square">
            <a:spAutoFit/>
          </a:bodyPr>
          <a:lstStyle/>
          <a:p>
            <a:r>
              <a:rPr lang="en-US" dirty="0">
                <a:effectLst/>
                <a:hlinkClick r:id="rId4"/>
              </a:rPr>
              <a:t>http://tisch.comp-genomics.org/search-gene/</a:t>
            </a:r>
            <a:endParaRPr lang="en-US" dirty="0"/>
          </a:p>
        </p:txBody>
      </p:sp>
    </p:spTree>
    <p:extLst>
      <p:ext uri="{BB962C8B-B14F-4D97-AF65-F5344CB8AC3E}">
        <p14:creationId xmlns:p14="http://schemas.microsoft.com/office/powerpoint/2010/main" val="3371436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A312DC2-C215-E2F8-6E3D-05A376223156}"/>
              </a:ext>
            </a:extLst>
          </p:cNvPr>
          <p:cNvPicPr>
            <a:picLocks noGrp="1" noChangeAspect="1"/>
          </p:cNvPicPr>
          <p:nvPr>
            <p:ph idx="1"/>
          </p:nvPr>
        </p:nvPicPr>
        <p:blipFill>
          <a:blip r:embed="rId2"/>
          <a:stretch>
            <a:fillRect/>
          </a:stretch>
        </p:blipFill>
        <p:spPr>
          <a:xfrm>
            <a:off x="1101660" y="258963"/>
            <a:ext cx="10239002" cy="6599037"/>
          </a:xfrm>
          <a:prstGeom prst="rect">
            <a:avLst/>
          </a:prstGeom>
        </p:spPr>
      </p:pic>
    </p:spTree>
    <p:extLst>
      <p:ext uri="{BB962C8B-B14F-4D97-AF65-F5344CB8AC3E}">
        <p14:creationId xmlns:p14="http://schemas.microsoft.com/office/powerpoint/2010/main" val="2178963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748A4-B893-C7AF-CCE1-B70FB156553C}"/>
              </a:ext>
            </a:extLst>
          </p:cNvPr>
          <p:cNvSpPr>
            <a:spLocks noGrp="1"/>
          </p:cNvSpPr>
          <p:nvPr>
            <p:ph type="title"/>
          </p:nvPr>
        </p:nvSpPr>
        <p:spPr/>
        <p:txBody>
          <a:bodyPr/>
          <a:lstStyle/>
          <a:p>
            <a:r>
              <a:rPr lang="en-US" dirty="0"/>
              <a:t>Gene Signature Analysis</a:t>
            </a:r>
          </a:p>
        </p:txBody>
      </p:sp>
      <p:pic>
        <p:nvPicPr>
          <p:cNvPr id="7" name="Picture 6">
            <a:extLst>
              <a:ext uri="{FF2B5EF4-FFF2-40B4-BE49-F238E27FC236}">
                <a16:creationId xmlns:a16="http://schemas.microsoft.com/office/drawing/2014/main" id="{96B2D80F-FEFB-6ED7-21AE-E7891DED5BA2}"/>
              </a:ext>
            </a:extLst>
          </p:cNvPr>
          <p:cNvPicPr>
            <a:picLocks noChangeAspect="1"/>
          </p:cNvPicPr>
          <p:nvPr/>
        </p:nvPicPr>
        <p:blipFill>
          <a:blip r:embed="rId3"/>
          <a:stretch>
            <a:fillRect/>
          </a:stretch>
        </p:blipFill>
        <p:spPr>
          <a:xfrm>
            <a:off x="446689" y="2038587"/>
            <a:ext cx="11298621" cy="3864128"/>
          </a:xfrm>
          <a:prstGeom prst="rect">
            <a:avLst/>
          </a:prstGeom>
        </p:spPr>
      </p:pic>
    </p:spTree>
    <p:extLst>
      <p:ext uri="{BB962C8B-B14F-4D97-AF65-F5344CB8AC3E}">
        <p14:creationId xmlns:p14="http://schemas.microsoft.com/office/powerpoint/2010/main" val="579588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28719-FFAD-C95B-E2AC-47D1C10AB1D0}"/>
              </a:ext>
            </a:extLst>
          </p:cNvPr>
          <p:cNvPicPr>
            <a:picLocks noChangeAspect="1"/>
          </p:cNvPicPr>
          <p:nvPr/>
        </p:nvPicPr>
        <p:blipFill>
          <a:blip r:embed="rId2"/>
          <a:stretch>
            <a:fillRect/>
          </a:stretch>
        </p:blipFill>
        <p:spPr>
          <a:xfrm>
            <a:off x="1391536" y="552209"/>
            <a:ext cx="9408928" cy="6064054"/>
          </a:xfrm>
          <a:prstGeom prst="rect">
            <a:avLst/>
          </a:prstGeom>
        </p:spPr>
      </p:pic>
    </p:spTree>
    <p:extLst>
      <p:ext uri="{BB962C8B-B14F-4D97-AF65-F5344CB8AC3E}">
        <p14:creationId xmlns:p14="http://schemas.microsoft.com/office/powerpoint/2010/main" val="417973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C2A3D-D797-98F9-2631-E23BA40D9DE1}"/>
              </a:ext>
            </a:extLst>
          </p:cNvPr>
          <p:cNvSpPr>
            <a:spLocks noGrp="1"/>
          </p:cNvSpPr>
          <p:nvPr>
            <p:ph type="title"/>
          </p:nvPr>
        </p:nvSpPr>
        <p:spPr/>
        <p:txBody>
          <a:bodyPr/>
          <a:lstStyle/>
          <a:p>
            <a:r>
              <a:rPr lang="en-US" dirty="0"/>
              <a:t>Trajectory Analysis</a:t>
            </a:r>
          </a:p>
        </p:txBody>
      </p:sp>
      <p:pic>
        <p:nvPicPr>
          <p:cNvPr id="7" name="Picture 6">
            <a:extLst>
              <a:ext uri="{FF2B5EF4-FFF2-40B4-BE49-F238E27FC236}">
                <a16:creationId xmlns:a16="http://schemas.microsoft.com/office/drawing/2014/main" id="{666A2AEE-12D0-FFA8-657F-CFD57A5FDBC1}"/>
              </a:ext>
            </a:extLst>
          </p:cNvPr>
          <p:cNvPicPr>
            <a:picLocks noChangeAspect="1"/>
          </p:cNvPicPr>
          <p:nvPr/>
        </p:nvPicPr>
        <p:blipFill>
          <a:blip r:embed="rId3"/>
          <a:stretch>
            <a:fillRect/>
          </a:stretch>
        </p:blipFill>
        <p:spPr>
          <a:xfrm>
            <a:off x="1782706" y="2022988"/>
            <a:ext cx="8626588" cy="2812024"/>
          </a:xfrm>
          <a:prstGeom prst="rect">
            <a:avLst/>
          </a:prstGeom>
        </p:spPr>
      </p:pic>
    </p:spTree>
    <p:extLst>
      <p:ext uri="{BB962C8B-B14F-4D97-AF65-F5344CB8AC3E}">
        <p14:creationId xmlns:p14="http://schemas.microsoft.com/office/powerpoint/2010/main" val="2900992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1F8C0-15CF-1AC3-9685-939F3F427AC0}"/>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1701F146-94C0-28CD-2EB6-86D88D2EB8DF}"/>
              </a:ext>
            </a:extLst>
          </p:cNvPr>
          <p:cNvPicPr>
            <a:picLocks noChangeAspect="1"/>
          </p:cNvPicPr>
          <p:nvPr/>
        </p:nvPicPr>
        <p:blipFill>
          <a:blip r:embed="rId2"/>
          <a:stretch>
            <a:fillRect/>
          </a:stretch>
        </p:blipFill>
        <p:spPr>
          <a:xfrm>
            <a:off x="1531075" y="2168419"/>
            <a:ext cx="9129849" cy="3559719"/>
          </a:xfrm>
          <a:prstGeom prst="rect">
            <a:avLst/>
          </a:prstGeom>
        </p:spPr>
      </p:pic>
    </p:spTree>
    <p:extLst>
      <p:ext uri="{BB962C8B-B14F-4D97-AF65-F5344CB8AC3E}">
        <p14:creationId xmlns:p14="http://schemas.microsoft.com/office/powerpoint/2010/main" val="1517596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34D34-8C5A-E0D1-6F2F-A947607A15D2}"/>
              </a:ext>
            </a:extLst>
          </p:cNvPr>
          <p:cNvSpPr>
            <a:spLocks noGrp="1"/>
          </p:cNvSpPr>
          <p:nvPr>
            <p:ph type="title"/>
          </p:nvPr>
        </p:nvSpPr>
        <p:spPr/>
        <p:txBody>
          <a:bodyPr/>
          <a:lstStyle/>
          <a:p>
            <a:r>
              <a:rPr lang="en-US" dirty="0" err="1">
                <a:effectLst/>
                <a:latin typeface="SFMono-Regular"/>
              </a:rPr>
              <a:t>pData</a:t>
            </a:r>
            <a:r>
              <a:rPr lang="en-US" dirty="0">
                <a:effectLst/>
                <a:latin typeface="SFMono-Regular"/>
              </a:rPr>
              <a:t> </a:t>
            </a:r>
            <a:r>
              <a:rPr lang="zh-TW" altLang="en-US" dirty="0"/>
              <a:t>和 </a:t>
            </a:r>
            <a:r>
              <a:rPr lang="en-US" dirty="0" err="1">
                <a:effectLst/>
                <a:latin typeface="SFMono-Regular"/>
              </a:rPr>
              <a:t>fData</a:t>
            </a:r>
            <a:endParaRPr lang="en-US" dirty="0"/>
          </a:p>
        </p:txBody>
      </p:sp>
      <p:pic>
        <p:nvPicPr>
          <p:cNvPr id="5" name="Content Placeholder 4">
            <a:extLst>
              <a:ext uri="{FF2B5EF4-FFF2-40B4-BE49-F238E27FC236}">
                <a16:creationId xmlns:a16="http://schemas.microsoft.com/office/drawing/2014/main" id="{D815848C-010C-F04D-AD7B-D31D55B665C1}"/>
              </a:ext>
            </a:extLst>
          </p:cNvPr>
          <p:cNvPicPr>
            <a:picLocks noGrp="1" noChangeAspect="1"/>
          </p:cNvPicPr>
          <p:nvPr>
            <p:ph idx="1"/>
          </p:nvPr>
        </p:nvPicPr>
        <p:blipFill>
          <a:blip r:embed="rId3"/>
          <a:stretch>
            <a:fillRect/>
          </a:stretch>
        </p:blipFill>
        <p:spPr>
          <a:xfrm>
            <a:off x="706101" y="2541682"/>
            <a:ext cx="7521592" cy="2751058"/>
          </a:xfrm>
        </p:spPr>
      </p:pic>
      <p:pic>
        <p:nvPicPr>
          <p:cNvPr id="7" name="Picture 6">
            <a:extLst>
              <a:ext uri="{FF2B5EF4-FFF2-40B4-BE49-F238E27FC236}">
                <a16:creationId xmlns:a16="http://schemas.microsoft.com/office/drawing/2014/main" id="{301DEEA7-ED1D-BEC9-04F2-52391EB408EA}"/>
              </a:ext>
            </a:extLst>
          </p:cNvPr>
          <p:cNvPicPr>
            <a:picLocks noChangeAspect="1"/>
          </p:cNvPicPr>
          <p:nvPr/>
        </p:nvPicPr>
        <p:blipFill>
          <a:blip r:embed="rId4"/>
          <a:stretch>
            <a:fillRect/>
          </a:stretch>
        </p:blipFill>
        <p:spPr>
          <a:xfrm>
            <a:off x="8615349" y="3029017"/>
            <a:ext cx="3261076" cy="1732170"/>
          </a:xfrm>
          <a:prstGeom prst="rect">
            <a:avLst/>
          </a:prstGeom>
        </p:spPr>
      </p:pic>
    </p:spTree>
    <p:extLst>
      <p:ext uri="{BB962C8B-B14F-4D97-AF65-F5344CB8AC3E}">
        <p14:creationId xmlns:p14="http://schemas.microsoft.com/office/powerpoint/2010/main" val="315595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E9430-BFC9-A6DE-6DFE-D8681BA27A58}"/>
              </a:ext>
            </a:extLst>
          </p:cNvPr>
          <p:cNvSpPr>
            <a:spLocks noGrp="1"/>
          </p:cNvSpPr>
          <p:nvPr>
            <p:ph type="title"/>
          </p:nvPr>
        </p:nvSpPr>
        <p:spPr/>
        <p:txBody>
          <a:bodyPr/>
          <a:lstStyle/>
          <a:p>
            <a:r>
              <a:rPr lang="en-US" dirty="0"/>
              <a:t>RPC </a:t>
            </a:r>
            <a:r>
              <a:rPr lang="en-US" altLang="zh-CN" dirty="0"/>
              <a:t>(reads per cell)</a:t>
            </a:r>
            <a:endParaRPr lang="en-US" dirty="0"/>
          </a:p>
        </p:txBody>
      </p:sp>
      <p:pic>
        <p:nvPicPr>
          <p:cNvPr id="5" name="Content Placeholder 4">
            <a:extLst>
              <a:ext uri="{FF2B5EF4-FFF2-40B4-BE49-F238E27FC236}">
                <a16:creationId xmlns:a16="http://schemas.microsoft.com/office/drawing/2014/main" id="{92AF46D2-E3AB-1584-51BF-E66407410BA3}"/>
              </a:ext>
            </a:extLst>
          </p:cNvPr>
          <p:cNvPicPr>
            <a:picLocks noGrp="1" noChangeAspect="1"/>
          </p:cNvPicPr>
          <p:nvPr>
            <p:ph idx="1"/>
          </p:nvPr>
        </p:nvPicPr>
        <p:blipFill>
          <a:blip r:embed="rId3"/>
          <a:stretch>
            <a:fillRect/>
          </a:stretch>
        </p:blipFill>
        <p:spPr>
          <a:xfrm>
            <a:off x="1395882" y="1980762"/>
            <a:ext cx="9400235" cy="4512113"/>
          </a:xfrm>
          <a:prstGeom prst="rect">
            <a:avLst/>
          </a:prstGeom>
        </p:spPr>
      </p:pic>
    </p:spTree>
    <p:extLst>
      <p:ext uri="{BB962C8B-B14F-4D97-AF65-F5344CB8AC3E}">
        <p14:creationId xmlns:p14="http://schemas.microsoft.com/office/powerpoint/2010/main" val="203346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0914A-2167-23C3-E8DD-B088269B2396}"/>
              </a:ext>
            </a:extLst>
          </p:cNvPr>
          <p:cNvSpPr>
            <a:spLocks noGrp="1"/>
          </p:cNvSpPr>
          <p:nvPr>
            <p:ph type="title"/>
          </p:nvPr>
        </p:nvSpPr>
        <p:spPr/>
        <p:txBody>
          <a:bodyPr/>
          <a:lstStyle/>
          <a:p>
            <a:r>
              <a:rPr lang="en-US" dirty="0"/>
              <a:t>Filter </a:t>
            </a:r>
            <a:r>
              <a:rPr lang="zh-TW" altLang="en-US" dirty="0"/>
              <a:t>過後</a:t>
            </a:r>
            <a:endParaRPr lang="en-US" dirty="0"/>
          </a:p>
        </p:txBody>
      </p:sp>
      <p:pic>
        <p:nvPicPr>
          <p:cNvPr id="5" name="Picture 4">
            <a:extLst>
              <a:ext uri="{FF2B5EF4-FFF2-40B4-BE49-F238E27FC236}">
                <a16:creationId xmlns:a16="http://schemas.microsoft.com/office/drawing/2014/main" id="{18186A19-2601-CFAF-D0BA-2FCB9BC86D0B}"/>
              </a:ext>
            </a:extLst>
          </p:cNvPr>
          <p:cNvPicPr>
            <a:picLocks noChangeAspect="1"/>
          </p:cNvPicPr>
          <p:nvPr/>
        </p:nvPicPr>
        <p:blipFill>
          <a:blip r:embed="rId3"/>
          <a:stretch>
            <a:fillRect/>
          </a:stretch>
        </p:blipFill>
        <p:spPr>
          <a:xfrm>
            <a:off x="738352" y="2163874"/>
            <a:ext cx="10615448" cy="4118794"/>
          </a:xfrm>
          <a:prstGeom prst="rect">
            <a:avLst/>
          </a:prstGeom>
        </p:spPr>
      </p:pic>
    </p:spTree>
    <p:extLst>
      <p:ext uri="{BB962C8B-B14F-4D97-AF65-F5344CB8AC3E}">
        <p14:creationId xmlns:p14="http://schemas.microsoft.com/office/powerpoint/2010/main" val="2266522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724F9E-2191-D768-2921-EF633C8802CE}"/>
              </a:ext>
            </a:extLst>
          </p:cNvPr>
          <p:cNvPicPr>
            <a:picLocks noChangeAspect="1"/>
          </p:cNvPicPr>
          <p:nvPr/>
        </p:nvPicPr>
        <p:blipFill>
          <a:blip r:embed="rId3"/>
          <a:stretch>
            <a:fillRect/>
          </a:stretch>
        </p:blipFill>
        <p:spPr>
          <a:xfrm>
            <a:off x="1208689" y="1083091"/>
            <a:ext cx="9774621" cy="4691818"/>
          </a:xfrm>
          <a:prstGeom prst="rect">
            <a:avLst/>
          </a:prstGeom>
        </p:spPr>
      </p:pic>
    </p:spTree>
    <p:extLst>
      <p:ext uri="{BB962C8B-B14F-4D97-AF65-F5344CB8AC3E}">
        <p14:creationId xmlns:p14="http://schemas.microsoft.com/office/powerpoint/2010/main" val="4202756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C2E37-0698-C55C-5E27-DC382D7FC05C}"/>
              </a:ext>
            </a:extLst>
          </p:cNvPr>
          <p:cNvSpPr>
            <a:spLocks noGrp="1"/>
          </p:cNvSpPr>
          <p:nvPr>
            <p:ph type="title"/>
          </p:nvPr>
        </p:nvSpPr>
        <p:spPr/>
        <p:txBody>
          <a:bodyPr/>
          <a:lstStyle/>
          <a:p>
            <a:r>
              <a:rPr lang="en-US" dirty="0"/>
              <a:t>Feature Selection</a:t>
            </a:r>
          </a:p>
        </p:txBody>
      </p:sp>
      <p:pic>
        <p:nvPicPr>
          <p:cNvPr id="5" name="Picture 4">
            <a:extLst>
              <a:ext uri="{FF2B5EF4-FFF2-40B4-BE49-F238E27FC236}">
                <a16:creationId xmlns:a16="http://schemas.microsoft.com/office/drawing/2014/main" id="{E6FF18BE-8B3A-0731-4319-3C8AF7E6F899}"/>
              </a:ext>
            </a:extLst>
          </p:cNvPr>
          <p:cNvPicPr>
            <a:picLocks noChangeAspect="1"/>
          </p:cNvPicPr>
          <p:nvPr/>
        </p:nvPicPr>
        <p:blipFill>
          <a:blip r:embed="rId3"/>
          <a:stretch>
            <a:fillRect/>
          </a:stretch>
        </p:blipFill>
        <p:spPr>
          <a:xfrm>
            <a:off x="1524000" y="1522523"/>
            <a:ext cx="9144000" cy="5120640"/>
          </a:xfrm>
          <a:prstGeom prst="rect">
            <a:avLst/>
          </a:prstGeom>
        </p:spPr>
      </p:pic>
    </p:spTree>
    <p:extLst>
      <p:ext uri="{BB962C8B-B14F-4D97-AF65-F5344CB8AC3E}">
        <p14:creationId xmlns:p14="http://schemas.microsoft.com/office/powerpoint/2010/main" val="1743455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4A7A2-3CBE-5C6F-3945-839E20F63F9C}"/>
              </a:ext>
            </a:extLst>
          </p:cNvPr>
          <p:cNvSpPr>
            <a:spLocks noGrp="1"/>
          </p:cNvSpPr>
          <p:nvPr>
            <p:ph type="title"/>
          </p:nvPr>
        </p:nvSpPr>
        <p:spPr/>
        <p:txBody>
          <a:bodyPr/>
          <a:lstStyle/>
          <a:p>
            <a:r>
              <a:rPr lang="en-US" altLang="zh-TW" dirty="0"/>
              <a:t>Dimensionality Reduction</a:t>
            </a:r>
            <a:endParaRPr lang="en-US" dirty="0"/>
          </a:p>
        </p:txBody>
      </p:sp>
      <p:pic>
        <p:nvPicPr>
          <p:cNvPr id="5" name="Picture 4">
            <a:extLst>
              <a:ext uri="{FF2B5EF4-FFF2-40B4-BE49-F238E27FC236}">
                <a16:creationId xmlns:a16="http://schemas.microsoft.com/office/drawing/2014/main" id="{DD1D46F3-4B43-D550-01E0-20A92F6C1141}"/>
              </a:ext>
            </a:extLst>
          </p:cNvPr>
          <p:cNvPicPr>
            <a:picLocks noChangeAspect="1"/>
          </p:cNvPicPr>
          <p:nvPr/>
        </p:nvPicPr>
        <p:blipFill>
          <a:blip r:embed="rId2"/>
          <a:stretch>
            <a:fillRect/>
          </a:stretch>
        </p:blipFill>
        <p:spPr>
          <a:xfrm>
            <a:off x="1799048" y="2388577"/>
            <a:ext cx="7437765" cy="693480"/>
          </a:xfrm>
          <a:prstGeom prst="rect">
            <a:avLst/>
          </a:prstGeom>
        </p:spPr>
      </p:pic>
    </p:spTree>
    <p:extLst>
      <p:ext uri="{BB962C8B-B14F-4D97-AF65-F5344CB8AC3E}">
        <p14:creationId xmlns:p14="http://schemas.microsoft.com/office/powerpoint/2010/main" val="7354448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F3FE2-88A3-5610-7BB2-21C338991E40}"/>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B58CBB81-B865-DCC3-F1EF-9E9F1149DBE5}"/>
              </a:ext>
            </a:extLst>
          </p:cNvPr>
          <p:cNvPicPr>
            <a:picLocks noChangeAspect="1"/>
          </p:cNvPicPr>
          <p:nvPr/>
        </p:nvPicPr>
        <p:blipFill>
          <a:blip r:embed="rId3"/>
          <a:stretch>
            <a:fillRect/>
          </a:stretch>
        </p:blipFill>
        <p:spPr>
          <a:xfrm>
            <a:off x="1364010" y="1521583"/>
            <a:ext cx="8877306" cy="4971292"/>
          </a:xfrm>
          <a:prstGeom prst="rect">
            <a:avLst/>
          </a:prstGeom>
        </p:spPr>
      </p:pic>
    </p:spTree>
    <p:extLst>
      <p:ext uri="{BB962C8B-B14F-4D97-AF65-F5344CB8AC3E}">
        <p14:creationId xmlns:p14="http://schemas.microsoft.com/office/powerpoint/2010/main" val="15920831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73EB9-7359-6D7B-E848-ED00E2B211EA}"/>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5EDC3074-B593-419A-2805-A0D12E3D1A51}"/>
              </a:ext>
            </a:extLst>
          </p:cNvPr>
          <p:cNvPicPr>
            <a:picLocks noChangeAspect="1"/>
          </p:cNvPicPr>
          <p:nvPr/>
        </p:nvPicPr>
        <p:blipFill>
          <a:blip r:embed="rId3"/>
          <a:stretch>
            <a:fillRect/>
          </a:stretch>
        </p:blipFill>
        <p:spPr>
          <a:xfrm>
            <a:off x="1455683" y="1475227"/>
            <a:ext cx="9280634" cy="5197155"/>
          </a:xfrm>
          <a:prstGeom prst="rect">
            <a:avLst/>
          </a:prstGeom>
        </p:spPr>
      </p:pic>
    </p:spTree>
    <p:extLst>
      <p:ext uri="{BB962C8B-B14F-4D97-AF65-F5344CB8AC3E}">
        <p14:creationId xmlns:p14="http://schemas.microsoft.com/office/powerpoint/2010/main" val="8189509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6ADEB-FBEE-E298-154C-59996D3001E5}"/>
              </a:ext>
            </a:extLst>
          </p:cNvPr>
          <p:cNvSpPr>
            <a:spLocks noGrp="1"/>
          </p:cNvSpPr>
          <p:nvPr>
            <p:ph type="title"/>
          </p:nvPr>
        </p:nvSpPr>
        <p:spPr/>
        <p:txBody>
          <a:bodyPr/>
          <a:lstStyle/>
          <a:p>
            <a:r>
              <a:rPr lang="en-US" altLang="zh-TW" dirty="0"/>
              <a:t>Future Work</a:t>
            </a:r>
            <a:endParaRPr lang="en-US" dirty="0"/>
          </a:p>
        </p:txBody>
      </p:sp>
      <p:sp>
        <p:nvSpPr>
          <p:cNvPr id="3" name="Content Placeholder 2">
            <a:extLst>
              <a:ext uri="{FF2B5EF4-FFF2-40B4-BE49-F238E27FC236}">
                <a16:creationId xmlns:a16="http://schemas.microsoft.com/office/drawing/2014/main" id="{82873977-4AD2-9BAD-1D2A-B3BBE01ACA1A}"/>
              </a:ext>
            </a:extLst>
          </p:cNvPr>
          <p:cNvSpPr>
            <a:spLocks noGrp="1"/>
          </p:cNvSpPr>
          <p:nvPr>
            <p:ph idx="1"/>
          </p:nvPr>
        </p:nvSpPr>
        <p:spPr/>
        <p:txBody>
          <a:bodyPr>
            <a:normAutofit/>
          </a:bodyPr>
          <a:lstStyle/>
          <a:p>
            <a:pPr>
              <a:lnSpc>
                <a:spcPct val="150000"/>
              </a:lnSpc>
            </a:pPr>
            <a:r>
              <a:rPr lang="zh-TW" altLang="en-US" dirty="0"/>
              <a:t>收尾 </a:t>
            </a:r>
            <a:r>
              <a:rPr lang="en-US" altLang="zh-TW" dirty="0"/>
              <a:t>Monocle2 (okay)</a:t>
            </a:r>
          </a:p>
          <a:p>
            <a:pPr>
              <a:lnSpc>
                <a:spcPct val="150000"/>
              </a:lnSpc>
            </a:pPr>
            <a:r>
              <a:rPr lang="en-US" dirty="0" err="1"/>
              <a:t>scATAC</a:t>
            </a:r>
            <a:r>
              <a:rPr lang="en-US" dirty="0"/>
              <a:t> Analysis </a:t>
            </a:r>
            <a:r>
              <a:rPr lang="zh-TW" altLang="en-US" dirty="0"/>
              <a:t>實操</a:t>
            </a:r>
            <a:endParaRPr lang="en-US" altLang="zh-TW" dirty="0"/>
          </a:p>
        </p:txBody>
      </p:sp>
    </p:spTree>
    <p:extLst>
      <p:ext uri="{BB962C8B-B14F-4D97-AF65-F5344CB8AC3E}">
        <p14:creationId xmlns:p14="http://schemas.microsoft.com/office/powerpoint/2010/main" val="2843534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2FD2-DC5A-2730-5C32-F64B1D969879}"/>
              </a:ext>
            </a:extLst>
          </p:cNvPr>
          <p:cNvSpPr>
            <a:spLocks noGrp="1"/>
          </p:cNvSpPr>
          <p:nvPr>
            <p:ph type="title"/>
          </p:nvPr>
        </p:nvSpPr>
        <p:spPr/>
        <p:txBody>
          <a:bodyPr/>
          <a:lstStyle/>
          <a:p>
            <a:r>
              <a:rPr lang="en-US" altLang="zh-TW" dirty="0"/>
              <a:t>Conclusion</a:t>
            </a:r>
            <a:endParaRPr lang="en-US" dirty="0"/>
          </a:p>
        </p:txBody>
      </p:sp>
      <p:sp>
        <p:nvSpPr>
          <p:cNvPr id="3" name="Content Placeholder 2">
            <a:extLst>
              <a:ext uri="{FF2B5EF4-FFF2-40B4-BE49-F238E27FC236}">
                <a16:creationId xmlns:a16="http://schemas.microsoft.com/office/drawing/2014/main" id="{B5914D7D-AF16-8FEF-E202-63E9EDB758A3}"/>
              </a:ext>
            </a:extLst>
          </p:cNvPr>
          <p:cNvSpPr>
            <a:spLocks noGrp="1"/>
          </p:cNvSpPr>
          <p:nvPr>
            <p:ph idx="1"/>
          </p:nvPr>
        </p:nvSpPr>
        <p:spPr/>
        <p:txBody>
          <a:bodyPr/>
          <a:lstStyle/>
          <a:p>
            <a:pPr>
              <a:lnSpc>
                <a:spcPct val="150000"/>
              </a:lnSpc>
            </a:pPr>
            <a:r>
              <a:rPr lang="en-US" altLang="zh-TW" dirty="0"/>
              <a:t>Cell Annotation</a:t>
            </a:r>
            <a:r>
              <a:rPr lang="zh-TW" altLang="en-US" dirty="0"/>
              <a:t> 要 </a:t>
            </a:r>
            <a:r>
              <a:rPr lang="en-US" altLang="zh-TW" dirty="0"/>
              <a:t>confirm</a:t>
            </a:r>
            <a:r>
              <a:rPr lang="zh-TW" altLang="en-US" dirty="0"/>
              <a:t>，因為很重要</a:t>
            </a:r>
            <a:endParaRPr lang="en-US" altLang="zh-TW" dirty="0"/>
          </a:p>
          <a:p>
            <a:pPr>
              <a:lnSpc>
                <a:spcPct val="150000"/>
              </a:lnSpc>
            </a:pPr>
            <a:r>
              <a:rPr lang="en-US" altLang="zh-TW" dirty="0"/>
              <a:t>Chris</a:t>
            </a:r>
            <a:r>
              <a:rPr lang="zh-TW" altLang="en-US" dirty="0"/>
              <a:t> 推薦的幾個</a:t>
            </a:r>
            <a:r>
              <a:rPr lang="en-US" altLang="zh-TW" dirty="0"/>
              <a:t>tools</a:t>
            </a:r>
            <a:r>
              <a:rPr lang="zh-TW" altLang="en-US" dirty="0"/>
              <a:t> </a:t>
            </a:r>
            <a:r>
              <a:rPr lang="en-US" altLang="zh-TW" dirty="0"/>
              <a:t>: </a:t>
            </a:r>
            <a:r>
              <a:rPr lang="en-US" b="0" i="0" dirty="0" err="1">
                <a:solidFill>
                  <a:srgbClr val="202124"/>
                </a:solidFill>
                <a:effectLst/>
                <a:latin typeface="Roboto" panose="020F0502020204030204" pitchFamily="2" charset="0"/>
              </a:rPr>
              <a:t>SingleR</a:t>
            </a:r>
            <a:r>
              <a:rPr lang="en-US" b="0" i="0" dirty="0">
                <a:solidFill>
                  <a:srgbClr val="202124"/>
                </a:solidFill>
                <a:effectLst/>
                <a:latin typeface="Roboto" panose="020F0502020204030204" pitchFamily="2" charset="0"/>
              </a:rPr>
              <a:t>, Seurat, </a:t>
            </a:r>
            <a:r>
              <a:rPr lang="en-US" b="0" i="0" dirty="0" err="1">
                <a:solidFill>
                  <a:srgbClr val="202124"/>
                </a:solidFill>
                <a:effectLst/>
                <a:latin typeface="Roboto" panose="020F0502020204030204" pitchFamily="2" charset="0"/>
              </a:rPr>
              <a:t>scPred</a:t>
            </a:r>
            <a:r>
              <a:rPr lang="en-US" b="0" i="0" dirty="0">
                <a:solidFill>
                  <a:srgbClr val="202124"/>
                </a:solidFill>
                <a:effectLst/>
                <a:latin typeface="Roboto" panose="020F0502020204030204" pitchFamily="2" charset="0"/>
              </a:rPr>
              <a:t>, </a:t>
            </a:r>
            <a:r>
              <a:rPr lang="en-US" b="0" i="0" dirty="0" err="1">
                <a:solidFill>
                  <a:srgbClr val="202124"/>
                </a:solidFill>
                <a:effectLst/>
                <a:latin typeface="Roboto" panose="020F0502020204030204" pitchFamily="2" charset="0"/>
              </a:rPr>
              <a:t>ScType</a:t>
            </a:r>
            <a:endParaRPr lang="en-US" altLang="zh-TW" dirty="0"/>
          </a:p>
          <a:p>
            <a:pPr>
              <a:lnSpc>
                <a:spcPct val="150000"/>
              </a:lnSpc>
            </a:pPr>
            <a:r>
              <a:rPr lang="zh-TW" altLang="en-US" dirty="0"/>
              <a:t>不同實驗條件下去比較</a:t>
            </a:r>
            <a:endParaRPr lang="en-US" dirty="0"/>
          </a:p>
        </p:txBody>
      </p:sp>
      <p:pic>
        <p:nvPicPr>
          <p:cNvPr id="5" name="Picture 4">
            <a:extLst>
              <a:ext uri="{FF2B5EF4-FFF2-40B4-BE49-F238E27FC236}">
                <a16:creationId xmlns:a16="http://schemas.microsoft.com/office/drawing/2014/main" id="{8CBBFF6B-0E1F-2EEB-B0A3-C5AA4589EC35}"/>
              </a:ext>
            </a:extLst>
          </p:cNvPr>
          <p:cNvPicPr>
            <a:picLocks noChangeAspect="1"/>
          </p:cNvPicPr>
          <p:nvPr/>
        </p:nvPicPr>
        <p:blipFill>
          <a:blip r:embed="rId3"/>
          <a:stretch>
            <a:fillRect/>
          </a:stretch>
        </p:blipFill>
        <p:spPr>
          <a:xfrm>
            <a:off x="838200" y="4154482"/>
            <a:ext cx="6584251" cy="2545301"/>
          </a:xfrm>
          <a:prstGeom prst="rect">
            <a:avLst/>
          </a:prstGeom>
        </p:spPr>
      </p:pic>
      <p:sp>
        <p:nvSpPr>
          <p:cNvPr id="6" name="Rectangle 5">
            <a:extLst>
              <a:ext uri="{FF2B5EF4-FFF2-40B4-BE49-F238E27FC236}">
                <a16:creationId xmlns:a16="http://schemas.microsoft.com/office/drawing/2014/main" id="{0A2FE08E-2360-D305-8706-A751B97FE714}"/>
              </a:ext>
            </a:extLst>
          </p:cNvPr>
          <p:cNvSpPr/>
          <p:nvPr/>
        </p:nvSpPr>
        <p:spPr>
          <a:xfrm>
            <a:off x="6208888" y="806452"/>
            <a:ext cx="3872089" cy="7637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TW" altLang="en-US" dirty="0"/>
              <a:t>早上的 </a:t>
            </a:r>
            <a:r>
              <a:rPr lang="en-US" altLang="zh-TW" dirty="0"/>
              <a:t>SIMBA</a:t>
            </a:r>
            <a:r>
              <a:rPr lang="zh-TW" altLang="en-US" dirty="0"/>
              <a:t> ，也要跑一下齁</a:t>
            </a:r>
            <a:endParaRPr lang="en-US" dirty="0"/>
          </a:p>
        </p:txBody>
      </p:sp>
    </p:spTree>
    <p:extLst>
      <p:ext uri="{BB962C8B-B14F-4D97-AF65-F5344CB8AC3E}">
        <p14:creationId xmlns:p14="http://schemas.microsoft.com/office/powerpoint/2010/main" val="2144625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2FD2-DC5A-2730-5C32-F64B1D969879}"/>
              </a:ext>
            </a:extLst>
          </p:cNvPr>
          <p:cNvSpPr>
            <a:spLocks noGrp="1"/>
          </p:cNvSpPr>
          <p:nvPr>
            <p:ph type="title"/>
          </p:nvPr>
        </p:nvSpPr>
        <p:spPr/>
        <p:txBody>
          <a:bodyPr/>
          <a:lstStyle/>
          <a:p>
            <a:r>
              <a:rPr lang="zh-TW" altLang="en-US" dirty="0"/>
              <a:t>別人的 </a:t>
            </a:r>
            <a:r>
              <a:rPr lang="en-US" altLang="zh-TW" dirty="0"/>
              <a:t>Project</a:t>
            </a:r>
            <a:endParaRPr lang="en-US" dirty="0"/>
          </a:p>
        </p:txBody>
      </p:sp>
      <p:sp>
        <p:nvSpPr>
          <p:cNvPr id="3" name="Content Placeholder 2">
            <a:extLst>
              <a:ext uri="{FF2B5EF4-FFF2-40B4-BE49-F238E27FC236}">
                <a16:creationId xmlns:a16="http://schemas.microsoft.com/office/drawing/2014/main" id="{B5914D7D-AF16-8FEF-E202-63E9EDB758A3}"/>
              </a:ext>
            </a:extLst>
          </p:cNvPr>
          <p:cNvSpPr>
            <a:spLocks noGrp="1"/>
          </p:cNvSpPr>
          <p:nvPr>
            <p:ph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DNB (Dynamic Network Biomarker) + GCN</a:t>
            </a:r>
          </a:p>
          <a:p>
            <a:r>
              <a:rPr lang="en-US" altLang="zh-TW" dirty="0"/>
              <a:t>WGCNA</a:t>
            </a:r>
            <a:endParaRPr lang="en-US" dirty="0"/>
          </a:p>
        </p:txBody>
      </p:sp>
      <p:pic>
        <p:nvPicPr>
          <p:cNvPr id="5" name="Picture 4">
            <a:extLst>
              <a:ext uri="{FF2B5EF4-FFF2-40B4-BE49-F238E27FC236}">
                <a16:creationId xmlns:a16="http://schemas.microsoft.com/office/drawing/2014/main" id="{8CBBFF6B-0E1F-2EEB-B0A3-C5AA4589EC35}"/>
              </a:ext>
            </a:extLst>
          </p:cNvPr>
          <p:cNvPicPr>
            <a:picLocks noChangeAspect="1"/>
          </p:cNvPicPr>
          <p:nvPr/>
        </p:nvPicPr>
        <p:blipFill>
          <a:blip r:embed="rId3"/>
          <a:stretch>
            <a:fillRect/>
          </a:stretch>
        </p:blipFill>
        <p:spPr>
          <a:xfrm>
            <a:off x="838200" y="4154482"/>
            <a:ext cx="6584251" cy="2545301"/>
          </a:xfrm>
          <a:prstGeom prst="rect">
            <a:avLst/>
          </a:prstGeom>
        </p:spPr>
      </p:pic>
    </p:spTree>
    <p:extLst>
      <p:ext uri="{BB962C8B-B14F-4D97-AF65-F5344CB8AC3E}">
        <p14:creationId xmlns:p14="http://schemas.microsoft.com/office/powerpoint/2010/main" val="4711314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2FD2-DC5A-2730-5C32-F64B1D969879}"/>
              </a:ext>
            </a:extLst>
          </p:cNvPr>
          <p:cNvSpPr>
            <a:spLocks noGrp="1"/>
          </p:cNvSpPr>
          <p:nvPr>
            <p:ph type="title"/>
          </p:nvPr>
        </p:nvSpPr>
        <p:spPr/>
        <p:txBody>
          <a:bodyPr/>
          <a:lstStyle/>
          <a:p>
            <a:r>
              <a:rPr lang="zh-TW" altLang="en-US" dirty="0"/>
              <a:t>別人的 </a:t>
            </a:r>
            <a:r>
              <a:rPr lang="en-US" altLang="zh-TW" dirty="0"/>
              <a:t>Project</a:t>
            </a:r>
            <a:endParaRPr lang="en-US" dirty="0"/>
          </a:p>
        </p:txBody>
      </p:sp>
      <p:sp>
        <p:nvSpPr>
          <p:cNvPr id="3" name="Content Placeholder 2">
            <a:extLst>
              <a:ext uri="{FF2B5EF4-FFF2-40B4-BE49-F238E27FC236}">
                <a16:creationId xmlns:a16="http://schemas.microsoft.com/office/drawing/2014/main" id="{B5914D7D-AF16-8FEF-E202-63E9EDB758A3}"/>
              </a:ext>
            </a:extLst>
          </p:cNvPr>
          <p:cNvSpPr>
            <a:spLocks noGrp="1"/>
          </p:cNvSpPr>
          <p:nvPr>
            <p:ph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altLang="zh-TW" dirty="0"/>
              <a:t>Consensus Clustering</a:t>
            </a:r>
          </a:p>
          <a:p>
            <a:r>
              <a:rPr lang="en-US" dirty="0"/>
              <a:t>Hierarchical Clustering</a:t>
            </a:r>
          </a:p>
        </p:txBody>
      </p:sp>
    </p:spTree>
    <p:extLst>
      <p:ext uri="{BB962C8B-B14F-4D97-AF65-F5344CB8AC3E}">
        <p14:creationId xmlns:p14="http://schemas.microsoft.com/office/powerpoint/2010/main" val="3830497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2516</Words>
  <Application>Microsoft Office PowerPoint</Application>
  <PresentationFormat>Widescreen</PresentationFormat>
  <Paragraphs>174</Paragraphs>
  <Slides>42</Slides>
  <Notes>32</Notes>
  <HiddenSlides>4</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-apple-system</vt:lpstr>
      <vt:lpstr>Google Sans</vt:lpstr>
      <vt:lpstr>微软雅黑</vt:lpstr>
      <vt:lpstr>SFMono-Regular</vt:lpstr>
      <vt:lpstr>Söhne</vt:lpstr>
      <vt:lpstr>Arial</vt:lpstr>
      <vt:lpstr>Calibri</vt:lpstr>
      <vt:lpstr>Calibri Light</vt:lpstr>
      <vt:lpstr>Roboto</vt:lpstr>
      <vt:lpstr>Verdana</vt:lpstr>
      <vt:lpstr>Office Theme</vt:lpstr>
      <vt:lpstr>Progress Report</vt:lpstr>
      <vt:lpstr>Outline</vt:lpstr>
      <vt:lpstr>PowerPoint Presentation</vt:lpstr>
      <vt:lpstr>Dataset: Glioma</vt:lpstr>
      <vt:lpstr>Barcodes/ Features/ Sparse Mtx</vt:lpstr>
      <vt:lpstr>Barcodes/ Features/ Sparse Mtx</vt:lpstr>
      <vt:lpstr>Volcano Plot</vt:lpstr>
      <vt:lpstr>The proportional of the Data</vt:lpstr>
      <vt:lpstr>Average Expression</vt:lpstr>
      <vt:lpstr>Normalization</vt:lpstr>
      <vt:lpstr>PowerPoint Presentation</vt:lpstr>
      <vt:lpstr>Elbow Plot</vt:lpstr>
      <vt:lpstr>Elbow Plot</vt:lpstr>
      <vt:lpstr>UMAP</vt:lpstr>
      <vt:lpstr>UMAP –  Single Gene</vt:lpstr>
      <vt:lpstr>Clustering</vt:lpstr>
      <vt:lpstr>PowerPoint Presentation</vt:lpstr>
      <vt:lpstr>PowerPoint Presentation</vt:lpstr>
      <vt:lpstr>tsne</vt:lpstr>
      <vt:lpstr>PowerPoint Presentation</vt:lpstr>
      <vt:lpstr>Cell Annotation</vt:lpstr>
      <vt:lpstr>PowerPoint Presentation</vt:lpstr>
      <vt:lpstr>FindAllMarkers </vt:lpstr>
      <vt:lpstr>DE Analysis</vt:lpstr>
      <vt:lpstr>PowerPoint Presentation</vt:lpstr>
      <vt:lpstr>PowerPoint Presentation</vt:lpstr>
      <vt:lpstr>Gene Signature Analysis</vt:lpstr>
      <vt:lpstr>PowerPoint Presentation</vt:lpstr>
      <vt:lpstr>Trajectory Analysis</vt:lpstr>
      <vt:lpstr>PowerPoint Presentation</vt:lpstr>
      <vt:lpstr>pData 和 fData</vt:lpstr>
      <vt:lpstr>RPC (reads per cell)</vt:lpstr>
      <vt:lpstr>Filter 過後</vt:lpstr>
      <vt:lpstr>PowerPoint Presentation</vt:lpstr>
      <vt:lpstr>Feature Selection</vt:lpstr>
      <vt:lpstr>Dimensionality Reduction</vt:lpstr>
      <vt:lpstr>PowerPoint Presentation</vt:lpstr>
      <vt:lpstr>PowerPoint Presentation</vt:lpstr>
      <vt:lpstr>Future Work</vt:lpstr>
      <vt:lpstr>Conclusion</vt:lpstr>
      <vt:lpstr>別人的 Project</vt:lpstr>
      <vt:lpstr>別人的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Yi Jie Chen</dc:creator>
  <cp:lastModifiedBy>Yi Jie Chen</cp:lastModifiedBy>
  <cp:revision>33</cp:revision>
  <dcterms:created xsi:type="dcterms:W3CDTF">2023-10-12T01:27:02Z</dcterms:created>
  <dcterms:modified xsi:type="dcterms:W3CDTF">2023-10-21T15:49:22Z</dcterms:modified>
</cp:coreProperties>
</file>