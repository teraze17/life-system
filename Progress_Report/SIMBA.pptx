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7" r:id="rId2"/>
    <p:sldId id="263" r:id="rId3"/>
    <p:sldId id="264" r:id="rId4"/>
    <p:sldId id="261" r:id="rId5"/>
    <p:sldId id="283" r:id="rId6"/>
    <p:sldId id="284" r:id="rId7"/>
    <p:sldId id="285" r:id="rId8"/>
    <p:sldId id="266" r:id="rId9"/>
    <p:sldId id="295" r:id="rId10"/>
    <p:sldId id="296" r:id="rId11"/>
    <p:sldId id="309" r:id="rId12"/>
    <p:sldId id="298" r:id="rId13"/>
    <p:sldId id="301" r:id="rId14"/>
    <p:sldId id="310" r:id="rId15"/>
    <p:sldId id="315" r:id="rId16"/>
    <p:sldId id="312" r:id="rId17"/>
    <p:sldId id="313" r:id="rId18"/>
    <p:sldId id="302" r:id="rId19"/>
    <p:sldId id="314" r:id="rId20"/>
    <p:sldId id="282" r:id="rId21"/>
    <p:sldId id="316" r:id="rId22"/>
    <p:sldId id="317" r:id="rId23"/>
    <p:sldId id="318" r:id="rId24"/>
    <p:sldId id="329" r:id="rId25"/>
    <p:sldId id="322" r:id="rId26"/>
    <p:sldId id="323" r:id="rId27"/>
    <p:sldId id="324" r:id="rId28"/>
    <p:sldId id="267" r:id="rId29"/>
    <p:sldId id="268" r:id="rId30"/>
    <p:sldId id="269" r:id="rId31"/>
    <p:sldId id="270" r:id="rId32"/>
    <p:sldId id="271" r:id="rId33"/>
    <p:sldId id="325" r:id="rId34"/>
    <p:sldId id="326" r:id="rId35"/>
    <p:sldId id="327" r:id="rId36"/>
    <p:sldId id="311" r:id="rId37"/>
    <p:sldId id="337" r:id="rId38"/>
    <p:sldId id="332" r:id="rId39"/>
    <p:sldId id="333" r:id="rId40"/>
    <p:sldId id="334" r:id="rId41"/>
    <p:sldId id="336" r:id="rId42"/>
    <p:sldId id="335" r:id="rId43"/>
    <p:sldId id="273" r:id="rId44"/>
    <p:sldId id="276" r:id="rId45"/>
    <p:sldId id="303" r:id="rId46"/>
    <p:sldId id="304" r:id="rId47"/>
    <p:sldId id="307" r:id="rId48"/>
    <p:sldId id="331" r:id="rId49"/>
    <p:sldId id="338" r:id="rId50"/>
    <p:sldId id="341" r:id="rId51"/>
    <p:sldId id="339" r:id="rId52"/>
    <p:sldId id="340" r:id="rId53"/>
    <p:sldId id="297" r:id="rId54"/>
    <p:sldId id="299"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13" autoAdjust="0"/>
    <p:restoredTop sz="79947" autoAdjust="0"/>
  </p:normalViewPr>
  <p:slideViewPr>
    <p:cSldViewPr snapToGrid="0">
      <p:cViewPr varScale="1">
        <p:scale>
          <a:sx n="81" d="100"/>
          <a:sy n="81" d="100"/>
        </p:scale>
        <p:origin x="73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CB814A-06DC-4BEF-BDA9-D8083E24AED0}" type="datetimeFigureOut">
              <a:rPr lang="en-US" smtClean="0"/>
              <a:t>11/22/2023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0E65B1-1032-4944-9DDC-977790F00C48}" type="slidenum">
              <a:rPr lang="en-US" smtClean="0"/>
              <a:t>‹#›</a:t>
            </a:fld>
            <a:endParaRPr lang="en-US"/>
          </a:p>
        </p:txBody>
      </p:sp>
    </p:spTree>
    <p:extLst>
      <p:ext uri="{BB962C8B-B14F-4D97-AF65-F5344CB8AC3E}">
        <p14:creationId xmlns:p14="http://schemas.microsoft.com/office/powerpoint/2010/main" val="2614214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nature.com/articles/s41592-023-01899-8#ref-CR24"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www.nature.com/articles/s41592-023-01899-8#ref-CR12" TargetMode="External"/><Relationship Id="rId2" Type="http://schemas.openxmlformats.org/officeDocument/2006/relationships/slide" Target="../slides/slide41.xml"/><Relationship Id="rId1" Type="http://schemas.openxmlformats.org/officeDocument/2006/relationships/notesMaster" Target="../notesMasters/notesMaster1.xml"/><Relationship Id="rId5" Type="http://schemas.openxmlformats.org/officeDocument/2006/relationships/hyperlink" Target="https://www.nature.com/articles/s41592-023-01899-8#ref-CR10" TargetMode="External"/><Relationship Id="rId4" Type="http://schemas.openxmlformats.org/officeDocument/2006/relationships/hyperlink" Target="https://www.nature.com/articles/s41592-023-01899-8#ref-CR11" TargetMode="Externa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www.nature.com/articles/s41592-023-01899-8#ref-CR46"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t>
            </a:r>
            <a:r>
              <a:rPr lang="zh-TW" altLang="en-US" dirty="0"/>
              <a:t>我是生資所碩一的陳怡婕，</a:t>
            </a:r>
            <a:r>
              <a:rPr lang="en-US" altLang="zh-TW" dirty="0"/>
              <a:t>today I am going to </a:t>
            </a:r>
            <a:r>
              <a:rPr lang="en-US" altLang="zh-TW" dirty="0" err="1"/>
              <a:t>introducr</a:t>
            </a:r>
            <a:r>
              <a:rPr lang="en-US" altLang="zh-TW" dirty="0"/>
              <a:t> SIMBA: single-cell embedding along with features</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1</a:t>
            </a:fld>
            <a:endParaRPr lang="en-US"/>
          </a:p>
        </p:txBody>
      </p:sp>
    </p:spTree>
    <p:extLst>
      <p:ext uri="{BB962C8B-B14F-4D97-AF65-F5344CB8AC3E}">
        <p14:creationId xmlns:p14="http://schemas.microsoft.com/office/powerpoint/2010/main" val="264655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zh-TW" altLang="en-US" b="0" i="0" dirty="0">
                <a:effectLst/>
                <a:latin typeface="Söhne"/>
              </a:rPr>
              <a:t>正式開始之前，我先簡短</a:t>
            </a:r>
            <a:r>
              <a:rPr lang="en-US" altLang="zh-TW" b="0" i="0" dirty="0">
                <a:effectLst/>
                <a:latin typeface="Söhne"/>
              </a:rPr>
              <a:t>summarize</a:t>
            </a:r>
            <a:r>
              <a:rPr lang="zh-TW" altLang="en-US" b="0" i="0" dirty="0">
                <a:effectLst/>
                <a:latin typeface="Söhne"/>
              </a:rPr>
              <a:t>這篇</a:t>
            </a:r>
            <a:r>
              <a:rPr lang="en-US" altLang="zh-TW" b="0" i="0" dirty="0">
                <a:effectLst/>
                <a:latin typeface="Söhne"/>
              </a:rPr>
              <a:t>paper</a:t>
            </a:r>
            <a:r>
              <a:rPr lang="zh-TW" altLang="en-US" b="0" i="0" dirty="0">
                <a:effectLst/>
                <a:latin typeface="Söhne"/>
              </a:rPr>
              <a:t>。</a:t>
            </a:r>
            <a:endParaRPr lang="en-US" altLang="zh-TW" b="0" i="0" dirty="0">
              <a:effectLst/>
              <a:latin typeface="Söhne"/>
            </a:endParaRPr>
          </a:p>
          <a:p>
            <a:pPr algn="l"/>
            <a:r>
              <a:rPr lang="en-US" altLang="zh-TW" b="0" i="0" dirty="0">
                <a:effectLst/>
                <a:latin typeface="Söhne"/>
              </a:rPr>
              <a:t>SIMBA </a:t>
            </a:r>
            <a:r>
              <a:rPr lang="zh-TW" altLang="en-US" b="0" i="0" dirty="0">
                <a:effectLst/>
                <a:latin typeface="Söhne"/>
              </a:rPr>
              <a:t>是今年發於 </a:t>
            </a:r>
            <a:r>
              <a:rPr lang="en-US" altLang="zh-TW" b="0" i="0" dirty="0">
                <a:effectLst/>
                <a:latin typeface="Söhne"/>
              </a:rPr>
              <a:t>Nature Method</a:t>
            </a:r>
            <a:r>
              <a:rPr lang="zh-TW" altLang="en-US" b="0" i="0" dirty="0">
                <a:effectLst/>
                <a:latin typeface="Söhne"/>
              </a:rPr>
              <a:t> 的文章，由於 </a:t>
            </a:r>
            <a:r>
              <a:rPr lang="en-US" altLang="zh-TW" b="0" i="0" dirty="0">
                <a:effectLst/>
                <a:latin typeface="Söhne"/>
              </a:rPr>
              <a:t>Method </a:t>
            </a:r>
            <a:r>
              <a:rPr lang="zh-TW" altLang="en-US" b="0" i="0" dirty="0">
                <a:effectLst/>
                <a:latin typeface="Söhne"/>
              </a:rPr>
              <a:t>類的 </a:t>
            </a:r>
            <a:r>
              <a:rPr lang="en-US" altLang="zh-TW" b="0" i="0" dirty="0">
                <a:effectLst/>
                <a:latin typeface="Söhne"/>
              </a:rPr>
              <a:t>citation</a:t>
            </a:r>
            <a:r>
              <a:rPr lang="zh-TW" altLang="en-US" b="0" i="0" dirty="0">
                <a:effectLst/>
                <a:latin typeface="Söhne"/>
              </a:rPr>
              <a:t> 通常都比較高，所以他的 </a:t>
            </a:r>
            <a:r>
              <a:rPr lang="en-US" altLang="zh-TW" b="0" i="0" dirty="0">
                <a:effectLst/>
                <a:latin typeface="Söhne"/>
              </a:rPr>
              <a:t>impact factors</a:t>
            </a:r>
            <a:r>
              <a:rPr lang="zh-TW" altLang="en-US" b="0" i="0" dirty="0">
                <a:effectLst/>
                <a:latin typeface="Söhne"/>
              </a:rPr>
              <a:t> 也相對比較高。</a:t>
            </a:r>
            <a:endParaRPr lang="en-US" altLang="zh-TW" b="0" i="0" dirty="0">
              <a:effectLst/>
              <a:latin typeface="Söhne"/>
            </a:endParaRPr>
          </a:p>
          <a:p>
            <a:pPr algn="l"/>
            <a:r>
              <a:rPr lang="en-US" altLang="zh-TW" b="0" i="0" dirty="0">
                <a:effectLst/>
                <a:latin typeface="Söhne"/>
              </a:rPr>
              <a:t>SIMBA</a:t>
            </a:r>
            <a:r>
              <a:rPr lang="zh-TW" altLang="en-US" b="0" i="0" dirty="0">
                <a:effectLst/>
                <a:latin typeface="Söhne"/>
              </a:rPr>
              <a:t>是一款用於單細胞數據分析的工具。可以整合多模態的數據，比如單細胞轉錄組學（</a:t>
            </a:r>
            <a:r>
              <a:rPr lang="en-US" altLang="zh-TW" b="0" i="0" dirty="0" err="1">
                <a:effectLst/>
                <a:latin typeface="Söhne"/>
              </a:rPr>
              <a:t>scRNA</a:t>
            </a:r>
            <a:r>
              <a:rPr lang="en-US" altLang="zh-TW" b="0" i="0" dirty="0">
                <a:effectLst/>
                <a:latin typeface="Söhne"/>
              </a:rPr>
              <a:t>-seq</a:t>
            </a:r>
            <a:r>
              <a:rPr lang="zh-TW" altLang="en-US" b="0" i="0" dirty="0">
                <a:effectLst/>
                <a:latin typeface="Söhne"/>
              </a:rPr>
              <a:t>）和表觀遺傳學數據（比如</a:t>
            </a:r>
            <a:r>
              <a:rPr lang="en-US" altLang="zh-TW" b="0" i="0" dirty="0" err="1">
                <a:effectLst/>
                <a:latin typeface="Söhne"/>
              </a:rPr>
              <a:t>scATAC</a:t>
            </a:r>
            <a:r>
              <a:rPr lang="en-US" altLang="zh-TW" b="0" i="0" dirty="0">
                <a:effectLst/>
                <a:latin typeface="Söhne"/>
              </a:rPr>
              <a:t>-seq</a:t>
            </a:r>
            <a:r>
              <a:rPr lang="zh-TW" altLang="en-US" b="0" i="0" dirty="0">
                <a:effectLst/>
                <a:latin typeface="Söhne"/>
              </a:rPr>
              <a:t>）。他的主要方法是使用 </a:t>
            </a:r>
            <a:r>
              <a:rPr lang="en-US" altLang="zh-TW" b="0" i="0" dirty="0">
                <a:effectLst/>
                <a:latin typeface="Söhne"/>
              </a:rPr>
              <a:t>graph embedding</a:t>
            </a:r>
            <a:r>
              <a:rPr lang="zh-TW" altLang="en-US" b="0" i="0" dirty="0">
                <a:effectLst/>
                <a:latin typeface="Söhne"/>
              </a:rPr>
              <a:t> </a:t>
            </a:r>
            <a:r>
              <a:rPr lang="en-US" altLang="zh-TW" b="0" i="0" dirty="0">
                <a:effectLst/>
                <a:latin typeface="Söhne"/>
              </a:rPr>
              <a:t>(</a:t>
            </a:r>
            <a:r>
              <a:rPr lang="zh-TW" altLang="en-US" b="0" i="0" dirty="0">
                <a:effectLst/>
                <a:latin typeface="Söhne"/>
              </a:rPr>
              <a:t>圖嵌入技術</a:t>
            </a:r>
            <a:r>
              <a:rPr lang="en-US" altLang="zh-TW" b="0" i="0" dirty="0">
                <a:effectLst/>
                <a:latin typeface="Söhne"/>
              </a:rPr>
              <a:t>)</a:t>
            </a:r>
            <a:r>
              <a:rPr lang="zh-TW" altLang="en-US" b="0" i="0" dirty="0">
                <a:effectLst/>
                <a:latin typeface="Söhne"/>
              </a:rPr>
              <a:t>，透過對數據中的細胞和分子特徵進行圖形嵌入，使用深度學習的框架，去捕捉細胞和不同特徵之間的關聯性。</a:t>
            </a:r>
            <a:endParaRPr lang="en-US" altLang="zh-TW" b="0" i="0" dirty="0">
              <a:effectLst/>
              <a:latin typeface="Söhne"/>
            </a:endParaRPr>
          </a:p>
          <a:p>
            <a:pPr algn="l"/>
            <a:endParaRPr lang="en-US" altLang="zh-TW" b="0" i="0" dirty="0">
              <a:effectLst/>
              <a:latin typeface="Söhne"/>
            </a:endParaRPr>
          </a:p>
          <a:p>
            <a:pPr algn="l"/>
            <a:endParaRPr lang="en-US" altLang="zh-TW" b="0" i="0" dirty="0">
              <a:effectLst/>
              <a:latin typeface="Söhne"/>
            </a:endParaRPr>
          </a:p>
          <a:p>
            <a:pPr algn="l"/>
            <a:r>
              <a:rPr lang="zh-TW" altLang="en-US" b="0" i="0" dirty="0">
                <a:effectLst/>
                <a:latin typeface="Söhne"/>
              </a:rPr>
              <a:t>它不僅能夠識別存在的連接，還能夠從數據中識別出不存在的潛在連接，這對於理解細胞的內在機制非常有幫助。</a:t>
            </a:r>
          </a:p>
          <a:p>
            <a:pPr algn="l"/>
            <a:r>
              <a:rPr lang="zh-TW" altLang="en-US" b="0" i="0" dirty="0">
                <a:effectLst/>
                <a:latin typeface="Söhne"/>
              </a:rPr>
              <a:t>此外，</a:t>
            </a:r>
            <a:r>
              <a:rPr lang="en-US" altLang="zh-TW" b="0" i="0" dirty="0">
                <a:effectLst/>
                <a:latin typeface="Söhne"/>
              </a:rPr>
              <a:t>SIMBA</a:t>
            </a:r>
            <a:r>
              <a:rPr lang="zh-TW" altLang="en-US" b="0" i="0" dirty="0">
                <a:effectLst/>
                <a:latin typeface="Söhne"/>
              </a:rPr>
              <a:t>利用</a:t>
            </a:r>
            <a:r>
              <a:rPr lang="en-US" altLang="zh-TW" b="0" i="0" dirty="0" err="1">
                <a:effectLst/>
                <a:latin typeface="Söhne"/>
              </a:rPr>
              <a:t>Softmax</a:t>
            </a:r>
            <a:r>
              <a:rPr lang="zh-TW" altLang="en-US" b="0" i="0" dirty="0">
                <a:effectLst/>
                <a:latin typeface="Söhne"/>
              </a:rPr>
              <a:t>函數轉換不同類型的實體嵌入，以便在進行批次校正或多模態整合時，可以在相同的度量標準下進行比較。</a:t>
            </a: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a:t>
            </a:fld>
            <a:endParaRPr lang="en-US"/>
          </a:p>
        </p:txBody>
      </p:sp>
    </p:spTree>
    <p:extLst>
      <p:ext uri="{BB962C8B-B14F-4D97-AF65-F5344CB8AC3E}">
        <p14:creationId xmlns:p14="http://schemas.microsoft.com/office/powerpoint/2010/main" val="1058192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the outline. I will start from the background, and then discuss the method, then the result , and last the discussion</a:t>
            </a:r>
          </a:p>
        </p:txBody>
      </p:sp>
      <p:sp>
        <p:nvSpPr>
          <p:cNvPr id="4" name="Slide Number Placeholder 3"/>
          <p:cNvSpPr>
            <a:spLocks noGrp="1"/>
          </p:cNvSpPr>
          <p:nvPr>
            <p:ph type="sldNum" sz="quarter" idx="5"/>
          </p:nvPr>
        </p:nvSpPr>
        <p:spPr/>
        <p:txBody>
          <a:bodyPr/>
          <a:lstStyle/>
          <a:p>
            <a:fld id="{730E65B1-1032-4944-9DDC-977790F00C48}" type="slidenum">
              <a:rPr lang="en-US" smtClean="0"/>
              <a:t>3</a:t>
            </a:fld>
            <a:endParaRPr lang="en-US"/>
          </a:p>
        </p:txBody>
      </p:sp>
    </p:spTree>
    <p:extLst>
      <p:ext uri="{BB962C8B-B14F-4D97-AF65-F5344CB8AC3E}">
        <p14:creationId xmlns:p14="http://schemas.microsoft.com/office/powerpoint/2010/main" val="1889029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First, I would like to talks about some challenges that single cell analysis are facing.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first one is “Most current single-cell analysis pipelines rely heavily on </a:t>
            </a:r>
            <a:r>
              <a:rPr lang="en-US" dirty="0">
                <a:solidFill>
                  <a:srgbClr val="FF0000"/>
                </a:solidFill>
                <a:effectLst/>
              </a:rPr>
              <a:t>clustering</a:t>
            </a:r>
            <a:r>
              <a:rPr lang="en-US" altLang="zh-TW" dirty="0">
                <a:solidFill>
                  <a:srgbClr val="FF0000"/>
                </a:solidFill>
                <a:effectLst/>
              </a:rPr>
              <a:t>”, it may lead to False Discovery.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effectLst/>
              </a:rPr>
              <a:t>What is false discovery? Let me give you an example, imagine now you have many fruits in a box, and you are trying to classify these fruits.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effectLst/>
              </a:rPr>
              <a:t>You put apples and tomatoes together, because they are all red. And you put green apples and green grapes together, because they are all green.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effectLst/>
              </a:rPr>
              <a:t>Clearly it is not right, right? This is the false discovery, apples should be put together instead of tomatoes or green grapes.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solidFill>
                <a:srgbClr val="FF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i="0" dirty="0">
                <a:solidFill>
                  <a:srgbClr val="374151"/>
                </a:solidFill>
                <a:effectLst/>
                <a:latin typeface="Söhne"/>
              </a:rPr>
              <a:t>The second challenge is many computational methods nowadays in single-cell analysis are developed for one modality.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i="0" dirty="0">
                <a:solidFill>
                  <a:srgbClr val="374151"/>
                </a:solidFill>
                <a:effectLst/>
                <a:latin typeface="Söhne"/>
              </a:rPr>
              <a:t>One modality means there is only one data type. sometimes the computational method is only suitable for RNA data, or for proteomics data, or for methylation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i="0" dirty="0">
                <a:solidFill>
                  <a:srgbClr val="374151"/>
                </a:solidFill>
                <a:effectLst/>
                <a:latin typeface="Söhne"/>
              </a:rPr>
              <a:t>So actually, we don’t have suitable methods to analyze </a:t>
            </a:r>
            <a:r>
              <a:rPr lang="en-US" b="0" i="0" dirty="0">
                <a:solidFill>
                  <a:srgbClr val="374151"/>
                </a:solidFill>
                <a:effectLst/>
                <a:latin typeface="Söhne"/>
              </a:rPr>
              <a:t>multiple different types of data simultaneously.</a:t>
            </a:r>
            <a:r>
              <a:rPr lang="en-US" altLang="zh-TW" b="0" i="0" dirty="0">
                <a:solidFill>
                  <a:srgbClr val="374151"/>
                </a:solidFill>
                <a:effectLst/>
                <a:latin typeface="Söhne"/>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solidFill>
                <a:srgbClr val="FF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solidFill>
                <a:srgbClr val="FF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solidFill>
                <a:srgbClr val="FF0000"/>
              </a:solidFill>
              <a:effectLst/>
            </a:endParaRPr>
          </a:p>
          <a:p>
            <a:endParaRPr lang="en-US" altLang="zh-TW" b="0" i="0" dirty="0">
              <a:solidFill>
                <a:srgbClr val="374151"/>
              </a:solidFill>
              <a:effectLst/>
              <a:latin typeface="Söhne"/>
            </a:endParaRPr>
          </a:p>
        </p:txBody>
      </p:sp>
      <p:sp>
        <p:nvSpPr>
          <p:cNvPr id="4" name="Slide Number Placeholder 3"/>
          <p:cNvSpPr>
            <a:spLocks noGrp="1"/>
          </p:cNvSpPr>
          <p:nvPr>
            <p:ph type="sldNum" sz="quarter" idx="5"/>
          </p:nvPr>
        </p:nvSpPr>
        <p:spPr/>
        <p:txBody>
          <a:bodyPr/>
          <a:lstStyle/>
          <a:p>
            <a:fld id="{FBF5148F-E0CF-4A3E-922E-B1B7AB039E21}" type="slidenum">
              <a:rPr lang="en-US" smtClean="0"/>
              <a:t>4</a:t>
            </a:fld>
            <a:endParaRPr lang="en-US"/>
          </a:p>
        </p:txBody>
      </p:sp>
    </p:spTree>
    <p:extLst>
      <p:ext uri="{BB962C8B-B14F-4D97-AF65-F5344CB8AC3E}">
        <p14:creationId xmlns:p14="http://schemas.microsoft.com/office/powerpoint/2010/main" val="2034573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picture shows that there are so many information in one cell. Like (methylation, genome sequence, chromatin accessibility and also mRNA.)</a:t>
            </a:r>
          </a:p>
        </p:txBody>
      </p:sp>
      <p:sp>
        <p:nvSpPr>
          <p:cNvPr id="4" name="Slide Number Placeholder 3"/>
          <p:cNvSpPr>
            <a:spLocks noGrp="1"/>
          </p:cNvSpPr>
          <p:nvPr>
            <p:ph type="sldNum" sz="quarter" idx="5"/>
          </p:nvPr>
        </p:nvSpPr>
        <p:spPr/>
        <p:txBody>
          <a:bodyPr/>
          <a:lstStyle/>
          <a:p>
            <a:fld id="{FBF5148F-E0CF-4A3E-922E-B1B7AB039E21}" type="slidenum">
              <a:rPr lang="en-US" smtClean="0"/>
              <a:t>5</a:t>
            </a:fld>
            <a:endParaRPr lang="en-US"/>
          </a:p>
        </p:txBody>
      </p:sp>
    </p:spTree>
    <p:extLst>
      <p:ext uri="{BB962C8B-B14F-4D97-AF65-F5344CB8AC3E}">
        <p14:creationId xmlns:p14="http://schemas.microsoft.com/office/powerpoint/2010/main" val="3959649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collect </a:t>
            </a:r>
            <a:r>
              <a:rPr lang="en-US" b="0" i="0" dirty="0">
                <a:solidFill>
                  <a:srgbClr val="374151"/>
                </a:solidFill>
                <a:effectLst/>
                <a:latin typeface="Söhne"/>
              </a:rPr>
              <a:t>multiple different types of data, we regard them as a feature. And we input this feature, embedding them on a graph.</a:t>
            </a:r>
          </a:p>
          <a:p>
            <a:r>
              <a:rPr lang="en-US" b="0" i="0" dirty="0">
                <a:solidFill>
                  <a:srgbClr val="374151"/>
                </a:solidFill>
                <a:effectLst/>
                <a:latin typeface="Söhne"/>
              </a:rPr>
              <a:t>We employ some techniques and computational methods to identify the relationships between these features, and then we connect these features, like if the node is the cell, and the RNA data is related to the cell, two nodes will be lined up; and if the chromatin accessibility region is related to the cell, they will be lined up</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7</a:t>
            </a:fld>
            <a:endParaRPr lang="en-US"/>
          </a:p>
        </p:txBody>
      </p:sp>
    </p:spTree>
    <p:extLst>
      <p:ext uri="{BB962C8B-B14F-4D97-AF65-F5344CB8AC3E}">
        <p14:creationId xmlns:p14="http://schemas.microsoft.com/office/powerpoint/2010/main" val="70452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In the analysis workflow of SIMBA, five types of data are collected. </a:t>
            </a:r>
          </a:p>
          <a:p>
            <a:r>
              <a:rPr lang="en-US" b="0" i="0" dirty="0">
                <a:solidFill>
                  <a:srgbClr val="374151"/>
                </a:solidFill>
                <a:effectLst/>
                <a:latin typeface="Söhne"/>
              </a:rPr>
              <a:t>Let me spend a little time to explain these data format. I think most of us are familiar with cells and gene expression. </a:t>
            </a:r>
          </a:p>
          <a:p>
            <a:r>
              <a:rPr lang="en-US" b="0" i="0" dirty="0">
                <a:solidFill>
                  <a:srgbClr val="374151"/>
                </a:solidFill>
                <a:effectLst/>
                <a:latin typeface="Söhne"/>
              </a:rPr>
              <a:t>So lets start with TF. TF refers to “Transcription Factor”, which are specialized proteins that play a crucial role in turning genes on or off. </a:t>
            </a:r>
          </a:p>
          <a:p>
            <a:r>
              <a:rPr lang="en-US" b="0" i="0" dirty="0">
                <a:solidFill>
                  <a:srgbClr val="374151"/>
                </a:solidFill>
                <a:effectLst/>
                <a:latin typeface="Söhne"/>
              </a:rPr>
              <a:t>They do so by recognizing and binding to specific short sequences of DNA, referred to as "TF motifs“, a specific sequence of DNA that can be bound by transcription factors</a:t>
            </a:r>
          </a:p>
          <a:p>
            <a:endParaRPr lang="en-US" b="0" i="0" dirty="0">
              <a:solidFill>
                <a:srgbClr val="374151"/>
              </a:solidFill>
              <a:effectLst/>
              <a:latin typeface="Söhne"/>
            </a:endParaRPr>
          </a:p>
          <a:p>
            <a:r>
              <a:rPr lang="en-US" b="0" i="0" dirty="0">
                <a:solidFill>
                  <a:srgbClr val="374151"/>
                </a:solidFill>
                <a:effectLst/>
                <a:latin typeface="Söhne"/>
              </a:rPr>
              <a:t>Chromatin accessibility, reveals which regions of the DNA within a cell are accessible to transcription factors. If there is a high peak, means the region is accessible for transcription factors.</a:t>
            </a:r>
          </a:p>
          <a:p>
            <a:endParaRPr lang="en-US" b="0" i="0" dirty="0">
              <a:solidFill>
                <a:srgbClr val="374151"/>
              </a:solidFill>
              <a:effectLst/>
              <a:latin typeface="Söhne"/>
            </a:endParaRPr>
          </a:p>
          <a:p>
            <a:r>
              <a:rPr lang="en-US" b="0" i="0" dirty="0">
                <a:solidFill>
                  <a:srgbClr val="374151"/>
                </a:solidFill>
                <a:effectLst/>
                <a:latin typeface="Söhne"/>
              </a:rPr>
              <a:t>k-</a:t>
            </a:r>
            <a:r>
              <a:rPr lang="en-US" b="0" i="0" dirty="0" err="1">
                <a:solidFill>
                  <a:srgbClr val="374151"/>
                </a:solidFill>
                <a:effectLst/>
                <a:latin typeface="Söhne"/>
              </a:rPr>
              <a:t>mer</a:t>
            </a:r>
            <a:r>
              <a:rPr lang="en-US" b="0" i="0" dirty="0">
                <a:solidFill>
                  <a:srgbClr val="374151"/>
                </a:solidFill>
                <a:effectLst/>
                <a:latin typeface="Söhne"/>
              </a:rPr>
              <a:t>, </a:t>
            </a:r>
            <a:r>
              <a:rPr lang="en-US" b="0" i="0" dirty="0" err="1">
                <a:solidFill>
                  <a:srgbClr val="374151"/>
                </a:solidFill>
                <a:effectLst/>
                <a:latin typeface="Söhne"/>
              </a:rPr>
              <a:t>ummm</a:t>
            </a:r>
            <a:r>
              <a:rPr lang="en-US" b="0" i="0" dirty="0">
                <a:solidFill>
                  <a:srgbClr val="374151"/>
                </a:solidFill>
                <a:effectLst/>
                <a:latin typeface="Söhne"/>
              </a:rPr>
              <a:t>….k refers to number, so "k-</a:t>
            </a:r>
            <a:r>
              <a:rPr lang="en-US" b="0" i="0" dirty="0" err="1">
                <a:solidFill>
                  <a:srgbClr val="374151"/>
                </a:solidFill>
                <a:effectLst/>
                <a:latin typeface="Söhne"/>
              </a:rPr>
              <a:t>mer</a:t>
            </a:r>
            <a:r>
              <a:rPr lang="en-US" b="0" i="0" dirty="0">
                <a:solidFill>
                  <a:srgbClr val="374151"/>
                </a:solidFill>
                <a:effectLst/>
                <a:latin typeface="Söhne"/>
              </a:rPr>
              <a:t>" refers to a substring of DNA that is "k" nucleotides long. Basically, it just represent the DNA sequence.</a:t>
            </a:r>
          </a:p>
          <a:p>
            <a:endParaRPr lang="en-US" b="0" i="0" dirty="0">
              <a:solidFill>
                <a:srgbClr val="374151"/>
              </a:solidFill>
              <a:effectLst/>
              <a:latin typeface="Söhne"/>
            </a:endParaRPr>
          </a:p>
          <a:p>
            <a:r>
              <a:rPr lang="en-US" b="0" i="0" dirty="0">
                <a:solidFill>
                  <a:srgbClr val="374151"/>
                </a:solidFill>
                <a:effectLst/>
                <a:latin typeface="Söhne"/>
              </a:rPr>
              <a:t>These Data will be transformed to different signature, like circle represent cells, triangle represent chromatin accessibility, and then square, stars etc. Then these signatures will be placed onto a graph, and certain computational methods are utilized to find associations, then connecting these nodes. We call this process “Embedding”. After Embedding, we employ </a:t>
            </a:r>
            <a:r>
              <a:rPr lang="en-US" b="0" i="0" dirty="0" err="1">
                <a:solidFill>
                  <a:srgbClr val="374151"/>
                </a:solidFill>
                <a:effectLst/>
                <a:latin typeface="Söhne"/>
              </a:rPr>
              <a:t>softmax</a:t>
            </a:r>
            <a:r>
              <a:rPr lang="en-US" b="0" i="0" dirty="0">
                <a:solidFill>
                  <a:srgbClr val="374151"/>
                </a:solidFill>
                <a:effectLst/>
                <a:latin typeface="Söhne"/>
              </a:rPr>
              <a:t> transformation,  we are able to identify the relationship between these cells, genes, chromatin accessibility, TF motif, and k-mer. Dividing different cells and features to different groups based on their association.</a:t>
            </a:r>
          </a:p>
          <a:p>
            <a:endParaRPr lang="en-US" b="0" i="0" dirty="0">
              <a:solidFill>
                <a:srgbClr val="374151"/>
              </a:solidFill>
              <a:effectLst/>
              <a:latin typeface="Söhne"/>
            </a:endParaRPr>
          </a:p>
          <a:p>
            <a:r>
              <a:rPr lang="en-US" b="0" i="0" dirty="0">
                <a:solidFill>
                  <a:srgbClr val="374151"/>
                </a:solidFill>
                <a:effectLst/>
                <a:latin typeface="Söhne"/>
              </a:rPr>
              <a:t>And this kind of embedding, or this kind of method. Could be used to multiple single-cell tasks. RNA, ATAC, multimodal, batch correction and multi-omics integration.</a:t>
            </a:r>
          </a:p>
          <a:p>
            <a:r>
              <a:rPr lang="en-US" b="0" i="0" dirty="0">
                <a:solidFill>
                  <a:srgbClr val="374151"/>
                </a:solidFill>
                <a:effectLst/>
                <a:latin typeface="Söhne"/>
              </a:rPr>
              <a:t>And due to the time constraint, I would only discuss the top three tasks in today’s presentation</a:t>
            </a:r>
          </a:p>
        </p:txBody>
      </p:sp>
      <p:sp>
        <p:nvSpPr>
          <p:cNvPr id="4" name="Slide Number Placeholder 3"/>
          <p:cNvSpPr>
            <a:spLocks noGrp="1"/>
          </p:cNvSpPr>
          <p:nvPr>
            <p:ph type="sldNum" sz="quarter" idx="5"/>
          </p:nvPr>
        </p:nvSpPr>
        <p:spPr/>
        <p:txBody>
          <a:bodyPr/>
          <a:lstStyle/>
          <a:p>
            <a:fld id="{FBF5148F-E0CF-4A3E-922E-B1B7AB039E21}" type="slidenum">
              <a:rPr lang="en-US" smtClean="0"/>
              <a:t>8</a:t>
            </a:fld>
            <a:endParaRPr lang="en-US"/>
          </a:p>
        </p:txBody>
      </p:sp>
    </p:spTree>
    <p:extLst>
      <p:ext uri="{BB962C8B-B14F-4D97-AF65-F5344CB8AC3E}">
        <p14:creationId xmlns:p14="http://schemas.microsoft.com/office/powerpoint/2010/main" val="4239776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let’s talks about method</a:t>
            </a:r>
          </a:p>
        </p:txBody>
      </p:sp>
      <p:sp>
        <p:nvSpPr>
          <p:cNvPr id="4" name="Slide Number Placeholder 3"/>
          <p:cNvSpPr>
            <a:spLocks noGrp="1"/>
          </p:cNvSpPr>
          <p:nvPr>
            <p:ph type="sldNum" sz="quarter" idx="5"/>
          </p:nvPr>
        </p:nvSpPr>
        <p:spPr/>
        <p:txBody>
          <a:bodyPr/>
          <a:lstStyle/>
          <a:p>
            <a:fld id="{FBF5148F-E0CF-4A3E-922E-B1B7AB039E21}" type="slidenum">
              <a:rPr lang="en-US" smtClean="0"/>
              <a:t>9</a:t>
            </a:fld>
            <a:endParaRPr lang="en-US"/>
          </a:p>
        </p:txBody>
      </p:sp>
    </p:spTree>
    <p:extLst>
      <p:ext uri="{BB962C8B-B14F-4D97-AF65-F5344CB8AC3E}">
        <p14:creationId xmlns:p14="http://schemas.microsoft.com/office/powerpoint/2010/main" val="2675988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In general , it is divided into three steps</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10</a:t>
            </a:fld>
            <a:endParaRPr lang="en-US"/>
          </a:p>
        </p:txBody>
      </p:sp>
    </p:spTree>
    <p:extLst>
      <p:ext uri="{BB962C8B-B14F-4D97-AF65-F5344CB8AC3E}">
        <p14:creationId xmlns:p14="http://schemas.microsoft.com/office/powerpoint/2010/main" val="2601495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start with Data Preprocessing</a:t>
            </a:r>
          </a:p>
        </p:txBody>
      </p:sp>
      <p:sp>
        <p:nvSpPr>
          <p:cNvPr id="4" name="Slide Number Placeholder 3"/>
          <p:cNvSpPr>
            <a:spLocks noGrp="1"/>
          </p:cNvSpPr>
          <p:nvPr>
            <p:ph type="sldNum" sz="quarter" idx="5"/>
          </p:nvPr>
        </p:nvSpPr>
        <p:spPr/>
        <p:txBody>
          <a:bodyPr/>
          <a:lstStyle/>
          <a:p>
            <a:fld id="{FBF5148F-E0CF-4A3E-922E-B1B7AB039E21}" type="slidenum">
              <a:rPr lang="en-US" smtClean="0"/>
              <a:t>11</a:t>
            </a:fld>
            <a:endParaRPr lang="en-US"/>
          </a:p>
        </p:txBody>
      </p:sp>
    </p:spTree>
    <p:extLst>
      <p:ext uri="{BB962C8B-B14F-4D97-AF65-F5344CB8AC3E}">
        <p14:creationId xmlns:p14="http://schemas.microsoft.com/office/powerpoint/2010/main" val="34013158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At first, when we obtain the gene expression levels of cells, we tend to transform them into the gene expression matrix.</a:t>
            </a:r>
            <a:br>
              <a:rPr lang="en-US" b="0" i="0" dirty="0">
                <a:solidFill>
                  <a:srgbClr val="374151"/>
                </a:solidFill>
                <a:effectLst/>
                <a:latin typeface="Söhne"/>
              </a:rPr>
            </a:br>
            <a:r>
              <a:rPr lang="en-US" b="0" i="0" dirty="0">
                <a:solidFill>
                  <a:srgbClr val="374151"/>
                </a:solidFill>
                <a:effectLst/>
                <a:latin typeface="Söhne"/>
              </a:rPr>
              <a:t>You can see that, on this gene expression matrix, the values are continuous and include decimal points.</a:t>
            </a:r>
          </a:p>
          <a:p>
            <a:endParaRPr lang="en-US" dirty="0"/>
          </a:p>
          <a:p>
            <a:r>
              <a:rPr lang="en-US" b="0" i="0" dirty="0">
                <a:solidFill>
                  <a:srgbClr val="374151"/>
                </a:solidFill>
                <a:effectLst/>
                <a:latin typeface="Söhne"/>
              </a:rPr>
              <a:t>To simplify, we will transform these continuous values through a discrete conversion. We divide these values into five groups.</a:t>
            </a:r>
          </a:p>
          <a:p>
            <a:r>
              <a:rPr lang="en-US" b="0" i="0" dirty="0">
                <a:solidFill>
                  <a:srgbClr val="374151"/>
                </a:solidFill>
                <a:effectLst/>
                <a:latin typeface="Söhne"/>
              </a:rPr>
              <a:t>Each group here implies that the gene expression levels within the same group are relatively similar.</a:t>
            </a:r>
          </a:p>
          <a:p>
            <a:endParaRPr lang="en-US" b="0" i="0" dirty="0">
              <a:solidFill>
                <a:srgbClr val="374151"/>
              </a:solidFill>
              <a:effectLst/>
              <a:latin typeface="Söhne"/>
            </a:endParaRPr>
          </a:p>
          <a:p>
            <a:r>
              <a:rPr lang="en-US" b="0" i="0" dirty="0">
                <a:solidFill>
                  <a:srgbClr val="374151"/>
                </a:solidFill>
                <a:effectLst/>
                <a:latin typeface="Söhne"/>
              </a:rPr>
              <a:t>And so you can now see there are only integers in the discrete expression matrix.</a:t>
            </a:r>
          </a:p>
        </p:txBody>
      </p:sp>
      <p:sp>
        <p:nvSpPr>
          <p:cNvPr id="4" name="Slide Number Placeholder 3"/>
          <p:cNvSpPr>
            <a:spLocks noGrp="1"/>
          </p:cNvSpPr>
          <p:nvPr>
            <p:ph type="sldNum" sz="quarter" idx="5"/>
          </p:nvPr>
        </p:nvSpPr>
        <p:spPr/>
        <p:txBody>
          <a:bodyPr/>
          <a:lstStyle/>
          <a:p>
            <a:fld id="{730E65B1-1032-4944-9DDC-977790F00C48}" type="slidenum">
              <a:rPr lang="en-US" smtClean="0"/>
              <a:t>12</a:t>
            </a:fld>
            <a:endParaRPr lang="en-US"/>
          </a:p>
        </p:txBody>
      </p:sp>
    </p:spTree>
    <p:extLst>
      <p:ext uri="{BB962C8B-B14F-4D97-AF65-F5344CB8AC3E}">
        <p14:creationId xmlns:p14="http://schemas.microsoft.com/office/powerpoint/2010/main" val="13379716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the same thing for ATAC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But the conversion of values here is a bit different. They performed binarization.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Because they only wanted to categorize chromatin accessibility as either 'open' or 'closed. So we only get 1 or 0 in the matrix</a:t>
            </a:r>
          </a:p>
        </p:txBody>
      </p:sp>
      <p:sp>
        <p:nvSpPr>
          <p:cNvPr id="4" name="Slide Number Placeholder 3"/>
          <p:cNvSpPr>
            <a:spLocks noGrp="1"/>
          </p:cNvSpPr>
          <p:nvPr>
            <p:ph type="sldNum" sz="quarter" idx="5"/>
          </p:nvPr>
        </p:nvSpPr>
        <p:spPr/>
        <p:txBody>
          <a:bodyPr/>
          <a:lstStyle/>
          <a:p>
            <a:fld id="{730E65B1-1032-4944-9DDC-977790F00C48}" type="slidenum">
              <a:rPr lang="en-US" smtClean="0"/>
              <a:t>13</a:t>
            </a:fld>
            <a:endParaRPr lang="en-US"/>
          </a:p>
        </p:txBody>
      </p:sp>
    </p:spTree>
    <p:extLst>
      <p:ext uri="{BB962C8B-B14F-4D97-AF65-F5344CB8AC3E}">
        <p14:creationId xmlns:p14="http://schemas.microsoft.com/office/powerpoint/2010/main" val="7040114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TW" b="0" i="0" dirty="0">
                <a:effectLst/>
                <a:latin typeface="Söhne"/>
              </a:rPr>
              <a:t>The second step is Graph construction. Graph construction is a process to transform matrix into a graph</a:t>
            </a:r>
          </a:p>
          <a:p>
            <a:pPr algn="l"/>
            <a:endParaRPr lang="en-US" altLang="zh-TW" b="0" i="0" dirty="0">
              <a:effectLst/>
              <a:latin typeface="Söhne"/>
            </a:endParaRPr>
          </a:p>
          <a:p>
            <a:pPr algn="l"/>
            <a:r>
              <a:rPr lang="zh-TW" altLang="en-US" b="0" i="0" dirty="0">
                <a:effectLst/>
                <a:latin typeface="Söhne"/>
              </a:rPr>
              <a:t>在將數據矩陣轉換為圖結構（</a:t>
            </a:r>
            <a:r>
              <a:rPr lang="en-US" altLang="zh-TW" b="0" i="0" dirty="0">
                <a:effectLst/>
                <a:latin typeface="Söhne"/>
              </a:rPr>
              <a:t>graph construction</a:t>
            </a:r>
            <a:r>
              <a:rPr lang="zh-TW" altLang="en-US" b="0" i="0" dirty="0">
                <a:effectLst/>
                <a:latin typeface="Söhne"/>
              </a:rPr>
              <a:t>）的過程中，</a:t>
            </a:r>
            <a:r>
              <a:rPr lang="en-US" altLang="zh-TW" b="0" i="0" dirty="0">
                <a:effectLst/>
                <a:latin typeface="Söhne"/>
              </a:rPr>
              <a:t>SIMBA </a:t>
            </a:r>
            <a:r>
              <a:rPr lang="zh-TW" altLang="en-US" b="0" i="0" dirty="0">
                <a:effectLst/>
                <a:latin typeface="Söhne"/>
              </a:rPr>
              <a:t>使用了一個特定的算法來建立圖。從矩陣到圖結構的轉換通常包括以下步驟：</a:t>
            </a:r>
          </a:p>
          <a:p>
            <a:pPr algn="l">
              <a:buFont typeface="+mj-lt"/>
              <a:buAutoNum type="arabicPeriod"/>
            </a:pPr>
            <a:r>
              <a:rPr lang="zh-TW" altLang="en-US" b="1" i="0" dirty="0">
                <a:effectLst/>
                <a:latin typeface="Söhne"/>
              </a:rPr>
              <a:t>節點表示（</a:t>
            </a:r>
            <a:r>
              <a:rPr lang="en-US" altLang="zh-TW" b="1" i="0" dirty="0">
                <a:effectLst/>
                <a:latin typeface="Söhne"/>
              </a:rPr>
              <a:t>Node Representation</a:t>
            </a:r>
            <a:r>
              <a:rPr lang="zh-TW" altLang="en-US" b="1" i="0" dirty="0">
                <a:effectLst/>
                <a:latin typeface="Söhne"/>
              </a:rPr>
              <a:t>）</a:t>
            </a:r>
            <a:r>
              <a:rPr lang="zh-TW" altLang="en-US" b="0" i="0" dirty="0">
                <a:effectLst/>
                <a:latin typeface="Söhne"/>
              </a:rPr>
              <a:t>：在圖中，每個節點代表矩陣中的一個實體，如單個細胞或基因。這取決於研究的數據類型（例如，單細胞轉錄組數據或染色質可及性數據）。</a:t>
            </a:r>
          </a:p>
          <a:p>
            <a:pPr algn="l">
              <a:buFont typeface="+mj-lt"/>
              <a:buAutoNum type="arabicPeriod"/>
            </a:pPr>
            <a:r>
              <a:rPr lang="zh-TW" altLang="en-US" b="1" i="0" dirty="0">
                <a:effectLst/>
                <a:latin typeface="Söhne"/>
              </a:rPr>
              <a:t>邊的建立（</a:t>
            </a:r>
            <a:r>
              <a:rPr lang="en-US" altLang="zh-TW" b="1" i="0" dirty="0">
                <a:effectLst/>
                <a:latin typeface="Söhne"/>
              </a:rPr>
              <a:t>Edge Construction</a:t>
            </a:r>
            <a:r>
              <a:rPr lang="zh-TW" altLang="en-US" b="1" i="0" dirty="0">
                <a:effectLst/>
                <a:latin typeface="Söhne"/>
              </a:rPr>
              <a:t>）</a:t>
            </a:r>
            <a:r>
              <a:rPr lang="zh-TW" altLang="en-US" b="0" i="0" dirty="0">
                <a:effectLst/>
                <a:latin typeface="Söhne"/>
              </a:rPr>
              <a:t>：圖中的邊代表節點之間的關係。在</a:t>
            </a:r>
            <a:r>
              <a:rPr lang="en-US" altLang="zh-TW" b="0" i="0" dirty="0">
                <a:effectLst/>
                <a:latin typeface="Söhne"/>
              </a:rPr>
              <a:t>SIMBA</a:t>
            </a:r>
            <a:r>
              <a:rPr lang="zh-TW" altLang="en-US" b="0" i="0" dirty="0">
                <a:effectLst/>
                <a:latin typeface="Söhne"/>
              </a:rPr>
              <a:t>中，這些邊可能基於數據中的不同相互作用，例如基因表達模式的相似性或細胞間的功能關聯。具體方法可能包括計算節點間的相似度或距離，並根據這些計算來建立邊。</a:t>
            </a:r>
          </a:p>
          <a:p>
            <a:pPr algn="l">
              <a:buFont typeface="+mj-lt"/>
              <a:buAutoNum type="arabicPeriod"/>
            </a:pPr>
            <a:r>
              <a:rPr lang="zh-TW" altLang="en-US" b="1" i="0" dirty="0">
                <a:effectLst/>
                <a:latin typeface="Söhne"/>
              </a:rPr>
              <a:t>加權（</a:t>
            </a:r>
            <a:r>
              <a:rPr lang="en-US" altLang="zh-TW" b="1" i="0" dirty="0">
                <a:effectLst/>
                <a:latin typeface="Söhne"/>
              </a:rPr>
              <a:t>Weighting</a:t>
            </a:r>
            <a:r>
              <a:rPr lang="zh-TW" altLang="en-US" b="1" i="0" dirty="0">
                <a:effectLst/>
                <a:latin typeface="Söhne"/>
              </a:rPr>
              <a:t>）</a:t>
            </a:r>
            <a:r>
              <a:rPr lang="zh-TW" altLang="en-US" b="0" i="0" dirty="0">
                <a:effectLst/>
                <a:latin typeface="Söhne"/>
              </a:rPr>
              <a:t>：圖的邊可能會被賦予不同的權重，這表示節點間關聯的強度或信任度。權重的確定可能基於節點間相似度的度量，例如皮爾森相關性或其他統計方法。</a:t>
            </a:r>
          </a:p>
          <a:p>
            <a:pPr algn="l">
              <a:buFont typeface="+mj-lt"/>
              <a:buAutoNum type="arabicPeriod"/>
            </a:pPr>
            <a:r>
              <a:rPr lang="zh-TW" altLang="en-US" b="1" i="0" dirty="0">
                <a:effectLst/>
                <a:latin typeface="Söhne"/>
              </a:rPr>
              <a:t>圖的優化（</a:t>
            </a:r>
            <a:r>
              <a:rPr lang="en-US" altLang="zh-TW" b="1" i="0" dirty="0">
                <a:effectLst/>
                <a:latin typeface="Söhne"/>
              </a:rPr>
              <a:t>Graph Optimization</a:t>
            </a:r>
            <a:r>
              <a:rPr lang="zh-TW" altLang="en-US" b="1" i="0" dirty="0">
                <a:effectLst/>
                <a:latin typeface="Söhne"/>
              </a:rPr>
              <a:t>）</a:t>
            </a:r>
            <a:r>
              <a:rPr lang="zh-TW" altLang="en-US" b="0" i="0" dirty="0">
                <a:effectLst/>
                <a:latin typeface="Söhne"/>
              </a:rPr>
              <a:t>：最後，可能會對圖進行一些優化，以增強其表達數據特徵的能力。這可能包括調整節點或邊的參數，或者應用特定的圖算法來提取有用的信息。</a:t>
            </a:r>
          </a:p>
          <a:p>
            <a:pPr algn="l"/>
            <a:r>
              <a:rPr lang="zh-TW" altLang="en-US" b="0" i="0" dirty="0">
                <a:effectLst/>
                <a:latin typeface="Söhne"/>
              </a:rPr>
              <a:t>具體到</a:t>
            </a:r>
            <a:r>
              <a:rPr lang="en-US" altLang="zh-TW" b="0" i="0" dirty="0">
                <a:effectLst/>
                <a:latin typeface="Söhne"/>
              </a:rPr>
              <a:t>SIMBA</a:t>
            </a:r>
            <a:r>
              <a:rPr lang="zh-TW" altLang="en-US" b="0" i="0" dirty="0">
                <a:effectLst/>
                <a:latin typeface="Söhne"/>
              </a:rPr>
              <a:t>，它的特色在於能夠共同嵌入（</a:t>
            </a:r>
            <a:r>
              <a:rPr lang="en-US" altLang="zh-TW" b="0" i="0" dirty="0">
                <a:effectLst/>
                <a:latin typeface="Söhne"/>
              </a:rPr>
              <a:t>co-embedding</a:t>
            </a:r>
            <a:r>
              <a:rPr lang="zh-TW" altLang="en-US" b="0" i="0" dirty="0">
                <a:effectLst/>
                <a:latin typeface="Söhne"/>
              </a:rPr>
              <a:t>）細胞和特徵（如基因或染色質區域），從而在相同的空間中表示這些不同類型的實體</a:t>
            </a:r>
          </a:p>
          <a:p>
            <a:endParaRPr lang="en-US" dirty="0"/>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14</a:t>
            </a:fld>
            <a:endParaRPr lang="en-US"/>
          </a:p>
        </p:txBody>
      </p:sp>
    </p:spTree>
    <p:extLst>
      <p:ext uri="{BB962C8B-B14F-4D97-AF65-F5344CB8AC3E}">
        <p14:creationId xmlns:p14="http://schemas.microsoft.com/office/powerpoint/2010/main" val="1826350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have a matrix, and we usually call it adjacency matrix, how to transform the matrix into a graph?</a:t>
            </a:r>
          </a:p>
          <a:p>
            <a:r>
              <a:rPr lang="en-US" dirty="0"/>
              <a:t>Take a look at rows A and columns B, there is a value, means the two nodes have some connection. </a:t>
            </a:r>
          </a:p>
          <a:p>
            <a:r>
              <a:rPr lang="en-US" dirty="0"/>
              <a:t>So there is a edge between them. And you know, some nodes they have very strong interaction, so will give the edge a higher weight.</a:t>
            </a:r>
          </a:p>
          <a:p>
            <a:endParaRPr lang="en-US" dirty="0"/>
          </a:p>
          <a:p>
            <a:r>
              <a:rPr lang="en-US" dirty="0"/>
              <a:t>But actually in SIMBA’s case, we use the thick line to represent the edge with higher weight. Thinner lines represent the edge with lower weight.</a:t>
            </a:r>
          </a:p>
        </p:txBody>
      </p:sp>
      <p:sp>
        <p:nvSpPr>
          <p:cNvPr id="4" name="Slide Number Placeholder 3"/>
          <p:cNvSpPr>
            <a:spLocks noGrp="1"/>
          </p:cNvSpPr>
          <p:nvPr>
            <p:ph type="sldNum" sz="quarter" idx="5"/>
          </p:nvPr>
        </p:nvSpPr>
        <p:spPr/>
        <p:txBody>
          <a:bodyPr/>
          <a:lstStyle/>
          <a:p>
            <a:fld id="{730E65B1-1032-4944-9DDC-977790F00C48}" type="slidenum">
              <a:rPr lang="en-US" smtClean="0"/>
              <a:t>15</a:t>
            </a:fld>
            <a:endParaRPr lang="en-US"/>
          </a:p>
        </p:txBody>
      </p:sp>
    </p:spTree>
    <p:extLst>
      <p:ext uri="{BB962C8B-B14F-4D97-AF65-F5344CB8AC3E}">
        <p14:creationId xmlns:p14="http://schemas.microsoft.com/office/powerpoint/2010/main" val="4836070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can see how to transform the matrix. </a:t>
            </a:r>
          </a:p>
        </p:txBody>
      </p:sp>
      <p:sp>
        <p:nvSpPr>
          <p:cNvPr id="4" name="Slide Number Placeholder 3"/>
          <p:cNvSpPr>
            <a:spLocks noGrp="1"/>
          </p:cNvSpPr>
          <p:nvPr>
            <p:ph type="sldNum" sz="quarter" idx="5"/>
          </p:nvPr>
        </p:nvSpPr>
        <p:spPr/>
        <p:txBody>
          <a:bodyPr/>
          <a:lstStyle/>
          <a:p>
            <a:fld id="{730E65B1-1032-4944-9DDC-977790F00C48}" type="slidenum">
              <a:rPr lang="en-US" smtClean="0"/>
              <a:t>16</a:t>
            </a:fld>
            <a:endParaRPr lang="en-US"/>
          </a:p>
        </p:txBody>
      </p:sp>
    </p:spTree>
    <p:extLst>
      <p:ext uri="{BB962C8B-B14F-4D97-AF65-F5344CB8AC3E}">
        <p14:creationId xmlns:p14="http://schemas.microsoft.com/office/powerpoint/2010/main" val="18479402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do the same thing for single cell ATAC. But if you have more datatype, these datatypes could also be added into the graph</a:t>
            </a:r>
          </a:p>
        </p:txBody>
      </p:sp>
      <p:sp>
        <p:nvSpPr>
          <p:cNvPr id="4" name="Slide Number Placeholder 3"/>
          <p:cNvSpPr>
            <a:spLocks noGrp="1"/>
          </p:cNvSpPr>
          <p:nvPr>
            <p:ph type="sldNum" sz="quarter" idx="5"/>
          </p:nvPr>
        </p:nvSpPr>
        <p:spPr/>
        <p:txBody>
          <a:bodyPr/>
          <a:lstStyle/>
          <a:p>
            <a:fld id="{730E65B1-1032-4944-9DDC-977790F00C48}" type="slidenum">
              <a:rPr lang="en-US" smtClean="0"/>
              <a:t>17</a:t>
            </a:fld>
            <a:endParaRPr lang="en-US"/>
          </a:p>
        </p:txBody>
      </p:sp>
    </p:spTree>
    <p:extLst>
      <p:ext uri="{BB962C8B-B14F-4D97-AF65-F5344CB8AC3E}">
        <p14:creationId xmlns:p14="http://schemas.microsoft.com/office/powerpoint/2010/main" val="35445651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And for multimodal analysis, actually we just combine the two process.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left, we have the approach for processing RNA data, while the right, we have the approach for processing ATAC data</a:t>
            </a:r>
            <a:endParaRPr lang="zh-CN" altLang="en-US" b="0" i="0" dirty="0">
              <a:solidFill>
                <a:srgbClr val="374151"/>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730E65B1-1032-4944-9DDC-977790F00C48}" type="slidenum">
              <a:rPr lang="en-US" smtClean="0"/>
              <a:t>18</a:t>
            </a:fld>
            <a:endParaRPr lang="en-US"/>
          </a:p>
        </p:txBody>
      </p:sp>
    </p:spTree>
    <p:extLst>
      <p:ext uri="{BB962C8B-B14F-4D97-AF65-F5344CB8AC3E}">
        <p14:creationId xmlns:p14="http://schemas.microsoft.com/office/powerpoint/2010/main" val="36512673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19</a:t>
            </a:fld>
            <a:endParaRPr lang="en-US"/>
          </a:p>
        </p:txBody>
      </p:sp>
    </p:spTree>
    <p:extLst>
      <p:ext uri="{BB962C8B-B14F-4D97-AF65-F5344CB8AC3E}">
        <p14:creationId xmlns:p14="http://schemas.microsoft.com/office/powerpoint/2010/main" val="2049614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Ok, so for SIMBA embedding…</a:t>
            </a:r>
          </a:p>
          <a:p>
            <a:r>
              <a:rPr lang="en-US" b="0" i="0" dirty="0">
                <a:solidFill>
                  <a:srgbClr val="374151"/>
                </a:solidFill>
                <a:effectLst/>
                <a:latin typeface="Söhne"/>
              </a:rPr>
              <a:t>First, we need to create a vector. Vectors are our input for SIMBA embedding.</a:t>
            </a:r>
          </a:p>
          <a:p>
            <a:r>
              <a:rPr lang="en-US" b="0" i="0" dirty="0">
                <a:solidFill>
                  <a:srgbClr val="374151"/>
                </a:solidFill>
                <a:effectLst/>
                <a:latin typeface="Söhne"/>
              </a:rPr>
              <a:t>We represent each edge existing in this space with a set of vectors.</a:t>
            </a:r>
          </a:p>
          <a:p>
            <a:endParaRPr lang="en-US"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An edge connects a starting position to an ending position. We call the node at starting position as “</a:t>
            </a:r>
            <a:r>
              <a:rPr lang="en-US" dirty="0"/>
              <a:t>source entity”, and we call the node at </a:t>
            </a:r>
            <a:r>
              <a:rPr lang="en-US" b="0" i="0" dirty="0">
                <a:solidFill>
                  <a:srgbClr val="374151"/>
                </a:solidFill>
                <a:effectLst/>
                <a:latin typeface="Söhne"/>
              </a:rPr>
              <a:t>ending position as “</a:t>
            </a:r>
            <a:r>
              <a:rPr lang="en-US" dirty="0"/>
              <a:t>destination entity”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And then, we calculate an edge score for each edge. The score is related to the two nodes connected by the edge. This score reflects our aim to find a method to effectively capture the connectivity relationships between points.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we calculate the loss. </a:t>
            </a:r>
            <a:r>
              <a:rPr lang="en-US" b="0" i="0" dirty="0">
                <a:solidFill>
                  <a:srgbClr val="374151"/>
                </a:solidFill>
                <a:effectLst/>
                <a:latin typeface="Söhne"/>
              </a:rPr>
              <a:t>Loss is a method used to assess whether the prediction is close to the true value. You can regard the loss function as a method to calculate if these scores are sufficiently good.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Find the overall best score means, we will </a:t>
            </a:r>
            <a:r>
              <a:rPr lang="en-US" b="0" i="0" dirty="0">
                <a:solidFill>
                  <a:srgbClr val="374151"/>
                </a:solidFill>
                <a:effectLst/>
                <a:latin typeface="Söhne"/>
              </a:rPr>
              <a:t>adjust our score and seeing if these scores become increasingly better, meaning they approach the true connectivity relationships more closely.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And here </a:t>
            </a:r>
            <a:r>
              <a:rPr lang="en-US" b="0" i="0" dirty="0" err="1">
                <a:solidFill>
                  <a:srgbClr val="374151"/>
                </a:solidFill>
                <a:effectLst/>
                <a:latin typeface="Söhne"/>
              </a:rPr>
              <a:t>simba</a:t>
            </a:r>
            <a:r>
              <a:rPr lang="en-US" b="0" i="0" dirty="0">
                <a:solidFill>
                  <a:srgbClr val="374151"/>
                </a:solidFill>
                <a:effectLst/>
                <a:latin typeface="Söhne"/>
              </a:rPr>
              <a:t> use </a:t>
            </a:r>
            <a:r>
              <a:rPr lang="en-US" b="0" i="0" dirty="0" err="1">
                <a:solidFill>
                  <a:srgbClr val="374151"/>
                </a:solidFill>
                <a:effectLst/>
                <a:latin typeface="Söhne"/>
              </a:rPr>
              <a:t>pytorch-biggraph</a:t>
            </a:r>
            <a:r>
              <a:rPr lang="en-US" b="0" i="0" dirty="0">
                <a:solidFill>
                  <a:srgbClr val="374151"/>
                </a:solidFill>
                <a:effectLst/>
                <a:latin typeface="Söhne"/>
              </a:rPr>
              <a:t> to train the graphs.</a:t>
            </a:r>
            <a:endParaRPr lang="en-US" dirty="0">
              <a:solidFill>
                <a:schemeClr val="tx1"/>
              </a:solidFill>
            </a:endParaRPr>
          </a:p>
        </p:txBody>
      </p:sp>
      <p:sp>
        <p:nvSpPr>
          <p:cNvPr id="4" name="Slide Number Placeholder 3"/>
          <p:cNvSpPr>
            <a:spLocks noGrp="1"/>
          </p:cNvSpPr>
          <p:nvPr>
            <p:ph type="sldNum" sz="quarter" idx="5"/>
          </p:nvPr>
        </p:nvSpPr>
        <p:spPr/>
        <p:txBody>
          <a:bodyPr/>
          <a:lstStyle/>
          <a:p>
            <a:fld id="{FBF5148F-E0CF-4A3E-922E-B1B7AB039E21}" type="slidenum">
              <a:rPr lang="en-US" smtClean="0"/>
              <a:t>20</a:t>
            </a:fld>
            <a:endParaRPr lang="en-US"/>
          </a:p>
        </p:txBody>
      </p:sp>
    </p:spTree>
    <p:extLst>
      <p:ext uri="{BB962C8B-B14F-4D97-AF65-F5344CB8AC3E}">
        <p14:creationId xmlns:p14="http://schemas.microsoft.com/office/powerpoint/2010/main" val="8109502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0" i="0" dirty="0">
                <a:solidFill>
                  <a:srgbClr val="0F0F0F"/>
                </a:solidFill>
                <a:effectLst/>
                <a:latin typeface="KaTeX_Caligraphic"/>
              </a:rPr>
              <a:t>L</a:t>
            </a:r>
            <a:r>
              <a:rPr lang="en-US" altLang="zh-CN" b="0" i="1" dirty="0">
                <a:solidFill>
                  <a:srgbClr val="0F0F0F"/>
                </a:solidFill>
                <a:effectLst/>
                <a:latin typeface="KaTeX_Math"/>
              </a:rPr>
              <a:t>e</a:t>
            </a:r>
            <a:r>
              <a:rPr lang="zh-CN" altLang="en-US" b="0" i="0" dirty="0">
                <a:solidFill>
                  <a:srgbClr val="0F0F0F"/>
                </a:solidFill>
                <a:effectLst/>
                <a:latin typeface="KaTeX_Main"/>
              </a:rPr>
              <a:t>​</a:t>
            </a:r>
            <a:r>
              <a:rPr lang="zh-CN" altLang="en-US" b="0" i="0" dirty="0">
                <a:solidFill>
                  <a:srgbClr val="0F0F0F"/>
                </a:solidFill>
                <a:effectLst/>
                <a:latin typeface="Söhne"/>
              </a:rPr>
              <a:t> 表示损失函数，用于量化模型预测和实际数据之间的差异</a:t>
            </a:r>
            <a:endParaRPr lang="en-US" altLang="zh-CN" b="0" i="0" dirty="0">
              <a:solidFill>
                <a:srgbClr val="0F0F0F"/>
              </a:solidFill>
              <a:effectLst/>
              <a:latin typeface="Söhne"/>
            </a:endParaRPr>
          </a:p>
          <a:p>
            <a:r>
              <a:rPr lang="en-US" altLang="zh-CN" b="0" i="1" dirty="0">
                <a:solidFill>
                  <a:srgbClr val="0F0F0F"/>
                </a:solidFill>
                <a:effectLst/>
                <a:latin typeface="KaTeX_Math"/>
              </a:rPr>
              <a:t>se</a:t>
            </a:r>
            <a:r>
              <a:rPr lang="zh-CN" altLang="en-US" b="0" i="0" dirty="0">
                <a:solidFill>
                  <a:srgbClr val="0F0F0F"/>
                </a:solidFill>
                <a:effectLst/>
                <a:latin typeface="KaTeX_Main"/>
              </a:rPr>
              <a:t>​</a:t>
            </a:r>
            <a:r>
              <a:rPr lang="zh-CN" altLang="en-US" b="0" i="0" dirty="0">
                <a:solidFill>
                  <a:srgbClr val="0F0F0F"/>
                </a:solidFill>
                <a:effectLst/>
                <a:latin typeface="Söhne"/>
              </a:rPr>
              <a:t> 是模型对边 </a:t>
            </a:r>
            <a:r>
              <a:rPr lang="en-US" altLang="zh-CN" b="0" i="1" dirty="0">
                <a:solidFill>
                  <a:srgbClr val="0F0F0F"/>
                </a:solidFill>
                <a:effectLst/>
                <a:latin typeface="KaTeX_Math"/>
              </a:rPr>
              <a:t>e</a:t>
            </a:r>
            <a:r>
              <a:rPr lang="zh-CN" altLang="en-US" b="0" i="0" dirty="0">
                <a:solidFill>
                  <a:srgbClr val="0F0F0F"/>
                </a:solidFill>
                <a:effectLst/>
                <a:latin typeface="Söhne"/>
              </a:rPr>
              <a:t> 的预测得分</a:t>
            </a:r>
            <a:endParaRPr lang="en-US" altLang="zh-CN" b="0" i="0" dirty="0">
              <a:solidFill>
                <a:srgbClr val="0F0F0F"/>
              </a:solidFill>
              <a:effectLst/>
              <a:latin typeface="Söhne"/>
            </a:endParaRPr>
          </a:p>
          <a:p>
            <a:r>
              <a:rPr lang="en-US" altLang="zh-CN" b="0" i="0" dirty="0">
                <a:solidFill>
                  <a:srgbClr val="0F0F0F"/>
                </a:solidFill>
                <a:effectLst/>
                <a:latin typeface="KaTeX_Main"/>
              </a:rPr>
              <a:t>exp(</a:t>
            </a:r>
            <a:r>
              <a:rPr lang="en-US" altLang="zh-CN" b="0" i="1" dirty="0">
                <a:solidFill>
                  <a:srgbClr val="0F0F0F"/>
                </a:solidFill>
                <a:effectLst/>
                <a:latin typeface="KaTeX_Math"/>
              </a:rPr>
              <a:t>se</a:t>
            </a:r>
            <a:r>
              <a:rPr lang="zh-CN" altLang="en-US" b="0" i="0" dirty="0">
                <a:solidFill>
                  <a:srgbClr val="0F0F0F"/>
                </a:solidFill>
                <a:effectLst/>
                <a:latin typeface="KaTeX_Main"/>
              </a:rPr>
              <a:t>​</a:t>
            </a:r>
            <a:r>
              <a:rPr lang="en-US" altLang="zh-CN" b="0" i="0" dirty="0">
                <a:solidFill>
                  <a:srgbClr val="0F0F0F"/>
                </a:solidFill>
                <a:effectLst/>
                <a:latin typeface="KaTeX_Main"/>
              </a:rPr>
              <a:t>)</a:t>
            </a:r>
            <a:r>
              <a:rPr lang="zh-CN" altLang="en-US" b="0" i="0" dirty="0">
                <a:solidFill>
                  <a:srgbClr val="0F0F0F"/>
                </a:solidFill>
                <a:effectLst/>
                <a:latin typeface="Söhne"/>
              </a:rPr>
              <a:t> 是 </a:t>
            </a:r>
            <a:r>
              <a:rPr lang="en-US" altLang="zh-CN" b="0" i="1" dirty="0">
                <a:solidFill>
                  <a:srgbClr val="0F0F0F"/>
                </a:solidFill>
                <a:effectLst/>
                <a:latin typeface="KaTeX_Math"/>
              </a:rPr>
              <a:t>e</a:t>
            </a:r>
            <a:r>
              <a:rPr lang="zh-CN" altLang="en-US" b="0" i="0" dirty="0">
                <a:solidFill>
                  <a:srgbClr val="0F0F0F"/>
                </a:solidFill>
                <a:effectLst/>
                <a:latin typeface="Söhne"/>
              </a:rPr>
              <a:t> 的预测得分的指数，这样做可以确保所有得分都是正的，并且放大差异</a:t>
            </a:r>
            <a:endParaRPr lang="en-US" altLang="zh-CN" b="0" i="0" dirty="0">
              <a:solidFill>
                <a:srgbClr val="0F0F0F"/>
              </a:solidFill>
              <a:effectLst/>
              <a:latin typeface="Söhne"/>
            </a:endParaRPr>
          </a:p>
          <a:p>
            <a:r>
              <a:rPr lang="en-US" b="0" i="0" dirty="0">
                <a:solidFill>
                  <a:srgbClr val="0F0F0F"/>
                </a:solidFill>
                <a:effectLst/>
                <a:latin typeface="KaTeX_Caligraphic"/>
              </a:rPr>
              <a:t>N</a:t>
            </a:r>
            <a:r>
              <a:rPr lang="en-US" b="0" i="0" dirty="0">
                <a:solidFill>
                  <a:srgbClr val="0F0F0F"/>
                </a:solidFill>
                <a:effectLst/>
                <a:latin typeface="Söhne"/>
              </a:rPr>
              <a:t> </a:t>
            </a:r>
            <a:r>
              <a:rPr lang="en-US" altLang="zh-CN" b="0" i="0" dirty="0" err="1">
                <a:solidFill>
                  <a:srgbClr val="0F0F0F"/>
                </a:solidFill>
                <a:effectLst/>
                <a:latin typeface="KaTeX_Caligraphic"/>
              </a:rPr>
              <a:t>N</a:t>
            </a:r>
            <a:r>
              <a:rPr lang="zh-CN" altLang="en-US" b="0" i="0" dirty="0">
                <a:solidFill>
                  <a:srgbClr val="0F0F0F"/>
                </a:solidFill>
                <a:effectLst/>
                <a:latin typeface="Söhne"/>
              </a:rPr>
              <a:t> 是一个通过损坏边 </a:t>
            </a:r>
            <a:r>
              <a:rPr lang="en-US" altLang="zh-CN" b="0" i="1" dirty="0">
                <a:solidFill>
                  <a:srgbClr val="0F0F0F"/>
                </a:solidFill>
                <a:effectLst/>
                <a:latin typeface="KaTeX_Math"/>
              </a:rPr>
              <a:t>e</a:t>
            </a:r>
            <a:r>
              <a:rPr lang="zh-CN" altLang="en-US" b="0" i="0" dirty="0">
                <a:solidFill>
                  <a:srgbClr val="0F0F0F"/>
                </a:solidFill>
                <a:effectLst/>
                <a:latin typeface="Söhne"/>
              </a:rPr>
              <a:t> 生成的负采样候选边集合</a:t>
            </a:r>
            <a:r>
              <a:rPr lang="en-US" altLang="zh-TW" b="0" i="0" dirty="0">
                <a:solidFill>
                  <a:srgbClr val="0F0F0F"/>
                </a:solidFill>
                <a:effectLst/>
                <a:latin typeface="Söhne"/>
              </a:rPr>
              <a:t>(e‘)</a:t>
            </a:r>
            <a:r>
              <a:rPr lang="zh-CN" altLang="en-US" b="0" i="0" dirty="0">
                <a:solidFill>
                  <a:srgbClr val="0F0F0F"/>
                </a:solidFill>
                <a:effectLst/>
                <a:latin typeface="Söhne"/>
              </a:rPr>
              <a:t>。负采样是一种常用的训练数据增强方法，通过引入不正确的例子（例如，不存在的边），帮助模型更好地学习区分正例（实际存在的边）和负例（不存在的边）。</a:t>
            </a:r>
            <a:endParaRPr lang="en-US" altLang="zh-TW" b="0" i="0" dirty="0">
              <a:solidFill>
                <a:srgbClr val="0F0F0F"/>
              </a:solidFill>
              <a:effectLst/>
              <a:latin typeface="Söhne"/>
            </a:endParaRPr>
          </a:p>
          <a:p>
            <a:r>
              <a:rPr lang="zh-CN" altLang="en-US" b="0" i="0" dirty="0">
                <a:solidFill>
                  <a:srgbClr val="0F0F0F"/>
                </a:solidFill>
                <a:effectLst/>
                <a:latin typeface="KaTeX_Size1"/>
              </a:rPr>
              <a:t>∑</a:t>
            </a:r>
            <a:r>
              <a:rPr lang="en-US" altLang="zh-CN" b="0" i="1" dirty="0" err="1">
                <a:solidFill>
                  <a:srgbClr val="0F0F0F"/>
                </a:solidFill>
                <a:effectLst/>
                <a:latin typeface="KaTeX_Math"/>
              </a:rPr>
              <a:t>e</a:t>
            </a:r>
            <a:r>
              <a:rPr lang="en-US" altLang="zh-CN" b="0" i="0" dirty="0" err="1">
                <a:solidFill>
                  <a:srgbClr val="0F0F0F"/>
                </a:solidFill>
                <a:effectLst/>
                <a:latin typeface="KaTeX_Main"/>
              </a:rPr>
              <a:t>′∈</a:t>
            </a:r>
            <a:r>
              <a:rPr lang="en-US" altLang="zh-CN" b="0" i="0" dirty="0" err="1">
                <a:solidFill>
                  <a:srgbClr val="0F0F0F"/>
                </a:solidFill>
                <a:effectLst/>
                <a:latin typeface="KaTeX_Caligraphic"/>
              </a:rPr>
              <a:t>N</a:t>
            </a:r>
            <a:r>
              <a:rPr lang="zh-CN" altLang="en-US" b="0" i="0" dirty="0">
                <a:solidFill>
                  <a:srgbClr val="0F0F0F"/>
                </a:solidFill>
                <a:effectLst/>
                <a:latin typeface="KaTeX_Main"/>
              </a:rPr>
              <a:t>​</a:t>
            </a:r>
            <a:r>
              <a:rPr lang="en-US" altLang="zh-CN" b="0" i="0" dirty="0">
                <a:solidFill>
                  <a:srgbClr val="0F0F0F"/>
                </a:solidFill>
                <a:effectLst/>
                <a:latin typeface="KaTeX_Main"/>
              </a:rPr>
              <a:t>exp(</a:t>
            </a:r>
            <a:r>
              <a:rPr lang="en-US" altLang="zh-CN" b="0" i="1" dirty="0">
                <a:solidFill>
                  <a:srgbClr val="0F0F0F"/>
                </a:solidFill>
                <a:effectLst/>
                <a:latin typeface="KaTeX_Math"/>
              </a:rPr>
              <a:t>se</a:t>
            </a:r>
            <a:r>
              <a:rPr lang="en-US" altLang="zh-CN" b="0" i="0" dirty="0">
                <a:solidFill>
                  <a:srgbClr val="0F0F0F"/>
                </a:solidFill>
                <a:effectLst/>
                <a:latin typeface="KaTeX_Main"/>
              </a:rPr>
              <a:t>′​)</a:t>
            </a:r>
            <a:r>
              <a:rPr lang="zh-CN" altLang="en-US" b="0" i="0" dirty="0">
                <a:solidFill>
                  <a:srgbClr val="0F0F0F"/>
                </a:solidFill>
                <a:effectLst/>
                <a:latin typeface="Söhne"/>
              </a:rPr>
              <a:t> 是所有可能边的预测得分的指数和，用于归一化，以便每个得分变成一个概率</a:t>
            </a:r>
            <a:endParaRPr lang="en-US" altLang="zh-CN" b="0" i="0" dirty="0">
              <a:solidFill>
                <a:srgbClr val="0F0F0F"/>
              </a:solidFill>
              <a:effectLst/>
              <a:latin typeface="Söhne"/>
            </a:endParaRPr>
          </a:p>
          <a:p>
            <a:r>
              <a:rPr lang="en-US" b="0" i="0" dirty="0">
                <a:solidFill>
                  <a:srgbClr val="0F0F0F"/>
                </a:solidFill>
                <a:effectLst/>
                <a:latin typeface="KaTeX_Main"/>
              </a:rPr>
              <a:t>exp(</a:t>
            </a:r>
            <a:r>
              <a:rPr lang="en-US" b="0" i="1" dirty="0">
                <a:solidFill>
                  <a:srgbClr val="0F0F0F"/>
                </a:solidFill>
                <a:effectLst/>
                <a:latin typeface="KaTeX_Math"/>
              </a:rPr>
              <a:t>se</a:t>
            </a:r>
            <a:r>
              <a:rPr lang="en-US" b="0" i="0" dirty="0">
                <a:solidFill>
                  <a:srgbClr val="0F0F0F"/>
                </a:solidFill>
                <a:effectLst/>
                <a:latin typeface="KaTeX_Main"/>
              </a:rPr>
              <a:t>​)​</a:t>
            </a:r>
            <a:r>
              <a:rPr lang="en-US" b="0" i="0" dirty="0">
                <a:solidFill>
                  <a:srgbClr val="0F0F0F"/>
                </a:solidFill>
                <a:effectLst/>
                <a:latin typeface="Söhne"/>
              </a:rPr>
              <a:t> / </a:t>
            </a:r>
            <a:r>
              <a:rPr lang="en-US" b="0" i="0" dirty="0">
                <a:solidFill>
                  <a:srgbClr val="0F0F0F"/>
                </a:solidFill>
                <a:effectLst/>
                <a:latin typeface="KaTeX_Size1"/>
              </a:rPr>
              <a:t>∑</a:t>
            </a:r>
            <a:r>
              <a:rPr lang="en-US" b="0" i="1" dirty="0" err="1">
                <a:solidFill>
                  <a:srgbClr val="0F0F0F"/>
                </a:solidFill>
                <a:effectLst/>
                <a:latin typeface="KaTeX_Math"/>
              </a:rPr>
              <a:t>e</a:t>
            </a:r>
            <a:r>
              <a:rPr lang="en-US" b="0" i="0" dirty="0" err="1">
                <a:solidFill>
                  <a:srgbClr val="0F0F0F"/>
                </a:solidFill>
                <a:effectLst/>
                <a:latin typeface="KaTeX_Main"/>
              </a:rPr>
              <a:t>′∈</a:t>
            </a:r>
            <a:r>
              <a:rPr lang="en-US" b="0" i="0" dirty="0" err="1">
                <a:solidFill>
                  <a:srgbClr val="0F0F0F"/>
                </a:solidFill>
                <a:effectLst/>
                <a:latin typeface="KaTeX_Caligraphic"/>
              </a:rPr>
              <a:t>N</a:t>
            </a:r>
            <a:r>
              <a:rPr lang="en-US" b="0" i="0" dirty="0">
                <a:solidFill>
                  <a:srgbClr val="0F0F0F"/>
                </a:solidFill>
                <a:effectLst/>
                <a:latin typeface="KaTeX_Main"/>
              </a:rPr>
              <a:t>​exp(</a:t>
            </a:r>
            <a:r>
              <a:rPr lang="en-US" b="0" i="1" dirty="0">
                <a:solidFill>
                  <a:srgbClr val="0F0F0F"/>
                </a:solidFill>
                <a:effectLst/>
                <a:latin typeface="KaTeX_Math"/>
              </a:rPr>
              <a:t>se</a:t>
            </a:r>
            <a:r>
              <a:rPr lang="en-US" b="0" i="0" dirty="0">
                <a:solidFill>
                  <a:srgbClr val="0F0F0F"/>
                </a:solidFill>
                <a:effectLst/>
                <a:latin typeface="KaTeX_Main"/>
              </a:rPr>
              <a:t>′​) </a:t>
            </a:r>
            <a:r>
              <a:rPr lang="zh-CN" altLang="en-US" b="0" i="0" dirty="0">
                <a:solidFill>
                  <a:srgbClr val="0F0F0F"/>
                </a:solidFill>
                <a:effectLst/>
                <a:latin typeface="Söhne"/>
              </a:rPr>
              <a:t>计算了边 </a:t>
            </a:r>
            <a:r>
              <a:rPr lang="en-US" altLang="zh-CN" b="0" i="1" dirty="0">
                <a:solidFill>
                  <a:srgbClr val="0F0F0F"/>
                </a:solidFill>
                <a:effectLst/>
                <a:latin typeface="KaTeX_Math"/>
              </a:rPr>
              <a:t>e</a:t>
            </a:r>
            <a:r>
              <a:rPr lang="zh-CN" altLang="en-US" b="0" i="0" dirty="0">
                <a:solidFill>
                  <a:srgbClr val="0F0F0F"/>
                </a:solidFill>
                <a:effectLst/>
                <a:latin typeface="Söhne"/>
              </a:rPr>
              <a:t> 的预测得分占所有得分的比例，这实际上是</a:t>
            </a:r>
            <a:r>
              <a:rPr lang="en-US" altLang="zh-CN" b="0" i="0" dirty="0" err="1">
                <a:solidFill>
                  <a:srgbClr val="0F0F0F"/>
                </a:solidFill>
                <a:effectLst/>
                <a:latin typeface="Söhne"/>
              </a:rPr>
              <a:t>softmax</a:t>
            </a:r>
            <a:r>
              <a:rPr lang="zh-CN" altLang="en-US" b="0" i="0" dirty="0">
                <a:solidFill>
                  <a:srgbClr val="0F0F0F"/>
                </a:solidFill>
                <a:effectLst/>
                <a:latin typeface="Söhne"/>
              </a:rPr>
              <a:t>函数，将原始得分转换成概率。</a:t>
            </a:r>
            <a:endParaRPr lang="en-US" dirty="0"/>
          </a:p>
        </p:txBody>
      </p:sp>
      <p:sp>
        <p:nvSpPr>
          <p:cNvPr id="4" name="Slide Number Placeholder 3"/>
          <p:cNvSpPr>
            <a:spLocks noGrp="1"/>
          </p:cNvSpPr>
          <p:nvPr>
            <p:ph type="sldNum" sz="quarter" idx="5"/>
          </p:nvPr>
        </p:nvSpPr>
        <p:spPr/>
        <p:txBody>
          <a:bodyPr/>
          <a:lstStyle/>
          <a:p>
            <a:fld id="{730E65B1-1032-4944-9DDC-977790F00C48}" type="slidenum">
              <a:rPr lang="en-US" smtClean="0"/>
              <a:t>22</a:t>
            </a:fld>
            <a:endParaRPr lang="en-US"/>
          </a:p>
        </p:txBody>
      </p:sp>
    </p:spTree>
    <p:extLst>
      <p:ext uri="{BB962C8B-B14F-4D97-AF65-F5344CB8AC3E}">
        <p14:creationId xmlns:p14="http://schemas.microsoft.com/office/powerpoint/2010/main" val="39338413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there is an important step before </a:t>
            </a:r>
            <a:r>
              <a:rPr lang="en-US" dirty="0" err="1"/>
              <a:t>simba</a:t>
            </a:r>
            <a:r>
              <a:rPr lang="en-US" dirty="0"/>
              <a:t> embedding, which is create the wrong edge. </a:t>
            </a:r>
            <a:r>
              <a:rPr lang="en-US" b="0" i="0" dirty="0">
                <a:solidFill>
                  <a:srgbClr val="374151"/>
                </a:solidFill>
                <a:effectLst/>
                <a:latin typeface="Söhne"/>
              </a:rPr>
              <a:t>But why do we need to do this?</a:t>
            </a:r>
          </a:p>
          <a:p>
            <a:endParaRPr lang="en-US" b="0" i="0" dirty="0">
              <a:solidFill>
                <a:srgbClr val="374151"/>
              </a:solidFill>
              <a:effectLst/>
              <a:latin typeface="Söhne"/>
            </a:endParaRPr>
          </a:p>
          <a:p>
            <a:r>
              <a:rPr lang="en-US" b="0" i="0" dirty="0">
                <a:solidFill>
                  <a:srgbClr val="374151"/>
                </a:solidFill>
                <a:effectLst/>
                <a:latin typeface="Söhne"/>
              </a:rPr>
              <a:t>Imagine you have a lot of food today. You want to teach your robot to distinguish whether food is tasty or not.</a:t>
            </a:r>
          </a:p>
          <a:p>
            <a:r>
              <a:rPr lang="en-US" b="0" i="0" dirty="0">
                <a:solidFill>
                  <a:srgbClr val="374151"/>
                </a:solidFill>
                <a:effectLst/>
                <a:latin typeface="Söhne"/>
              </a:rPr>
              <a:t>But if, during the teaching process, you only tell it that these are tasty foods without informing it that some foods are actually inedible, they are rotten, no one should eat it.</a:t>
            </a:r>
          </a:p>
          <a:p>
            <a:r>
              <a:rPr lang="en-US" b="0" i="0" dirty="0">
                <a:solidFill>
                  <a:srgbClr val="374151"/>
                </a:solidFill>
                <a:effectLst/>
                <a:latin typeface="Söhne"/>
              </a:rPr>
              <a:t>It will still perceive these as tasty foods.</a:t>
            </a:r>
            <a:endParaRPr lang="en-US" dirty="0"/>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23</a:t>
            </a:fld>
            <a:endParaRPr lang="en-US"/>
          </a:p>
        </p:txBody>
      </p:sp>
    </p:spTree>
    <p:extLst>
      <p:ext uri="{BB962C8B-B14F-4D97-AF65-F5344CB8AC3E}">
        <p14:creationId xmlns:p14="http://schemas.microsoft.com/office/powerpoint/2010/main" val="31709628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So, it's crucial to inform it that some foods are inedible, they are disgusting. </a:t>
            </a:r>
          </a:p>
          <a:p>
            <a:r>
              <a:rPr lang="en-US" b="0" i="0" dirty="0">
                <a:solidFill>
                  <a:srgbClr val="374151"/>
                </a:solidFill>
                <a:effectLst/>
                <a:latin typeface="Söhne"/>
              </a:rPr>
              <a:t>So the model could know that some edge should not exist in reality</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24</a:t>
            </a:fld>
            <a:endParaRPr lang="en-US"/>
          </a:p>
        </p:txBody>
      </p:sp>
    </p:spTree>
    <p:extLst>
      <p:ext uri="{BB962C8B-B14F-4D97-AF65-F5344CB8AC3E}">
        <p14:creationId xmlns:p14="http://schemas.microsoft.com/office/powerpoint/2010/main" val="6280045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Let's now talk about how to determine if this machine is good or not</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25</a:t>
            </a:fld>
            <a:endParaRPr lang="en-US"/>
          </a:p>
        </p:txBody>
      </p:sp>
    </p:spTree>
    <p:extLst>
      <p:ext uri="{BB962C8B-B14F-4D97-AF65-F5344CB8AC3E}">
        <p14:creationId xmlns:p14="http://schemas.microsoft.com/office/powerpoint/2010/main" val="37556755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We might all wonder, how do we know if what this machine says is correct? Is it accurate enough to predict the connections between different features?</a:t>
            </a:r>
          </a:p>
          <a:p>
            <a:r>
              <a:rPr lang="en-US" b="0" i="0" dirty="0">
                <a:solidFill>
                  <a:srgbClr val="374151"/>
                </a:solidFill>
                <a:effectLst/>
                <a:latin typeface="Söhne"/>
              </a:rPr>
              <a:t>Therefore, SIMBA adopts five metrics to evaluate the goodness of a model.</a:t>
            </a:r>
          </a:p>
          <a:p>
            <a:endParaRPr lang="en-US" b="0" i="0" dirty="0">
              <a:solidFill>
                <a:srgbClr val="374151"/>
              </a:solidFill>
              <a:effectLst/>
              <a:latin typeface="Söhne"/>
            </a:endParaRPr>
          </a:p>
          <a:p>
            <a:r>
              <a:rPr lang="en-US" sz="1200" b="0" i="0" dirty="0">
                <a:solidFill>
                  <a:srgbClr val="FF0000"/>
                </a:solidFill>
                <a:effectLst/>
                <a:latin typeface="Söhne"/>
              </a:rPr>
              <a:t>The first one is “Mean Reciprocal Rank”. </a:t>
            </a:r>
          </a:p>
          <a:p>
            <a:r>
              <a:rPr lang="en-US" sz="1200" b="0" i="0" dirty="0">
                <a:solidFill>
                  <a:srgbClr val="FF0000"/>
                </a:solidFill>
                <a:effectLst/>
                <a:latin typeface="Söhne"/>
              </a:rPr>
              <a:t>Because I want to be simple. So </a:t>
            </a:r>
            <a:r>
              <a:rPr lang="en-US" b="0" i="0" dirty="0">
                <a:solidFill>
                  <a:srgbClr val="374151"/>
                </a:solidFill>
                <a:effectLst/>
                <a:latin typeface="Söhne"/>
              </a:rPr>
              <a:t>Imagine this, you search for a question on Google, and Google provides you with a bunch of answers. The correct answer might be the first one, or the second one, or possibly further down the list. MRR is a method that measures, on average, how many answers you need to look at before finding the correct one.</a:t>
            </a:r>
          </a:p>
          <a:p>
            <a:endParaRPr lang="en-US" b="0" i="0" dirty="0">
              <a:solidFill>
                <a:srgbClr val="374151"/>
              </a:solidFill>
              <a:effectLst/>
              <a:latin typeface="Söhne"/>
            </a:endParaRPr>
          </a:p>
          <a:p>
            <a:r>
              <a:rPr lang="en-US" b="0" i="0" dirty="0">
                <a:solidFill>
                  <a:srgbClr val="374151"/>
                </a:solidFill>
                <a:effectLst/>
                <a:latin typeface="Söhne"/>
              </a:rPr>
              <a:t>The "R1" focuses specifically on the first item in that list. Each time you seek the correct answer, how high is the probability that the correct answer is the first one?</a:t>
            </a:r>
          </a:p>
          <a:p>
            <a:r>
              <a:rPr lang="en-US" b="0" i="0" dirty="0">
                <a:solidFill>
                  <a:srgbClr val="374151"/>
                </a:solidFill>
                <a:effectLst/>
                <a:latin typeface="Söhne"/>
              </a:rPr>
              <a:t>Same as R10 and R50, how high is the probability that the correct answers shows within 10% or 50%</a:t>
            </a:r>
          </a:p>
          <a:p>
            <a:endParaRPr lang="en-US" b="0" i="0" dirty="0">
              <a:solidFill>
                <a:srgbClr val="374151"/>
              </a:solidFill>
              <a:effectLst/>
              <a:latin typeface="Söhne"/>
            </a:endParaRPr>
          </a:p>
          <a:p>
            <a:r>
              <a:rPr lang="en-US" b="0" i="0" dirty="0">
                <a:solidFill>
                  <a:srgbClr val="374151"/>
                </a:solidFill>
                <a:effectLst/>
                <a:latin typeface="Söhne"/>
              </a:rPr>
              <a:t>AUC, most of us are familiar with this. An important metric used to evaluate the performance of classification models. Judging an edge to truly exist in the world, and that edge does indeed exist, results in a high AUC.</a:t>
            </a:r>
          </a:p>
          <a:p>
            <a:r>
              <a:rPr lang="en-US" b="0" i="0" dirty="0">
                <a:solidFill>
                  <a:srgbClr val="374151"/>
                </a:solidFill>
                <a:effectLst/>
                <a:latin typeface="Söhne"/>
              </a:rPr>
              <a:t>On</a:t>
            </a:r>
            <a:r>
              <a:rPr lang="zh-TW" altLang="en-US" b="0" i="0" dirty="0">
                <a:solidFill>
                  <a:srgbClr val="374151"/>
                </a:solidFill>
                <a:effectLst/>
                <a:latin typeface="Söhne"/>
              </a:rPr>
              <a:t> </a:t>
            </a:r>
            <a:r>
              <a:rPr lang="en-US" altLang="zh-TW" b="0" i="0" dirty="0">
                <a:solidFill>
                  <a:srgbClr val="374151"/>
                </a:solidFill>
                <a:effectLst/>
                <a:latin typeface="Söhne"/>
              </a:rPr>
              <a:t>the</a:t>
            </a:r>
            <a:r>
              <a:rPr lang="zh-TW" altLang="en-US" b="0" i="0" dirty="0">
                <a:solidFill>
                  <a:srgbClr val="374151"/>
                </a:solidFill>
                <a:effectLst/>
                <a:latin typeface="Söhne"/>
              </a:rPr>
              <a:t> </a:t>
            </a:r>
            <a:r>
              <a:rPr lang="en-US" altLang="zh-TW" b="0" i="0" dirty="0">
                <a:solidFill>
                  <a:srgbClr val="374151"/>
                </a:solidFill>
                <a:effectLst/>
                <a:latin typeface="Söhne"/>
              </a:rPr>
              <a:t>contrary,</a:t>
            </a:r>
            <a:r>
              <a:rPr lang="zh-TW" altLang="en-US" b="0" i="0" dirty="0">
                <a:solidFill>
                  <a:srgbClr val="374151"/>
                </a:solidFill>
                <a:effectLst/>
                <a:latin typeface="Söhne"/>
              </a:rPr>
              <a:t> </a:t>
            </a:r>
            <a:r>
              <a:rPr lang="en-US" altLang="zh-TW" b="0" i="0" dirty="0">
                <a:solidFill>
                  <a:srgbClr val="374151"/>
                </a:solidFill>
                <a:effectLst/>
                <a:latin typeface="Söhne"/>
              </a:rPr>
              <a:t>predict </a:t>
            </a:r>
            <a:r>
              <a:rPr lang="en-US" altLang="zh-TW" b="0" i="0" dirty="0" err="1">
                <a:solidFill>
                  <a:srgbClr val="374151"/>
                </a:solidFill>
                <a:effectLst/>
                <a:latin typeface="Söhne"/>
              </a:rPr>
              <a:t>wronly</a:t>
            </a:r>
            <a:r>
              <a:rPr lang="en-US" altLang="zh-TW" b="0" i="0" dirty="0">
                <a:solidFill>
                  <a:srgbClr val="374151"/>
                </a:solidFill>
                <a:effectLst/>
                <a:latin typeface="Söhne"/>
              </a:rPr>
              <a:t>, </a:t>
            </a:r>
            <a:r>
              <a:rPr lang="en-US" b="0" i="0" dirty="0">
                <a:solidFill>
                  <a:srgbClr val="374151"/>
                </a:solidFill>
                <a:effectLst/>
                <a:latin typeface="Söhne"/>
              </a:rPr>
              <a:t>indicate that the model does not classify well, resulting in a low AUC</a:t>
            </a:r>
          </a:p>
          <a:p>
            <a:endParaRPr lang="en-US" b="0" i="0" dirty="0">
              <a:solidFill>
                <a:srgbClr val="374151"/>
              </a:solidFill>
              <a:effectLst/>
              <a:latin typeface="Söhne"/>
            </a:endParaRPr>
          </a:p>
          <a:p>
            <a:endParaRPr lang="en-US" b="0" i="0" dirty="0">
              <a:solidFill>
                <a:srgbClr val="374151"/>
              </a:solidFill>
              <a:effectLst/>
              <a:latin typeface="Söhne"/>
            </a:endParaRPr>
          </a:p>
          <a:p>
            <a:r>
              <a:rPr lang="zh-TW" altLang="en-US" b="0" i="0" dirty="0">
                <a:solidFill>
                  <a:srgbClr val="222222"/>
                </a:solidFill>
                <a:effectLst/>
                <a:latin typeface="Harding"/>
              </a:rPr>
              <a:t>在</a:t>
            </a:r>
            <a:r>
              <a:rPr lang="en-US" altLang="zh-TW" b="0" i="0" dirty="0" err="1">
                <a:solidFill>
                  <a:srgbClr val="222222"/>
                </a:solidFill>
                <a:effectLst/>
                <a:latin typeface="Harding"/>
              </a:rPr>
              <a:t>PyTorch-BigGraph</a:t>
            </a:r>
            <a:r>
              <a:rPr lang="zh-TW" altLang="en-US" b="0" i="0" dirty="0">
                <a:solidFill>
                  <a:srgbClr val="222222"/>
                </a:solidFill>
                <a:effectLst/>
                <a:latin typeface="Harding"/>
              </a:rPr>
              <a:t>的訓練過程中，預設保留了一小部分的邊（預設情況下，評估比例設置為</a:t>
            </a:r>
            <a:r>
              <a:rPr lang="en-US" altLang="zh-TW" b="0" i="0" dirty="0">
                <a:solidFill>
                  <a:srgbClr val="222222"/>
                </a:solidFill>
                <a:effectLst/>
                <a:latin typeface="Harding"/>
              </a:rPr>
              <a:t>5%</a:t>
            </a:r>
            <a:r>
              <a:rPr lang="zh-TW" altLang="en-US" b="0" i="0" dirty="0">
                <a:solidFill>
                  <a:srgbClr val="222222"/>
                </a:solidFill>
                <a:effectLst/>
                <a:latin typeface="Harding"/>
              </a:rPr>
              <a:t>）來監控過擬合情況並評估最終模型。在保留的邊集上計算了五個指標，包括平均倒數排名（</a:t>
            </a:r>
            <a:r>
              <a:rPr lang="en-US" altLang="zh-TW" b="0" i="0" dirty="0">
                <a:solidFill>
                  <a:srgbClr val="222222"/>
                </a:solidFill>
                <a:effectLst/>
                <a:latin typeface="Harding"/>
              </a:rPr>
              <a:t>MRR</a:t>
            </a:r>
            <a:r>
              <a:rPr lang="zh-TW" altLang="en-US" b="0" i="0" dirty="0">
                <a:solidFill>
                  <a:srgbClr val="222222"/>
                </a:solidFill>
                <a:effectLst/>
                <a:latin typeface="Harding"/>
              </a:rPr>
              <a:t>，所有正例排名的倒數的平均值）、</a:t>
            </a:r>
            <a:r>
              <a:rPr lang="en-US" altLang="zh-TW" b="0" i="0" dirty="0">
                <a:solidFill>
                  <a:srgbClr val="222222"/>
                </a:solidFill>
                <a:effectLst/>
                <a:latin typeface="Harding"/>
              </a:rPr>
              <a:t>R1</a:t>
            </a:r>
            <a:r>
              <a:rPr lang="zh-TW" altLang="en-US" b="0" i="0" dirty="0">
                <a:solidFill>
                  <a:srgbClr val="222222"/>
                </a:solidFill>
                <a:effectLst/>
                <a:latin typeface="Harding"/>
              </a:rPr>
              <a:t>（正例中排名優於所有負例的比例，即排名為</a:t>
            </a:r>
            <a:r>
              <a:rPr lang="en-US" altLang="zh-TW" b="0" i="0" dirty="0">
                <a:solidFill>
                  <a:srgbClr val="222222"/>
                </a:solidFill>
                <a:effectLst/>
                <a:latin typeface="Harding"/>
              </a:rPr>
              <a:t>1</a:t>
            </a:r>
            <a:r>
              <a:rPr lang="zh-TW" altLang="en-US" b="0" i="0" dirty="0">
                <a:solidFill>
                  <a:srgbClr val="222222"/>
                </a:solidFill>
                <a:effectLst/>
                <a:latin typeface="Harding"/>
              </a:rPr>
              <a:t>的比例）、</a:t>
            </a:r>
            <a:r>
              <a:rPr lang="en-US" altLang="zh-TW" b="0" i="0" dirty="0">
                <a:solidFill>
                  <a:srgbClr val="222222"/>
                </a:solidFill>
                <a:effectLst/>
                <a:latin typeface="Harding"/>
              </a:rPr>
              <a:t>R10</a:t>
            </a:r>
            <a:r>
              <a:rPr lang="zh-TW" altLang="en-US" b="0" i="0" dirty="0">
                <a:solidFill>
                  <a:srgbClr val="222222"/>
                </a:solidFill>
                <a:effectLst/>
                <a:latin typeface="Harding"/>
              </a:rPr>
              <a:t>（正例中排名在所有負例的前</a:t>
            </a:r>
            <a:r>
              <a:rPr lang="en-US" altLang="zh-TW" b="0" i="0" dirty="0">
                <a:solidFill>
                  <a:srgbClr val="222222"/>
                </a:solidFill>
                <a:effectLst/>
                <a:latin typeface="Harding"/>
              </a:rPr>
              <a:t>10</a:t>
            </a:r>
            <a:r>
              <a:rPr lang="zh-TW" altLang="en-US" b="0" i="0" dirty="0">
                <a:solidFill>
                  <a:srgbClr val="222222"/>
                </a:solidFill>
                <a:effectLst/>
                <a:latin typeface="Harding"/>
              </a:rPr>
              <a:t>位的比例）、</a:t>
            </a:r>
            <a:r>
              <a:rPr lang="en-US" altLang="zh-TW" b="0" i="0" dirty="0">
                <a:solidFill>
                  <a:srgbClr val="222222"/>
                </a:solidFill>
                <a:effectLst/>
                <a:latin typeface="Harding"/>
              </a:rPr>
              <a:t>R50</a:t>
            </a:r>
            <a:r>
              <a:rPr lang="zh-TW" altLang="en-US" b="0" i="0" dirty="0">
                <a:solidFill>
                  <a:srgbClr val="222222"/>
                </a:solidFill>
                <a:effectLst/>
                <a:latin typeface="Harding"/>
              </a:rPr>
              <a:t>（正例中排名在所有負例的前</a:t>
            </a:r>
            <a:r>
              <a:rPr lang="en-US" altLang="zh-TW" b="0" i="0" dirty="0">
                <a:solidFill>
                  <a:srgbClr val="222222"/>
                </a:solidFill>
                <a:effectLst/>
                <a:latin typeface="Harding"/>
              </a:rPr>
              <a:t>50</a:t>
            </a:r>
            <a:r>
              <a:rPr lang="zh-TW" altLang="en-US" b="0" i="0" dirty="0">
                <a:solidFill>
                  <a:srgbClr val="222222"/>
                </a:solidFill>
                <a:effectLst/>
                <a:latin typeface="Harding"/>
              </a:rPr>
              <a:t>位的比例）和</a:t>
            </a:r>
            <a:r>
              <a:rPr lang="en-US" altLang="zh-TW" b="0" i="0" dirty="0">
                <a:solidFill>
                  <a:srgbClr val="222222"/>
                </a:solidFill>
                <a:effectLst/>
                <a:latin typeface="Harding"/>
              </a:rPr>
              <a:t>AUC</a:t>
            </a:r>
            <a:r>
              <a:rPr lang="zh-TW" altLang="en-US" b="0" i="0" dirty="0">
                <a:solidFill>
                  <a:srgbClr val="222222"/>
                </a:solidFill>
                <a:effectLst/>
                <a:latin typeface="Harding"/>
              </a:rPr>
              <a:t>（曲線下面積）。預設情況下，我們顯示</a:t>
            </a:r>
            <a:r>
              <a:rPr lang="en-US" altLang="zh-TW" b="0" i="0" dirty="0">
                <a:solidFill>
                  <a:srgbClr val="222222"/>
                </a:solidFill>
                <a:effectLst/>
                <a:latin typeface="Harding"/>
              </a:rPr>
              <a:t>MRR</a:t>
            </a:r>
            <a:r>
              <a:rPr lang="zh-TW" altLang="en-US" b="0" i="0" dirty="0">
                <a:solidFill>
                  <a:srgbClr val="222222"/>
                </a:solidFill>
                <a:effectLst/>
                <a:latin typeface="Harding"/>
              </a:rPr>
              <a:t>，以及訓練損失和驗證損失，而其他指標也可以在</a:t>
            </a:r>
            <a:r>
              <a:rPr lang="en-US" altLang="zh-TW" b="0" i="0" dirty="0">
                <a:solidFill>
                  <a:srgbClr val="222222"/>
                </a:solidFill>
                <a:effectLst/>
                <a:latin typeface="Harding"/>
              </a:rPr>
              <a:t>SIMBA</a:t>
            </a:r>
            <a:r>
              <a:rPr lang="zh-TW" altLang="en-US" b="0" i="0" dirty="0">
                <a:solidFill>
                  <a:srgbClr val="222222"/>
                </a:solidFill>
                <a:effectLst/>
                <a:latin typeface="Harding"/>
              </a:rPr>
              <a:t>套件中找到（附圖</a:t>
            </a:r>
            <a:r>
              <a:rPr lang="en-US" altLang="zh-TW" b="0" i="0" dirty="0">
                <a:solidFill>
                  <a:srgbClr val="222222"/>
                </a:solidFill>
                <a:effectLst/>
                <a:latin typeface="Harding"/>
              </a:rPr>
              <a:t>1a</a:t>
            </a:r>
            <a:r>
              <a:rPr lang="zh-TW" altLang="en-US" b="0" i="0" dirty="0">
                <a:solidFill>
                  <a:srgbClr val="222222"/>
                </a:solidFill>
                <a:effectLst/>
                <a:latin typeface="Harding"/>
              </a:rPr>
              <a:t>）。驗證損失和這些指標的學習曲線可以用來確定訓練是否已經完成。訓練損失和驗證損失的相對值，以及這些評估指標，可以用來識別訓練中的問題（欠擬合還是過擬合），並適當調整超參數的權重衰減、嵌入維度和訓練時期的數量。 例如，在附圖</a:t>
            </a:r>
            <a:r>
              <a:rPr lang="en-US" altLang="zh-TW" b="0" i="0" dirty="0">
                <a:solidFill>
                  <a:srgbClr val="222222"/>
                </a:solidFill>
                <a:effectLst/>
                <a:latin typeface="Harding"/>
              </a:rPr>
              <a:t>1a</a:t>
            </a:r>
            <a:r>
              <a:rPr lang="zh-TW" altLang="en-US" b="0" i="0" dirty="0">
                <a:solidFill>
                  <a:srgbClr val="222222"/>
                </a:solidFill>
                <a:effectLst/>
                <a:latin typeface="Harding"/>
              </a:rPr>
              <a:t>中，一旦驗證損失達到平穩狀態，訓練可以停止。然而，對於大多數數據集，默認參數不需要調整（請參閱附註</a:t>
            </a:r>
            <a:r>
              <a:rPr lang="en-US" altLang="zh-TW" b="0" i="0" dirty="0">
                <a:solidFill>
                  <a:srgbClr val="222222"/>
                </a:solidFill>
                <a:effectLst/>
                <a:latin typeface="Harding"/>
              </a:rPr>
              <a:t>9</a:t>
            </a:r>
            <a:r>
              <a:rPr lang="zh-TW" altLang="en-US" b="0" i="0" dirty="0">
                <a:solidFill>
                  <a:srgbClr val="222222"/>
                </a:solidFill>
                <a:effectLst/>
                <a:latin typeface="Harding"/>
              </a:rPr>
              <a:t>）</a:t>
            </a:r>
            <a:endParaRPr lang="en-US" b="0" i="0" dirty="0">
              <a:solidFill>
                <a:srgbClr val="374151"/>
              </a:solidFill>
              <a:effectLst/>
              <a:latin typeface="Söhne"/>
            </a:endParaRPr>
          </a:p>
        </p:txBody>
      </p:sp>
      <p:sp>
        <p:nvSpPr>
          <p:cNvPr id="4" name="Slide Number Placeholder 3"/>
          <p:cNvSpPr>
            <a:spLocks noGrp="1"/>
          </p:cNvSpPr>
          <p:nvPr>
            <p:ph type="sldNum" sz="quarter" idx="5"/>
          </p:nvPr>
        </p:nvSpPr>
        <p:spPr/>
        <p:txBody>
          <a:bodyPr/>
          <a:lstStyle/>
          <a:p>
            <a:fld id="{FBF5148F-E0CF-4A3E-922E-B1B7AB039E21}" type="slidenum">
              <a:rPr lang="en-US" smtClean="0"/>
              <a:t>26</a:t>
            </a:fld>
            <a:endParaRPr lang="en-US"/>
          </a:p>
        </p:txBody>
      </p:sp>
    </p:spTree>
    <p:extLst>
      <p:ext uri="{BB962C8B-B14F-4D97-AF65-F5344CB8AC3E}">
        <p14:creationId xmlns:p14="http://schemas.microsoft.com/office/powerpoint/2010/main" val="7066206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explaining so much, let’s move to result. </a:t>
            </a:r>
          </a:p>
        </p:txBody>
      </p:sp>
      <p:sp>
        <p:nvSpPr>
          <p:cNvPr id="4" name="Slide Number Placeholder 3"/>
          <p:cNvSpPr>
            <a:spLocks noGrp="1"/>
          </p:cNvSpPr>
          <p:nvPr>
            <p:ph type="sldNum" sz="quarter" idx="5"/>
          </p:nvPr>
        </p:nvSpPr>
        <p:spPr/>
        <p:txBody>
          <a:bodyPr/>
          <a:lstStyle/>
          <a:p>
            <a:fld id="{FBF5148F-E0CF-4A3E-922E-B1B7AB039E21}" type="slidenum">
              <a:rPr lang="en-US" smtClean="0"/>
              <a:t>27</a:t>
            </a:fld>
            <a:endParaRPr lang="en-US"/>
          </a:p>
        </p:txBody>
      </p:sp>
    </p:spTree>
    <p:extLst>
      <p:ext uri="{BB962C8B-B14F-4D97-AF65-F5344CB8AC3E}">
        <p14:creationId xmlns:p14="http://schemas.microsoft.com/office/powerpoint/2010/main" val="6014217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a:t>
            </a:r>
            <a:r>
              <a:rPr lang="en-US" dirty="0"/>
              <a:t> shows the cell annotation result of </a:t>
            </a:r>
            <a:r>
              <a:rPr lang="en-US" dirty="0" err="1"/>
              <a:t>simba</a:t>
            </a:r>
            <a:r>
              <a:rPr lang="en-US" dirty="0"/>
              <a:t>, and </a:t>
            </a:r>
            <a:r>
              <a:rPr lang="en-US" b="1" dirty="0"/>
              <a:t>C</a:t>
            </a:r>
            <a:r>
              <a:rPr lang="en-US" dirty="0"/>
              <a:t> shows the Cell Annotation with variable genes.</a:t>
            </a:r>
          </a:p>
          <a:p>
            <a:r>
              <a:rPr lang="en-US" b="1" dirty="0"/>
              <a:t>D</a:t>
            </a:r>
            <a:r>
              <a:rPr lang="en-US" dirty="0"/>
              <a:t> is the barcode plot of gene CST3, MS4A1, NKG7, x axis is the rank of cell, according to the probability of cells and related genes. Y axis is probability.</a:t>
            </a:r>
          </a:p>
          <a:p>
            <a:r>
              <a:rPr lang="en-US" b="1" dirty="0"/>
              <a:t>E</a:t>
            </a:r>
            <a:r>
              <a:rPr lang="en-US" dirty="0"/>
              <a:t> is the rank notify the gene expression of specificity, the higher the </a:t>
            </a:r>
            <a:r>
              <a:rPr lang="en-US" dirty="0" err="1"/>
              <a:t>gini</a:t>
            </a:r>
            <a:r>
              <a:rPr lang="en-US" dirty="0"/>
              <a:t> index and Max value, the specificity of the gene is higher.</a:t>
            </a:r>
          </a:p>
          <a:p>
            <a:r>
              <a:rPr lang="en-US" b="1" dirty="0"/>
              <a:t>F</a:t>
            </a:r>
            <a:r>
              <a:rPr lang="en-US" dirty="0"/>
              <a:t> is the UMAP of single gene, which helps you to visualize the gene expression level in different cell type.</a:t>
            </a:r>
          </a:p>
          <a:p>
            <a:endParaRPr lang="en-US" dirty="0"/>
          </a:p>
          <a:p>
            <a:endParaRPr lang="en-US" dirty="0"/>
          </a:p>
          <a:p>
            <a:r>
              <a:rPr lang="en-US" dirty="0"/>
              <a:t>b. Cell Annotation</a:t>
            </a:r>
          </a:p>
          <a:p>
            <a:r>
              <a:rPr lang="en-US" dirty="0"/>
              <a:t>c. Cell Annotation with variable genes</a:t>
            </a:r>
          </a:p>
          <a:p>
            <a:r>
              <a:rPr lang="en-US" dirty="0"/>
              <a:t>d. The barcode plot of gene CST3, MS4A1, NKG7 (</a:t>
            </a:r>
            <a:r>
              <a:rPr lang="en-US" altLang="zh-TW" b="0" i="0" dirty="0">
                <a:solidFill>
                  <a:srgbClr val="222222"/>
                </a:solidFill>
                <a:effectLst/>
                <a:latin typeface="Harding"/>
              </a:rPr>
              <a:t>x</a:t>
            </a:r>
            <a:r>
              <a:rPr lang="zh-TW" altLang="en-US" b="0" i="0" dirty="0">
                <a:solidFill>
                  <a:srgbClr val="222222"/>
                </a:solidFill>
                <a:effectLst/>
                <a:latin typeface="Harding"/>
              </a:rPr>
              <a:t>軸表示細胞的排序，根據每個細胞與給定基因相關的概率進行排名。</a:t>
            </a:r>
            <a:r>
              <a:rPr lang="en-US" altLang="zh-TW" b="0" i="0" dirty="0">
                <a:solidFill>
                  <a:srgbClr val="222222"/>
                </a:solidFill>
                <a:effectLst/>
                <a:latin typeface="Harding"/>
              </a:rPr>
              <a:t>y</a:t>
            </a:r>
            <a:r>
              <a:rPr lang="zh-TW" altLang="en-US" b="0" i="0" dirty="0">
                <a:solidFill>
                  <a:srgbClr val="222222"/>
                </a:solidFill>
                <a:effectLst/>
                <a:latin typeface="Harding"/>
              </a:rPr>
              <a:t>軸描述概率。所有細胞的概率總和為</a:t>
            </a:r>
            <a:r>
              <a:rPr lang="en-US" altLang="zh-TW" b="0" i="0" dirty="0">
                <a:solidFill>
                  <a:srgbClr val="222222"/>
                </a:solidFill>
                <a:effectLst/>
                <a:latin typeface="Harding"/>
              </a:rPr>
              <a:t>1)</a:t>
            </a:r>
            <a:r>
              <a:rPr lang="zh-TW" altLang="en-US" b="0" i="0" dirty="0">
                <a:solidFill>
                  <a:srgbClr val="222222"/>
                </a:solidFill>
                <a:effectLst/>
                <a:latin typeface="Harding"/>
              </a:rPr>
              <a:t> 每個細胞都是一個長條，根據</a:t>
            </a:r>
            <a:r>
              <a:rPr lang="en-US" altLang="zh-TW" b="0" i="0" dirty="0">
                <a:solidFill>
                  <a:srgbClr val="222222"/>
                </a:solidFill>
                <a:effectLst/>
                <a:latin typeface="Harding"/>
              </a:rPr>
              <a:t>b</a:t>
            </a:r>
            <a:r>
              <a:rPr lang="zh-TW" altLang="en-US" b="0" i="0" dirty="0">
                <a:solidFill>
                  <a:srgbClr val="222222"/>
                </a:solidFill>
                <a:effectLst/>
                <a:latin typeface="Harding"/>
              </a:rPr>
              <a:t>中定義的細胞類型進行著色。橙色虛線表示概率分數為</a:t>
            </a:r>
            <a:r>
              <a:rPr lang="en-US" altLang="zh-TW" b="0" i="0" dirty="0">
                <a:solidFill>
                  <a:srgbClr val="222222"/>
                </a:solidFill>
                <a:effectLst/>
                <a:latin typeface="Harding"/>
              </a:rPr>
              <a:t>1 × 10 </a:t>
            </a:r>
            <a:r>
              <a:rPr lang="en-US" altLang="zh-TW" b="0" i="0" baseline="30000" dirty="0">
                <a:solidFill>
                  <a:srgbClr val="222222"/>
                </a:solidFill>
                <a:effectLst/>
                <a:latin typeface="Harding"/>
              </a:rPr>
              <a:t>–3</a:t>
            </a:r>
            <a:r>
              <a:rPr lang="zh-TW" altLang="en-US" b="0" i="0" dirty="0">
                <a:solidFill>
                  <a:srgbClr val="222222"/>
                </a:solidFill>
                <a:effectLst/>
                <a:latin typeface="Harding"/>
              </a:rPr>
              <a:t> 。</a:t>
            </a:r>
            <a:endParaRPr lang="en-US" altLang="zh-TW" b="0" i="0" dirty="0">
              <a:solidFill>
                <a:srgbClr val="222222"/>
              </a:solidFill>
              <a:effectLst/>
              <a:latin typeface="Harding"/>
            </a:endParaRPr>
          </a:p>
          <a:p>
            <a:r>
              <a:rPr lang="en-US" dirty="0"/>
              <a:t>e. The rank notify the gene expression of specificity  (</a:t>
            </a:r>
            <a:r>
              <a:rPr lang="en-US" altLang="zh-CN" b="1" i="0" dirty="0">
                <a:effectLst/>
                <a:latin typeface="Söhne"/>
              </a:rPr>
              <a:t>Max</a:t>
            </a:r>
            <a:r>
              <a:rPr lang="zh-CN" altLang="en-US" b="1" i="0" dirty="0">
                <a:effectLst/>
                <a:latin typeface="Söhne"/>
              </a:rPr>
              <a:t>（</a:t>
            </a:r>
            <a:r>
              <a:rPr lang="en-US" altLang="zh-CN" b="1" i="0" dirty="0">
                <a:effectLst/>
                <a:latin typeface="Söhne"/>
              </a:rPr>
              <a:t>x</a:t>
            </a:r>
            <a:r>
              <a:rPr lang="zh-CN" altLang="en-US" b="1" i="0" dirty="0">
                <a:effectLst/>
                <a:latin typeface="Söhne"/>
              </a:rPr>
              <a:t>轴）</a:t>
            </a:r>
            <a:r>
              <a:rPr lang="zh-CN" altLang="en-US" b="0" i="0" dirty="0">
                <a:solidFill>
                  <a:srgbClr val="0F0F0F"/>
                </a:solidFill>
                <a:effectLst/>
                <a:latin typeface="Söhne"/>
              </a:rPr>
              <a:t>：</a:t>
            </a:r>
            <a:r>
              <a:rPr lang="en-US" altLang="zh-CN" b="0" i="0" dirty="0">
                <a:solidFill>
                  <a:srgbClr val="0F0F0F"/>
                </a:solidFill>
                <a:effectLst/>
                <a:latin typeface="Söhne"/>
              </a:rPr>
              <a:t>Max</a:t>
            </a:r>
            <a:r>
              <a:rPr lang="zh-CN" altLang="en-US" b="0" i="0" dirty="0">
                <a:solidFill>
                  <a:srgbClr val="0F0F0F"/>
                </a:solidFill>
                <a:effectLst/>
                <a:latin typeface="Söhne"/>
              </a:rPr>
              <a:t>通常代表特征在单个细胞中的最大表达水平</a:t>
            </a:r>
            <a:r>
              <a:rPr lang="en-US" altLang="zh-CN" b="0" i="0" dirty="0">
                <a:solidFill>
                  <a:srgbClr val="0F0F0F"/>
                </a:solidFill>
                <a:effectLst/>
                <a:latin typeface="Söhne"/>
              </a:rPr>
              <a:t>)</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28</a:t>
            </a:fld>
            <a:endParaRPr lang="en-US"/>
          </a:p>
        </p:txBody>
      </p:sp>
    </p:spTree>
    <p:extLst>
      <p:ext uri="{BB962C8B-B14F-4D97-AF65-F5344CB8AC3E}">
        <p14:creationId xmlns:p14="http://schemas.microsoft.com/office/powerpoint/2010/main" val="9809224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for ATAC-seq analysis, </a:t>
            </a:r>
            <a:r>
              <a:rPr lang="en-US" b="1" dirty="0"/>
              <a:t>B</a:t>
            </a:r>
            <a:r>
              <a:rPr lang="en-US" dirty="0"/>
              <a:t> also shows the </a:t>
            </a:r>
            <a:r>
              <a:rPr lang="en-US" dirty="0" err="1"/>
              <a:t>umap</a:t>
            </a:r>
            <a:r>
              <a:rPr lang="en-US" dirty="0"/>
              <a:t> of cell annotation</a:t>
            </a:r>
          </a:p>
          <a:p>
            <a:r>
              <a:rPr lang="en-US" b="1" dirty="0"/>
              <a:t>C</a:t>
            </a:r>
            <a:r>
              <a:rPr lang="en-US" dirty="0"/>
              <a:t> shows the </a:t>
            </a:r>
            <a:r>
              <a:rPr lang="en-US" dirty="0" err="1"/>
              <a:t>umap</a:t>
            </a:r>
            <a:r>
              <a:rPr lang="en-US" dirty="0"/>
              <a:t> with cell and features.</a:t>
            </a:r>
          </a:p>
          <a:p>
            <a:endParaRPr lang="en-US" dirty="0"/>
          </a:p>
          <a:p>
            <a:r>
              <a:rPr lang="en-US" b="1" dirty="0"/>
              <a:t>E</a:t>
            </a:r>
            <a:r>
              <a:rPr lang="en-US" dirty="0"/>
              <a:t> shows the </a:t>
            </a:r>
            <a:r>
              <a:rPr lang="en-US" b="0" i="0" dirty="0">
                <a:solidFill>
                  <a:srgbClr val="222222"/>
                </a:solidFill>
                <a:effectLst/>
                <a:latin typeface="Harding"/>
              </a:rPr>
              <a:t>Genomic tracks of aligned </a:t>
            </a:r>
            <a:r>
              <a:rPr lang="en-US" b="0" i="0" dirty="0" err="1">
                <a:solidFill>
                  <a:srgbClr val="222222"/>
                </a:solidFill>
                <a:effectLst/>
                <a:latin typeface="Harding"/>
              </a:rPr>
              <a:t>scATAC</a:t>
            </a:r>
            <a:r>
              <a:rPr lang="en-US" b="0" i="0" dirty="0">
                <a:solidFill>
                  <a:srgbClr val="222222"/>
                </a:solidFill>
                <a:effectLst/>
                <a:latin typeface="Harding"/>
              </a:rPr>
              <a:t>-seq fragments, they are colored by cell type. Two marker peaks P1 and P2 in red are shown here. Within the peak P1, </a:t>
            </a:r>
            <a:r>
              <a:rPr lang="en-US" b="0" i="1" dirty="0">
                <a:solidFill>
                  <a:srgbClr val="222222"/>
                </a:solidFill>
                <a:effectLst/>
                <a:latin typeface="Harding"/>
              </a:rPr>
              <a:t>k</a:t>
            </a:r>
            <a:r>
              <a:rPr lang="en-US" b="0" i="0" dirty="0">
                <a:solidFill>
                  <a:srgbClr val="222222"/>
                </a:solidFill>
                <a:effectLst/>
                <a:latin typeface="Harding"/>
              </a:rPr>
              <a:t>-</a:t>
            </a:r>
            <a:r>
              <a:rPr lang="en-US" b="0" i="0" dirty="0" err="1">
                <a:solidFill>
                  <a:srgbClr val="222222"/>
                </a:solidFill>
                <a:effectLst/>
                <a:latin typeface="Harding"/>
              </a:rPr>
              <a:t>mer</a:t>
            </a:r>
            <a:r>
              <a:rPr lang="en-US" b="0" i="0" dirty="0">
                <a:solidFill>
                  <a:srgbClr val="222222"/>
                </a:solidFill>
                <a:effectLst/>
                <a:latin typeface="Harding"/>
              </a:rPr>
              <a:t> GATAAG and its resembling GATA1 motif logo are highlighted.</a:t>
            </a:r>
          </a:p>
          <a:p>
            <a:endParaRPr lang="en-US" b="0" i="0" dirty="0">
              <a:solidFill>
                <a:srgbClr val="222222"/>
              </a:solidFill>
              <a:effectLst/>
              <a:latin typeface="Harding"/>
            </a:endParaRPr>
          </a:p>
          <a:p>
            <a:r>
              <a:rPr lang="en-US" b="1" i="0" dirty="0">
                <a:solidFill>
                  <a:srgbClr val="222222"/>
                </a:solidFill>
                <a:effectLst/>
                <a:latin typeface="Harding"/>
              </a:rPr>
              <a:t>F</a:t>
            </a:r>
            <a:r>
              <a:rPr lang="en-US" b="0" i="0" dirty="0">
                <a:solidFill>
                  <a:srgbClr val="222222"/>
                </a:solidFill>
                <a:effectLst/>
                <a:latin typeface="Harding"/>
              </a:rPr>
              <a:t> shows the UMAP visualization of SIMBA embeddings of cells colored by TF activity scores of the GATA1 motif and </a:t>
            </a:r>
            <a:r>
              <a:rPr lang="en-US" b="0" i="1" dirty="0">
                <a:solidFill>
                  <a:srgbClr val="222222"/>
                </a:solidFill>
                <a:effectLst/>
                <a:latin typeface="Harding"/>
              </a:rPr>
              <a:t>k</a:t>
            </a:r>
            <a:r>
              <a:rPr lang="en-US" b="0" i="0" dirty="0">
                <a:solidFill>
                  <a:srgbClr val="222222"/>
                </a:solidFill>
                <a:effectLst/>
                <a:latin typeface="Harding"/>
              </a:rPr>
              <a:t>-</a:t>
            </a:r>
            <a:r>
              <a:rPr lang="en-US" b="0" i="0" dirty="0" err="1">
                <a:solidFill>
                  <a:srgbClr val="222222"/>
                </a:solidFill>
                <a:effectLst/>
                <a:latin typeface="Harding"/>
              </a:rPr>
              <a:t>mer</a:t>
            </a:r>
            <a:r>
              <a:rPr lang="en-US" b="0" i="0" dirty="0">
                <a:solidFill>
                  <a:srgbClr val="222222"/>
                </a:solidFill>
                <a:effectLst/>
                <a:latin typeface="Harding"/>
              </a:rPr>
              <a:t> GATAAG enrichment</a:t>
            </a:r>
          </a:p>
          <a:p>
            <a:endParaRPr lang="en-US" b="0" i="0" dirty="0">
              <a:solidFill>
                <a:srgbClr val="222222"/>
              </a:solidFill>
              <a:effectLst/>
              <a:latin typeface="Harding"/>
            </a:endParaRPr>
          </a:p>
          <a:p>
            <a:r>
              <a:rPr lang="en-US" b="1" i="0" dirty="0">
                <a:solidFill>
                  <a:srgbClr val="222222"/>
                </a:solidFill>
                <a:effectLst/>
                <a:latin typeface="Harding"/>
              </a:rPr>
              <a:t>G</a:t>
            </a:r>
            <a:r>
              <a:rPr lang="en-US" b="0" i="0" dirty="0">
                <a:solidFill>
                  <a:srgbClr val="222222"/>
                </a:solidFill>
                <a:effectLst/>
                <a:latin typeface="Harding"/>
              </a:rPr>
              <a:t> shows the SIMBA barcode plots of the GATA1 motif, the </a:t>
            </a:r>
            <a:r>
              <a:rPr lang="en-US" b="0" i="1" dirty="0">
                <a:solidFill>
                  <a:srgbClr val="222222"/>
                </a:solidFill>
                <a:effectLst/>
                <a:latin typeface="Harding"/>
              </a:rPr>
              <a:t>k</a:t>
            </a:r>
            <a:r>
              <a:rPr lang="en-US" b="0" i="0" dirty="0">
                <a:solidFill>
                  <a:srgbClr val="222222"/>
                </a:solidFill>
                <a:effectLst/>
                <a:latin typeface="Harding"/>
              </a:rPr>
              <a:t>-</a:t>
            </a:r>
            <a:r>
              <a:rPr lang="en-US" b="0" i="0" dirty="0" err="1">
                <a:solidFill>
                  <a:srgbClr val="222222"/>
                </a:solidFill>
                <a:effectLst/>
                <a:latin typeface="Harding"/>
              </a:rPr>
              <a:t>mer</a:t>
            </a:r>
            <a:r>
              <a:rPr lang="en-US" b="0" i="0" dirty="0">
                <a:solidFill>
                  <a:srgbClr val="222222"/>
                </a:solidFill>
                <a:effectLst/>
                <a:latin typeface="Harding"/>
              </a:rPr>
              <a:t> GATAAG and the two peaks P1 and P2. Cells are colored according to cell type labels described above.</a:t>
            </a:r>
          </a:p>
          <a:p>
            <a:endParaRPr lang="en-US" b="0" i="0" dirty="0">
              <a:solidFill>
                <a:srgbClr val="222222"/>
              </a:solidFill>
              <a:effectLst/>
              <a:latin typeface="Harding"/>
            </a:endParaRPr>
          </a:p>
          <a:p>
            <a:endParaRPr lang="en-US" dirty="0"/>
          </a:p>
          <a:p>
            <a:r>
              <a:rPr lang="en-US" dirty="0"/>
              <a:t>b. </a:t>
            </a:r>
            <a:r>
              <a:rPr lang="en-US" dirty="0" err="1"/>
              <a:t>Umap</a:t>
            </a:r>
            <a:r>
              <a:rPr lang="en-US" dirty="0"/>
              <a:t> with call annotation (cell type)</a:t>
            </a:r>
          </a:p>
          <a:p>
            <a:r>
              <a:rPr lang="en-US" dirty="0"/>
              <a:t>c. </a:t>
            </a:r>
            <a:r>
              <a:rPr lang="en-US" dirty="0" err="1"/>
              <a:t>Umap</a:t>
            </a:r>
            <a:r>
              <a:rPr lang="en-US" dirty="0"/>
              <a:t> with cell and features</a:t>
            </a:r>
          </a:p>
          <a:p>
            <a:r>
              <a:rPr lang="en-US" dirty="0"/>
              <a:t>e. </a:t>
            </a:r>
            <a:r>
              <a:rPr lang="zh-TW" altLang="en-US" b="0" i="0" dirty="0">
                <a:solidFill>
                  <a:srgbClr val="222222"/>
                </a:solidFill>
                <a:effectLst/>
                <a:latin typeface="Harding"/>
              </a:rPr>
              <a:t>根據細胞類型分離並著色的對齊</a:t>
            </a:r>
            <a:r>
              <a:rPr lang="en-US" altLang="zh-TW" b="0" i="0" dirty="0" err="1">
                <a:solidFill>
                  <a:srgbClr val="222222"/>
                </a:solidFill>
                <a:effectLst/>
                <a:latin typeface="Harding"/>
              </a:rPr>
              <a:t>scATAC</a:t>
            </a:r>
            <a:r>
              <a:rPr lang="en-US" altLang="zh-TW" b="0" i="0" dirty="0">
                <a:solidFill>
                  <a:srgbClr val="222222"/>
                </a:solidFill>
                <a:effectLst/>
                <a:latin typeface="Harding"/>
              </a:rPr>
              <a:t>-seq</a:t>
            </a:r>
            <a:r>
              <a:rPr lang="zh-TW" altLang="en-US" b="0" i="0" dirty="0">
                <a:solidFill>
                  <a:srgbClr val="222222"/>
                </a:solidFill>
                <a:effectLst/>
                <a:latin typeface="Harding"/>
              </a:rPr>
              <a:t>片段的基因組軌跡。對齊下方顯示了兩個標記峰值</a:t>
            </a:r>
            <a:r>
              <a:rPr lang="en-US" altLang="zh-TW" b="0" i="0" dirty="0">
                <a:solidFill>
                  <a:srgbClr val="222222"/>
                </a:solidFill>
                <a:effectLst/>
                <a:latin typeface="Harding"/>
              </a:rPr>
              <a:t>P1</a:t>
            </a:r>
            <a:r>
              <a:rPr lang="zh-TW" altLang="en-US" b="0" i="0" dirty="0">
                <a:solidFill>
                  <a:srgbClr val="222222"/>
                </a:solidFill>
                <a:effectLst/>
                <a:latin typeface="Harding"/>
              </a:rPr>
              <a:t>和</a:t>
            </a:r>
            <a:r>
              <a:rPr lang="en-US" altLang="zh-TW" b="0" i="0" dirty="0">
                <a:solidFill>
                  <a:srgbClr val="222222"/>
                </a:solidFill>
                <a:effectLst/>
                <a:latin typeface="Harding"/>
              </a:rPr>
              <a:t>P2</a:t>
            </a:r>
            <a:r>
              <a:rPr lang="zh-TW" altLang="en-US" b="0" i="0" dirty="0">
                <a:solidFill>
                  <a:srgbClr val="222222"/>
                </a:solidFill>
                <a:effectLst/>
                <a:latin typeface="Harding"/>
              </a:rPr>
              <a:t>。在峰值</a:t>
            </a:r>
            <a:r>
              <a:rPr lang="en-US" altLang="zh-TW" b="0" i="0" dirty="0">
                <a:solidFill>
                  <a:srgbClr val="222222"/>
                </a:solidFill>
                <a:effectLst/>
                <a:latin typeface="Harding"/>
              </a:rPr>
              <a:t>P1</a:t>
            </a:r>
            <a:r>
              <a:rPr lang="zh-TW" altLang="en-US" b="0" i="0" dirty="0">
                <a:solidFill>
                  <a:srgbClr val="222222"/>
                </a:solidFill>
                <a:effectLst/>
                <a:latin typeface="Harding"/>
              </a:rPr>
              <a:t>內，</a:t>
            </a:r>
            <a:r>
              <a:rPr lang="en-US" altLang="zh-TW" b="0" i="0" dirty="0">
                <a:solidFill>
                  <a:srgbClr val="222222"/>
                </a:solidFill>
                <a:effectLst/>
                <a:latin typeface="Harding"/>
              </a:rPr>
              <a:t>k-</a:t>
            </a:r>
            <a:r>
              <a:rPr lang="en-US" altLang="zh-TW" b="0" i="0" dirty="0" err="1">
                <a:solidFill>
                  <a:srgbClr val="222222"/>
                </a:solidFill>
                <a:effectLst/>
                <a:latin typeface="Harding"/>
              </a:rPr>
              <a:t>mer</a:t>
            </a:r>
            <a:r>
              <a:rPr lang="en-US" altLang="zh-TW" b="0" i="0" dirty="0">
                <a:solidFill>
                  <a:srgbClr val="222222"/>
                </a:solidFill>
                <a:effectLst/>
                <a:latin typeface="Harding"/>
              </a:rPr>
              <a:t> GATAAG</a:t>
            </a:r>
            <a:r>
              <a:rPr lang="zh-TW" altLang="en-US" b="0" i="0" dirty="0">
                <a:solidFill>
                  <a:srgbClr val="222222"/>
                </a:solidFill>
                <a:effectLst/>
                <a:latin typeface="Harding"/>
              </a:rPr>
              <a:t>及其相似的</a:t>
            </a:r>
            <a:r>
              <a:rPr lang="en-US" altLang="zh-TW" b="0" i="0" dirty="0">
                <a:solidFill>
                  <a:srgbClr val="222222"/>
                </a:solidFill>
                <a:effectLst/>
                <a:latin typeface="Harding"/>
              </a:rPr>
              <a:t>GATA1</a:t>
            </a:r>
            <a:r>
              <a:rPr lang="zh-TW" altLang="en-US" b="0" i="0" dirty="0">
                <a:solidFill>
                  <a:srgbClr val="222222"/>
                </a:solidFill>
                <a:effectLst/>
                <a:latin typeface="Harding"/>
              </a:rPr>
              <a:t>模式標誌被突出顯示。</a:t>
            </a:r>
            <a:endParaRPr lang="en-US" altLang="zh-TW" b="0" i="0" dirty="0">
              <a:solidFill>
                <a:srgbClr val="222222"/>
              </a:solidFill>
              <a:effectLst/>
              <a:latin typeface="Harding"/>
            </a:endParaRPr>
          </a:p>
          <a:p>
            <a:r>
              <a:rPr lang="en-US" altLang="zh-TW" b="0" i="0" dirty="0">
                <a:solidFill>
                  <a:srgbClr val="222222"/>
                </a:solidFill>
                <a:effectLst/>
                <a:latin typeface="Harding"/>
              </a:rPr>
              <a:t>f</a:t>
            </a:r>
            <a:r>
              <a:rPr lang="zh-TW" altLang="en-US" b="0" i="0" dirty="0">
                <a:solidFill>
                  <a:srgbClr val="222222"/>
                </a:solidFill>
                <a:effectLst/>
                <a:latin typeface="Harding"/>
              </a:rPr>
              <a:t>、以</a:t>
            </a:r>
            <a:r>
              <a:rPr lang="en-US" altLang="zh-TW" b="0" i="0" dirty="0">
                <a:solidFill>
                  <a:srgbClr val="222222"/>
                </a:solidFill>
                <a:effectLst/>
                <a:latin typeface="Harding"/>
              </a:rPr>
              <a:t>GATA1</a:t>
            </a:r>
            <a:r>
              <a:rPr lang="zh-TW" altLang="en-US" b="0" i="0" dirty="0">
                <a:solidFill>
                  <a:srgbClr val="222222"/>
                </a:solidFill>
                <a:effectLst/>
                <a:latin typeface="Harding"/>
              </a:rPr>
              <a:t>模式和</a:t>
            </a:r>
            <a:r>
              <a:rPr lang="en-US" altLang="zh-TW" b="0" i="0" dirty="0">
                <a:solidFill>
                  <a:srgbClr val="222222"/>
                </a:solidFill>
                <a:effectLst/>
                <a:latin typeface="Harding"/>
              </a:rPr>
              <a:t>k-</a:t>
            </a:r>
            <a:r>
              <a:rPr lang="en-US" altLang="zh-TW" b="0" i="0" dirty="0" err="1">
                <a:solidFill>
                  <a:srgbClr val="222222"/>
                </a:solidFill>
                <a:effectLst/>
                <a:latin typeface="Harding"/>
              </a:rPr>
              <a:t>mer</a:t>
            </a:r>
            <a:r>
              <a:rPr lang="en-US" altLang="zh-TW" b="0" i="0" dirty="0">
                <a:solidFill>
                  <a:srgbClr val="222222"/>
                </a:solidFill>
                <a:effectLst/>
                <a:latin typeface="Harding"/>
              </a:rPr>
              <a:t> GATAAG</a:t>
            </a:r>
            <a:r>
              <a:rPr lang="zh-TW" altLang="en-US" b="0" i="0" dirty="0">
                <a:solidFill>
                  <a:srgbClr val="222222"/>
                </a:solidFill>
                <a:effectLst/>
                <a:latin typeface="Harding"/>
              </a:rPr>
              <a:t>富集的</a:t>
            </a:r>
            <a:r>
              <a:rPr lang="en-US" altLang="zh-TW" b="0" i="0" dirty="0">
                <a:solidFill>
                  <a:srgbClr val="222222"/>
                </a:solidFill>
                <a:effectLst/>
                <a:latin typeface="Harding"/>
              </a:rPr>
              <a:t>TF</a:t>
            </a:r>
            <a:r>
              <a:rPr lang="zh-TW" altLang="en-US" b="0" i="0" dirty="0">
                <a:solidFill>
                  <a:srgbClr val="222222"/>
                </a:solidFill>
                <a:effectLst/>
                <a:latin typeface="Harding"/>
              </a:rPr>
              <a:t>活性分數為顏色的</a:t>
            </a:r>
            <a:r>
              <a:rPr lang="en-US" altLang="zh-TW" b="0" i="0" dirty="0">
                <a:solidFill>
                  <a:srgbClr val="222222"/>
                </a:solidFill>
                <a:effectLst/>
                <a:latin typeface="Harding"/>
              </a:rPr>
              <a:t>SIMBA</a:t>
            </a:r>
            <a:r>
              <a:rPr lang="zh-TW" altLang="en-US" b="0" i="0" dirty="0">
                <a:solidFill>
                  <a:srgbClr val="222222"/>
                </a:solidFill>
                <a:effectLst/>
                <a:latin typeface="Harding"/>
              </a:rPr>
              <a:t>嵌入的</a:t>
            </a:r>
            <a:r>
              <a:rPr lang="en-US" altLang="zh-TW" b="0" i="0" dirty="0">
                <a:solidFill>
                  <a:srgbClr val="222222"/>
                </a:solidFill>
                <a:effectLst/>
                <a:latin typeface="Harding"/>
              </a:rPr>
              <a:t>UMAP</a:t>
            </a:r>
            <a:r>
              <a:rPr lang="zh-TW" altLang="en-US" b="0" i="0" dirty="0">
                <a:solidFill>
                  <a:srgbClr val="222222"/>
                </a:solidFill>
                <a:effectLst/>
                <a:latin typeface="Harding"/>
              </a:rPr>
              <a:t>可視化。</a:t>
            </a:r>
            <a:endParaRPr lang="en-US" altLang="zh-TW" b="0" i="0" dirty="0">
              <a:solidFill>
                <a:srgbClr val="222222"/>
              </a:solidFill>
              <a:effectLst/>
              <a:latin typeface="Harding"/>
            </a:endParaRPr>
          </a:p>
          <a:p>
            <a:r>
              <a:rPr lang="en-US" altLang="zh-TW" b="0" i="0" dirty="0">
                <a:solidFill>
                  <a:srgbClr val="222222"/>
                </a:solidFill>
                <a:effectLst/>
                <a:latin typeface="Harding"/>
              </a:rPr>
              <a:t>g</a:t>
            </a:r>
            <a:r>
              <a:rPr lang="zh-TW" altLang="en-US" b="0" i="0" dirty="0">
                <a:solidFill>
                  <a:srgbClr val="222222"/>
                </a:solidFill>
                <a:effectLst/>
                <a:latin typeface="Harding"/>
              </a:rPr>
              <a:t>、</a:t>
            </a:r>
            <a:r>
              <a:rPr lang="en-US" altLang="zh-TW" b="0" i="0" dirty="0">
                <a:solidFill>
                  <a:srgbClr val="222222"/>
                </a:solidFill>
                <a:effectLst/>
                <a:latin typeface="Harding"/>
              </a:rPr>
              <a:t>GATA1</a:t>
            </a:r>
            <a:r>
              <a:rPr lang="zh-TW" altLang="en-US" b="0" i="0" dirty="0">
                <a:solidFill>
                  <a:srgbClr val="222222"/>
                </a:solidFill>
                <a:effectLst/>
                <a:latin typeface="Harding"/>
              </a:rPr>
              <a:t>模式、</a:t>
            </a:r>
            <a:r>
              <a:rPr lang="en-US" altLang="zh-TW" b="0" i="0" dirty="0">
                <a:solidFill>
                  <a:srgbClr val="222222"/>
                </a:solidFill>
                <a:effectLst/>
                <a:latin typeface="Harding"/>
              </a:rPr>
              <a:t>k-</a:t>
            </a:r>
            <a:r>
              <a:rPr lang="en-US" altLang="zh-TW" b="0" i="0" dirty="0" err="1">
                <a:solidFill>
                  <a:srgbClr val="222222"/>
                </a:solidFill>
                <a:effectLst/>
                <a:latin typeface="Harding"/>
              </a:rPr>
              <a:t>mer</a:t>
            </a:r>
            <a:r>
              <a:rPr lang="en-US" altLang="zh-TW" b="0" i="0" dirty="0">
                <a:solidFill>
                  <a:srgbClr val="222222"/>
                </a:solidFill>
                <a:effectLst/>
                <a:latin typeface="Harding"/>
              </a:rPr>
              <a:t> GATAAG</a:t>
            </a:r>
            <a:r>
              <a:rPr lang="zh-TW" altLang="en-US" b="0" i="0" dirty="0">
                <a:solidFill>
                  <a:srgbClr val="222222"/>
                </a:solidFill>
                <a:effectLst/>
                <a:latin typeface="Harding"/>
              </a:rPr>
              <a:t>和兩個峰值</a:t>
            </a:r>
            <a:r>
              <a:rPr lang="en-US" altLang="zh-TW" b="0" i="0" dirty="0">
                <a:solidFill>
                  <a:srgbClr val="222222"/>
                </a:solidFill>
                <a:effectLst/>
                <a:latin typeface="Harding"/>
              </a:rPr>
              <a:t>P1</a:t>
            </a:r>
            <a:r>
              <a:rPr lang="zh-TW" altLang="en-US" b="0" i="0" dirty="0">
                <a:solidFill>
                  <a:srgbClr val="222222"/>
                </a:solidFill>
                <a:effectLst/>
                <a:latin typeface="Harding"/>
              </a:rPr>
              <a:t>和</a:t>
            </a:r>
            <a:r>
              <a:rPr lang="en-US" altLang="zh-TW" b="0" i="0" dirty="0">
                <a:solidFill>
                  <a:srgbClr val="222222"/>
                </a:solidFill>
                <a:effectLst/>
                <a:latin typeface="Harding"/>
              </a:rPr>
              <a:t>P2</a:t>
            </a:r>
            <a:r>
              <a:rPr lang="zh-TW" altLang="en-US" b="0" i="0" dirty="0">
                <a:solidFill>
                  <a:srgbClr val="222222"/>
                </a:solidFill>
                <a:effectLst/>
                <a:latin typeface="Harding"/>
              </a:rPr>
              <a:t>的</a:t>
            </a:r>
            <a:r>
              <a:rPr lang="en-US" altLang="zh-TW" b="0" i="0" dirty="0">
                <a:solidFill>
                  <a:srgbClr val="222222"/>
                </a:solidFill>
                <a:effectLst/>
                <a:latin typeface="Harding"/>
              </a:rPr>
              <a:t>SIMBA</a:t>
            </a:r>
            <a:r>
              <a:rPr lang="zh-TW" altLang="en-US" b="0" i="0" dirty="0">
                <a:solidFill>
                  <a:srgbClr val="222222"/>
                </a:solidFill>
                <a:effectLst/>
                <a:latin typeface="Harding"/>
              </a:rPr>
              <a:t>條形碼圖</a:t>
            </a:r>
            <a:endParaRPr lang="en-US" altLang="zh-TW" b="0" i="0" dirty="0">
              <a:solidFill>
                <a:srgbClr val="222222"/>
              </a:solidFill>
              <a:effectLst/>
              <a:latin typeface="Harding"/>
            </a:endParaRPr>
          </a:p>
          <a:p>
            <a:endParaRPr lang="en-US" b="0" i="0" dirty="0">
              <a:solidFill>
                <a:srgbClr val="222222"/>
              </a:solidFill>
              <a:effectLst/>
              <a:latin typeface="Harding"/>
            </a:endParaRPr>
          </a:p>
          <a:p>
            <a:endParaRPr lang="en-US" b="0" i="0" dirty="0">
              <a:solidFill>
                <a:srgbClr val="222222"/>
              </a:solidFill>
              <a:effectLst/>
              <a:latin typeface="Harding"/>
            </a:endParaRPr>
          </a:p>
          <a:p>
            <a:endParaRPr lang="en-US" b="0" i="0" dirty="0">
              <a:solidFill>
                <a:srgbClr val="222222"/>
              </a:solidFill>
              <a:effectLst/>
              <a:latin typeface="Harding"/>
            </a:endParaRPr>
          </a:p>
          <a:p>
            <a:pPr algn="l"/>
            <a:r>
              <a:rPr lang="zh-TW" altLang="en-US" b="0" i="0" dirty="0">
                <a:effectLst/>
                <a:latin typeface="Söhne"/>
              </a:rPr>
              <a:t>首先，作者觀察到與</a:t>
            </a:r>
            <a:r>
              <a:rPr lang="en-US" altLang="zh-TW" b="0" i="0" dirty="0">
                <a:effectLst/>
                <a:latin typeface="Söhne"/>
              </a:rPr>
              <a:t>GATA1</a:t>
            </a:r>
            <a:r>
              <a:rPr lang="zh-TW" altLang="en-US" b="0" i="0" dirty="0">
                <a:effectLst/>
                <a:latin typeface="Söhne"/>
              </a:rPr>
              <a:t>轉錄因子動機相似的序列（</a:t>
            </a:r>
            <a:r>
              <a:rPr lang="en-US" altLang="zh-TW" b="0" i="0" dirty="0">
                <a:effectLst/>
                <a:latin typeface="Söhne"/>
              </a:rPr>
              <a:t>k-</a:t>
            </a:r>
            <a:r>
              <a:rPr lang="en-US" altLang="zh-TW" b="0" i="0" dirty="0" err="1">
                <a:effectLst/>
                <a:latin typeface="Söhne"/>
              </a:rPr>
              <a:t>mers</a:t>
            </a:r>
            <a:r>
              <a:rPr lang="zh-TW" altLang="en-US" b="0" i="0" dirty="0">
                <a:effectLst/>
                <a:latin typeface="Söhne"/>
              </a:rPr>
              <a:t>）和開放的基因組位置（</a:t>
            </a:r>
            <a:r>
              <a:rPr lang="en-US" altLang="zh-TW" b="0" i="0" dirty="0">
                <a:effectLst/>
                <a:latin typeface="Söhne"/>
              </a:rPr>
              <a:t>peaks</a:t>
            </a:r>
            <a:r>
              <a:rPr lang="zh-TW" altLang="en-US" b="0" i="0" dirty="0">
                <a:effectLst/>
                <a:latin typeface="Söhne"/>
              </a:rPr>
              <a:t>），這些特徵在</a:t>
            </a:r>
            <a:r>
              <a:rPr lang="en-US" altLang="zh-TW" b="0" i="0" dirty="0">
                <a:effectLst/>
                <a:latin typeface="Söhne"/>
              </a:rPr>
              <a:t>MEP</a:t>
            </a:r>
            <a:r>
              <a:rPr lang="zh-TW" altLang="en-US" b="0" i="0" dirty="0">
                <a:effectLst/>
                <a:latin typeface="Söhne"/>
              </a:rPr>
              <a:t>細胞中高度豐富，部分在</a:t>
            </a:r>
            <a:r>
              <a:rPr lang="en-US" altLang="zh-TW" b="0" i="0" dirty="0">
                <a:effectLst/>
                <a:latin typeface="Söhne"/>
              </a:rPr>
              <a:t>CMP</a:t>
            </a:r>
            <a:r>
              <a:rPr lang="zh-TW" altLang="en-US" b="0" i="0" dirty="0">
                <a:effectLst/>
                <a:latin typeface="Söhne"/>
              </a:rPr>
              <a:t>細胞中也存在，這說明了</a:t>
            </a:r>
            <a:r>
              <a:rPr lang="en-US" altLang="zh-TW" b="0" i="0" dirty="0">
                <a:effectLst/>
                <a:latin typeface="Söhne"/>
              </a:rPr>
              <a:t>SIMBA</a:t>
            </a:r>
            <a:r>
              <a:rPr lang="zh-TW" altLang="en-US" b="0" i="0" dirty="0">
                <a:effectLst/>
                <a:latin typeface="Söhne"/>
              </a:rPr>
              <a:t>在識別細胞類型特異性特徵方面的能力。</a:t>
            </a:r>
          </a:p>
          <a:p>
            <a:pPr algn="l"/>
            <a:r>
              <a:rPr lang="zh-TW" altLang="en-US" b="0" i="0" dirty="0">
                <a:effectLst/>
                <a:latin typeface="Söhne"/>
              </a:rPr>
              <a:t>為了評估</a:t>
            </a:r>
            <a:r>
              <a:rPr lang="en-US" altLang="zh-TW" b="0" i="0" dirty="0">
                <a:effectLst/>
                <a:latin typeface="Söhne"/>
              </a:rPr>
              <a:t>SIMBA</a:t>
            </a:r>
            <a:r>
              <a:rPr lang="zh-TW" altLang="en-US" b="0" i="0" dirty="0">
                <a:effectLst/>
                <a:latin typeface="Söhne"/>
              </a:rPr>
              <a:t>在基於</a:t>
            </a:r>
            <a:r>
              <a:rPr lang="en-US" altLang="zh-TW" b="0" i="0" dirty="0" err="1">
                <a:effectLst/>
                <a:latin typeface="Söhne"/>
              </a:rPr>
              <a:t>scATAC</a:t>
            </a:r>
            <a:r>
              <a:rPr lang="en-US" altLang="zh-TW" b="0" i="0" dirty="0">
                <a:effectLst/>
                <a:latin typeface="Söhne"/>
              </a:rPr>
              <a:t>-seq</a:t>
            </a:r>
            <a:r>
              <a:rPr lang="zh-TW" altLang="en-US" b="0" i="0" dirty="0">
                <a:effectLst/>
                <a:latin typeface="Söhne"/>
              </a:rPr>
              <a:t>數據集的細胞類型聚類能力，作者將</a:t>
            </a:r>
            <a:r>
              <a:rPr lang="en-US" altLang="zh-TW" b="0" i="0" dirty="0">
                <a:effectLst/>
                <a:latin typeface="Söhne"/>
              </a:rPr>
              <a:t>SIMBA</a:t>
            </a:r>
            <a:r>
              <a:rPr lang="zh-TW" altLang="en-US" b="0" i="0" dirty="0">
                <a:effectLst/>
                <a:latin typeface="Söhne"/>
              </a:rPr>
              <a:t>與其他專門為這個任務設計的方法進行了比較。</a:t>
            </a:r>
            <a:r>
              <a:rPr lang="en-US" altLang="zh-TW" b="0" i="0" dirty="0">
                <a:effectLst/>
                <a:latin typeface="Söhne"/>
              </a:rPr>
              <a:t>SIMBA</a:t>
            </a:r>
            <a:r>
              <a:rPr lang="zh-TW" altLang="en-US" b="0" i="0" dirty="0">
                <a:effectLst/>
                <a:latin typeface="Söhne"/>
              </a:rPr>
              <a:t>能夠使用單一特徵（</a:t>
            </a:r>
            <a:r>
              <a:rPr lang="en-US" altLang="zh-TW" b="0" i="0" dirty="0">
                <a:effectLst/>
                <a:latin typeface="Söhne"/>
              </a:rPr>
              <a:t>peaks</a:t>
            </a:r>
            <a:r>
              <a:rPr lang="zh-TW" altLang="en-US" b="0" i="0" dirty="0">
                <a:effectLst/>
                <a:latin typeface="Söhne"/>
              </a:rPr>
              <a:t>）或多個特徵（</a:t>
            </a:r>
            <a:r>
              <a:rPr lang="en-US" altLang="zh-TW" b="0" i="0" dirty="0">
                <a:effectLst/>
                <a:latin typeface="Söhne"/>
              </a:rPr>
              <a:t>peaks</a:t>
            </a:r>
            <a:r>
              <a:rPr lang="zh-TW" altLang="en-US" b="0" i="0" dirty="0">
                <a:effectLst/>
                <a:latin typeface="Söhne"/>
              </a:rPr>
              <a:t>和這些</a:t>
            </a:r>
            <a:r>
              <a:rPr lang="en-US" altLang="zh-TW" b="0" i="0" dirty="0">
                <a:effectLst/>
                <a:latin typeface="Söhne"/>
              </a:rPr>
              <a:t>peaks</a:t>
            </a:r>
            <a:r>
              <a:rPr lang="zh-TW" altLang="en-US" b="0" i="0" dirty="0">
                <a:effectLst/>
                <a:latin typeface="Söhne"/>
              </a:rPr>
              <a:t>內的</a:t>
            </a:r>
            <a:r>
              <a:rPr lang="en-US" altLang="zh-TW" b="0" i="0" dirty="0">
                <a:effectLst/>
                <a:latin typeface="Söhne"/>
              </a:rPr>
              <a:t>DNA</a:t>
            </a:r>
            <a:r>
              <a:rPr lang="zh-TW" altLang="en-US" b="0" i="0" dirty="0">
                <a:effectLst/>
                <a:latin typeface="Söhne"/>
              </a:rPr>
              <a:t>序列）一致地將細胞嵌入到圖中，這一比較在不同的</a:t>
            </a:r>
            <a:r>
              <a:rPr lang="en-US" altLang="zh-TW" b="0" i="0" dirty="0" err="1">
                <a:effectLst/>
                <a:latin typeface="Söhne"/>
              </a:rPr>
              <a:t>scATAC</a:t>
            </a:r>
            <a:r>
              <a:rPr lang="en-US" altLang="zh-TW" b="0" i="0" dirty="0">
                <a:effectLst/>
                <a:latin typeface="Söhne"/>
              </a:rPr>
              <a:t>-seq</a:t>
            </a:r>
            <a:r>
              <a:rPr lang="zh-TW" altLang="en-US" b="0" i="0" dirty="0">
                <a:effectLst/>
                <a:latin typeface="Söhne"/>
              </a:rPr>
              <a:t>數據集（包括不同的分析技術和生物體）上進行了。為了公平比較，使用了與其他方法相同的特徵集（即</a:t>
            </a:r>
            <a:r>
              <a:rPr lang="en-US" altLang="zh-TW" b="0" i="0" dirty="0">
                <a:effectLst/>
                <a:latin typeface="Söhne"/>
              </a:rPr>
              <a:t>peaks</a:t>
            </a:r>
            <a:r>
              <a:rPr lang="zh-TW" altLang="en-US" b="0" i="0" dirty="0">
                <a:effectLst/>
                <a:latin typeface="Söhne"/>
              </a:rPr>
              <a:t>）。</a:t>
            </a:r>
            <a:r>
              <a:rPr lang="en-US" altLang="zh-TW" b="0" i="0" dirty="0">
                <a:effectLst/>
                <a:latin typeface="Söhne"/>
              </a:rPr>
              <a:t>SIMBA</a:t>
            </a:r>
            <a:r>
              <a:rPr lang="zh-TW" altLang="en-US" b="0" i="0" dirty="0">
                <a:effectLst/>
                <a:latin typeface="Söhne"/>
              </a:rPr>
              <a:t>的性能與包括</a:t>
            </a:r>
            <a:r>
              <a:rPr lang="en-US" altLang="zh-TW" b="0" i="0" dirty="0" err="1">
                <a:effectLst/>
                <a:latin typeface="Söhne"/>
              </a:rPr>
              <a:t>SnapATAC</a:t>
            </a:r>
            <a:r>
              <a:rPr lang="zh-TW" altLang="en-US" b="0" i="0" dirty="0">
                <a:effectLst/>
                <a:latin typeface="Söhne"/>
              </a:rPr>
              <a:t>、</a:t>
            </a:r>
            <a:r>
              <a:rPr lang="en-US" altLang="zh-TW" b="0" i="0" dirty="0">
                <a:effectLst/>
                <a:latin typeface="Söhne"/>
              </a:rPr>
              <a:t>Cusanovich2018</a:t>
            </a:r>
            <a:r>
              <a:rPr lang="zh-TW" altLang="en-US" b="0" i="0" dirty="0">
                <a:effectLst/>
                <a:latin typeface="Söhne"/>
              </a:rPr>
              <a:t>和</a:t>
            </a:r>
            <a:r>
              <a:rPr lang="en-US" altLang="zh-TW" b="0" i="0" dirty="0" err="1">
                <a:effectLst/>
                <a:latin typeface="Söhne"/>
              </a:rPr>
              <a:t>cisTopic</a:t>
            </a:r>
            <a:r>
              <a:rPr lang="zh-TW" altLang="en-US" b="0" i="0" dirty="0">
                <a:effectLst/>
                <a:latin typeface="Söhne"/>
              </a:rPr>
              <a:t>在內的三種主要方法相比較，基於</a:t>
            </a:r>
            <a:r>
              <a:rPr lang="en-US" altLang="zh-TW" b="0" i="0" dirty="0">
                <a:effectLst/>
                <a:latin typeface="Söhne"/>
              </a:rPr>
              <a:t>UMAP</a:t>
            </a:r>
            <a:r>
              <a:rPr lang="zh-TW" altLang="en-US" b="0" i="0" dirty="0">
                <a:effectLst/>
                <a:latin typeface="Söhne"/>
              </a:rPr>
              <a:t>視覺化質性比較以及基於聚類性能的量化比較，結果顯示</a:t>
            </a:r>
            <a:r>
              <a:rPr lang="en-US" altLang="zh-TW" b="0" i="0" dirty="0">
                <a:effectLst/>
                <a:latin typeface="Söhne"/>
              </a:rPr>
              <a:t>SIMBA</a:t>
            </a:r>
            <a:r>
              <a:rPr lang="zh-TW" altLang="en-US" b="0" i="0" dirty="0">
                <a:effectLst/>
                <a:latin typeface="Söhne"/>
              </a:rPr>
              <a:t>的性能不亞於或者優於這些方法。</a:t>
            </a:r>
          </a:p>
          <a:p>
            <a:pPr algn="l"/>
            <a:r>
              <a:rPr lang="zh-TW" altLang="en-US" b="0" i="0" dirty="0">
                <a:effectLst/>
                <a:latin typeface="Söhne"/>
              </a:rPr>
              <a:t>在質性觀察方面，</a:t>
            </a:r>
            <a:r>
              <a:rPr lang="en-US" altLang="zh-TW" b="0" i="0" dirty="0">
                <a:effectLst/>
                <a:latin typeface="Söhne"/>
              </a:rPr>
              <a:t>SIMBA</a:t>
            </a:r>
            <a:r>
              <a:rPr lang="zh-TW" altLang="en-US" b="0" i="0" dirty="0">
                <a:effectLst/>
                <a:latin typeface="Söhne"/>
              </a:rPr>
              <a:t>生成的嵌入結果與是否將序列作為輸入特徵一起考慮相比，差異可以忽略不計。量化比較中，應用了一個作者此前開發的聚類評估框架，該框架評估</a:t>
            </a:r>
            <a:r>
              <a:rPr lang="en-US" altLang="zh-TW" b="0" i="0" dirty="0">
                <a:effectLst/>
                <a:latin typeface="Söhne"/>
              </a:rPr>
              <a:t>SIMBA</a:t>
            </a:r>
            <a:r>
              <a:rPr lang="zh-TW" altLang="en-US" b="0" i="0" dirty="0">
                <a:effectLst/>
                <a:latin typeface="Söhne"/>
              </a:rPr>
              <a:t>生成的細胞嵌入的優度。在使用</a:t>
            </a:r>
            <a:r>
              <a:rPr lang="en-US" altLang="zh-TW" b="0" i="0" dirty="0">
                <a:effectLst/>
                <a:latin typeface="Söhne"/>
              </a:rPr>
              <a:t>peaks</a:t>
            </a:r>
            <a:r>
              <a:rPr lang="zh-TW" altLang="en-US" b="0" i="0" dirty="0">
                <a:effectLst/>
                <a:latin typeface="Söhne"/>
              </a:rPr>
              <a:t>或</a:t>
            </a:r>
            <a:r>
              <a:rPr lang="en-US" altLang="zh-TW" b="0" i="0" dirty="0">
                <a:effectLst/>
                <a:latin typeface="Söhne"/>
              </a:rPr>
              <a:t>peaks</a:t>
            </a:r>
            <a:r>
              <a:rPr lang="zh-TW" altLang="en-US" b="0" i="0" dirty="0">
                <a:effectLst/>
                <a:latin typeface="Söhne"/>
              </a:rPr>
              <a:t>和序列作為輸入時，將這個評估框架應用於</a:t>
            </a:r>
            <a:r>
              <a:rPr lang="en-US" altLang="zh-TW" b="0" i="0" dirty="0">
                <a:effectLst/>
                <a:latin typeface="Söhne"/>
              </a:rPr>
              <a:t>SIMBA</a:t>
            </a:r>
            <a:r>
              <a:rPr lang="zh-TW" altLang="en-US" b="0" i="0" dirty="0">
                <a:effectLst/>
                <a:latin typeface="Söhne"/>
              </a:rPr>
              <a:t>生成的嵌入，並將其與真實的</a:t>
            </a:r>
            <a:r>
              <a:rPr lang="en-US" altLang="zh-TW" b="0" i="0" dirty="0" err="1">
                <a:effectLst/>
                <a:latin typeface="Söhne"/>
              </a:rPr>
              <a:t>scATAC</a:t>
            </a:r>
            <a:r>
              <a:rPr lang="en-US" altLang="zh-TW" b="0" i="0" dirty="0">
                <a:effectLst/>
                <a:latin typeface="Söhne"/>
              </a:rPr>
              <a:t>-seq</a:t>
            </a:r>
            <a:r>
              <a:rPr lang="zh-TW" altLang="en-US" b="0" i="0" dirty="0">
                <a:effectLst/>
                <a:latin typeface="Söhne"/>
              </a:rPr>
              <a:t>數據集進行比較。然後，作者使用了層次聚類、</a:t>
            </a:r>
            <a:r>
              <a:rPr lang="en-US" altLang="zh-TW" b="0" i="0" dirty="0">
                <a:effectLst/>
                <a:latin typeface="Söhne"/>
              </a:rPr>
              <a:t>K</a:t>
            </a:r>
            <a:r>
              <a:rPr lang="zh-TW" altLang="en-US" b="0" i="0" dirty="0">
                <a:effectLst/>
                <a:latin typeface="Söhne"/>
              </a:rPr>
              <a:t>均值聚類和</a:t>
            </a:r>
            <a:r>
              <a:rPr lang="en-US" altLang="zh-TW" b="0" i="0" dirty="0">
                <a:effectLst/>
                <a:latin typeface="Söhne"/>
              </a:rPr>
              <a:t>Louvain</a:t>
            </a:r>
            <a:r>
              <a:rPr lang="zh-TW" altLang="en-US" b="0" i="0" dirty="0">
                <a:effectLst/>
                <a:latin typeface="Söhne"/>
              </a:rPr>
              <a:t>聚類三種常見的聚類方法，並使用調整</a:t>
            </a:r>
            <a:r>
              <a:rPr lang="en-US" altLang="zh-TW" b="0" i="0" dirty="0">
                <a:effectLst/>
                <a:latin typeface="Söhne"/>
              </a:rPr>
              <a:t>Rand</a:t>
            </a:r>
            <a:r>
              <a:rPr lang="zh-TW" altLang="en-US" b="0" i="0" dirty="0">
                <a:effectLst/>
                <a:latin typeface="Söhne"/>
              </a:rPr>
              <a:t>指數（</a:t>
            </a:r>
            <a:r>
              <a:rPr lang="en-US" altLang="zh-TW" b="0" i="0" dirty="0">
                <a:effectLst/>
                <a:latin typeface="Söhne"/>
              </a:rPr>
              <a:t>ARI</a:t>
            </a:r>
            <a:r>
              <a:rPr lang="zh-TW" altLang="en-US" b="0" i="0" dirty="0">
                <a:effectLst/>
                <a:latin typeface="Söhne"/>
              </a:rPr>
              <a:t>）、調整互信息（</a:t>
            </a:r>
            <a:r>
              <a:rPr lang="en-US" altLang="zh-TW" b="0" i="0" dirty="0">
                <a:effectLst/>
                <a:latin typeface="Söhne"/>
              </a:rPr>
              <a:t>AMI</a:t>
            </a:r>
            <a:r>
              <a:rPr lang="zh-TW" altLang="en-US" b="0" i="0" dirty="0">
                <a:effectLst/>
                <a:latin typeface="Söhne"/>
              </a:rPr>
              <a:t>）和同質性指標來評估與真實標籤相比的聚類質量。在所有數據集和評估指標上，只觀察到最小的或不一致的差異，表明在</a:t>
            </a:r>
            <a:r>
              <a:rPr lang="en-US" altLang="zh-TW" b="0" i="0" dirty="0">
                <a:effectLst/>
                <a:latin typeface="Söhne"/>
              </a:rPr>
              <a:t>SIMBA</a:t>
            </a:r>
            <a:r>
              <a:rPr lang="zh-TW" altLang="en-US" b="0" i="0" dirty="0">
                <a:effectLst/>
                <a:latin typeface="Söhne"/>
              </a:rPr>
              <a:t>生成的嵌入中加入序列作為附加特徵對結果的影響可以忽略。</a:t>
            </a: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29</a:t>
            </a:fld>
            <a:endParaRPr lang="en-US"/>
          </a:p>
        </p:txBody>
      </p:sp>
    </p:spTree>
    <p:extLst>
      <p:ext uri="{BB962C8B-B14F-4D97-AF65-F5344CB8AC3E}">
        <p14:creationId xmlns:p14="http://schemas.microsoft.com/office/powerpoint/2010/main" val="478026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i="0" dirty="0">
                <a:solidFill>
                  <a:srgbClr val="0F0F0F"/>
                </a:solidFill>
                <a:effectLst/>
                <a:latin typeface="Söhne"/>
              </a:rPr>
              <a:t>C</a:t>
            </a:r>
            <a:r>
              <a:rPr lang="en-US" altLang="zh-CN" b="0" i="0" dirty="0">
                <a:solidFill>
                  <a:srgbClr val="0F0F0F"/>
                </a:solidFill>
                <a:effectLst/>
                <a:latin typeface="Söhne"/>
              </a:rPr>
              <a:t> also shows the </a:t>
            </a:r>
            <a:r>
              <a:rPr lang="en-US" b="0" i="0" dirty="0">
                <a:solidFill>
                  <a:srgbClr val="222222"/>
                </a:solidFill>
                <a:effectLst/>
                <a:latin typeface="Harding"/>
              </a:rPr>
              <a:t>UMAP visualization of SIMBA embeddings of cells (top left), cells and genes (top right) and cells along with genes, TF motifs and peaks (bottom)</a:t>
            </a:r>
          </a:p>
          <a:p>
            <a:endParaRPr lang="en-US" altLang="zh-CN" b="0" i="0" dirty="0">
              <a:solidFill>
                <a:srgbClr val="0F0F0F"/>
              </a:solidFill>
              <a:effectLst/>
              <a:latin typeface="Söhne"/>
            </a:endParaRPr>
          </a:p>
          <a:p>
            <a:r>
              <a:rPr lang="en-US" altLang="zh-CN" b="1" i="0" dirty="0">
                <a:solidFill>
                  <a:srgbClr val="0F0F0F"/>
                </a:solidFill>
                <a:effectLst/>
                <a:latin typeface="Söhne"/>
              </a:rPr>
              <a:t>D </a:t>
            </a:r>
            <a:r>
              <a:rPr lang="en-US" altLang="zh-CN" b="0" i="0" dirty="0">
                <a:solidFill>
                  <a:srgbClr val="0F0F0F"/>
                </a:solidFill>
                <a:effectLst/>
                <a:latin typeface="Söhne"/>
              </a:rPr>
              <a:t>shows the </a:t>
            </a:r>
            <a:r>
              <a:rPr lang="en-US" b="0" i="0" dirty="0">
                <a:solidFill>
                  <a:srgbClr val="222222"/>
                </a:solidFill>
                <a:effectLst/>
                <a:latin typeface="Harding"/>
              </a:rPr>
              <a:t>Rank of master regulators identified by SIMBA. The rank score indicates the rank of a given TF gene among all genes (including non-TFs) on the basis of the distance from the genes to the selected TF motif in the SIMBA embedding space</a:t>
            </a:r>
          </a:p>
          <a:p>
            <a:endParaRPr lang="en-US" b="0" i="0" dirty="0">
              <a:solidFill>
                <a:srgbClr val="222222"/>
              </a:solidFill>
              <a:effectLst/>
              <a:latin typeface="Harding"/>
            </a:endParaRPr>
          </a:p>
          <a:p>
            <a:r>
              <a:rPr lang="en-US" altLang="zh-CN" b="1" i="0" dirty="0">
                <a:solidFill>
                  <a:srgbClr val="222222"/>
                </a:solidFill>
                <a:effectLst/>
                <a:latin typeface="Harding"/>
              </a:rPr>
              <a:t>E </a:t>
            </a:r>
            <a:r>
              <a:rPr lang="en-US" altLang="zh-CN" b="0" i="0" dirty="0">
                <a:solidFill>
                  <a:srgbClr val="222222"/>
                </a:solidFill>
                <a:effectLst/>
                <a:latin typeface="Harding"/>
              </a:rPr>
              <a:t>shows how </a:t>
            </a:r>
            <a:r>
              <a:rPr lang="en-US" altLang="zh-CN" b="0" i="0" dirty="0" err="1">
                <a:solidFill>
                  <a:srgbClr val="222222"/>
                </a:solidFill>
                <a:effectLst/>
                <a:latin typeface="Harding"/>
              </a:rPr>
              <a:t>simba</a:t>
            </a:r>
            <a:r>
              <a:rPr lang="en-US" altLang="zh-CN" b="0" i="0" dirty="0">
                <a:solidFill>
                  <a:srgbClr val="222222"/>
                </a:solidFill>
                <a:effectLst/>
                <a:latin typeface="Harding"/>
              </a:rPr>
              <a:t> identify target genes when given a master regulator. </a:t>
            </a:r>
            <a:r>
              <a:rPr lang="en-US" b="0" i="0" dirty="0">
                <a:solidFill>
                  <a:srgbClr val="222222"/>
                </a:solidFill>
                <a:effectLst/>
                <a:latin typeface="Harding"/>
              </a:rPr>
              <a:t>The master regulator is represented by a TF motif, which is the star, and TF gene, which is the square</a:t>
            </a:r>
          </a:p>
          <a:p>
            <a:endParaRPr lang="en-US" b="0" i="0" dirty="0">
              <a:solidFill>
                <a:srgbClr val="222222"/>
              </a:solidFill>
              <a:effectLst/>
              <a:latin typeface="Harding"/>
            </a:endParaRPr>
          </a:p>
          <a:p>
            <a:r>
              <a:rPr lang="en-US" altLang="zh-CN" b="1" i="0" dirty="0">
                <a:solidFill>
                  <a:srgbClr val="222222"/>
                </a:solidFill>
                <a:effectLst/>
                <a:latin typeface="Harding"/>
              </a:rPr>
              <a:t>F</a:t>
            </a:r>
            <a:r>
              <a:rPr lang="en-US" altLang="zh-CN" b="0" i="0" dirty="0">
                <a:solidFill>
                  <a:srgbClr val="222222"/>
                </a:solidFill>
                <a:effectLst/>
                <a:latin typeface="Harding"/>
              </a:rPr>
              <a:t> shows the</a:t>
            </a:r>
            <a:r>
              <a:rPr lang="en-US" b="0" i="0" dirty="0">
                <a:solidFill>
                  <a:srgbClr val="222222"/>
                </a:solidFill>
                <a:effectLst/>
                <a:latin typeface="Harding"/>
              </a:rPr>
              <a:t> top 30 target genes of TFs Lef1 and Hoxc13, it is inferred by SIMBA.</a:t>
            </a:r>
            <a:endParaRPr lang="en-US" altLang="zh-CN" b="1" i="0" dirty="0">
              <a:solidFill>
                <a:srgbClr val="0F0F0F"/>
              </a:solidFill>
              <a:effectLst/>
              <a:latin typeface="Söhne"/>
            </a:endParaRPr>
          </a:p>
          <a:p>
            <a:endParaRPr lang="en-US" altLang="zh-CN" b="0" i="0" dirty="0">
              <a:solidFill>
                <a:srgbClr val="0F0F0F"/>
              </a:solidFill>
              <a:effectLst/>
              <a:latin typeface="Söhne"/>
            </a:endParaRPr>
          </a:p>
          <a:p>
            <a:endParaRPr lang="en-US" altLang="zh-CN" b="0" i="0" dirty="0">
              <a:solidFill>
                <a:srgbClr val="0F0F0F"/>
              </a:solidFill>
              <a:effectLst/>
              <a:latin typeface="Söhne"/>
            </a:endParaRPr>
          </a:p>
          <a:p>
            <a:r>
              <a:rPr lang="en-US" altLang="zh-CN" b="0" i="0" dirty="0">
                <a:solidFill>
                  <a:srgbClr val="0F0F0F"/>
                </a:solidFill>
                <a:effectLst/>
                <a:latin typeface="Söhne"/>
              </a:rPr>
              <a:t>c. SIMBA</a:t>
            </a:r>
            <a:r>
              <a:rPr lang="zh-CN" altLang="en-US" b="0" i="0" dirty="0">
                <a:solidFill>
                  <a:srgbClr val="0F0F0F"/>
                </a:solidFill>
                <a:effectLst/>
                <a:latin typeface="Söhne"/>
              </a:rPr>
              <a:t>能够根据</a:t>
            </a:r>
            <a:r>
              <a:rPr lang="en-US" altLang="zh-CN" b="0" i="0" dirty="0">
                <a:solidFill>
                  <a:srgbClr val="0F0F0F"/>
                </a:solidFill>
                <a:effectLst/>
                <a:latin typeface="Söhne"/>
              </a:rPr>
              <a:t>(1) cell annotation (2)</a:t>
            </a:r>
            <a:r>
              <a:rPr lang="zh-CN" altLang="en-US" b="0" i="0" dirty="0">
                <a:solidFill>
                  <a:srgbClr val="0F0F0F"/>
                </a:solidFill>
                <a:effectLst/>
                <a:latin typeface="Söhne"/>
              </a:rPr>
              <a:t>基因表达模式区分出不同的细胞阶段，如转运增殖细胞（</a:t>
            </a:r>
            <a:r>
              <a:rPr lang="en-US" altLang="zh-CN" b="0" i="0" dirty="0">
                <a:solidFill>
                  <a:srgbClr val="0F0F0F"/>
                </a:solidFill>
                <a:effectLst/>
                <a:latin typeface="Söhne"/>
              </a:rPr>
              <a:t>TACs</a:t>
            </a:r>
            <a:r>
              <a:rPr lang="zh-CN" altLang="en-US" b="0" i="0" dirty="0">
                <a:solidFill>
                  <a:srgbClr val="0F0F0F"/>
                </a:solidFill>
                <a:effectLst/>
                <a:latin typeface="Söhne"/>
              </a:rPr>
              <a:t>）、内根鞘（</a:t>
            </a:r>
            <a:r>
              <a:rPr lang="en-US" altLang="zh-CN" b="0" i="0" dirty="0">
                <a:solidFill>
                  <a:srgbClr val="0F0F0F"/>
                </a:solidFill>
                <a:effectLst/>
                <a:latin typeface="Söhne"/>
              </a:rPr>
              <a:t>IRS</a:t>
            </a:r>
            <a:r>
              <a:rPr lang="zh-CN" altLang="en-US" b="0" i="0" dirty="0">
                <a:solidFill>
                  <a:srgbClr val="0F0F0F"/>
                </a:solidFill>
                <a:effectLst/>
                <a:latin typeface="Söhne"/>
              </a:rPr>
              <a:t>）、髓质和角质和皮质等</a:t>
            </a:r>
            <a:endParaRPr lang="en-US" altLang="zh-CN" b="0" i="0" dirty="0">
              <a:solidFill>
                <a:srgbClr val="0F0F0F"/>
              </a:solidFill>
              <a:effectLst/>
              <a:latin typeface="Söhne"/>
            </a:endParaRPr>
          </a:p>
          <a:p>
            <a:r>
              <a:rPr lang="en-US" altLang="zh-TW" b="0" i="0" dirty="0">
                <a:solidFill>
                  <a:srgbClr val="222222"/>
                </a:solidFill>
                <a:effectLst/>
                <a:latin typeface="Harding"/>
              </a:rPr>
              <a:t>d. SIMBA</a:t>
            </a:r>
            <a:r>
              <a:rPr lang="zh-TW" altLang="en-US" b="0" i="0" dirty="0">
                <a:solidFill>
                  <a:srgbClr val="222222"/>
                </a:solidFill>
                <a:effectLst/>
                <a:latin typeface="Harding"/>
              </a:rPr>
              <a:t>識別的排名主調節因子。排名分數表示給定轉錄因子基因在所有基因（包括非轉錄因子）中的排名，該排名基於基因到</a:t>
            </a:r>
            <a:r>
              <a:rPr lang="en-US" altLang="zh-TW" b="0" i="0" dirty="0">
                <a:solidFill>
                  <a:srgbClr val="222222"/>
                </a:solidFill>
                <a:effectLst/>
                <a:latin typeface="Harding"/>
              </a:rPr>
              <a:t>SIMBA</a:t>
            </a:r>
            <a:r>
              <a:rPr lang="zh-TW" altLang="en-US" b="0" i="0" dirty="0">
                <a:solidFill>
                  <a:srgbClr val="222222"/>
                </a:solidFill>
                <a:effectLst/>
                <a:latin typeface="Harding"/>
              </a:rPr>
              <a:t>嵌入空間中所選轉錄因子模式的距離。</a:t>
            </a:r>
            <a:br>
              <a:rPr lang="en-US" altLang="zh-TW" b="0" i="0" dirty="0">
                <a:solidFill>
                  <a:srgbClr val="222222"/>
                </a:solidFill>
                <a:effectLst/>
                <a:latin typeface="Harding"/>
              </a:rPr>
            </a:br>
            <a:r>
              <a:rPr lang="en-US" altLang="zh-TW" b="0" i="0" dirty="0">
                <a:solidFill>
                  <a:srgbClr val="222222"/>
                </a:solidFill>
                <a:effectLst/>
                <a:latin typeface="Harding"/>
              </a:rPr>
              <a:t>(</a:t>
            </a:r>
            <a:r>
              <a:rPr lang="zh-CN" altLang="en-US" b="0" i="0" dirty="0">
                <a:solidFill>
                  <a:srgbClr val="0F0F0F"/>
                </a:solidFill>
                <a:effectLst/>
                <a:latin typeface="Söhne"/>
              </a:rPr>
              <a:t>横轴（</a:t>
            </a:r>
            <a:r>
              <a:rPr lang="en-US" altLang="zh-CN" b="0" i="0" dirty="0">
                <a:solidFill>
                  <a:srgbClr val="0F0F0F"/>
                </a:solidFill>
                <a:effectLst/>
                <a:latin typeface="Söhne"/>
              </a:rPr>
              <a:t>x</a:t>
            </a:r>
            <a:r>
              <a:rPr lang="zh-CN" altLang="en-US" b="0" i="0" dirty="0">
                <a:solidFill>
                  <a:srgbClr val="0F0F0F"/>
                </a:solidFill>
                <a:effectLst/>
                <a:latin typeface="Söhne"/>
              </a:rPr>
              <a:t>轴）代表调控因子的列表，这些因子根据其影响力或在特定生物学过程中的重要性进行排名。纵轴（</a:t>
            </a:r>
            <a:r>
              <a:rPr lang="en-US" altLang="zh-CN" b="0" i="0" dirty="0">
                <a:solidFill>
                  <a:srgbClr val="0F0F0F"/>
                </a:solidFill>
                <a:effectLst/>
                <a:latin typeface="Söhne"/>
              </a:rPr>
              <a:t>y</a:t>
            </a:r>
            <a:r>
              <a:rPr lang="zh-CN" altLang="en-US" b="0" i="0" dirty="0">
                <a:solidFill>
                  <a:srgbClr val="0F0F0F"/>
                </a:solidFill>
                <a:effectLst/>
                <a:latin typeface="Söhne"/>
              </a:rPr>
              <a:t>轴）显示的是它们的排名分数，这个分数可能是基于某种统计方法或计算模型，如</a:t>
            </a:r>
            <a:r>
              <a:rPr lang="en-US" altLang="zh-CN" b="0" i="0" dirty="0">
                <a:solidFill>
                  <a:srgbClr val="0F0F0F"/>
                </a:solidFill>
                <a:effectLst/>
                <a:latin typeface="Söhne"/>
              </a:rPr>
              <a:t>SIMBA</a:t>
            </a:r>
            <a:r>
              <a:rPr lang="zh-CN" altLang="en-US" b="0" i="0" dirty="0">
                <a:solidFill>
                  <a:srgbClr val="0F0F0F"/>
                </a:solidFill>
                <a:effectLst/>
                <a:latin typeface="Söhne"/>
              </a:rPr>
              <a:t>分析工具计算的分数。分数越低表示调控因子的重要性或相关性越高。</a:t>
            </a:r>
            <a:r>
              <a:rPr lang="en-US" altLang="zh-CN" b="0" i="0" dirty="0">
                <a:solidFill>
                  <a:srgbClr val="0F0F0F"/>
                </a:solidFill>
                <a:effectLst/>
                <a:latin typeface="Söhne"/>
              </a:rPr>
              <a:t>)</a:t>
            </a:r>
          </a:p>
          <a:p>
            <a:endParaRPr lang="en-US" altLang="zh-CN" b="0" i="0" dirty="0">
              <a:solidFill>
                <a:srgbClr val="0F0F0F"/>
              </a:solidFill>
              <a:effectLst/>
              <a:latin typeface="Söhne"/>
            </a:endParaRPr>
          </a:p>
          <a:p>
            <a:r>
              <a:rPr lang="zh-CN" altLang="en-US" b="0" i="0" dirty="0">
                <a:solidFill>
                  <a:srgbClr val="0F0F0F"/>
                </a:solidFill>
                <a:effectLst/>
                <a:latin typeface="Söhne"/>
              </a:rPr>
              <a:t>在这张图中，我们可以看到如</a:t>
            </a:r>
            <a:r>
              <a:rPr lang="en-US" altLang="zh-CN" b="0" i="0" dirty="0">
                <a:solidFill>
                  <a:srgbClr val="0F0F0F"/>
                </a:solidFill>
                <a:effectLst/>
                <a:latin typeface="Söhne"/>
              </a:rPr>
              <a:t>Lef1</a:t>
            </a:r>
            <a:r>
              <a:rPr lang="zh-CN" altLang="en-US" b="0" i="0" dirty="0">
                <a:solidFill>
                  <a:srgbClr val="0F0F0F"/>
                </a:solidFill>
                <a:effectLst/>
                <a:latin typeface="Söhne"/>
              </a:rPr>
              <a:t>、</a:t>
            </a:r>
            <a:r>
              <a:rPr lang="en-US" altLang="zh-CN" b="0" i="0" dirty="0">
                <a:solidFill>
                  <a:srgbClr val="0F0F0F"/>
                </a:solidFill>
                <a:effectLst/>
                <a:latin typeface="Söhne"/>
              </a:rPr>
              <a:t>Gata6</a:t>
            </a:r>
            <a:r>
              <a:rPr lang="zh-CN" altLang="en-US" b="0" i="0" dirty="0">
                <a:solidFill>
                  <a:srgbClr val="0F0F0F"/>
                </a:solidFill>
                <a:effectLst/>
                <a:latin typeface="Söhne"/>
              </a:rPr>
              <a:t>、</a:t>
            </a:r>
            <a:r>
              <a:rPr lang="en-US" altLang="zh-CN" b="0" i="0" dirty="0">
                <a:solidFill>
                  <a:srgbClr val="0F0F0F"/>
                </a:solidFill>
                <a:effectLst/>
                <a:latin typeface="Söhne"/>
              </a:rPr>
              <a:t>Nfatc1</a:t>
            </a:r>
            <a:r>
              <a:rPr lang="zh-CN" altLang="en-US" b="0" i="0" dirty="0">
                <a:solidFill>
                  <a:srgbClr val="0F0F0F"/>
                </a:solidFill>
                <a:effectLst/>
                <a:latin typeface="Söhne"/>
              </a:rPr>
              <a:t>、</a:t>
            </a:r>
            <a:r>
              <a:rPr lang="en-US" altLang="zh-CN" b="0" i="0" dirty="0">
                <a:solidFill>
                  <a:srgbClr val="0F0F0F"/>
                </a:solidFill>
                <a:effectLst/>
                <a:latin typeface="Söhne"/>
              </a:rPr>
              <a:t>Foxe1</a:t>
            </a:r>
            <a:r>
              <a:rPr lang="zh-CN" altLang="en-US" b="0" i="0" dirty="0">
                <a:solidFill>
                  <a:srgbClr val="0F0F0F"/>
                </a:solidFill>
                <a:effectLst/>
                <a:latin typeface="Söhne"/>
              </a:rPr>
              <a:t>和</a:t>
            </a:r>
            <a:r>
              <a:rPr lang="en-US" altLang="zh-CN" b="0" i="0" dirty="0">
                <a:solidFill>
                  <a:srgbClr val="0F0F0F"/>
                </a:solidFill>
                <a:effectLst/>
                <a:latin typeface="Söhne"/>
              </a:rPr>
              <a:t>Hoxc13</a:t>
            </a:r>
            <a:r>
              <a:rPr lang="zh-CN" altLang="en-US" b="0" i="0" dirty="0">
                <a:solidFill>
                  <a:srgbClr val="0F0F0F"/>
                </a:solidFill>
                <a:effectLst/>
                <a:latin typeface="Söhne"/>
              </a:rPr>
              <a:t>等调控因子位于排名的顶部，这表明它们在分化过程中可能扮演着主要调控者的角色。而其他如</a:t>
            </a:r>
            <a:r>
              <a:rPr lang="en-US" altLang="zh-CN" b="0" i="0" dirty="0" err="1">
                <a:solidFill>
                  <a:srgbClr val="0F0F0F"/>
                </a:solidFill>
                <a:effectLst/>
                <a:latin typeface="Söhne"/>
              </a:rPr>
              <a:t>Relb</a:t>
            </a:r>
            <a:r>
              <a:rPr lang="zh-CN" altLang="en-US" b="0" i="0" dirty="0">
                <a:solidFill>
                  <a:srgbClr val="0F0F0F"/>
                </a:solidFill>
                <a:effectLst/>
                <a:latin typeface="Söhne"/>
              </a:rPr>
              <a:t>、</a:t>
            </a:r>
            <a:r>
              <a:rPr lang="en-US" altLang="zh-CN" b="0" i="0" dirty="0">
                <a:solidFill>
                  <a:srgbClr val="0F0F0F"/>
                </a:solidFill>
                <a:effectLst/>
                <a:latin typeface="Söhne"/>
              </a:rPr>
              <a:t>Nkx2-2</a:t>
            </a:r>
            <a:r>
              <a:rPr lang="zh-CN" altLang="en-US" b="0" i="0" dirty="0">
                <a:solidFill>
                  <a:srgbClr val="0F0F0F"/>
                </a:solidFill>
                <a:effectLst/>
                <a:latin typeface="Söhne"/>
              </a:rPr>
              <a:t>、</a:t>
            </a:r>
            <a:r>
              <a:rPr lang="en-US" altLang="zh-CN" b="0" i="0" dirty="0">
                <a:solidFill>
                  <a:srgbClr val="0F0F0F"/>
                </a:solidFill>
                <a:effectLst/>
                <a:latin typeface="Söhne"/>
              </a:rPr>
              <a:t>Ide</a:t>
            </a:r>
            <a:r>
              <a:rPr lang="zh-CN" altLang="en-US" b="0" i="0" dirty="0">
                <a:solidFill>
                  <a:srgbClr val="0F0F0F"/>
                </a:solidFill>
                <a:effectLst/>
                <a:latin typeface="Söhne"/>
              </a:rPr>
              <a:t>和</a:t>
            </a:r>
            <a:r>
              <a:rPr lang="en-US" altLang="zh-CN" b="0" i="0" dirty="0">
                <a:solidFill>
                  <a:srgbClr val="0F0F0F"/>
                </a:solidFill>
                <a:effectLst/>
                <a:latin typeface="Söhne"/>
              </a:rPr>
              <a:t>Sox9</a:t>
            </a:r>
            <a:r>
              <a:rPr lang="zh-CN" altLang="en-US" b="0" i="0" dirty="0">
                <a:solidFill>
                  <a:srgbClr val="0F0F0F"/>
                </a:solidFill>
                <a:effectLst/>
                <a:latin typeface="Söhne"/>
              </a:rPr>
              <a:t>等则排名较低，这可能表明它们在分化过程中的作用较小，或者在特定的细胞类型或状态中不是主要的调控因子。</a:t>
            </a:r>
            <a:br>
              <a:rPr lang="en-US" altLang="zh-CN" b="0" i="0" dirty="0">
                <a:solidFill>
                  <a:srgbClr val="0F0F0F"/>
                </a:solidFill>
                <a:effectLst/>
                <a:latin typeface="Söhne"/>
              </a:rPr>
            </a:br>
            <a:br>
              <a:rPr lang="en-US" altLang="zh-CN" b="0" i="0" dirty="0">
                <a:solidFill>
                  <a:srgbClr val="0F0F0F"/>
                </a:solidFill>
                <a:effectLst/>
                <a:latin typeface="Söhne"/>
              </a:rPr>
            </a:br>
            <a:r>
              <a:rPr lang="en-US" altLang="zh-CN" b="0" i="0" dirty="0">
                <a:solidFill>
                  <a:srgbClr val="0F0F0F"/>
                </a:solidFill>
                <a:effectLst/>
                <a:latin typeface="Söhne"/>
              </a:rPr>
              <a:t>F. </a:t>
            </a:r>
            <a:r>
              <a:rPr lang="zh-CN" altLang="en-US" b="0" i="0" dirty="0">
                <a:solidFill>
                  <a:srgbClr val="222222"/>
                </a:solidFill>
                <a:effectLst/>
                <a:latin typeface="Harding"/>
              </a:rPr>
              <a:t>为了推断给定主调控因子的目标基因，我们假设在共享的</a:t>
            </a:r>
            <a:r>
              <a:rPr lang="en-US" altLang="zh-CN" b="0" i="0" dirty="0">
                <a:solidFill>
                  <a:srgbClr val="222222"/>
                </a:solidFill>
                <a:effectLst/>
                <a:latin typeface="Harding"/>
              </a:rPr>
              <a:t>SIMBA</a:t>
            </a:r>
            <a:r>
              <a:rPr lang="zh-CN" altLang="en-US" b="0" i="0" dirty="0">
                <a:solidFill>
                  <a:srgbClr val="222222"/>
                </a:solidFill>
                <a:effectLst/>
                <a:latin typeface="Harding"/>
              </a:rPr>
              <a:t>嵌入空间中，（</a:t>
            </a:r>
            <a:r>
              <a:rPr lang="en-US" altLang="zh-CN" b="0" i="0" dirty="0">
                <a:solidFill>
                  <a:srgbClr val="222222"/>
                </a:solidFill>
                <a:effectLst/>
                <a:latin typeface="Harding"/>
              </a:rPr>
              <a:t>1</a:t>
            </a:r>
            <a:r>
              <a:rPr lang="zh-CN" altLang="en-US" b="0" i="0" dirty="0">
                <a:solidFill>
                  <a:srgbClr val="222222"/>
                </a:solidFill>
                <a:effectLst/>
                <a:latin typeface="Harding"/>
              </a:rPr>
              <a:t>）目标基因靠近转录因子基序和转录因子基因；（</a:t>
            </a:r>
            <a:r>
              <a:rPr lang="en-US" altLang="zh-CN" b="0" i="0" dirty="0">
                <a:solidFill>
                  <a:srgbClr val="222222"/>
                </a:solidFill>
                <a:effectLst/>
                <a:latin typeface="Harding"/>
              </a:rPr>
              <a:t>2</a:t>
            </a:r>
            <a:r>
              <a:rPr lang="zh-CN" altLang="en-US" b="0" i="0" dirty="0">
                <a:solidFill>
                  <a:srgbClr val="222222"/>
                </a:solidFill>
                <a:effectLst/>
                <a:latin typeface="Harding"/>
              </a:rPr>
              <a:t>）靠近目标基因位点的可访问区域（峰值）必须靠近转录因子基序和目标转录因子基因。基于这些顺式调控动力学的假设（图</a:t>
            </a:r>
            <a:r>
              <a:rPr lang="en-US" altLang="zh-CN" b="0" i="0" dirty="0">
                <a:solidFill>
                  <a:srgbClr val="222222"/>
                </a:solidFill>
                <a:effectLst/>
                <a:latin typeface="Harding"/>
              </a:rPr>
              <a:t>4e</a:t>
            </a:r>
            <a:r>
              <a:rPr lang="zh-CN" altLang="en-US" b="0" i="0" dirty="0">
                <a:solidFill>
                  <a:srgbClr val="222222"/>
                </a:solidFill>
                <a:effectLst/>
                <a:latin typeface="Harding"/>
              </a:rPr>
              <a:t>和方法），</a:t>
            </a:r>
            <a:r>
              <a:rPr lang="en-US" altLang="zh-CN" b="0" i="0" dirty="0">
                <a:solidFill>
                  <a:srgbClr val="222222"/>
                </a:solidFill>
                <a:effectLst/>
                <a:latin typeface="Harding"/>
              </a:rPr>
              <a:t>SIMBA</a:t>
            </a:r>
            <a:r>
              <a:rPr lang="zh-CN" altLang="en-US" b="0" i="0" dirty="0">
                <a:solidFill>
                  <a:srgbClr val="222222"/>
                </a:solidFill>
                <a:effectLst/>
                <a:latin typeface="Harding"/>
              </a:rPr>
              <a:t>推断出主调控因子的目标基因，如</a:t>
            </a:r>
            <a:r>
              <a:rPr lang="en-US" altLang="zh-CN" b="0" i="0" dirty="0">
                <a:solidFill>
                  <a:srgbClr val="222222"/>
                </a:solidFill>
                <a:effectLst/>
                <a:latin typeface="Harding"/>
              </a:rPr>
              <a:t>Lef1</a:t>
            </a:r>
            <a:r>
              <a:rPr lang="zh-CN" altLang="en-US" b="0" i="0" dirty="0">
                <a:solidFill>
                  <a:srgbClr val="222222"/>
                </a:solidFill>
                <a:effectLst/>
                <a:latin typeface="Harding"/>
              </a:rPr>
              <a:t>和</a:t>
            </a:r>
            <a:r>
              <a:rPr lang="en-US" altLang="zh-CN" b="0" i="0" dirty="0">
                <a:solidFill>
                  <a:srgbClr val="222222"/>
                </a:solidFill>
                <a:effectLst/>
                <a:latin typeface="Harding"/>
              </a:rPr>
              <a:t>Hoxc13</a:t>
            </a:r>
            <a:r>
              <a:rPr lang="zh-CN" altLang="en-US" b="0" i="0" dirty="0">
                <a:solidFill>
                  <a:srgbClr val="222222"/>
                </a:solidFill>
                <a:effectLst/>
                <a:latin typeface="Harding"/>
              </a:rPr>
              <a:t>（图</a:t>
            </a:r>
            <a:r>
              <a:rPr lang="en-US" altLang="zh-CN" b="0" i="0" dirty="0">
                <a:solidFill>
                  <a:srgbClr val="222222"/>
                </a:solidFill>
                <a:effectLst/>
                <a:latin typeface="Harding"/>
              </a:rPr>
              <a:t>4f</a:t>
            </a:r>
            <a:r>
              <a:rPr lang="zh-CN" altLang="en-US" b="0" i="0" dirty="0">
                <a:solidFill>
                  <a:srgbClr val="222222"/>
                </a:solidFill>
                <a:effectLst/>
                <a:latin typeface="Harding"/>
              </a:rPr>
              <a:t>，补充图</a:t>
            </a:r>
            <a:r>
              <a:rPr lang="en-US" altLang="zh-CN" b="0" i="0" dirty="0">
                <a:solidFill>
                  <a:srgbClr val="222222"/>
                </a:solidFill>
                <a:effectLst/>
                <a:latin typeface="Harding"/>
              </a:rPr>
              <a:t>12e</a:t>
            </a:r>
            <a:r>
              <a:rPr lang="zh-CN" altLang="en-US" b="0" i="0" dirty="0">
                <a:solidFill>
                  <a:srgbClr val="222222"/>
                </a:solidFill>
                <a:effectLst/>
                <a:latin typeface="Harding"/>
              </a:rPr>
              <a:t>和补充表</a:t>
            </a:r>
            <a:r>
              <a:rPr lang="en-US" altLang="zh-CN" b="0" i="0" dirty="0">
                <a:solidFill>
                  <a:srgbClr val="222222"/>
                </a:solidFill>
                <a:effectLst/>
                <a:latin typeface="Harding"/>
              </a:rPr>
              <a:t>4</a:t>
            </a:r>
            <a:r>
              <a:rPr lang="zh-CN" altLang="en-US" b="0" i="0" dirty="0">
                <a:solidFill>
                  <a:srgbClr val="222222"/>
                </a:solidFill>
                <a:effectLst/>
                <a:latin typeface="Harding"/>
              </a:rPr>
              <a:t>）。 值得注意的是，</a:t>
            </a:r>
            <a:r>
              <a:rPr lang="en-US" altLang="zh-CN" b="0" i="0" dirty="0">
                <a:solidFill>
                  <a:srgbClr val="222222"/>
                </a:solidFill>
                <a:effectLst/>
                <a:latin typeface="Harding"/>
              </a:rPr>
              <a:t>SIMBA</a:t>
            </a:r>
            <a:r>
              <a:rPr lang="zh-CN" altLang="en-US" b="0" i="0" dirty="0">
                <a:solidFill>
                  <a:srgbClr val="222222"/>
                </a:solidFill>
                <a:effectLst/>
                <a:latin typeface="Harding"/>
              </a:rPr>
              <a:t>恢复了原始研究中报告的目标基因 </a:t>
            </a:r>
            <a:r>
              <a:rPr lang="en-US" altLang="zh-CN" b="0" i="0" baseline="30000" dirty="0">
                <a:solidFill>
                  <a:srgbClr val="006699"/>
                </a:solidFill>
                <a:effectLst/>
                <a:latin typeface="Harding"/>
                <a:hlinkClick r:id="rId3" tooltip="Ma, S. et al. Chromatin potential identified by shared single-cell profiling of RNA and chromatin. Cell 183, 1103–1116 (2020)."/>
              </a:rPr>
              <a:t>24</a:t>
            </a:r>
            <a:r>
              <a:rPr lang="zh-CN" altLang="en-US" b="0" i="0" dirty="0">
                <a:solidFill>
                  <a:srgbClr val="222222"/>
                </a:solidFill>
                <a:effectLst/>
                <a:latin typeface="Harding"/>
              </a:rPr>
              <a:t> ，包括由转录因子</a:t>
            </a:r>
            <a:r>
              <a:rPr lang="en-US" altLang="zh-CN" b="0" i="0" dirty="0">
                <a:solidFill>
                  <a:srgbClr val="222222"/>
                </a:solidFill>
                <a:effectLst/>
                <a:latin typeface="Harding"/>
              </a:rPr>
              <a:t>Lef1</a:t>
            </a:r>
            <a:r>
              <a:rPr lang="zh-CN" altLang="en-US" b="0" i="0" dirty="0">
                <a:solidFill>
                  <a:srgbClr val="222222"/>
                </a:solidFill>
                <a:effectLst/>
                <a:latin typeface="Harding"/>
              </a:rPr>
              <a:t>调控的基因</a:t>
            </a:r>
            <a:r>
              <a:rPr lang="en-US" altLang="zh-CN" b="0" i="0" dirty="0">
                <a:solidFill>
                  <a:srgbClr val="222222"/>
                </a:solidFill>
                <a:effectLst/>
                <a:latin typeface="Harding"/>
              </a:rPr>
              <a:t>Lef1</a:t>
            </a:r>
            <a:r>
              <a:rPr lang="zh-CN" altLang="en-US" b="0" i="0" dirty="0">
                <a:solidFill>
                  <a:srgbClr val="222222"/>
                </a:solidFill>
                <a:effectLst/>
                <a:latin typeface="Harding"/>
              </a:rPr>
              <a:t>、</a:t>
            </a:r>
            <a:r>
              <a:rPr lang="en-US" altLang="zh-CN" b="0" i="0" dirty="0">
                <a:solidFill>
                  <a:srgbClr val="222222"/>
                </a:solidFill>
                <a:effectLst/>
                <a:latin typeface="Harding"/>
              </a:rPr>
              <a:t>Jag1</a:t>
            </a:r>
            <a:r>
              <a:rPr lang="zh-CN" altLang="en-US" b="0" i="0" dirty="0">
                <a:solidFill>
                  <a:srgbClr val="222222"/>
                </a:solidFill>
                <a:effectLst/>
                <a:latin typeface="Harding"/>
              </a:rPr>
              <a:t>、</a:t>
            </a:r>
            <a:r>
              <a:rPr lang="en-US" altLang="zh-CN" b="0" i="0" dirty="0">
                <a:solidFill>
                  <a:srgbClr val="222222"/>
                </a:solidFill>
                <a:effectLst/>
                <a:latin typeface="Harding"/>
              </a:rPr>
              <a:t>Hoxc13</a:t>
            </a:r>
            <a:r>
              <a:rPr lang="zh-CN" altLang="en-US" b="0" i="0" dirty="0">
                <a:solidFill>
                  <a:srgbClr val="222222"/>
                </a:solidFill>
                <a:effectLst/>
                <a:latin typeface="Harding"/>
              </a:rPr>
              <a:t>和</a:t>
            </a:r>
            <a:r>
              <a:rPr lang="en-US" altLang="zh-CN" b="0" i="0" dirty="0">
                <a:solidFill>
                  <a:srgbClr val="222222"/>
                </a:solidFill>
                <a:effectLst/>
                <a:latin typeface="Harding"/>
              </a:rPr>
              <a:t>Gtf2ird1</a:t>
            </a:r>
            <a:r>
              <a:rPr lang="zh-CN" altLang="en-US" b="0" i="0" dirty="0">
                <a:solidFill>
                  <a:srgbClr val="222222"/>
                </a:solidFill>
                <a:effectLst/>
                <a:latin typeface="Harding"/>
              </a:rPr>
              <a:t>，以及由转录因子</a:t>
            </a:r>
            <a:r>
              <a:rPr lang="en-US" altLang="zh-CN" b="0" i="0" dirty="0">
                <a:solidFill>
                  <a:srgbClr val="222222"/>
                </a:solidFill>
                <a:effectLst/>
                <a:latin typeface="Harding"/>
              </a:rPr>
              <a:t>Hoxc13</a:t>
            </a:r>
            <a:r>
              <a:rPr lang="zh-CN" altLang="en-US" b="0" i="0" dirty="0">
                <a:solidFill>
                  <a:srgbClr val="222222"/>
                </a:solidFill>
                <a:effectLst/>
                <a:latin typeface="Harding"/>
              </a:rPr>
              <a:t>调控的基因</a:t>
            </a:r>
            <a:r>
              <a:rPr lang="en-US" altLang="zh-CN" b="0" i="0" dirty="0">
                <a:solidFill>
                  <a:srgbClr val="222222"/>
                </a:solidFill>
                <a:effectLst/>
                <a:latin typeface="Harding"/>
              </a:rPr>
              <a:t>Cybrd1</a:t>
            </a:r>
            <a:r>
              <a:rPr lang="zh-CN" altLang="en-US" b="0" i="0" dirty="0">
                <a:solidFill>
                  <a:srgbClr val="222222"/>
                </a:solidFill>
                <a:effectLst/>
                <a:latin typeface="Harding"/>
              </a:rPr>
              <a:t>、</a:t>
            </a:r>
            <a:r>
              <a:rPr lang="en-US" altLang="zh-CN" b="0" i="0" dirty="0">
                <a:solidFill>
                  <a:srgbClr val="222222"/>
                </a:solidFill>
                <a:effectLst/>
                <a:latin typeface="Harding"/>
              </a:rPr>
              <a:t>Hoxc13</a:t>
            </a:r>
            <a:r>
              <a:rPr lang="zh-CN" altLang="en-US" b="0" i="0" dirty="0">
                <a:solidFill>
                  <a:srgbClr val="222222"/>
                </a:solidFill>
                <a:effectLst/>
                <a:latin typeface="Harding"/>
              </a:rPr>
              <a:t>和</a:t>
            </a:r>
            <a:r>
              <a:rPr lang="en-US" altLang="zh-CN" b="0" i="0" dirty="0">
                <a:solidFill>
                  <a:srgbClr val="222222"/>
                </a:solidFill>
                <a:effectLst/>
                <a:latin typeface="Harding"/>
              </a:rPr>
              <a:t>St14</a:t>
            </a:r>
            <a:r>
              <a:rPr lang="zh-CN" altLang="en-US" b="0" i="0" dirty="0">
                <a:solidFill>
                  <a:srgbClr val="222222"/>
                </a:solidFill>
                <a:effectLst/>
                <a:latin typeface="Harding"/>
              </a:rPr>
              <a:t>。</a:t>
            </a:r>
            <a:endParaRPr lang="en-US" altLang="zh-CN" b="0" i="0" dirty="0">
              <a:solidFill>
                <a:srgbClr val="222222"/>
              </a:solidFill>
              <a:effectLst/>
              <a:latin typeface="Harding"/>
            </a:endParaRPr>
          </a:p>
          <a:p>
            <a:endParaRPr lang="en-US" b="0" i="0" dirty="0">
              <a:solidFill>
                <a:srgbClr val="222222"/>
              </a:solidFill>
              <a:effectLst/>
              <a:latin typeface="Harding"/>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i="0" dirty="0">
                <a:solidFill>
                  <a:srgbClr val="222222"/>
                </a:solidFill>
                <a:effectLst/>
                <a:latin typeface="-apple-system"/>
              </a:rPr>
              <a:t>【</a:t>
            </a:r>
            <a:r>
              <a:rPr lang="en-US" b="0" i="0" dirty="0">
                <a:solidFill>
                  <a:srgbClr val="222222"/>
                </a:solidFill>
                <a:effectLst/>
                <a:latin typeface="-apple-system"/>
              </a:rPr>
              <a:t>Identification of master regulators</a:t>
            </a:r>
            <a:r>
              <a:rPr lang="en-US" altLang="zh-TW" b="0" i="0" dirty="0">
                <a:solidFill>
                  <a:srgbClr val="222222"/>
                </a:solidFill>
                <a:effectLst/>
                <a:latin typeface="-apple-system"/>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solidFill>
                  <a:srgbClr val="222222"/>
                </a:solidFill>
                <a:effectLst/>
                <a:latin typeface="Harding"/>
              </a:rPr>
              <a:t>為了識別主控調節因子，我們考慮了每對轉錄因子模式和轉錄因子基因的細胞類型特異性以及它們之間的距離。具體而言，對於每個轉錄因子模式，首先在</a:t>
            </a:r>
            <a:r>
              <a:rPr lang="en-US" altLang="zh-TW" b="0" i="0" dirty="0">
                <a:solidFill>
                  <a:srgbClr val="222222"/>
                </a:solidFill>
                <a:effectLst/>
                <a:latin typeface="Harding"/>
              </a:rPr>
              <a:t>SIMBA</a:t>
            </a:r>
            <a:r>
              <a:rPr lang="zh-TW" altLang="en-US" b="0" i="0" dirty="0">
                <a:solidFill>
                  <a:srgbClr val="222222"/>
                </a:solidFill>
                <a:effectLst/>
                <a:latin typeface="Harding"/>
              </a:rPr>
              <a:t>嵌入空間中計算它與所有基因的距離（默認使用歐氏距離）。然後，計算該轉錄因子基因在所有這些基因中的排名。此外，我們還使用</a:t>
            </a:r>
            <a:r>
              <a:rPr lang="en-US" altLang="zh-TW" b="0" i="0" dirty="0">
                <a:solidFill>
                  <a:srgbClr val="222222"/>
                </a:solidFill>
                <a:effectLst/>
                <a:latin typeface="Harding"/>
              </a:rPr>
              <a:t>SIMBA</a:t>
            </a:r>
            <a:r>
              <a:rPr lang="zh-TW" altLang="en-US" b="0" i="0" dirty="0">
                <a:solidFill>
                  <a:srgbClr val="222222"/>
                </a:solidFill>
                <a:effectLst/>
                <a:latin typeface="Harding"/>
              </a:rPr>
              <a:t>指標（默認使用最大值和基尼指數）評估該對的細胞類型特異性。</a:t>
            </a:r>
            <a:endParaRPr lang="en-US" b="0" i="0" dirty="0">
              <a:solidFill>
                <a:srgbClr val="222222"/>
              </a:solidFill>
              <a:effectLst/>
              <a:latin typeface="-apple-system"/>
            </a:endParaRPr>
          </a:p>
          <a:p>
            <a:endParaRPr lang="en-US" b="1" dirty="0"/>
          </a:p>
        </p:txBody>
      </p:sp>
      <p:sp>
        <p:nvSpPr>
          <p:cNvPr id="4" name="Slide Number Placeholder 3"/>
          <p:cNvSpPr>
            <a:spLocks noGrp="1"/>
          </p:cNvSpPr>
          <p:nvPr>
            <p:ph type="sldNum" sz="quarter" idx="5"/>
          </p:nvPr>
        </p:nvSpPr>
        <p:spPr/>
        <p:txBody>
          <a:bodyPr/>
          <a:lstStyle/>
          <a:p>
            <a:fld id="{FBF5148F-E0CF-4A3E-922E-B1B7AB039E21}" type="slidenum">
              <a:rPr lang="en-US" smtClean="0"/>
              <a:t>30</a:t>
            </a:fld>
            <a:endParaRPr lang="en-US"/>
          </a:p>
        </p:txBody>
      </p:sp>
    </p:spTree>
    <p:extLst>
      <p:ext uri="{BB962C8B-B14F-4D97-AF65-F5344CB8AC3E}">
        <p14:creationId xmlns:p14="http://schemas.microsoft.com/office/powerpoint/2010/main" val="10670963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solidFill>
                  <a:srgbClr val="222222"/>
                </a:solidFill>
                <a:effectLst/>
                <a:latin typeface="Harding"/>
              </a:rPr>
              <a:t>兩個批次的小鼠組織圖譜數據集 </a:t>
            </a:r>
            <a:r>
              <a:rPr lang="en-US" altLang="zh-TW" b="0" i="0" dirty="0">
                <a:solidFill>
                  <a:srgbClr val="222222"/>
                </a:solidFill>
                <a:effectLst/>
                <a:latin typeface="Harding"/>
              </a:rPr>
              <a:t>(</a:t>
            </a:r>
            <a:r>
              <a:rPr lang="zh-TW" altLang="en-US" b="0" i="0" dirty="0">
                <a:solidFill>
                  <a:srgbClr val="222222"/>
                </a:solidFill>
                <a:effectLst/>
                <a:latin typeface="Harding"/>
              </a:rPr>
              <a:t>小鼠組織圖譜數據集包含來自不同测序平台的共享細胞類型的兩個單細胞</a:t>
            </a:r>
            <a:r>
              <a:rPr lang="en-US" altLang="zh-TW" b="0" i="0" dirty="0">
                <a:solidFill>
                  <a:srgbClr val="222222"/>
                </a:solidFill>
                <a:effectLst/>
                <a:latin typeface="Harding"/>
              </a:rPr>
              <a:t>RNA</a:t>
            </a:r>
            <a:r>
              <a:rPr lang="zh-TW" altLang="en-US" b="0" i="0" dirty="0">
                <a:solidFill>
                  <a:srgbClr val="222222"/>
                </a:solidFill>
                <a:effectLst/>
                <a:latin typeface="Harding"/>
              </a:rPr>
              <a:t>序列數據集</a:t>
            </a:r>
            <a:r>
              <a:rPr lang="en-US" altLang="zh-TW" b="0" i="0" dirty="0">
                <a:solidFill>
                  <a:srgbClr val="222222"/>
                </a:solidFill>
                <a:effectLst/>
                <a:latin typeface="Harding"/>
              </a:rPr>
              <a:t>)+</a:t>
            </a:r>
          </a:p>
          <a:p>
            <a:r>
              <a:rPr lang="zh-TW" altLang="en-US" b="0" i="0" dirty="0">
                <a:solidFill>
                  <a:srgbClr val="222222"/>
                </a:solidFill>
                <a:effectLst/>
                <a:latin typeface="Harding"/>
              </a:rPr>
              <a:t>五個批次的人類胰臟數據集 </a:t>
            </a:r>
            <a:r>
              <a:rPr lang="en-US" altLang="zh-TW" b="0" i="0" dirty="0">
                <a:solidFill>
                  <a:srgbClr val="222222"/>
                </a:solidFill>
                <a:effectLst/>
                <a:latin typeface="Harding"/>
              </a:rPr>
              <a:t>(</a:t>
            </a:r>
            <a:r>
              <a:rPr lang="zh-TW" altLang="en-US" b="0" i="0" dirty="0">
                <a:solidFill>
                  <a:srgbClr val="222222"/>
                </a:solidFill>
                <a:effectLst/>
                <a:latin typeface="Harding"/>
              </a:rPr>
              <a:t>人類胰臟數據集包含從五個來源中使用四種测序技術混合的五個樣本</a:t>
            </a:r>
            <a:r>
              <a:rPr lang="en-US" altLang="zh-TW" b="0" i="0" dirty="0">
                <a:solidFill>
                  <a:srgbClr val="222222"/>
                </a:solidFill>
                <a:effectLst/>
                <a:latin typeface="Harding"/>
              </a:rPr>
              <a:t>)</a:t>
            </a:r>
            <a:endParaRPr lang="en-US" altLang="zh-TW" dirty="0"/>
          </a:p>
        </p:txBody>
      </p:sp>
      <p:sp>
        <p:nvSpPr>
          <p:cNvPr id="4" name="Slide Number Placeholder 3"/>
          <p:cNvSpPr>
            <a:spLocks noGrp="1"/>
          </p:cNvSpPr>
          <p:nvPr>
            <p:ph type="sldNum" sz="quarter" idx="5"/>
          </p:nvPr>
        </p:nvSpPr>
        <p:spPr/>
        <p:txBody>
          <a:bodyPr/>
          <a:lstStyle/>
          <a:p>
            <a:fld id="{FBF5148F-E0CF-4A3E-922E-B1B7AB039E21}" type="slidenum">
              <a:rPr lang="en-US" smtClean="0"/>
              <a:t>31</a:t>
            </a:fld>
            <a:endParaRPr lang="en-US"/>
          </a:p>
        </p:txBody>
      </p:sp>
    </p:spTree>
    <p:extLst>
      <p:ext uri="{BB962C8B-B14F-4D97-AF65-F5344CB8AC3E}">
        <p14:creationId xmlns:p14="http://schemas.microsoft.com/office/powerpoint/2010/main" val="16197202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last, is </a:t>
            </a:r>
            <a:r>
              <a:rPr lang="en-US" sz="1200" dirty="0">
                <a:solidFill>
                  <a:schemeClr val="tx1"/>
                </a:solidFill>
              </a:rPr>
              <a:t>Multi-omics integration.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p>
            <a:r>
              <a:rPr lang="en-US" b="0" i="0" dirty="0">
                <a:solidFill>
                  <a:srgbClr val="374151"/>
                </a:solidFill>
                <a:effectLst/>
                <a:latin typeface="Söhne"/>
              </a:rPr>
              <a:t>The top figure presents the UMAP visualization before integration. </a:t>
            </a:r>
          </a:p>
          <a:p>
            <a:r>
              <a:rPr lang="en-US" b="0" i="0" dirty="0">
                <a:solidFill>
                  <a:srgbClr val="374151"/>
                </a:solidFill>
                <a:effectLst/>
                <a:latin typeface="Söhne"/>
              </a:rPr>
              <a:t>The bottom figure displays the UMAP visualization after integration using SIMBA.</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p:txBody>
      </p:sp>
      <p:sp>
        <p:nvSpPr>
          <p:cNvPr id="4" name="Slide Number Placeholder 3"/>
          <p:cNvSpPr>
            <a:spLocks noGrp="1"/>
          </p:cNvSpPr>
          <p:nvPr>
            <p:ph type="sldNum" sz="quarter" idx="5"/>
          </p:nvPr>
        </p:nvSpPr>
        <p:spPr/>
        <p:txBody>
          <a:bodyPr/>
          <a:lstStyle/>
          <a:p>
            <a:fld id="{FBF5148F-E0CF-4A3E-922E-B1B7AB039E21}" type="slidenum">
              <a:rPr lang="en-US" smtClean="0"/>
              <a:t>32</a:t>
            </a:fld>
            <a:endParaRPr lang="en-US"/>
          </a:p>
        </p:txBody>
      </p:sp>
    </p:spTree>
    <p:extLst>
      <p:ext uri="{BB962C8B-B14F-4D97-AF65-F5344CB8AC3E}">
        <p14:creationId xmlns:p14="http://schemas.microsoft.com/office/powerpoint/2010/main" val="35034757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Before we dive into the discussion, I'd like to make a declaration. Due to time constraints, there are many mathematical concepts and details behind SIMBA that I have not mentioned. If anyone is interested, you can just come to seek me out for further discussion</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33</a:t>
            </a:fld>
            <a:endParaRPr lang="en-US"/>
          </a:p>
        </p:txBody>
      </p:sp>
    </p:spTree>
    <p:extLst>
      <p:ext uri="{BB962C8B-B14F-4D97-AF65-F5344CB8AC3E}">
        <p14:creationId xmlns:p14="http://schemas.microsoft.com/office/powerpoint/2010/main" val="36347605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In the discussion, SIMBA believes it has successfully accomplished two things. First, through SIMBA, we can clearly differentiate various cell types. Secondly, it allows us to understand the regulatory mechanisms among genes, transcription, and chromatin factors within a single cell.</a:t>
            </a:r>
          </a:p>
          <a:p>
            <a:endParaRPr lang="en-US" b="0" i="0" dirty="0">
              <a:solidFill>
                <a:srgbClr val="374151"/>
              </a:solidFill>
              <a:effectLst/>
              <a:latin typeface="Söhne"/>
            </a:endParaRPr>
          </a:p>
          <a:p>
            <a:r>
              <a:rPr lang="en-US" b="0" i="0" dirty="0">
                <a:solidFill>
                  <a:srgbClr val="374151"/>
                </a:solidFill>
                <a:effectLst/>
                <a:latin typeface="Söhne"/>
              </a:rPr>
              <a:t>However, is there a chance to incorporate more variables in the future?</a:t>
            </a:r>
          </a:p>
          <a:p>
            <a:r>
              <a:rPr lang="en-US" b="0" i="0" dirty="0">
                <a:solidFill>
                  <a:srgbClr val="374151"/>
                </a:solidFill>
                <a:effectLst/>
                <a:latin typeface="Söhne"/>
              </a:rPr>
              <a:t>For instance, time points, or some interfering factors</a:t>
            </a:r>
            <a:r>
              <a:rPr lang="zh-TW" altLang="en-US" b="0" i="0" dirty="0">
                <a:solidFill>
                  <a:srgbClr val="374151"/>
                </a:solidFill>
                <a:effectLst/>
                <a:latin typeface="Söhne"/>
              </a:rPr>
              <a:t>？</a:t>
            </a:r>
            <a:endParaRPr lang="en-US" altLang="zh-TW" b="0" i="0" dirty="0">
              <a:solidFill>
                <a:srgbClr val="374151"/>
              </a:solidFill>
              <a:effectLst/>
              <a:latin typeface="Söhne"/>
            </a:endParaRPr>
          </a:p>
          <a:p>
            <a:endParaRPr lang="en-US" b="0" i="0" dirty="0">
              <a:solidFill>
                <a:srgbClr val="374151"/>
              </a:solidFill>
              <a:effectLst/>
              <a:latin typeface="Söhne"/>
            </a:endParaRPr>
          </a:p>
          <a:p>
            <a:r>
              <a:rPr lang="en-US" b="0" i="0" dirty="0">
                <a:solidFill>
                  <a:srgbClr val="374151"/>
                </a:solidFill>
                <a:effectLst/>
                <a:latin typeface="Söhne"/>
              </a:rPr>
              <a:t>Indeed, with each additional variable, we are essentially adding another dimension to the data, which may complicate the analysis significantly. However, it‘s a matter worth considering</a:t>
            </a:r>
            <a:r>
              <a:rPr lang="zh-TW" altLang="en-US" b="0" i="0" dirty="0">
                <a:solidFill>
                  <a:srgbClr val="374151"/>
                </a:solidFill>
                <a:effectLst/>
                <a:latin typeface="Söhne"/>
              </a:rPr>
              <a:t> </a:t>
            </a:r>
            <a:r>
              <a:rPr lang="en-US" altLang="zh-TW" b="0" i="0" dirty="0">
                <a:solidFill>
                  <a:srgbClr val="374151"/>
                </a:solidFill>
                <a:effectLst/>
                <a:latin typeface="Söhne"/>
              </a:rPr>
              <a:t>for everyone. </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34</a:t>
            </a:fld>
            <a:endParaRPr lang="en-US"/>
          </a:p>
        </p:txBody>
      </p:sp>
    </p:spTree>
    <p:extLst>
      <p:ext uri="{BB962C8B-B14F-4D97-AF65-F5344CB8AC3E}">
        <p14:creationId xmlns:p14="http://schemas.microsoft.com/office/powerpoint/2010/main" val="36897984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your listening, this is the end of my presentation. Do you guys have any question?</a:t>
            </a:r>
          </a:p>
        </p:txBody>
      </p:sp>
      <p:sp>
        <p:nvSpPr>
          <p:cNvPr id="4" name="Slide Number Placeholder 3"/>
          <p:cNvSpPr>
            <a:spLocks noGrp="1"/>
          </p:cNvSpPr>
          <p:nvPr>
            <p:ph type="sldNum" sz="quarter" idx="5"/>
          </p:nvPr>
        </p:nvSpPr>
        <p:spPr/>
        <p:txBody>
          <a:bodyPr/>
          <a:lstStyle/>
          <a:p>
            <a:fld id="{FBF5148F-E0CF-4A3E-922E-B1B7AB039E21}" type="slidenum">
              <a:rPr lang="en-US" smtClean="0"/>
              <a:t>35</a:t>
            </a:fld>
            <a:endParaRPr lang="en-US"/>
          </a:p>
        </p:txBody>
      </p:sp>
    </p:spTree>
    <p:extLst>
      <p:ext uri="{BB962C8B-B14F-4D97-AF65-F5344CB8AC3E}">
        <p14:creationId xmlns:p14="http://schemas.microsoft.com/office/powerpoint/2010/main" val="28111627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36</a:t>
            </a:fld>
            <a:endParaRPr lang="en-US"/>
          </a:p>
        </p:txBody>
      </p:sp>
    </p:spTree>
    <p:extLst>
      <p:ext uri="{BB962C8B-B14F-4D97-AF65-F5344CB8AC3E}">
        <p14:creationId xmlns:p14="http://schemas.microsoft.com/office/powerpoint/2010/main" val="41873802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solidFill>
                  <a:srgbClr val="222222"/>
                </a:solidFill>
                <a:effectLst/>
                <a:latin typeface="Harding"/>
              </a:rPr>
              <a:t>八個單細胞</a:t>
            </a:r>
            <a:r>
              <a:rPr lang="en-US" altLang="zh-TW" b="0" i="0" dirty="0">
                <a:solidFill>
                  <a:srgbClr val="222222"/>
                </a:solidFill>
                <a:effectLst/>
                <a:latin typeface="Harding"/>
              </a:rPr>
              <a:t>RNA</a:t>
            </a:r>
            <a:r>
              <a:rPr lang="zh-TW" altLang="en-US" b="0" i="0" dirty="0">
                <a:solidFill>
                  <a:srgbClr val="222222"/>
                </a:solidFill>
                <a:effectLst/>
                <a:latin typeface="Harding"/>
              </a:rPr>
              <a:t>序列數據集、四個單細胞</a:t>
            </a:r>
            <a:r>
              <a:rPr lang="en-US" altLang="zh-TW" b="0" i="0" dirty="0">
                <a:solidFill>
                  <a:srgbClr val="222222"/>
                </a:solidFill>
                <a:effectLst/>
                <a:latin typeface="Harding"/>
              </a:rPr>
              <a:t>ATAC</a:t>
            </a:r>
            <a:r>
              <a:rPr lang="zh-TW" altLang="en-US" b="0" i="0" dirty="0">
                <a:solidFill>
                  <a:srgbClr val="222222"/>
                </a:solidFill>
                <a:effectLst/>
                <a:latin typeface="Harding"/>
              </a:rPr>
              <a:t>序列數據集和三個雙組學數據集</a:t>
            </a:r>
            <a:endParaRPr lang="en-US" dirty="0"/>
          </a:p>
        </p:txBody>
      </p:sp>
      <p:sp>
        <p:nvSpPr>
          <p:cNvPr id="4" name="Slide Number Placeholder 3"/>
          <p:cNvSpPr>
            <a:spLocks noGrp="1"/>
          </p:cNvSpPr>
          <p:nvPr>
            <p:ph type="sldNum" sz="quarter" idx="5"/>
          </p:nvPr>
        </p:nvSpPr>
        <p:spPr/>
        <p:txBody>
          <a:bodyPr/>
          <a:lstStyle/>
          <a:p>
            <a:fld id="{730E65B1-1032-4944-9DDC-977790F00C48}" type="slidenum">
              <a:rPr lang="en-US" smtClean="0"/>
              <a:t>37</a:t>
            </a:fld>
            <a:endParaRPr lang="en-US"/>
          </a:p>
        </p:txBody>
      </p:sp>
    </p:spTree>
    <p:extLst>
      <p:ext uri="{BB962C8B-B14F-4D97-AF65-F5344CB8AC3E}">
        <p14:creationId xmlns:p14="http://schemas.microsoft.com/office/powerpoint/2010/main" val="18323760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70000"/>
              </a:lnSpc>
            </a:pPr>
            <a:r>
              <a:rPr lang="zh-TW" altLang="en-US" b="0" i="0" dirty="0">
                <a:solidFill>
                  <a:srgbClr val="0F0F0F"/>
                </a:solidFill>
                <a:effectLst/>
                <a:latin typeface="Söhne"/>
              </a:rPr>
              <a:t>無需節點特徵化：</a:t>
            </a:r>
            <a:r>
              <a:rPr lang="en-US" altLang="zh-TW" b="0" i="0" dirty="0">
                <a:solidFill>
                  <a:srgbClr val="0F0F0F"/>
                </a:solidFill>
                <a:effectLst/>
                <a:latin typeface="Söhne"/>
              </a:rPr>
              <a:t>SIMBA</a:t>
            </a:r>
            <a:r>
              <a:rPr lang="zh-TW" altLang="en-US" b="0" i="0" dirty="0">
                <a:solidFill>
                  <a:srgbClr val="0F0F0F"/>
                </a:solidFill>
                <a:effectLst/>
                <a:latin typeface="Söhne"/>
              </a:rPr>
              <a:t>不需要節點特徵化或任何特定的轉換。</a:t>
            </a:r>
          </a:p>
          <a:p>
            <a:pPr>
              <a:lnSpc>
                <a:spcPct val="170000"/>
              </a:lnSpc>
            </a:pPr>
            <a:endParaRPr lang="zh-TW" altLang="en-US" b="0" i="0" dirty="0">
              <a:solidFill>
                <a:srgbClr val="0F0F0F"/>
              </a:solidFill>
              <a:effectLst/>
              <a:latin typeface="Söhne"/>
            </a:endParaRPr>
          </a:p>
          <a:p>
            <a:pPr>
              <a:lnSpc>
                <a:spcPct val="170000"/>
              </a:lnSpc>
            </a:pPr>
            <a:r>
              <a:rPr lang="zh-TW" altLang="en-US" b="0" i="0" dirty="0">
                <a:solidFill>
                  <a:srgbClr val="0F0F0F"/>
                </a:solidFill>
                <a:effectLst/>
                <a:latin typeface="Söhne"/>
              </a:rPr>
              <a:t>共嵌入：</a:t>
            </a:r>
            <a:r>
              <a:rPr lang="en-US" altLang="zh-TW" b="0" i="0" dirty="0">
                <a:solidFill>
                  <a:srgbClr val="0F0F0F"/>
                </a:solidFill>
                <a:effectLst/>
                <a:latin typeface="Söhne"/>
              </a:rPr>
              <a:t>SIMBA</a:t>
            </a:r>
            <a:r>
              <a:rPr lang="zh-TW" altLang="en-US" b="0" i="0" dirty="0">
                <a:solidFill>
                  <a:srgbClr val="0F0F0F"/>
                </a:solidFill>
                <a:effectLst/>
                <a:latin typeface="Söhne"/>
              </a:rPr>
              <a:t>能夠將細胞和特徵共同嵌入到一個空間中，從而提供一個直觀的界面，用於推斷生物學上有意義的信息，例如標誌基因、調節因子或細胞回路。</a:t>
            </a:r>
          </a:p>
          <a:p>
            <a:pPr>
              <a:lnSpc>
                <a:spcPct val="170000"/>
              </a:lnSpc>
            </a:pPr>
            <a:endParaRPr lang="zh-TW" altLang="en-US" b="0" i="0" dirty="0">
              <a:solidFill>
                <a:srgbClr val="0F0F0F"/>
              </a:solidFill>
              <a:effectLst/>
              <a:latin typeface="Söhne"/>
            </a:endParaRPr>
          </a:p>
          <a:p>
            <a:pPr>
              <a:lnSpc>
                <a:spcPct val="170000"/>
              </a:lnSpc>
            </a:pPr>
            <a:r>
              <a:rPr lang="zh-TW" altLang="en-US" b="0" i="0" dirty="0">
                <a:solidFill>
                  <a:srgbClr val="0F0F0F"/>
                </a:solidFill>
                <a:effectLst/>
                <a:latin typeface="Söhne"/>
              </a:rPr>
              <a:t>通用性：雖然</a:t>
            </a:r>
            <a:r>
              <a:rPr lang="en-US" altLang="zh-TW" b="0" i="0" dirty="0">
                <a:solidFill>
                  <a:srgbClr val="0F0F0F"/>
                </a:solidFill>
                <a:effectLst/>
                <a:latin typeface="Söhne"/>
              </a:rPr>
              <a:t>SIMBA</a:t>
            </a:r>
            <a:r>
              <a:rPr lang="zh-TW" altLang="en-US" b="0" i="0" dirty="0">
                <a:solidFill>
                  <a:srgbClr val="0F0F0F"/>
                </a:solidFill>
                <a:effectLst/>
                <a:latin typeface="Söhne"/>
              </a:rPr>
              <a:t>不是專門針對任何特定的單細胞分析任務而設計，但它在性能上可以比肩或超越專門為特定任務設計的現有最先進的方法。</a:t>
            </a:r>
          </a:p>
          <a:p>
            <a:pPr>
              <a:lnSpc>
                <a:spcPct val="170000"/>
              </a:lnSpc>
            </a:pPr>
            <a:endParaRPr lang="zh-TW" altLang="en-US" b="0" i="0" dirty="0">
              <a:solidFill>
                <a:srgbClr val="0F0F0F"/>
              </a:solidFill>
              <a:effectLst/>
              <a:latin typeface="Söhne"/>
            </a:endParaRPr>
          </a:p>
          <a:p>
            <a:pPr>
              <a:lnSpc>
                <a:spcPct val="170000"/>
              </a:lnSpc>
            </a:pPr>
            <a:r>
              <a:rPr lang="zh-TW" altLang="en-US" b="0" i="0" dirty="0">
                <a:solidFill>
                  <a:srgbClr val="0F0F0F"/>
                </a:solidFill>
                <a:effectLst/>
                <a:latin typeface="Söhne"/>
              </a:rPr>
              <a:t>易於使用的 </a:t>
            </a:r>
            <a:r>
              <a:rPr lang="en-US" altLang="zh-TW" b="0" i="0" dirty="0">
                <a:solidFill>
                  <a:srgbClr val="0F0F0F"/>
                </a:solidFill>
                <a:effectLst/>
                <a:latin typeface="Söhne"/>
              </a:rPr>
              <a:t>Python </a:t>
            </a:r>
            <a:r>
              <a:rPr lang="zh-TW" altLang="en-US" b="0" i="0" dirty="0">
                <a:solidFill>
                  <a:srgbClr val="0F0F0F"/>
                </a:solidFill>
                <a:effectLst/>
                <a:latin typeface="Söhne"/>
              </a:rPr>
              <a:t>包：</a:t>
            </a:r>
            <a:r>
              <a:rPr lang="en-US" altLang="zh-TW" b="0" i="0" dirty="0">
                <a:solidFill>
                  <a:srgbClr val="0F0F0F"/>
                </a:solidFill>
                <a:effectLst/>
                <a:latin typeface="Söhne"/>
              </a:rPr>
              <a:t>SIMBA </a:t>
            </a:r>
            <a:r>
              <a:rPr lang="zh-TW" altLang="en-US" b="0" i="0" dirty="0">
                <a:solidFill>
                  <a:srgbClr val="0F0F0F"/>
                </a:solidFill>
                <a:effectLst/>
                <a:latin typeface="Söhne"/>
              </a:rPr>
              <a:t>已經作為一個高品質、全面且有良好文檔的 </a:t>
            </a:r>
            <a:r>
              <a:rPr lang="en-US" altLang="zh-TW" b="0" i="0" dirty="0">
                <a:solidFill>
                  <a:srgbClr val="0F0F0F"/>
                </a:solidFill>
                <a:effectLst/>
                <a:latin typeface="Söhne"/>
              </a:rPr>
              <a:t>Python </a:t>
            </a:r>
            <a:r>
              <a:rPr lang="zh-TW" altLang="en-US" b="0" i="0" dirty="0">
                <a:solidFill>
                  <a:srgbClr val="0F0F0F"/>
                </a:solidFill>
                <a:effectLst/>
                <a:latin typeface="Söhne"/>
              </a:rPr>
              <a:t>包實現，它建立在 </a:t>
            </a:r>
            <a:r>
              <a:rPr lang="en-US" altLang="zh-TW" b="0" i="0" dirty="0" err="1">
                <a:solidFill>
                  <a:srgbClr val="0F0F0F"/>
                </a:solidFill>
                <a:effectLst/>
                <a:latin typeface="Söhne"/>
              </a:rPr>
              <a:t>Anndata</a:t>
            </a:r>
            <a:r>
              <a:rPr lang="en-US" altLang="zh-TW" b="0" i="0" dirty="0">
                <a:solidFill>
                  <a:srgbClr val="0F0F0F"/>
                </a:solidFill>
                <a:effectLst/>
                <a:latin typeface="Söhne"/>
              </a:rPr>
              <a:t> </a:t>
            </a:r>
            <a:r>
              <a:rPr lang="zh-TW" altLang="en-US" b="0" i="0" dirty="0">
                <a:solidFill>
                  <a:srgbClr val="0F0F0F"/>
                </a:solidFill>
                <a:effectLst/>
                <a:latin typeface="Söhne"/>
              </a:rPr>
              <a:t>結構之上，與 </a:t>
            </a:r>
            <a:r>
              <a:rPr lang="en-US" altLang="zh-TW" b="0" i="0" dirty="0" err="1">
                <a:solidFill>
                  <a:srgbClr val="0F0F0F"/>
                </a:solidFill>
                <a:effectLst/>
                <a:latin typeface="Söhne"/>
              </a:rPr>
              <a:t>Scanpy</a:t>
            </a:r>
            <a:r>
              <a:rPr lang="en-US" altLang="zh-TW" b="0" i="0" dirty="0">
                <a:solidFill>
                  <a:srgbClr val="0F0F0F"/>
                </a:solidFill>
                <a:effectLst/>
                <a:latin typeface="Söhne"/>
              </a:rPr>
              <a:t> </a:t>
            </a:r>
            <a:r>
              <a:rPr lang="zh-TW" altLang="en-US" b="0" i="0" dirty="0">
                <a:solidFill>
                  <a:srgbClr val="0F0F0F"/>
                </a:solidFill>
                <a:effectLst/>
                <a:latin typeface="Söhne"/>
              </a:rPr>
              <a:t>兼容，後者是最廣泛使用的基於</a:t>
            </a:r>
            <a:r>
              <a:rPr lang="en-US" altLang="zh-TW" b="0" i="0" dirty="0">
                <a:solidFill>
                  <a:srgbClr val="0F0F0F"/>
                </a:solidFill>
                <a:effectLst/>
                <a:latin typeface="Söhne"/>
              </a:rPr>
              <a:t>Python</a:t>
            </a:r>
            <a:r>
              <a:rPr lang="zh-TW" altLang="en-US" b="0" i="0" dirty="0">
                <a:solidFill>
                  <a:srgbClr val="0F0F0F"/>
                </a:solidFill>
                <a:effectLst/>
                <a:latin typeface="Söhne"/>
              </a:rPr>
              <a:t>的單細胞分析框架。這使得</a:t>
            </a:r>
            <a:r>
              <a:rPr lang="en-US" altLang="zh-TW" b="0" i="0" dirty="0">
                <a:solidFill>
                  <a:srgbClr val="0F0F0F"/>
                </a:solidFill>
                <a:effectLst/>
                <a:latin typeface="Söhne"/>
              </a:rPr>
              <a:t>SIMBA</a:t>
            </a:r>
            <a:r>
              <a:rPr lang="zh-TW" altLang="en-US" b="0" i="0" dirty="0">
                <a:solidFill>
                  <a:srgbClr val="0F0F0F"/>
                </a:solidFill>
                <a:effectLst/>
                <a:latin typeface="Söhne"/>
              </a:rPr>
              <a:t>容易被廣泛的用戶所使用</a:t>
            </a:r>
            <a:endParaRPr lang="en-US" dirty="0"/>
          </a:p>
          <a:p>
            <a:pPr algn="l">
              <a:buFont typeface="+mj-lt"/>
              <a:buNone/>
            </a:pPr>
            <a:endParaRPr lang="en-US" altLang="zh-TW" b="1" i="0" dirty="0">
              <a:effectLst/>
              <a:latin typeface="Söhne"/>
            </a:endParaRPr>
          </a:p>
          <a:p>
            <a:pPr algn="l">
              <a:buFont typeface="+mj-lt"/>
              <a:buAutoNum type="arabicPeriod"/>
            </a:pPr>
            <a:endParaRPr lang="en-US" altLang="zh-TW" b="1" i="0" dirty="0">
              <a:effectLst/>
              <a:latin typeface="Söhne"/>
            </a:endParaRPr>
          </a:p>
          <a:p>
            <a:pPr algn="l">
              <a:buFont typeface="+mj-lt"/>
              <a:buAutoNum type="arabicPeriod"/>
            </a:pPr>
            <a:r>
              <a:rPr lang="en-US" altLang="zh-TW" b="1" i="0" dirty="0">
                <a:effectLst/>
                <a:latin typeface="Söhne"/>
              </a:rPr>
              <a:t> GLUE</a:t>
            </a:r>
            <a:r>
              <a:rPr lang="zh-TW" altLang="en-US" b="0" i="0" dirty="0">
                <a:effectLst/>
                <a:latin typeface="Söhne"/>
              </a:rPr>
              <a:t>：用於未配對的單細胞多組學數據整合，採用變分自編碼器（</a:t>
            </a:r>
            <a:r>
              <a:rPr lang="en-US" altLang="zh-TW" b="0" i="0" dirty="0">
                <a:effectLst/>
                <a:latin typeface="Söhne"/>
              </a:rPr>
              <a:t>VAE</a:t>
            </a:r>
            <a:r>
              <a:rPr lang="zh-TW" altLang="en-US" b="0" i="0" dirty="0">
                <a:effectLst/>
                <a:latin typeface="Söhne"/>
              </a:rPr>
              <a:t>）將細胞嵌入到低維空間。但是，</a:t>
            </a:r>
            <a:r>
              <a:rPr lang="en-US" altLang="zh-TW" b="0" i="0" dirty="0">
                <a:effectLst/>
                <a:latin typeface="Söhne"/>
              </a:rPr>
              <a:t>GLUE</a:t>
            </a:r>
            <a:r>
              <a:rPr lang="zh-TW" altLang="en-US" b="0" i="0" dirty="0">
                <a:effectLst/>
                <a:latin typeface="Söhne"/>
              </a:rPr>
              <a:t>的嵌入結果不具可比性，且只適用於特定的多模態分析。</a:t>
            </a:r>
          </a:p>
          <a:p>
            <a:pPr algn="l">
              <a:buFont typeface="+mj-lt"/>
              <a:buAutoNum type="arabicPeriod"/>
            </a:pPr>
            <a:r>
              <a:rPr lang="en-US" altLang="zh-TW" b="1" i="0" dirty="0">
                <a:effectLst/>
                <a:latin typeface="Söhne"/>
              </a:rPr>
              <a:t> </a:t>
            </a:r>
            <a:r>
              <a:rPr lang="en-US" altLang="zh-TW" b="1" i="0" dirty="0" err="1">
                <a:effectLst/>
                <a:latin typeface="Söhne"/>
              </a:rPr>
              <a:t>Metacell</a:t>
            </a:r>
            <a:r>
              <a:rPr lang="zh-TW" altLang="en-US" b="0" i="0" dirty="0">
                <a:effectLst/>
                <a:latin typeface="Söhne"/>
              </a:rPr>
              <a:t>：一種 </a:t>
            </a:r>
            <a:r>
              <a:rPr lang="en-US" altLang="zh-TW" b="0" i="0" dirty="0" err="1">
                <a:effectLst/>
                <a:latin typeface="Söhne"/>
              </a:rPr>
              <a:t>scRNA</a:t>
            </a:r>
            <a:r>
              <a:rPr lang="en-US" altLang="zh-TW" b="0" i="0" dirty="0">
                <a:effectLst/>
                <a:latin typeface="Söhne"/>
              </a:rPr>
              <a:t>-seq </a:t>
            </a:r>
            <a:r>
              <a:rPr lang="zh-TW" altLang="en-US" b="0" i="0" dirty="0">
                <a:effectLst/>
                <a:latin typeface="Söhne"/>
              </a:rPr>
              <a:t>分析方法，通過</a:t>
            </a:r>
            <a:r>
              <a:rPr lang="en-US" altLang="zh-TW" b="0" i="0" dirty="0">
                <a:effectLst/>
                <a:latin typeface="Söhne"/>
              </a:rPr>
              <a:t>k</a:t>
            </a:r>
            <a:r>
              <a:rPr lang="zh-TW" altLang="en-US" b="0" i="0" dirty="0">
                <a:effectLst/>
                <a:latin typeface="Söhne"/>
              </a:rPr>
              <a:t>近鄰（</a:t>
            </a:r>
            <a:r>
              <a:rPr lang="en-US" altLang="zh-TW" b="0" i="0" dirty="0" err="1">
                <a:effectLst/>
                <a:latin typeface="Söhne"/>
              </a:rPr>
              <a:t>kNN</a:t>
            </a:r>
            <a:r>
              <a:rPr lang="zh-TW" altLang="en-US" b="0" i="0" dirty="0">
                <a:effectLst/>
                <a:latin typeface="Söhne"/>
              </a:rPr>
              <a:t>）圖和節點特徵化將相似細胞合併成“超細胞”。這種方法僅適用於</a:t>
            </a:r>
            <a:r>
              <a:rPr lang="en-US" altLang="zh-TW" b="0" i="0" dirty="0" err="1">
                <a:effectLst/>
                <a:latin typeface="Söhne"/>
              </a:rPr>
              <a:t>scRNA</a:t>
            </a:r>
            <a:r>
              <a:rPr lang="en-US" altLang="zh-TW" b="0" i="0" dirty="0">
                <a:effectLst/>
                <a:latin typeface="Söhne"/>
              </a:rPr>
              <a:t>-seq</a:t>
            </a:r>
            <a:r>
              <a:rPr lang="zh-TW" altLang="en-US" b="0" i="0" dirty="0">
                <a:effectLst/>
                <a:latin typeface="Söhne"/>
              </a:rPr>
              <a:t>數據，嵌入結果也僅包含細胞。</a:t>
            </a:r>
          </a:p>
          <a:p>
            <a:pPr algn="l">
              <a:buFont typeface="+mj-lt"/>
              <a:buAutoNum type="arabicPeriod"/>
            </a:pPr>
            <a:r>
              <a:rPr lang="en-US" altLang="zh-TW" b="1" i="0" dirty="0">
                <a:effectLst/>
                <a:latin typeface="Söhne"/>
              </a:rPr>
              <a:t> </a:t>
            </a:r>
            <a:r>
              <a:rPr lang="en-US" altLang="zh-TW" b="1" i="0" dirty="0" err="1">
                <a:effectLst/>
                <a:latin typeface="Söhne"/>
              </a:rPr>
              <a:t>scETM</a:t>
            </a:r>
            <a:r>
              <a:rPr lang="zh-TW" altLang="en-US" b="0" i="0" dirty="0">
                <a:effectLst/>
                <a:latin typeface="Söhne"/>
              </a:rPr>
              <a:t>：一個生成主題模型，用於整合 </a:t>
            </a:r>
            <a:r>
              <a:rPr lang="en-US" altLang="zh-TW" b="0" i="0" dirty="0" err="1">
                <a:effectLst/>
                <a:latin typeface="Söhne"/>
              </a:rPr>
              <a:t>scRNA</a:t>
            </a:r>
            <a:r>
              <a:rPr lang="en-US" altLang="zh-TW" b="0" i="0" dirty="0">
                <a:effectLst/>
                <a:latin typeface="Söhne"/>
              </a:rPr>
              <a:t>-seq </a:t>
            </a:r>
            <a:r>
              <a:rPr lang="zh-TW" altLang="en-US" b="0" i="0" dirty="0">
                <a:effectLst/>
                <a:latin typeface="Söhne"/>
              </a:rPr>
              <a:t>數據的分析。它通過 </a:t>
            </a:r>
            <a:r>
              <a:rPr lang="en-US" altLang="zh-TW" b="0" i="0" dirty="0">
                <a:effectLst/>
                <a:latin typeface="Söhne"/>
              </a:rPr>
              <a:t>VAE </a:t>
            </a:r>
            <a:r>
              <a:rPr lang="zh-TW" altLang="en-US" b="0" i="0" dirty="0">
                <a:effectLst/>
                <a:latin typeface="Söhne"/>
              </a:rPr>
              <a:t>學習細胞和基因的嵌入，但其結果同樣不具可比性，且只適用於 </a:t>
            </a:r>
            <a:r>
              <a:rPr lang="en-US" altLang="zh-TW" b="0" i="0" dirty="0" err="1">
                <a:effectLst/>
                <a:latin typeface="Söhne"/>
              </a:rPr>
              <a:t>scRNA</a:t>
            </a:r>
            <a:r>
              <a:rPr lang="en-US" altLang="zh-TW" b="0" i="0" dirty="0">
                <a:effectLst/>
                <a:latin typeface="Söhne"/>
              </a:rPr>
              <a:t>-seq </a:t>
            </a:r>
            <a:r>
              <a:rPr lang="zh-TW" altLang="en-US" b="0" i="0" dirty="0">
                <a:effectLst/>
                <a:latin typeface="Söhne"/>
              </a:rPr>
              <a:t>數據。</a:t>
            </a:r>
          </a:p>
          <a:p>
            <a:pPr algn="l">
              <a:buFont typeface="+mj-lt"/>
              <a:buAutoNum type="arabicPeriod"/>
            </a:pPr>
            <a:r>
              <a:rPr lang="en-US" altLang="zh-TW" b="1" i="0" dirty="0">
                <a:effectLst/>
                <a:latin typeface="Söhne"/>
              </a:rPr>
              <a:t> </a:t>
            </a:r>
            <a:r>
              <a:rPr lang="en-US" altLang="zh-TW" b="1" i="0" dirty="0" err="1">
                <a:effectLst/>
                <a:latin typeface="Söhne"/>
              </a:rPr>
              <a:t>CellSpace</a:t>
            </a:r>
            <a:r>
              <a:rPr lang="zh-TW" altLang="en-US" b="0" i="0" dirty="0">
                <a:effectLst/>
                <a:latin typeface="Söhne"/>
              </a:rPr>
              <a:t>：基於 </a:t>
            </a:r>
            <a:r>
              <a:rPr lang="en-US" altLang="zh-TW" b="0" i="0" dirty="0" err="1">
                <a:effectLst/>
                <a:latin typeface="Söhne"/>
              </a:rPr>
              <a:t>TagSpace</a:t>
            </a:r>
            <a:r>
              <a:rPr lang="en-US" altLang="zh-TW" b="0" i="0" dirty="0">
                <a:effectLst/>
                <a:latin typeface="Söhne"/>
              </a:rPr>
              <a:t> </a:t>
            </a:r>
            <a:r>
              <a:rPr lang="zh-TW" altLang="en-US" b="0" i="0" dirty="0">
                <a:effectLst/>
                <a:latin typeface="Söhne"/>
              </a:rPr>
              <a:t>的 </a:t>
            </a:r>
            <a:r>
              <a:rPr lang="en-US" altLang="zh-TW" b="0" i="0" dirty="0" err="1">
                <a:effectLst/>
                <a:latin typeface="Söhne"/>
              </a:rPr>
              <a:t>scATAC</a:t>
            </a:r>
            <a:r>
              <a:rPr lang="en-US" altLang="zh-TW" b="0" i="0" dirty="0">
                <a:effectLst/>
                <a:latin typeface="Söhne"/>
              </a:rPr>
              <a:t>-seq </a:t>
            </a:r>
            <a:r>
              <a:rPr lang="zh-TW" altLang="en-US" b="0" i="0" dirty="0">
                <a:effectLst/>
                <a:latin typeface="Söhne"/>
              </a:rPr>
              <a:t>數據嵌入方法，將採樣的</a:t>
            </a:r>
            <a:r>
              <a:rPr lang="en-US" altLang="zh-TW" b="0" i="0" dirty="0">
                <a:effectLst/>
                <a:latin typeface="Söhne"/>
              </a:rPr>
              <a:t>DNA</a:t>
            </a:r>
            <a:r>
              <a:rPr lang="zh-TW" altLang="en-US" b="0" i="0" dirty="0">
                <a:effectLst/>
                <a:latin typeface="Söhne"/>
              </a:rPr>
              <a:t>序列表示為句子，</a:t>
            </a:r>
            <a:r>
              <a:rPr lang="en-US" altLang="zh-TW" b="0" i="0" dirty="0">
                <a:effectLst/>
                <a:latin typeface="Söhne"/>
              </a:rPr>
              <a:t>k-</a:t>
            </a:r>
            <a:r>
              <a:rPr lang="en-US" altLang="zh-TW" b="0" i="0" dirty="0" err="1">
                <a:effectLst/>
                <a:latin typeface="Söhne"/>
              </a:rPr>
              <a:t>mer</a:t>
            </a:r>
            <a:r>
              <a:rPr lang="zh-TW" altLang="en-US" b="0" i="0" dirty="0">
                <a:effectLst/>
                <a:latin typeface="Söhne"/>
              </a:rPr>
              <a:t>作為單詞，細胞表示為標籤。它專為 </a:t>
            </a:r>
            <a:r>
              <a:rPr lang="en-US" altLang="zh-TW" b="0" i="0" dirty="0" err="1">
                <a:effectLst/>
                <a:latin typeface="Söhne"/>
              </a:rPr>
              <a:t>scATAC</a:t>
            </a:r>
            <a:r>
              <a:rPr lang="en-US" altLang="zh-TW" b="0" i="0" dirty="0">
                <a:effectLst/>
                <a:latin typeface="Söhne"/>
              </a:rPr>
              <a:t>-seq </a:t>
            </a:r>
            <a:r>
              <a:rPr lang="zh-TW" altLang="en-US" b="0" i="0" dirty="0">
                <a:effectLst/>
                <a:latin typeface="Söhne"/>
              </a:rPr>
              <a:t>數據設計，嵌入結果包含細胞和單一類型的特徵（即</a:t>
            </a:r>
            <a:r>
              <a:rPr lang="en-US" altLang="zh-TW" b="0" i="0" dirty="0">
                <a:effectLst/>
                <a:latin typeface="Söhne"/>
              </a:rPr>
              <a:t>DNA</a:t>
            </a:r>
            <a:r>
              <a:rPr lang="zh-TW" altLang="en-US" b="0" i="0" dirty="0">
                <a:effectLst/>
                <a:latin typeface="Söhne"/>
              </a:rPr>
              <a:t>序列）。</a:t>
            </a:r>
          </a:p>
          <a:p>
            <a:pPr algn="l">
              <a:buFont typeface="+mj-lt"/>
              <a:buAutoNum type="arabicPeriod"/>
            </a:pPr>
            <a:r>
              <a:rPr lang="en-US" altLang="zh-TW" b="1" i="0" dirty="0">
                <a:effectLst/>
                <a:latin typeface="Söhne"/>
              </a:rPr>
              <a:t> MIRA</a:t>
            </a:r>
            <a:r>
              <a:rPr lang="zh-TW" altLang="en-US" b="0" i="0" dirty="0">
                <a:effectLst/>
                <a:latin typeface="Söhne"/>
              </a:rPr>
              <a:t>：一種多模態分析方法，它也使用 </a:t>
            </a:r>
            <a:r>
              <a:rPr lang="en-US" altLang="zh-TW" b="0" i="0" dirty="0">
                <a:effectLst/>
                <a:latin typeface="Söhne"/>
              </a:rPr>
              <a:t>VAE </a:t>
            </a:r>
            <a:r>
              <a:rPr lang="zh-TW" altLang="en-US" b="0" i="0" dirty="0">
                <a:effectLst/>
                <a:latin typeface="Söhne"/>
              </a:rPr>
              <a:t>來學習細胞的嵌入，通過結合來自 </a:t>
            </a:r>
            <a:r>
              <a:rPr lang="en-US" altLang="zh-TW" b="0" i="0" dirty="0" err="1">
                <a:effectLst/>
                <a:latin typeface="Söhne"/>
              </a:rPr>
              <a:t>scRNA</a:t>
            </a:r>
            <a:r>
              <a:rPr lang="en-US" altLang="zh-TW" b="0" i="0" dirty="0">
                <a:effectLst/>
                <a:latin typeface="Söhne"/>
              </a:rPr>
              <a:t>-seq </a:t>
            </a:r>
            <a:r>
              <a:rPr lang="zh-TW" altLang="en-US" b="0" i="0" dirty="0">
                <a:effectLst/>
                <a:latin typeface="Söhne"/>
              </a:rPr>
              <a:t>和 </a:t>
            </a:r>
            <a:r>
              <a:rPr lang="en-US" altLang="zh-TW" b="0" i="0" dirty="0" err="1">
                <a:effectLst/>
                <a:latin typeface="Söhne"/>
              </a:rPr>
              <a:t>scATAC</a:t>
            </a:r>
            <a:r>
              <a:rPr lang="en-US" altLang="zh-TW" b="0" i="0" dirty="0">
                <a:effectLst/>
                <a:latin typeface="Söhne"/>
              </a:rPr>
              <a:t>-seq </a:t>
            </a:r>
            <a:r>
              <a:rPr lang="zh-TW" altLang="en-US" b="0" i="0" dirty="0">
                <a:effectLst/>
                <a:latin typeface="Söhne"/>
              </a:rPr>
              <a:t>數據的細胞的低維表徵。</a:t>
            </a:r>
            <a:r>
              <a:rPr lang="en-US" altLang="zh-TW" b="0" i="0" dirty="0">
                <a:effectLst/>
                <a:latin typeface="Söhne"/>
              </a:rPr>
              <a:t>MIRA </a:t>
            </a:r>
            <a:r>
              <a:rPr lang="zh-TW" altLang="en-US" b="0" i="0" dirty="0">
                <a:effectLst/>
                <a:latin typeface="Söhne"/>
              </a:rPr>
              <a:t>專門針對單細胞多模態數據設計，嵌入結果也只包含細胞。</a:t>
            </a:r>
          </a:p>
          <a:p>
            <a:endParaRPr lang="en-US" dirty="0"/>
          </a:p>
        </p:txBody>
      </p:sp>
      <p:sp>
        <p:nvSpPr>
          <p:cNvPr id="4" name="Slide Number Placeholder 3"/>
          <p:cNvSpPr>
            <a:spLocks noGrp="1"/>
          </p:cNvSpPr>
          <p:nvPr>
            <p:ph type="sldNum" sz="quarter" idx="5"/>
          </p:nvPr>
        </p:nvSpPr>
        <p:spPr/>
        <p:txBody>
          <a:bodyPr/>
          <a:lstStyle/>
          <a:p>
            <a:fld id="{730E65B1-1032-4944-9DDC-977790F00C48}" type="slidenum">
              <a:rPr lang="en-US" smtClean="0"/>
              <a:t>38</a:t>
            </a:fld>
            <a:endParaRPr lang="en-US"/>
          </a:p>
        </p:txBody>
      </p:sp>
    </p:spTree>
    <p:extLst>
      <p:ext uri="{BB962C8B-B14F-4D97-AF65-F5344CB8AC3E}">
        <p14:creationId xmlns:p14="http://schemas.microsoft.com/office/powerpoint/2010/main" val="20673605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TW" b="0" i="0" dirty="0">
                <a:effectLst/>
                <a:latin typeface="Söhne"/>
              </a:rPr>
              <a:t>SIMBA</a:t>
            </a:r>
            <a:r>
              <a:rPr lang="zh-TW" altLang="en-US" b="0" i="0" dirty="0">
                <a:effectLst/>
                <a:latin typeface="Söhne"/>
              </a:rPr>
              <a:t>識別的前</a:t>
            </a:r>
            <a:r>
              <a:rPr lang="en-US" altLang="zh-TW" b="0" i="0" dirty="0">
                <a:effectLst/>
                <a:latin typeface="Söhne"/>
              </a:rPr>
              <a:t>600</a:t>
            </a:r>
            <a:r>
              <a:rPr lang="zh-TW" altLang="en-US" b="0" i="0" dirty="0">
                <a:effectLst/>
                <a:latin typeface="Söhne"/>
              </a:rPr>
              <a:t>個標誌基因是基於最大值和基尼指數來選擇的，而</a:t>
            </a:r>
            <a:r>
              <a:rPr lang="en-US" altLang="zh-TW" b="0" i="0" dirty="0" err="1">
                <a:effectLst/>
                <a:latin typeface="Söhne"/>
              </a:rPr>
              <a:t>Scanpy</a:t>
            </a:r>
            <a:r>
              <a:rPr lang="zh-TW" altLang="en-US" b="0" i="0" dirty="0">
                <a:effectLst/>
                <a:latin typeface="Söhne"/>
              </a:rPr>
              <a:t>則是使用基於</a:t>
            </a:r>
            <a:r>
              <a:rPr lang="en-US" altLang="zh-TW" b="0" i="0" dirty="0">
                <a:effectLst/>
                <a:latin typeface="Söhne"/>
              </a:rPr>
              <a:t>Wilcoxon</a:t>
            </a:r>
            <a:r>
              <a:rPr lang="zh-TW" altLang="en-US" b="0" i="0" dirty="0">
                <a:effectLst/>
                <a:latin typeface="Söhne"/>
              </a:rPr>
              <a:t>秩和測試的</a:t>
            </a:r>
            <a:r>
              <a:rPr lang="en-US" altLang="zh-TW" b="0" i="0" dirty="0">
                <a:effectLst/>
                <a:latin typeface="Söhne"/>
              </a:rPr>
              <a:t>z</a:t>
            </a:r>
            <a:r>
              <a:rPr lang="zh-TW" altLang="en-US" b="0" i="0" dirty="0">
                <a:effectLst/>
                <a:latin typeface="Söhne"/>
              </a:rPr>
              <a:t>分數（並經過</a:t>
            </a:r>
            <a:r>
              <a:rPr lang="en-US" altLang="zh-TW" b="0" i="0" dirty="0" err="1">
                <a:effectLst/>
                <a:latin typeface="Söhne"/>
              </a:rPr>
              <a:t>Benjamini</a:t>
            </a:r>
            <a:r>
              <a:rPr lang="en-US" altLang="zh-TW" b="0" i="0" dirty="0">
                <a:effectLst/>
                <a:latin typeface="Söhne"/>
              </a:rPr>
              <a:t>-Hochberg p</a:t>
            </a:r>
            <a:r>
              <a:rPr lang="zh-TW" altLang="en-US" b="0" i="0" dirty="0">
                <a:effectLst/>
                <a:latin typeface="Söhne"/>
              </a:rPr>
              <a:t>值校正）來識別標誌基因，這是</a:t>
            </a:r>
            <a:r>
              <a:rPr lang="en-US" altLang="zh-TW" b="0" i="0" dirty="0" err="1">
                <a:effectLst/>
                <a:latin typeface="Söhne"/>
              </a:rPr>
              <a:t>Scanpy</a:t>
            </a:r>
            <a:r>
              <a:rPr lang="zh-TW" altLang="en-US" b="0" i="0" dirty="0">
                <a:effectLst/>
                <a:latin typeface="Söhne"/>
              </a:rPr>
              <a:t>教程中推薦的統計測試之一。</a:t>
            </a:r>
          </a:p>
          <a:p>
            <a:pPr algn="l"/>
            <a:r>
              <a:rPr lang="zh-TW" altLang="en-US" b="0" i="0" dirty="0">
                <a:effectLst/>
                <a:latin typeface="Söhne"/>
              </a:rPr>
              <a:t>研究發現，</a:t>
            </a:r>
            <a:r>
              <a:rPr lang="en-US" altLang="zh-TW" b="0" i="0" dirty="0">
                <a:effectLst/>
                <a:latin typeface="Söhne"/>
              </a:rPr>
              <a:t>SIMBA</a:t>
            </a:r>
            <a:r>
              <a:rPr lang="zh-TW" altLang="en-US" b="0" i="0" dirty="0">
                <a:effectLst/>
                <a:latin typeface="Söhne"/>
              </a:rPr>
              <a:t>發現的標誌基因與</a:t>
            </a:r>
            <a:r>
              <a:rPr lang="en-US" altLang="zh-TW" b="0" i="0" dirty="0" err="1">
                <a:effectLst/>
                <a:latin typeface="Söhne"/>
              </a:rPr>
              <a:t>Scanpy</a:t>
            </a:r>
            <a:r>
              <a:rPr lang="zh-TW" altLang="en-US" b="0" i="0" dirty="0">
                <a:effectLst/>
                <a:latin typeface="Söhne"/>
              </a:rPr>
              <a:t>識別的標誌基因有近一半重疊。不過，在檢視不重疊的頂尖標誌基因時，他們發現</a:t>
            </a:r>
            <a:r>
              <a:rPr lang="en-US" altLang="zh-TW" b="0" i="0" dirty="0">
                <a:effectLst/>
                <a:latin typeface="Söhne"/>
              </a:rPr>
              <a:t>SIMBA</a:t>
            </a:r>
            <a:r>
              <a:rPr lang="zh-TW" altLang="en-US" b="0" i="0" dirty="0">
                <a:effectLst/>
                <a:latin typeface="Söhne"/>
              </a:rPr>
              <a:t>識別的基因只在特定細胞群體中富集，而</a:t>
            </a:r>
            <a:r>
              <a:rPr lang="en-US" altLang="zh-TW" b="0" i="0" dirty="0" err="1">
                <a:effectLst/>
                <a:latin typeface="Söhne"/>
              </a:rPr>
              <a:t>Scanpy</a:t>
            </a:r>
            <a:r>
              <a:rPr lang="zh-TW" altLang="en-US" b="0" i="0" dirty="0">
                <a:effectLst/>
                <a:latin typeface="Söhne"/>
              </a:rPr>
              <a:t>識別但</a:t>
            </a:r>
            <a:r>
              <a:rPr lang="en-US" altLang="zh-TW" b="0" i="0" dirty="0">
                <a:effectLst/>
                <a:latin typeface="Söhne"/>
              </a:rPr>
              <a:t>SIMBA</a:t>
            </a:r>
            <a:r>
              <a:rPr lang="zh-TW" altLang="en-US" b="0" i="0" dirty="0">
                <a:effectLst/>
                <a:latin typeface="Söhne"/>
              </a:rPr>
              <a:t>沒有的包括了</a:t>
            </a:r>
            <a:r>
              <a:rPr lang="en-US" altLang="zh-TW" b="0" i="0" dirty="0">
                <a:effectLst/>
                <a:latin typeface="Söhne"/>
              </a:rPr>
              <a:t>B2M</a:t>
            </a:r>
            <a:r>
              <a:rPr lang="zh-TW" altLang="en-US" b="0" i="0" dirty="0">
                <a:effectLst/>
                <a:latin typeface="Söhne"/>
              </a:rPr>
              <a:t>這樣的管家基因和多個在所有細胞類型中普遍表達的核糖體蛋白基因（例如</a:t>
            </a:r>
            <a:r>
              <a:rPr lang="en-US" altLang="zh-TW" b="0" i="0" dirty="0">
                <a:effectLst/>
                <a:latin typeface="Söhne"/>
              </a:rPr>
              <a:t>RPS3</a:t>
            </a:r>
            <a:r>
              <a:rPr lang="zh-TW" altLang="en-US" b="0" i="0" dirty="0">
                <a:effectLst/>
                <a:latin typeface="Söhne"/>
              </a:rPr>
              <a:t>和</a:t>
            </a:r>
            <a:r>
              <a:rPr lang="en-US" altLang="zh-TW" b="0" i="0" dirty="0">
                <a:effectLst/>
                <a:latin typeface="Söhne"/>
              </a:rPr>
              <a:t>RPS6</a:t>
            </a:r>
            <a:r>
              <a:rPr lang="zh-TW" altLang="en-US" b="0" i="0" dirty="0">
                <a:effectLst/>
                <a:latin typeface="Söhne"/>
              </a:rPr>
              <a:t>）。</a:t>
            </a:r>
          </a:p>
          <a:p>
            <a:pPr algn="l"/>
            <a:r>
              <a:rPr lang="zh-TW" altLang="en-US" b="0" i="0" dirty="0">
                <a:effectLst/>
                <a:latin typeface="Söhne"/>
              </a:rPr>
              <a:t>此外，要恢復只由</a:t>
            </a:r>
            <a:r>
              <a:rPr lang="en-US" altLang="zh-TW" b="0" i="0" dirty="0">
                <a:effectLst/>
                <a:latin typeface="Söhne"/>
              </a:rPr>
              <a:t>SIMBA</a:t>
            </a:r>
            <a:r>
              <a:rPr lang="zh-TW" altLang="en-US" b="0" i="0" dirty="0">
                <a:effectLst/>
                <a:latin typeface="Söhne"/>
              </a:rPr>
              <a:t>識別出的基因，需要結合</a:t>
            </a:r>
            <a:r>
              <a:rPr lang="en-US" altLang="zh-TW" b="0" i="0" dirty="0" err="1">
                <a:effectLst/>
                <a:latin typeface="Söhne"/>
              </a:rPr>
              <a:t>Scanpy</a:t>
            </a:r>
            <a:r>
              <a:rPr lang="zh-TW" altLang="en-US" b="0" i="0" dirty="0">
                <a:effectLst/>
                <a:latin typeface="Söhne"/>
              </a:rPr>
              <a:t>中提出的不同統計測試。例如，</a:t>
            </a:r>
            <a:r>
              <a:rPr lang="en-US" altLang="zh-TW" b="0" i="0" dirty="0">
                <a:effectLst/>
                <a:latin typeface="Söhne"/>
              </a:rPr>
              <a:t>IL7R</a:t>
            </a:r>
            <a:r>
              <a:rPr lang="zh-TW" altLang="en-US" b="0" i="0" dirty="0">
                <a:effectLst/>
                <a:latin typeface="Söhne"/>
              </a:rPr>
              <a:t>只能通過</a:t>
            </a:r>
            <a:r>
              <a:rPr lang="en-US" altLang="zh-TW" b="0" i="0" dirty="0">
                <a:effectLst/>
                <a:latin typeface="Söhne"/>
              </a:rPr>
              <a:t>t</a:t>
            </a:r>
            <a:r>
              <a:rPr lang="zh-TW" altLang="en-US" b="0" i="0" dirty="0">
                <a:effectLst/>
                <a:latin typeface="Söhne"/>
              </a:rPr>
              <a:t>檢測來識別，而</a:t>
            </a:r>
            <a:r>
              <a:rPr lang="en-US" altLang="zh-TW" b="0" i="0" dirty="0">
                <a:effectLst/>
                <a:latin typeface="Söhne"/>
              </a:rPr>
              <a:t>FCER1A</a:t>
            </a:r>
            <a:r>
              <a:rPr lang="zh-TW" altLang="en-US" b="0" i="0" dirty="0">
                <a:effectLst/>
                <a:latin typeface="Söhne"/>
              </a:rPr>
              <a:t>只能通過</a:t>
            </a:r>
            <a:r>
              <a:rPr lang="en-US" altLang="zh-TW" b="0" i="0" dirty="0">
                <a:effectLst/>
                <a:latin typeface="Söhne"/>
              </a:rPr>
              <a:t>Wilcoxon</a:t>
            </a:r>
            <a:r>
              <a:rPr lang="zh-TW" altLang="en-US" b="0" i="0" dirty="0">
                <a:effectLst/>
                <a:latin typeface="Söhne"/>
              </a:rPr>
              <a:t>秩和測試來識別。這在</a:t>
            </a:r>
            <a:r>
              <a:rPr lang="en-US" altLang="zh-TW" b="0" i="0" dirty="0" err="1">
                <a:effectLst/>
                <a:latin typeface="Söhne"/>
              </a:rPr>
              <a:t>Scanpy</a:t>
            </a:r>
            <a:r>
              <a:rPr lang="zh-TW" altLang="en-US" b="0" i="0" dirty="0">
                <a:effectLst/>
                <a:latin typeface="Söhne"/>
              </a:rPr>
              <a:t>的教程中也有提及。與此同時，</a:t>
            </a:r>
            <a:r>
              <a:rPr lang="en-US" altLang="zh-TW" b="0" i="0" dirty="0">
                <a:effectLst/>
                <a:latin typeface="Söhne"/>
              </a:rPr>
              <a:t>SIMBA</a:t>
            </a:r>
            <a:r>
              <a:rPr lang="zh-TW" altLang="en-US" b="0" i="0" dirty="0">
                <a:effectLst/>
                <a:latin typeface="Söhne"/>
              </a:rPr>
              <a:t>使用單一流程並且不需要對細胞進行聚類，就成功識別了</a:t>
            </a:r>
            <a:r>
              <a:rPr lang="en-US" altLang="zh-TW" b="0" i="0" dirty="0">
                <a:effectLst/>
                <a:latin typeface="Söhne"/>
              </a:rPr>
              <a:t>IL7R</a:t>
            </a:r>
            <a:r>
              <a:rPr lang="zh-TW" altLang="en-US" b="0" i="0" dirty="0">
                <a:effectLst/>
                <a:latin typeface="Söhne"/>
              </a:rPr>
              <a:t>和</a:t>
            </a:r>
            <a:r>
              <a:rPr lang="en-US" altLang="zh-TW" b="0" i="0" dirty="0">
                <a:effectLst/>
                <a:latin typeface="Söhne"/>
              </a:rPr>
              <a:t>FCER1A</a:t>
            </a:r>
            <a:r>
              <a:rPr lang="zh-TW" altLang="en-US" b="0" i="0" dirty="0">
                <a:effectLst/>
                <a:latin typeface="Söhne"/>
              </a:rPr>
              <a:t>這兩個有信息量的基因。</a:t>
            </a:r>
          </a:p>
          <a:p>
            <a:endParaRPr lang="en-US" dirty="0"/>
          </a:p>
        </p:txBody>
      </p:sp>
      <p:sp>
        <p:nvSpPr>
          <p:cNvPr id="4" name="Slide Number Placeholder 3"/>
          <p:cNvSpPr>
            <a:spLocks noGrp="1"/>
          </p:cNvSpPr>
          <p:nvPr>
            <p:ph type="sldNum" sz="quarter" idx="5"/>
          </p:nvPr>
        </p:nvSpPr>
        <p:spPr/>
        <p:txBody>
          <a:bodyPr/>
          <a:lstStyle/>
          <a:p>
            <a:fld id="{730E65B1-1032-4944-9DDC-977790F00C48}" type="slidenum">
              <a:rPr lang="en-US" smtClean="0"/>
              <a:t>39</a:t>
            </a:fld>
            <a:endParaRPr lang="en-US"/>
          </a:p>
        </p:txBody>
      </p:sp>
    </p:spTree>
    <p:extLst>
      <p:ext uri="{BB962C8B-B14F-4D97-AF65-F5344CB8AC3E}">
        <p14:creationId xmlns:p14="http://schemas.microsoft.com/office/powerpoint/2010/main" val="25884639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solidFill>
                  <a:srgbClr val="222222"/>
                </a:solidFill>
                <a:effectLst/>
                <a:latin typeface="Harding"/>
              </a:rPr>
              <a:t>為了比較</a:t>
            </a:r>
            <a:r>
              <a:rPr lang="en-US" altLang="zh-TW" b="0" i="0" dirty="0">
                <a:solidFill>
                  <a:srgbClr val="222222"/>
                </a:solidFill>
                <a:effectLst/>
                <a:latin typeface="Harding"/>
              </a:rPr>
              <a:t>SIMBA</a:t>
            </a:r>
            <a:r>
              <a:rPr lang="zh-TW" altLang="en-US" b="0" i="0" dirty="0">
                <a:solidFill>
                  <a:srgbClr val="222222"/>
                </a:solidFill>
                <a:effectLst/>
                <a:latin typeface="Harding"/>
              </a:rPr>
              <a:t>與其他</a:t>
            </a:r>
            <a:r>
              <a:rPr lang="en-US" altLang="zh-TW" b="0" i="0" dirty="0" err="1">
                <a:solidFill>
                  <a:srgbClr val="222222"/>
                </a:solidFill>
                <a:effectLst/>
                <a:latin typeface="Harding"/>
              </a:rPr>
              <a:t>scATAC</a:t>
            </a:r>
            <a:r>
              <a:rPr lang="en-US" altLang="zh-TW" b="0" i="0" dirty="0">
                <a:solidFill>
                  <a:srgbClr val="222222"/>
                </a:solidFill>
                <a:effectLst/>
                <a:latin typeface="Harding"/>
              </a:rPr>
              <a:t>-seq</a:t>
            </a:r>
            <a:r>
              <a:rPr lang="zh-TW" altLang="en-US" b="0" i="0" dirty="0">
                <a:solidFill>
                  <a:srgbClr val="222222"/>
                </a:solidFill>
                <a:effectLst/>
                <a:latin typeface="Harding"/>
              </a:rPr>
              <a:t>計算方法（包括</a:t>
            </a:r>
            <a:r>
              <a:rPr lang="en-US" altLang="zh-TW" b="0" i="0" dirty="0" err="1">
                <a:solidFill>
                  <a:srgbClr val="222222"/>
                </a:solidFill>
                <a:effectLst/>
                <a:latin typeface="Harding"/>
              </a:rPr>
              <a:t>SnapATAC</a:t>
            </a:r>
            <a:r>
              <a:rPr lang="zh-TW" altLang="en-US" b="0" i="0" dirty="0">
                <a:solidFill>
                  <a:srgbClr val="222222"/>
                </a:solidFill>
                <a:effectLst/>
                <a:latin typeface="Harding"/>
              </a:rPr>
              <a:t>、</a:t>
            </a:r>
            <a:r>
              <a:rPr lang="en-US" altLang="zh-TW" b="0" i="0" dirty="0" err="1">
                <a:solidFill>
                  <a:srgbClr val="222222"/>
                </a:solidFill>
                <a:effectLst/>
                <a:latin typeface="Harding"/>
              </a:rPr>
              <a:t>Cusanovich</a:t>
            </a:r>
            <a:r>
              <a:rPr lang="zh-TW" altLang="en-US" b="0" i="0" dirty="0">
                <a:solidFill>
                  <a:srgbClr val="222222"/>
                </a:solidFill>
                <a:effectLst/>
                <a:latin typeface="Harding"/>
              </a:rPr>
              <a:t>和</a:t>
            </a:r>
            <a:r>
              <a:rPr lang="en-US" altLang="zh-TW" b="0" i="0" dirty="0" err="1">
                <a:solidFill>
                  <a:srgbClr val="222222"/>
                </a:solidFill>
                <a:effectLst/>
                <a:latin typeface="Harding"/>
              </a:rPr>
              <a:t>cisTopic</a:t>
            </a:r>
            <a:r>
              <a:rPr lang="zh-TW" altLang="en-US" b="0" i="0" dirty="0">
                <a:solidFill>
                  <a:srgbClr val="222222"/>
                </a:solidFill>
                <a:effectLst/>
                <a:latin typeface="Harding"/>
              </a:rPr>
              <a:t>），我們使用了之前由</a:t>
            </a:r>
            <a:r>
              <a:rPr lang="en-US" altLang="zh-TW" b="0" i="0" dirty="0">
                <a:solidFill>
                  <a:srgbClr val="222222"/>
                </a:solidFill>
                <a:effectLst/>
                <a:latin typeface="Harding"/>
              </a:rPr>
              <a:t>Chen</a:t>
            </a:r>
            <a:r>
              <a:rPr lang="zh-TW" altLang="en-US" b="0" i="0" dirty="0">
                <a:solidFill>
                  <a:srgbClr val="222222"/>
                </a:solidFill>
                <a:effectLst/>
                <a:latin typeface="Harding"/>
              </a:rPr>
              <a:t>等人開發的基準測試框架（附錄表</a:t>
            </a:r>
            <a:r>
              <a:rPr lang="en-US" altLang="zh-TW" b="0" i="0" dirty="0">
                <a:solidFill>
                  <a:srgbClr val="222222"/>
                </a:solidFill>
                <a:effectLst/>
                <a:latin typeface="Harding"/>
              </a:rPr>
              <a:t>2</a:t>
            </a:r>
            <a:r>
              <a:rPr lang="zh-TW" altLang="en-US" b="0" i="0" dirty="0">
                <a:solidFill>
                  <a:srgbClr val="222222"/>
                </a:solidFill>
                <a:effectLst/>
                <a:latin typeface="Harding"/>
              </a:rPr>
              <a:t>）。該框架根據方法區分細胞類型的能力來評估不同的方法。我們對每種方法所得到的特徵矩陣應用了三種聚類算法：</a:t>
            </a:r>
            <a:r>
              <a:rPr lang="en-US" altLang="zh-TW" b="0" i="0" dirty="0">
                <a:solidFill>
                  <a:srgbClr val="222222"/>
                </a:solidFill>
                <a:effectLst/>
                <a:latin typeface="Harding"/>
              </a:rPr>
              <a:t>k-means</a:t>
            </a:r>
            <a:r>
              <a:rPr lang="zh-TW" altLang="en-US" b="0" i="0" dirty="0">
                <a:solidFill>
                  <a:srgbClr val="222222"/>
                </a:solidFill>
                <a:effectLst/>
                <a:latin typeface="Harding"/>
              </a:rPr>
              <a:t>聚類、層次聚類和</a:t>
            </a:r>
            <a:r>
              <a:rPr lang="en-US" altLang="zh-TW" b="0" i="0" dirty="0">
                <a:solidFill>
                  <a:srgbClr val="222222"/>
                </a:solidFill>
                <a:effectLst/>
                <a:latin typeface="Harding"/>
              </a:rPr>
              <a:t>Louvain</a:t>
            </a:r>
          </a:p>
          <a:p>
            <a:endParaRPr lang="en-US" b="0" i="0" dirty="0">
              <a:solidFill>
                <a:srgbClr val="222222"/>
              </a:solidFill>
              <a:effectLst/>
              <a:latin typeface="Harding"/>
            </a:endParaRPr>
          </a:p>
          <a:p>
            <a:r>
              <a:rPr lang="zh-TW" altLang="en-US" dirty="0"/>
              <a:t>這三種聚類算法的目的是基於特徵矩陣將細胞分組，並看看哪種方法最能區分不同的細胞類型</a:t>
            </a:r>
            <a:endParaRPr lang="en-US" altLang="zh-TW" dirty="0"/>
          </a:p>
          <a:p>
            <a:pPr algn="l">
              <a:buFont typeface="+mj-lt"/>
              <a:buNone/>
            </a:pPr>
            <a:r>
              <a:rPr lang="en-US" altLang="zh-TW" b="1" i="0" dirty="0">
                <a:solidFill>
                  <a:srgbClr val="222222"/>
                </a:solidFill>
                <a:effectLst/>
                <a:latin typeface="Harding"/>
              </a:rPr>
              <a:t>- k-means: </a:t>
            </a:r>
            <a:r>
              <a:rPr lang="zh-TW" altLang="en-US" b="0" i="0" dirty="0">
                <a:effectLst/>
                <a:latin typeface="Söhne"/>
              </a:rPr>
              <a:t>這是一種經典的群集算法，它將數據點分為</a:t>
            </a:r>
            <a:r>
              <a:rPr lang="en-US" altLang="zh-TW" b="0" i="0" dirty="0">
                <a:effectLst/>
                <a:latin typeface="Söhne"/>
              </a:rPr>
              <a:t>K</a:t>
            </a:r>
            <a:r>
              <a:rPr lang="zh-TW" altLang="en-US" b="0" i="0" dirty="0">
                <a:effectLst/>
                <a:latin typeface="Söhne"/>
              </a:rPr>
              <a:t>個群集，使得每個點屬於與其最近的群集中心。算法從隨機選取的中心點開始，逐步調整群集中心，直到達到最優或達到迭代次數上限。</a:t>
            </a:r>
            <a:r>
              <a:rPr lang="en-US" altLang="zh-TW" b="0" i="0" dirty="0">
                <a:effectLst/>
                <a:latin typeface="Söhne"/>
              </a:rPr>
              <a:t>K-means</a:t>
            </a:r>
            <a:r>
              <a:rPr lang="zh-TW" altLang="en-US" b="0" i="0" dirty="0">
                <a:effectLst/>
                <a:latin typeface="Söhne"/>
              </a:rPr>
              <a:t>適合於大數據集，但其性能依賴於</a:t>
            </a:r>
            <a:r>
              <a:rPr lang="en-US" altLang="zh-TW" b="0" i="0" dirty="0">
                <a:effectLst/>
                <a:latin typeface="Söhne"/>
              </a:rPr>
              <a:t>K</a:t>
            </a:r>
            <a:r>
              <a:rPr lang="zh-TW" altLang="en-US" b="0" i="0" dirty="0">
                <a:effectLst/>
                <a:latin typeface="Söhne"/>
              </a:rPr>
              <a:t>值的選擇和初始中心點的設定。</a:t>
            </a:r>
            <a:endParaRPr lang="en-US" altLang="zh-TW" b="0" i="0" dirty="0">
              <a:effectLst/>
              <a:latin typeface="Söhne"/>
            </a:endParaRPr>
          </a:p>
          <a:p>
            <a:pPr algn="l">
              <a:buFont typeface="+mj-lt"/>
              <a:buNone/>
            </a:pPr>
            <a:endParaRPr lang="zh-TW" altLang="en-US" b="0" i="0" dirty="0">
              <a:effectLst/>
              <a:latin typeface="Söhne"/>
            </a:endParaRPr>
          </a:p>
          <a:p>
            <a:pPr algn="l">
              <a:buFont typeface="+mj-lt"/>
              <a:buNone/>
            </a:pPr>
            <a:r>
              <a:rPr lang="en-US" altLang="zh-TW" b="1" i="0" dirty="0">
                <a:effectLst/>
                <a:latin typeface="Söhne"/>
              </a:rPr>
              <a:t>- </a:t>
            </a:r>
            <a:r>
              <a:rPr lang="zh-TW" altLang="en-US" b="1" i="0" dirty="0">
                <a:solidFill>
                  <a:srgbClr val="222222"/>
                </a:solidFill>
                <a:effectLst/>
                <a:latin typeface="Harding"/>
              </a:rPr>
              <a:t>層次聚類：</a:t>
            </a:r>
            <a:r>
              <a:rPr lang="zh-TW" altLang="en-US" b="0" i="0" dirty="0">
                <a:solidFill>
                  <a:srgbClr val="0F0F0F"/>
                </a:solidFill>
                <a:effectLst/>
                <a:latin typeface="Söhne"/>
              </a:rPr>
              <a:t>基於層次結構進行群集的方法，可以分為聚合（自下而上）和分裂（自上而下）兩種。在聚合群集中，每個數據點最初被視為一個獨立的群集，然後逐漸將最相似的群集合併，直到達到預定的群集數量或滿足某些停止標準。層次群集算法不需要預先指定群集數量，但計算複雜度較高</a:t>
            </a:r>
            <a:endParaRPr lang="en-US" altLang="zh-TW" b="0" i="0" dirty="0">
              <a:solidFill>
                <a:srgbClr val="0F0F0F"/>
              </a:solidFill>
              <a:effectLst/>
              <a:latin typeface="Söhne"/>
            </a:endParaRPr>
          </a:p>
          <a:p>
            <a:pPr algn="l">
              <a:buFont typeface="+mj-lt"/>
              <a:buNone/>
            </a:pPr>
            <a:endParaRPr lang="en-US" altLang="zh-TW" b="0" i="0" dirty="0">
              <a:solidFill>
                <a:srgbClr val="0F0F0F"/>
              </a:solidFill>
              <a:effectLst/>
              <a:latin typeface="Söhne"/>
            </a:endParaRPr>
          </a:p>
          <a:p>
            <a:pPr algn="l">
              <a:buFont typeface="+mj-lt"/>
              <a:buNone/>
            </a:pPr>
            <a:r>
              <a:rPr lang="en-US" altLang="zh-TW" b="1" i="0" dirty="0">
                <a:effectLst/>
                <a:latin typeface="Söhne"/>
              </a:rPr>
              <a:t>- </a:t>
            </a:r>
            <a:r>
              <a:rPr lang="en-US" b="1" i="0" dirty="0">
                <a:effectLst/>
                <a:latin typeface="Söhne"/>
              </a:rPr>
              <a:t>Louvain</a:t>
            </a:r>
            <a:r>
              <a:rPr lang="zh-TW" altLang="en-US" b="1" i="0" dirty="0">
                <a:effectLst/>
                <a:latin typeface="Söhne"/>
              </a:rPr>
              <a:t>算法：常</a:t>
            </a:r>
            <a:r>
              <a:rPr lang="zh-TW" altLang="en-US" b="0" i="0" dirty="0">
                <a:solidFill>
                  <a:srgbClr val="0F0F0F"/>
                </a:solidFill>
                <a:effectLst/>
                <a:latin typeface="Söhne"/>
              </a:rPr>
              <a:t>常應用於網絡數據的群集分析。它是基於模塊度優化的，通過局部最優化來檢測網絡中的社區結構。算法從小的社區開始，逐步合併可以增加模塊度的社區，直到無法再增加模塊度為止。</a:t>
            </a:r>
            <a:r>
              <a:rPr lang="en-US" altLang="zh-TW" b="0" i="0" dirty="0">
                <a:solidFill>
                  <a:srgbClr val="0F0F0F"/>
                </a:solidFill>
                <a:effectLst/>
                <a:latin typeface="Söhne"/>
              </a:rPr>
              <a:t>Louvain</a:t>
            </a:r>
            <a:r>
              <a:rPr lang="zh-TW" altLang="en-US" b="0" i="0" dirty="0">
                <a:solidFill>
                  <a:srgbClr val="0F0F0F"/>
                </a:solidFill>
                <a:effectLst/>
                <a:latin typeface="Söhne"/>
              </a:rPr>
              <a:t>算法運行速度快，適合於大型網絡，但其結果可能受到初始化條件的影響</a:t>
            </a:r>
            <a:endParaRPr lang="zh-TW" altLang="en-US" b="1" i="0" dirty="0">
              <a:effectLst/>
              <a:latin typeface="Söhne"/>
            </a:endParaRPr>
          </a:p>
          <a:p>
            <a:endParaRPr lang="en-US" altLang="zh-TW" b="0" i="0" dirty="0">
              <a:solidFill>
                <a:srgbClr val="222222"/>
              </a:solidFill>
              <a:effectLst/>
              <a:latin typeface="Harding"/>
            </a:endParaRPr>
          </a:p>
          <a:p>
            <a:endParaRPr lang="en-US" b="0" i="0" dirty="0">
              <a:solidFill>
                <a:srgbClr val="222222"/>
              </a:solidFill>
              <a:effectLst/>
              <a:latin typeface="Harding"/>
            </a:endParaRPr>
          </a:p>
          <a:p>
            <a:r>
              <a:rPr lang="en-US" altLang="zh-TW" dirty="0"/>
              <a:t>【</a:t>
            </a:r>
            <a:r>
              <a:rPr lang="zh-TW" altLang="en-US" dirty="0"/>
              <a:t>如何評估一些具有已知標籤（即“真實”分類）的數據集的聚類效果</a:t>
            </a:r>
            <a:r>
              <a:rPr lang="en-US" altLang="zh-TW" dirty="0"/>
              <a:t>】</a:t>
            </a:r>
            <a:endParaRPr lang="zh-TW" altLang="en-US" dirty="0"/>
          </a:p>
          <a:p>
            <a:r>
              <a:rPr lang="zh-TW" altLang="en-US" dirty="0"/>
              <a:t>標籤可能基於</a:t>
            </a:r>
            <a:r>
              <a:rPr lang="en-US" altLang="zh-TW" dirty="0"/>
              <a:t>FACS</a:t>
            </a:r>
            <a:r>
              <a:rPr lang="zh-TW" altLang="en-US" dirty="0"/>
              <a:t>排序或已知的組織標籤。為了評估不同方法的效果，他們使用了三個指標：調整後的</a:t>
            </a:r>
            <a:r>
              <a:rPr lang="en-US" altLang="zh-TW" dirty="0"/>
              <a:t>Rand</a:t>
            </a:r>
            <a:r>
              <a:rPr lang="zh-TW" altLang="en-US" dirty="0"/>
              <a:t>指數 </a:t>
            </a:r>
            <a:r>
              <a:rPr lang="en-US" altLang="zh-TW" dirty="0"/>
              <a:t>(ARI)</a:t>
            </a:r>
            <a:r>
              <a:rPr lang="zh-TW" altLang="en-US" dirty="0"/>
              <a:t>、調整後的互信息 </a:t>
            </a:r>
            <a:r>
              <a:rPr lang="en-US" altLang="zh-TW" dirty="0"/>
              <a:t>(AMI) </a:t>
            </a:r>
            <a:r>
              <a:rPr lang="zh-TW" altLang="en-US" dirty="0"/>
              <a:t>和同質性</a:t>
            </a:r>
          </a:p>
          <a:p>
            <a:pPr>
              <a:buFont typeface="+mj-lt"/>
              <a:buAutoNum type="arabicPeriod"/>
            </a:pPr>
            <a:r>
              <a:rPr lang="zh-TW" altLang="en-US" b="1" dirty="0"/>
              <a:t>調整後的</a:t>
            </a:r>
            <a:r>
              <a:rPr lang="en-US" altLang="zh-TW" b="1" dirty="0"/>
              <a:t>Rand</a:t>
            </a:r>
            <a:r>
              <a:rPr lang="zh-TW" altLang="en-US" b="1" dirty="0"/>
              <a:t>指數 </a:t>
            </a:r>
            <a:r>
              <a:rPr lang="en-US" altLang="zh-TW" b="1" dirty="0"/>
              <a:t>(ARI)</a:t>
            </a:r>
            <a:r>
              <a:rPr lang="zh-TW" altLang="en-US" dirty="0"/>
              <a:t>：這是一種衡量兩個聚類解決方案之間相似性的指標。在這裡，它用於比較預測的聚類解決方案和真實的細胞</a:t>
            </a:r>
            <a:r>
              <a:rPr lang="en-US" altLang="zh-TW" dirty="0"/>
              <a:t>/</a:t>
            </a:r>
            <a:r>
              <a:rPr lang="zh-TW" altLang="en-US" dirty="0"/>
              <a:t>組織標籤。具體來說，它通過比較在預測的聚類解決方案和真實標籤中被指定為匹配或不同聚類的樣本對來計算相似性。</a:t>
            </a:r>
          </a:p>
          <a:p>
            <a:pPr>
              <a:buFont typeface="+mj-lt"/>
              <a:buAutoNum type="arabicPeriod"/>
            </a:pPr>
            <a:r>
              <a:rPr lang="zh-TW" altLang="en-US" b="1" dirty="0"/>
              <a:t>調整後的互信息 </a:t>
            </a:r>
            <a:r>
              <a:rPr lang="en-US" altLang="zh-TW" b="1" dirty="0"/>
              <a:t>(AMI)</a:t>
            </a:r>
            <a:r>
              <a:rPr lang="zh-TW" altLang="en-US" dirty="0"/>
              <a:t>：互信息描述了兩個變量之間的共同出現的觀察頻率與期望的共同出現頻率之間的比較。它告訴我們這兩個變量之間的相互依賴性或關聯強度。在這裡，它用於評估預測的聚類解決方案和真實的細胞</a:t>
            </a:r>
            <a:r>
              <a:rPr lang="en-US" altLang="zh-TW" dirty="0"/>
              <a:t>/</a:t>
            </a:r>
            <a:r>
              <a:rPr lang="zh-TW" altLang="en-US" dirty="0"/>
              <a:t>組織標籤之間的一致性。</a:t>
            </a:r>
          </a:p>
          <a:p>
            <a:pPr>
              <a:buFont typeface="+mj-lt"/>
              <a:buAutoNum type="arabicPeriod"/>
            </a:pPr>
            <a:r>
              <a:rPr lang="zh-TW" altLang="en-US" b="1" dirty="0"/>
              <a:t>同質性</a:t>
            </a:r>
            <a:r>
              <a:rPr lang="zh-TW" altLang="en-US" dirty="0"/>
              <a:t>：這個指標衡量一個聚類算法是否在對屬於單一類別的樣本進行聚類時保留了聚類分配。簡單地說，如果同一類的所有樣本都被分到了同一個聚類中，則同質性會很高</a:t>
            </a:r>
            <a:endParaRPr lang="en-US" altLang="zh-TW" dirty="0"/>
          </a:p>
          <a:p>
            <a:pPr>
              <a:buFont typeface="+mj-lt"/>
              <a:buAutoNum type="arabicPeriod"/>
            </a:pPr>
            <a:endParaRPr lang="en-US" altLang="zh-TW" dirty="0"/>
          </a:p>
          <a:p>
            <a:pPr>
              <a:buFont typeface="+mj-lt"/>
              <a:buAutoNum type="arabicPeriod"/>
            </a:pPr>
            <a:endParaRPr lang="en-US" altLang="zh-TW" dirty="0"/>
          </a:p>
          <a:p>
            <a:pPr>
              <a:buFont typeface="+mj-lt"/>
              <a:buAutoNum type="arabicPeriod"/>
            </a:pPr>
            <a:r>
              <a:rPr lang="zh-TW" altLang="en-US" dirty="0"/>
              <a:t> </a:t>
            </a:r>
            <a:r>
              <a:rPr lang="en-US" altLang="zh-TW" dirty="0"/>
              <a:t>ARI</a:t>
            </a:r>
            <a:r>
              <a:rPr lang="zh-TW" altLang="en-US" dirty="0"/>
              <a:t>：想像一下你有一堆水果，你把它們隨機分成兩組。然後你又隨機地再分一次。現在，你想知道這兩次分組是否相似。你可能會想：「嘿，這兩次分組中，這兩顆蘋果都沒在同一組！」這看起來像是一個相似之處，對吧？但實際上，這只是隨機的結果，並不真正表示這兩次分組相似</a:t>
            </a:r>
            <a:endParaRPr lang="en-US" altLang="zh-TW" dirty="0"/>
          </a:p>
          <a:p>
            <a:pPr>
              <a:buFont typeface="+mj-lt"/>
              <a:buNone/>
            </a:pPr>
            <a:endParaRPr lang="en-US" altLang="zh-TW" dirty="0"/>
          </a:p>
          <a:p>
            <a:r>
              <a:rPr lang="en-US" altLang="zh-TW" dirty="0"/>
              <a:t>5. AMI</a:t>
            </a:r>
            <a:r>
              <a:rPr lang="zh-TW" altLang="en-US" dirty="0"/>
              <a:t>：想像你有一個特殊的眼鏡，這個眼鏡可以看到兩人間的共同話題不只是真正的共同興趣，還包括那些偶然、巧合談起的話題。現在，當 </a:t>
            </a:r>
            <a:r>
              <a:rPr lang="en-US" altLang="zh-TW" dirty="0"/>
              <a:t>Alice </a:t>
            </a:r>
            <a:r>
              <a:rPr lang="zh-TW" altLang="en-US" dirty="0"/>
              <a:t>和 </a:t>
            </a:r>
            <a:r>
              <a:rPr lang="en-US" altLang="zh-TW" dirty="0"/>
              <a:t>Bob </a:t>
            </a:r>
            <a:r>
              <a:rPr lang="zh-TW" altLang="en-US" dirty="0"/>
              <a:t>一起談話時，這個眼鏡可能會告訴你，他們的共同話題比你原先想像的要多。但其中有些可能只是偶然的、無意義的共通點，例如他們都剛好在同一天買了咖啡，或都剛好看了同一部電影。</a:t>
            </a:r>
          </a:p>
          <a:p>
            <a:r>
              <a:rPr lang="zh-TW" altLang="en-US" dirty="0"/>
              <a:t>這時，你會想知道，去掉這些巧合和隨機的話題後，</a:t>
            </a:r>
            <a:r>
              <a:rPr lang="en-US" altLang="zh-TW" dirty="0"/>
              <a:t>Alice </a:t>
            </a:r>
            <a:r>
              <a:rPr lang="zh-TW" altLang="en-US" dirty="0"/>
              <a:t>和 </a:t>
            </a:r>
            <a:r>
              <a:rPr lang="en-US" altLang="zh-TW" dirty="0"/>
              <a:t>Bob </a:t>
            </a:r>
            <a:r>
              <a:rPr lang="zh-TW" altLang="en-US" dirty="0"/>
              <a:t>真正的共同話題有多少。這就是</a:t>
            </a:r>
            <a:r>
              <a:rPr lang="en-US" altLang="zh-TW" dirty="0"/>
              <a:t>AMI</a:t>
            </a:r>
            <a:r>
              <a:rPr lang="zh-TW" altLang="en-US" dirty="0"/>
              <a:t>的作用。</a:t>
            </a:r>
            <a:r>
              <a:rPr lang="en-US" altLang="zh-TW" dirty="0"/>
              <a:t>AMI</a:t>
            </a:r>
            <a:r>
              <a:rPr lang="zh-TW" altLang="en-US" dirty="0"/>
              <a:t>會修正那些可能的隨機性，給你一個更真實、更清楚的畫面，告訴你 </a:t>
            </a:r>
            <a:r>
              <a:rPr lang="en-US" altLang="zh-TW" dirty="0"/>
              <a:t>Alice </a:t>
            </a:r>
            <a:r>
              <a:rPr lang="zh-TW" altLang="en-US" dirty="0"/>
              <a:t>和 </a:t>
            </a:r>
            <a:r>
              <a:rPr lang="en-US" altLang="zh-TW" dirty="0"/>
              <a:t>Bob </a:t>
            </a:r>
            <a:r>
              <a:rPr lang="zh-TW" altLang="en-US" dirty="0"/>
              <a:t>之間真正的、有意義的共同話題有多少。</a:t>
            </a:r>
          </a:p>
          <a:p>
            <a:pPr>
              <a:buFont typeface="+mj-lt"/>
              <a:buAutoNum type="arabicPeriod"/>
            </a:pPr>
            <a:endParaRPr lang="zh-TW" altLang="en-US" dirty="0"/>
          </a:p>
          <a:p>
            <a:endParaRPr lang="en-US" dirty="0"/>
          </a:p>
        </p:txBody>
      </p:sp>
      <p:sp>
        <p:nvSpPr>
          <p:cNvPr id="4" name="Slide Number Placeholder 3"/>
          <p:cNvSpPr>
            <a:spLocks noGrp="1"/>
          </p:cNvSpPr>
          <p:nvPr>
            <p:ph type="sldNum" sz="quarter" idx="5"/>
          </p:nvPr>
        </p:nvSpPr>
        <p:spPr/>
        <p:txBody>
          <a:bodyPr/>
          <a:lstStyle/>
          <a:p>
            <a:fld id="{730E65B1-1032-4944-9DDC-977790F00C48}" type="slidenum">
              <a:rPr lang="en-US" smtClean="0"/>
              <a:t>40</a:t>
            </a:fld>
            <a:endParaRPr lang="en-US"/>
          </a:p>
        </p:txBody>
      </p:sp>
    </p:spTree>
    <p:extLst>
      <p:ext uri="{BB962C8B-B14F-4D97-AF65-F5344CB8AC3E}">
        <p14:creationId xmlns:p14="http://schemas.microsoft.com/office/powerpoint/2010/main" val="34989341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b="0" i="0" dirty="0">
                <a:solidFill>
                  <a:srgbClr val="222222"/>
                </a:solidFill>
                <a:effectLst/>
                <a:latin typeface="Harding"/>
              </a:rPr>
              <a:t>SIMBA</a:t>
            </a:r>
            <a:r>
              <a:rPr lang="zh-TW" altLang="en-US" b="0" i="0" dirty="0">
                <a:solidFill>
                  <a:srgbClr val="222222"/>
                </a:solidFill>
                <a:effectLst/>
                <a:latin typeface="Harding"/>
              </a:rPr>
              <a:t>的批次校正性能與</a:t>
            </a:r>
            <a:r>
              <a:rPr lang="en-US" altLang="zh-TW" b="0" i="0" dirty="0">
                <a:solidFill>
                  <a:srgbClr val="222222"/>
                </a:solidFill>
                <a:effectLst/>
                <a:latin typeface="Harding"/>
              </a:rPr>
              <a:t>Seurat3</a:t>
            </a:r>
            <a:r>
              <a:rPr lang="zh-TW" altLang="en-US" b="0" i="0" dirty="0">
                <a:solidFill>
                  <a:srgbClr val="222222"/>
                </a:solidFill>
                <a:effectLst/>
                <a:latin typeface="Harding"/>
              </a:rPr>
              <a:t>（參考文獻 </a:t>
            </a:r>
            <a:r>
              <a:rPr lang="en-US" altLang="zh-TW" b="0" i="0" baseline="30000" dirty="0">
                <a:solidFill>
                  <a:srgbClr val="006699"/>
                </a:solidFill>
                <a:effectLst/>
                <a:latin typeface="Harding"/>
                <a:hlinkClick r:id="rId3" tooltip="Stuart, T. et al. Comprehensive integration of single-cell data. Cell 177, 1888–1902 e1821 (2019)."/>
              </a:rPr>
              <a:t>12</a:t>
            </a:r>
            <a:r>
              <a:rPr lang="zh-TW" altLang="en-US" b="0" i="0" dirty="0">
                <a:solidFill>
                  <a:srgbClr val="222222"/>
                </a:solidFill>
                <a:effectLst/>
                <a:latin typeface="Harding"/>
              </a:rPr>
              <a:t> ）、</a:t>
            </a:r>
            <a:r>
              <a:rPr lang="en-US" altLang="zh-TW" b="0" i="0" dirty="0">
                <a:solidFill>
                  <a:srgbClr val="222222"/>
                </a:solidFill>
                <a:effectLst/>
                <a:latin typeface="Harding"/>
              </a:rPr>
              <a:t>LIGER </a:t>
            </a:r>
            <a:r>
              <a:rPr lang="en-US" altLang="zh-TW" b="0" i="0" baseline="30000" dirty="0">
                <a:solidFill>
                  <a:srgbClr val="006699"/>
                </a:solidFill>
                <a:effectLst/>
                <a:latin typeface="Harding"/>
                <a:hlinkClick r:id="rId4" tooltip="Welch, J. D. et al. Single-cell multi-omic integration compares and contrasts features of brain cell identity. Cell 177, 1873–1887 e1817 (2019)."/>
              </a:rPr>
              <a:t>11</a:t>
            </a:r>
            <a:r>
              <a:rPr lang="zh-TW" altLang="en-US" b="0" i="0" dirty="0">
                <a:solidFill>
                  <a:srgbClr val="222222"/>
                </a:solidFill>
                <a:effectLst/>
                <a:latin typeface="Harding"/>
              </a:rPr>
              <a:t> 和</a:t>
            </a:r>
            <a:r>
              <a:rPr lang="en-US" altLang="zh-TW" b="0" i="0" dirty="0">
                <a:solidFill>
                  <a:srgbClr val="222222"/>
                </a:solidFill>
                <a:effectLst/>
                <a:latin typeface="Harding"/>
              </a:rPr>
              <a:t>Harmony </a:t>
            </a:r>
            <a:r>
              <a:rPr lang="en-US" altLang="zh-TW" b="0" i="0" baseline="30000" dirty="0">
                <a:solidFill>
                  <a:srgbClr val="006699"/>
                </a:solidFill>
                <a:effectLst/>
                <a:latin typeface="Harding"/>
                <a:hlinkClick r:id="rId5" tooltip="Korsunsky, I. et al. Fast, sensitive and accurate integration of single-cell data with Harmony. Nat. Methods 16, 1289–1296 (2019)."/>
              </a:rPr>
              <a:t>10</a:t>
            </a:r>
            <a:r>
              <a:rPr lang="zh-TW" altLang="en-US" b="0" i="0" dirty="0">
                <a:solidFill>
                  <a:srgbClr val="222222"/>
                </a:solidFill>
                <a:effectLst/>
                <a:latin typeface="Harding"/>
              </a:rPr>
              <a:t> 在兩個基準數據集上進行了比較。</a:t>
            </a:r>
            <a:endParaRPr lang="en-US" altLang="zh-TW" b="0" i="0" dirty="0">
              <a:solidFill>
                <a:srgbClr val="222222"/>
              </a:solidFill>
              <a:effectLst/>
              <a:latin typeface="Harding"/>
            </a:endParaRPr>
          </a:p>
          <a:p>
            <a:endParaRPr lang="en-US" altLang="zh-TW" b="0" i="0" dirty="0">
              <a:solidFill>
                <a:srgbClr val="222222"/>
              </a:solidFill>
              <a:effectLst/>
              <a:latin typeface="Harding"/>
            </a:endParaRPr>
          </a:p>
          <a:p>
            <a:r>
              <a:rPr lang="en-US" altLang="zh-TW" b="0" i="0" dirty="0">
                <a:solidFill>
                  <a:srgbClr val="222222"/>
                </a:solidFill>
                <a:effectLst/>
                <a:latin typeface="Harding"/>
              </a:rPr>
              <a:t>ASW</a:t>
            </a:r>
            <a:r>
              <a:rPr lang="zh-TW" altLang="en-US" b="0" i="0" dirty="0">
                <a:solidFill>
                  <a:srgbClr val="222222"/>
                </a:solidFill>
                <a:effectLst/>
                <a:latin typeface="Harding"/>
              </a:rPr>
              <a:t>：</a:t>
            </a:r>
            <a:r>
              <a:rPr lang="en-US" altLang="zh-TW" b="0" i="0" dirty="0">
                <a:solidFill>
                  <a:srgbClr val="0F0F0F"/>
                </a:solidFill>
                <a:effectLst/>
                <a:latin typeface="Söhne"/>
              </a:rPr>
              <a:t>ASW</a:t>
            </a:r>
            <a:r>
              <a:rPr lang="zh-TW" altLang="en-US" b="0" i="0" dirty="0">
                <a:solidFill>
                  <a:srgbClr val="0F0F0F"/>
                </a:solidFill>
                <a:effectLst/>
                <a:latin typeface="Söhne"/>
              </a:rPr>
              <a:t> 值介於</a:t>
            </a:r>
            <a:r>
              <a:rPr lang="en-US" altLang="zh-TW" b="0" i="0" dirty="0">
                <a:solidFill>
                  <a:srgbClr val="0F0F0F"/>
                </a:solidFill>
                <a:effectLst/>
                <a:latin typeface="Söhne"/>
              </a:rPr>
              <a:t>-1</a:t>
            </a:r>
            <a:r>
              <a:rPr lang="zh-TW" altLang="en-US" b="0" i="0" dirty="0">
                <a:solidFill>
                  <a:srgbClr val="0F0F0F"/>
                </a:solidFill>
                <a:effectLst/>
                <a:latin typeface="Söhne"/>
              </a:rPr>
              <a:t>到</a:t>
            </a:r>
            <a:r>
              <a:rPr lang="en-US" altLang="zh-TW" b="0" i="0" dirty="0">
                <a:solidFill>
                  <a:srgbClr val="0F0F0F"/>
                </a:solidFill>
                <a:effectLst/>
                <a:latin typeface="Söhne"/>
              </a:rPr>
              <a:t>+1</a:t>
            </a:r>
            <a:r>
              <a:rPr lang="zh-TW" altLang="en-US" b="0" i="0" dirty="0">
                <a:solidFill>
                  <a:srgbClr val="0F0F0F"/>
                </a:solidFill>
                <a:effectLst/>
                <a:latin typeface="Söhne"/>
              </a:rPr>
              <a:t>之間，其中較高的值表明群集內部緊密且與其他群集清晰分離。</a:t>
            </a:r>
            <a:r>
              <a:rPr lang="en-US" altLang="zh-TW" b="0" i="0" dirty="0">
                <a:solidFill>
                  <a:srgbClr val="0F0F0F"/>
                </a:solidFill>
                <a:effectLst/>
                <a:latin typeface="Söhne"/>
              </a:rPr>
              <a:t>ASW</a:t>
            </a:r>
            <a:r>
              <a:rPr lang="zh-TW" altLang="en-US" b="0" i="0" dirty="0">
                <a:solidFill>
                  <a:srgbClr val="0F0F0F"/>
                </a:solidFill>
                <a:effectLst/>
                <a:latin typeface="Söhne"/>
              </a:rPr>
              <a:t>是通過比較每個點與其自身群集中其他點的平均距離（凝聚度）和與最近群集中的點的平均距離（分離度）來計算的。如果</a:t>
            </a:r>
            <a:r>
              <a:rPr lang="en-US" altLang="zh-TW" b="0" i="0" dirty="0">
                <a:solidFill>
                  <a:srgbClr val="0F0F0F"/>
                </a:solidFill>
                <a:effectLst/>
                <a:latin typeface="Söhne"/>
              </a:rPr>
              <a:t>ASW</a:t>
            </a:r>
            <a:r>
              <a:rPr lang="zh-TW" altLang="en-US" b="0" i="0" dirty="0">
                <a:solidFill>
                  <a:srgbClr val="0F0F0F"/>
                </a:solidFill>
                <a:effectLst/>
                <a:latin typeface="Söhne"/>
              </a:rPr>
              <a:t>值接近</a:t>
            </a:r>
            <a:r>
              <a:rPr lang="en-US" altLang="zh-TW" b="0" i="0" dirty="0">
                <a:solidFill>
                  <a:srgbClr val="0F0F0F"/>
                </a:solidFill>
                <a:effectLst/>
                <a:latin typeface="Söhne"/>
              </a:rPr>
              <a:t>+1</a:t>
            </a:r>
            <a:r>
              <a:rPr lang="zh-TW" altLang="en-US" b="0" i="0" dirty="0">
                <a:solidFill>
                  <a:srgbClr val="0F0F0F"/>
                </a:solidFill>
                <a:effectLst/>
                <a:latin typeface="Söhne"/>
              </a:rPr>
              <a:t>，則表示數據點很好地匹配到其群集，並且群集之間分隔明顯</a:t>
            </a:r>
            <a:endParaRPr lang="en-US" altLang="zh-TW" b="0" i="0" dirty="0">
              <a:solidFill>
                <a:srgbClr val="0F0F0F"/>
              </a:solidFill>
              <a:effectLst/>
              <a:latin typeface="Söhne"/>
            </a:endParaRPr>
          </a:p>
          <a:p>
            <a:endParaRPr lang="en-US" altLang="zh-TW" b="0" i="0" dirty="0">
              <a:solidFill>
                <a:srgbClr val="0F0F0F"/>
              </a:solidFill>
              <a:effectLst/>
              <a:latin typeface="Söhne"/>
            </a:endParaRPr>
          </a:p>
          <a:p>
            <a:r>
              <a:rPr lang="en-US" altLang="zh-TW" b="0" i="0" dirty="0">
                <a:solidFill>
                  <a:srgbClr val="0F0F0F"/>
                </a:solidFill>
                <a:effectLst/>
                <a:latin typeface="Söhne"/>
              </a:rPr>
              <a:t>ARI</a:t>
            </a:r>
            <a:r>
              <a:rPr lang="zh-TW" altLang="en-US" b="0" i="0" dirty="0">
                <a:solidFill>
                  <a:srgbClr val="0F0F0F"/>
                </a:solidFill>
                <a:effectLst/>
                <a:latin typeface="Söhne"/>
              </a:rPr>
              <a:t>：</a:t>
            </a:r>
            <a:r>
              <a:rPr lang="en-US" altLang="zh-TW" b="0" i="0" dirty="0">
                <a:solidFill>
                  <a:srgbClr val="0F0F0F"/>
                </a:solidFill>
                <a:effectLst/>
                <a:latin typeface="Söhne"/>
              </a:rPr>
              <a:t>ARI</a:t>
            </a:r>
            <a:r>
              <a:rPr lang="zh-TW" altLang="en-US" b="0" i="0" dirty="0">
                <a:solidFill>
                  <a:srgbClr val="0F0F0F"/>
                </a:solidFill>
                <a:effectLst/>
                <a:latin typeface="Söhne"/>
              </a:rPr>
              <a:t> 是一種衡量群集結果與某些預定群集（通常是真實標籤或已知結果）之間相似性的指標。它的值介於</a:t>
            </a:r>
            <a:r>
              <a:rPr lang="en-US" altLang="zh-TW" b="0" i="0" dirty="0">
                <a:solidFill>
                  <a:srgbClr val="0F0F0F"/>
                </a:solidFill>
                <a:effectLst/>
                <a:latin typeface="Söhne"/>
              </a:rPr>
              <a:t>0</a:t>
            </a:r>
            <a:r>
              <a:rPr lang="zh-TW" altLang="en-US" b="0" i="0" dirty="0">
                <a:solidFill>
                  <a:srgbClr val="0F0F0F"/>
                </a:solidFill>
                <a:effectLst/>
                <a:latin typeface="Söhne"/>
              </a:rPr>
              <a:t>到</a:t>
            </a:r>
            <a:r>
              <a:rPr lang="en-US" altLang="zh-TW" b="0" i="0" dirty="0">
                <a:solidFill>
                  <a:srgbClr val="0F0F0F"/>
                </a:solidFill>
                <a:effectLst/>
                <a:latin typeface="Söhne"/>
              </a:rPr>
              <a:t>1</a:t>
            </a:r>
            <a:r>
              <a:rPr lang="zh-TW" altLang="en-US" b="0" i="0" dirty="0">
                <a:solidFill>
                  <a:srgbClr val="0F0F0F"/>
                </a:solidFill>
                <a:effectLst/>
                <a:latin typeface="Söhne"/>
              </a:rPr>
              <a:t>之間，其中</a:t>
            </a:r>
            <a:r>
              <a:rPr lang="en-US" altLang="zh-TW" b="0" i="0" dirty="0">
                <a:solidFill>
                  <a:srgbClr val="0F0F0F"/>
                </a:solidFill>
                <a:effectLst/>
                <a:latin typeface="Söhne"/>
              </a:rPr>
              <a:t>1</a:t>
            </a:r>
            <a:r>
              <a:rPr lang="zh-TW" altLang="en-US" b="0" i="0" dirty="0">
                <a:solidFill>
                  <a:srgbClr val="0F0F0F"/>
                </a:solidFill>
                <a:effectLst/>
                <a:latin typeface="Söhne"/>
              </a:rPr>
              <a:t>表示完美的群集一致性，</a:t>
            </a:r>
            <a:r>
              <a:rPr lang="en-US" altLang="zh-TW" b="0" i="0" dirty="0">
                <a:solidFill>
                  <a:srgbClr val="0F0F0F"/>
                </a:solidFill>
                <a:effectLst/>
                <a:latin typeface="Söhne"/>
              </a:rPr>
              <a:t>0</a:t>
            </a:r>
            <a:r>
              <a:rPr lang="zh-TW" altLang="en-US" b="0" i="0" dirty="0">
                <a:solidFill>
                  <a:srgbClr val="0F0F0F"/>
                </a:solidFill>
                <a:effectLst/>
                <a:latin typeface="Söhne"/>
              </a:rPr>
              <a:t>表示群集結果與隨機分配沒有顯著差異。</a:t>
            </a:r>
            <a:r>
              <a:rPr lang="en-US" altLang="zh-TW" b="0" i="0" dirty="0">
                <a:solidFill>
                  <a:srgbClr val="0F0F0F"/>
                </a:solidFill>
                <a:effectLst/>
                <a:latin typeface="Söhne"/>
              </a:rPr>
              <a:t>ARI</a:t>
            </a:r>
            <a:r>
              <a:rPr lang="zh-TW" altLang="en-US" b="0" i="0" dirty="0">
                <a:solidFill>
                  <a:srgbClr val="0F0F0F"/>
                </a:solidFill>
                <a:effectLst/>
                <a:latin typeface="Söhne"/>
              </a:rPr>
              <a:t>是</a:t>
            </a:r>
            <a:r>
              <a:rPr lang="en-US" altLang="zh-TW" b="0" i="0" dirty="0">
                <a:solidFill>
                  <a:srgbClr val="0F0F0F"/>
                </a:solidFill>
                <a:effectLst/>
                <a:latin typeface="Söhne"/>
              </a:rPr>
              <a:t>Rand</a:t>
            </a:r>
            <a:r>
              <a:rPr lang="zh-TW" altLang="en-US" b="0" i="0" dirty="0">
                <a:solidFill>
                  <a:srgbClr val="0F0F0F"/>
                </a:solidFill>
                <a:effectLst/>
                <a:latin typeface="Söhne"/>
              </a:rPr>
              <a:t>指數的一個調整版本，用於校正隨機性。</a:t>
            </a:r>
            <a:endParaRPr lang="en-US" altLang="zh-TW" b="0" i="0" dirty="0">
              <a:solidFill>
                <a:srgbClr val="0F0F0F"/>
              </a:solidFill>
              <a:effectLst/>
              <a:latin typeface="Söhne"/>
            </a:endParaRPr>
          </a:p>
          <a:p>
            <a:endParaRPr lang="en-US" altLang="zh-TW" b="0" i="0" dirty="0">
              <a:solidFill>
                <a:srgbClr val="0F0F0F"/>
              </a:solidFill>
              <a:effectLst/>
              <a:latin typeface="Söhne"/>
            </a:endParaRPr>
          </a:p>
          <a:p>
            <a:r>
              <a:rPr lang="en-US" altLang="zh-TW" b="0" i="0" dirty="0">
                <a:solidFill>
                  <a:srgbClr val="0F0F0F"/>
                </a:solidFill>
                <a:effectLst/>
                <a:latin typeface="Söhne"/>
              </a:rPr>
              <a:t>LISI</a:t>
            </a:r>
            <a:r>
              <a:rPr lang="zh-TW" altLang="en-US" b="0" i="0" dirty="0">
                <a:solidFill>
                  <a:srgbClr val="0F0F0F"/>
                </a:solidFill>
                <a:effectLst/>
                <a:latin typeface="Söhne"/>
              </a:rPr>
              <a:t>：</a:t>
            </a:r>
            <a:r>
              <a:rPr lang="en-US" altLang="zh-TW" b="0" i="0" dirty="0">
                <a:solidFill>
                  <a:srgbClr val="0F0F0F"/>
                </a:solidFill>
                <a:effectLst/>
                <a:latin typeface="Söhne"/>
              </a:rPr>
              <a:t>LISI</a:t>
            </a:r>
            <a:r>
              <a:rPr lang="zh-TW" altLang="en-US" b="0" i="0" dirty="0">
                <a:solidFill>
                  <a:srgbClr val="0F0F0F"/>
                </a:solidFill>
                <a:effectLst/>
                <a:latin typeface="Söhne"/>
              </a:rPr>
              <a:t> 用於衡量群集中的多樣性和均勻性，特別是在考慮批次效應時。它通過考慮每個點周圍鄰居的標籤分佈來計算。</a:t>
            </a:r>
            <a:r>
              <a:rPr lang="en-US" altLang="zh-TW" b="0" i="0" dirty="0">
                <a:solidFill>
                  <a:srgbClr val="0F0F0F"/>
                </a:solidFill>
                <a:effectLst/>
                <a:latin typeface="Söhne"/>
              </a:rPr>
              <a:t>LISI</a:t>
            </a:r>
            <a:r>
              <a:rPr lang="zh-TW" altLang="en-US" b="0" i="0" dirty="0">
                <a:solidFill>
                  <a:srgbClr val="0F0F0F"/>
                </a:solidFill>
                <a:effectLst/>
                <a:latin typeface="Söhne"/>
              </a:rPr>
              <a:t>的值越高，表示局部區域的多樣性越高。這對於評估批次整合時的數據均勻混合程度非常有用</a:t>
            </a:r>
            <a:endParaRPr lang="en-US" altLang="zh-TW" b="0" i="0" dirty="0">
              <a:solidFill>
                <a:srgbClr val="222222"/>
              </a:solidFill>
              <a:effectLst/>
              <a:latin typeface="Harding"/>
            </a:endParaRPr>
          </a:p>
        </p:txBody>
      </p:sp>
      <p:sp>
        <p:nvSpPr>
          <p:cNvPr id="4" name="Slide Number Placeholder 3"/>
          <p:cNvSpPr>
            <a:spLocks noGrp="1"/>
          </p:cNvSpPr>
          <p:nvPr>
            <p:ph type="sldNum" sz="quarter" idx="5"/>
          </p:nvPr>
        </p:nvSpPr>
        <p:spPr/>
        <p:txBody>
          <a:bodyPr/>
          <a:lstStyle/>
          <a:p>
            <a:fld id="{730E65B1-1032-4944-9DDC-977790F00C48}" type="slidenum">
              <a:rPr lang="en-US" smtClean="0"/>
              <a:t>41</a:t>
            </a:fld>
            <a:endParaRPr lang="en-US"/>
          </a:p>
        </p:txBody>
      </p:sp>
    </p:spTree>
    <p:extLst>
      <p:ext uri="{BB962C8B-B14F-4D97-AF65-F5344CB8AC3E}">
        <p14:creationId xmlns:p14="http://schemas.microsoft.com/office/powerpoint/2010/main" val="40124578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zh-TW" altLang="en-US" b="1" dirty="0"/>
              <a:t>數據集</a:t>
            </a:r>
            <a:r>
              <a:rPr lang="zh-TW" altLang="en-US" dirty="0"/>
              <a:t>：研究人員手動從兩個雙模態數據集中拆分出兩對 </a:t>
            </a:r>
            <a:r>
              <a:rPr lang="en-US" altLang="zh-TW" dirty="0" err="1"/>
              <a:t>scRNA</a:t>
            </a:r>
            <a:r>
              <a:rPr lang="en-US" altLang="zh-TW" dirty="0"/>
              <a:t>-seq </a:t>
            </a:r>
            <a:r>
              <a:rPr lang="zh-TW" altLang="en-US" dirty="0"/>
              <a:t>和 </a:t>
            </a:r>
            <a:r>
              <a:rPr lang="en-US" altLang="zh-TW" dirty="0" err="1"/>
              <a:t>scATAC</a:t>
            </a:r>
            <a:r>
              <a:rPr lang="en-US" altLang="zh-TW" dirty="0"/>
              <a:t>-seq </a:t>
            </a:r>
            <a:r>
              <a:rPr lang="zh-TW" altLang="en-US" dirty="0"/>
              <a:t>數據集。這兩個雙模態數據集分別是 </a:t>
            </a:r>
            <a:r>
              <a:rPr lang="en-US" altLang="zh-TW" dirty="0"/>
              <a:t>SHARE-seq </a:t>
            </a:r>
            <a:r>
              <a:rPr lang="zh-TW" altLang="en-US" dirty="0"/>
              <a:t>的老鼠皮膚數據集和 </a:t>
            </a:r>
            <a:r>
              <a:rPr lang="en-US" altLang="zh-TW" dirty="0"/>
              <a:t>10x PBMCs </a:t>
            </a:r>
            <a:r>
              <a:rPr lang="zh-TW" altLang="en-US" dirty="0"/>
              <a:t>數據集。</a:t>
            </a:r>
          </a:p>
          <a:p>
            <a:pPr>
              <a:buFont typeface="+mj-lt"/>
              <a:buAutoNum type="arabicPeriod"/>
            </a:pPr>
            <a:r>
              <a:rPr lang="zh-TW" altLang="en-US" b="1" dirty="0"/>
              <a:t>方法的參數設置</a:t>
            </a:r>
            <a:r>
              <a:rPr lang="zh-TW" altLang="en-US" dirty="0"/>
              <a:t>： </a:t>
            </a:r>
          </a:p>
          <a:p>
            <a:pPr marL="742950" lvl="1" indent="-285750">
              <a:buFont typeface="+mj-lt"/>
              <a:buAutoNum type="arabicPeriod"/>
            </a:pPr>
            <a:r>
              <a:rPr lang="zh-TW" altLang="en-US" dirty="0"/>
              <a:t>對於 </a:t>
            </a:r>
            <a:r>
              <a:rPr lang="en-US" altLang="zh-TW" dirty="0"/>
              <a:t>Seurat3 </a:t>
            </a:r>
            <a:r>
              <a:rPr lang="zh-TW" altLang="en-US" dirty="0"/>
              <a:t>和 </a:t>
            </a:r>
            <a:r>
              <a:rPr lang="en-US" altLang="zh-TW" dirty="0"/>
              <a:t>LIGER</a:t>
            </a:r>
            <a:r>
              <a:rPr lang="zh-TW" altLang="en-US" dirty="0"/>
              <a:t>，他們按照相應的文檔中所描述的方式設置參數和進行數據預處理。</a:t>
            </a:r>
          </a:p>
          <a:p>
            <a:pPr marL="742950" lvl="1" indent="-285750">
              <a:buFont typeface="+mj-lt"/>
              <a:buAutoNum type="arabicPeriod"/>
            </a:pPr>
            <a:r>
              <a:rPr lang="zh-TW" altLang="en-US" dirty="0"/>
              <a:t>當使用 </a:t>
            </a:r>
            <a:r>
              <a:rPr lang="en-US" altLang="zh-TW" dirty="0"/>
              <a:t>LIGER </a:t>
            </a:r>
            <a:r>
              <a:rPr lang="zh-TW" altLang="en-US" dirty="0"/>
              <a:t>分析 </a:t>
            </a:r>
            <a:r>
              <a:rPr lang="en-US" altLang="zh-TW" dirty="0"/>
              <a:t>SHARE-seq </a:t>
            </a:r>
            <a:r>
              <a:rPr lang="zh-TW" altLang="en-US" dirty="0"/>
              <a:t>的老鼠皮膚數據集時，他們設置了參數 ‘</a:t>
            </a:r>
            <a:r>
              <a:rPr lang="en-US" altLang="zh-TW" dirty="0"/>
              <a:t>lambda’ </a:t>
            </a:r>
            <a:r>
              <a:rPr lang="zh-TW" altLang="en-US" dirty="0"/>
              <a:t>為 </a:t>
            </a:r>
            <a:r>
              <a:rPr lang="en-US" altLang="zh-TW" dirty="0"/>
              <a:t>30</a:t>
            </a:r>
            <a:r>
              <a:rPr lang="zh-TW" altLang="en-US" dirty="0"/>
              <a:t>，並將 ‘</a:t>
            </a:r>
            <a:r>
              <a:rPr lang="en-US" altLang="zh-TW" dirty="0" err="1"/>
              <a:t>ref_dataset</a:t>
            </a:r>
            <a:r>
              <a:rPr lang="en-US" altLang="zh-TW" dirty="0"/>
              <a:t>’ </a:t>
            </a:r>
            <a:r>
              <a:rPr lang="zh-TW" altLang="en-US" dirty="0"/>
              <a:t>設置為 </a:t>
            </a:r>
            <a:r>
              <a:rPr lang="en-US" altLang="zh-TW" dirty="0" err="1"/>
              <a:t>scATAC</a:t>
            </a:r>
            <a:r>
              <a:rPr lang="en-US" altLang="zh-TW" dirty="0"/>
              <a:t>-seq</a:t>
            </a:r>
            <a:r>
              <a:rPr lang="zh-TW" altLang="en-US" dirty="0"/>
              <a:t>，以獲得更好的對齊效果。</a:t>
            </a:r>
          </a:p>
          <a:p>
            <a:pPr>
              <a:buFont typeface="+mj-lt"/>
              <a:buAutoNum type="arabicPeriod"/>
            </a:pPr>
            <a:r>
              <a:rPr lang="zh-TW" altLang="en-US" b="1" dirty="0"/>
              <a:t>原始結果</a:t>
            </a:r>
            <a:r>
              <a:rPr lang="zh-TW" altLang="en-US" dirty="0"/>
              <a:t>：他們使用 </a:t>
            </a:r>
            <a:r>
              <a:rPr lang="en-US" altLang="zh-TW" dirty="0"/>
              <a:t>Seurat3 </a:t>
            </a:r>
            <a:r>
              <a:rPr lang="zh-TW" altLang="en-US" dirty="0"/>
              <a:t>構建了 </a:t>
            </a:r>
            <a:r>
              <a:rPr lang="en-US" altLang="zh-TW" dirty="0" err="1"/>
              <a:t>scATAC</a:t>
            </a:r>
            <a:r>
              <a:rPr lang="en-US" altLang="zh-TW" dirty="0"/>
              <a:t>-seq </a:t>
            </a:r>
            <a:r>
              <a:rPr lang="zh-TW" altLang="en-US" dirty="0"/>
              <a:t>的活性矩陣，然後使用 </a:t>
            </a:r>
            <a:r>
              <a:rPr lang="en-US" altLang="zh-TW" dirty="0" err="1"/>
              <a:t>scRNA</a:t>
            </a:r>
            <a:r>
              <a:rPr lang="en-US" altLang="zh-TW" dirty="0"/>
              <a:t>-seq </a:t>
            </a:r>
            <a:r>
              <a:rPr lang="zh-TW" altLang="en-US" dirty="0"/>
              <a:t>計數矩陣和活性矩陣的前</a:t>
            </a:r>
            <a:r>
              <a:rPr lang="en-US" altLang="zh-TW" dirty="0"/>
              <a:t>20</a:t>
            </a:r>
            <a:r>
              <a:rPr lang="zh-TW" altLang="en-US" dirty="0"/>
              <a:t>主成分</a:t>
            </a:r>
            <a:r>
              <a:rPr lang="en-US" altLang="zh-TW" dirty="0"/>
              <a:t>(PCs)</a:t>
            </a:r>
            <a:r>
              <a:rPr lang="zh-TW" altLang="en-US" dirty="0"/>
              <a:t>進行比較。</a:t>
            </a:r>
          </a:p>
          <a:p>
            <a:pPr>
              <a:buFont typeface="+mj-lt"/>
              <a:buAutoNum type="arabicPeriod"/>
            </a:pPr>
            <a:r>
              <a:rPr lang="zh-TW" altLang="en-US" b="1" dirty="0"/>
              <a:t>評估指標</a:t>
            </a:r>
            <a:r>
              <a:rPr lang="zh-TW" altLang="en-US" dirty="0"/>
              <a:t>：每種方法生成的整合結果都使用四個指標進行評估，這四個指標是錨定距離、錨定距離排名、輪廓指數和群集一致性。具體的詳細信息可以在補充說明</a:t>
            </a:r>
            <a:r>
              <a:rPr lang="en-US" altLang="zh-TW" dirty="0"/>
              <a:t>8</a:t>
            </a:r>
            <a:r>
              <a:rPr lang="zh-TW" altLang="en-US" dirty="0"/>
              <a:t>中找到</a:t>
            </a:r>
            <a:endParaRPr lang="en-US" altLang="zh-TW" dirty="0"/>
          </a:p>
          <a:p>
            <a:pPr>
              <a:buFont typeface="+mj-lt"/>
              <a:buAutoNum type="arabicPeriod"/>
            </a:pPr>
            <a:endParaRPr lang="en-US" altLang="zh-TW" dirty="0"/>
          </a:p>
          <a:p>
            <a:pPr algn="l">
              <a:buFont typeface="+mj-lt"/>
              <a:buNone/>
            </a:pPr>
            <a:r>
              <a:rPr lang="en-US" altLang="zh-TW" b="1" i="0" dirty="0">
                <a:effectLst/>
                <a:latin typeface="Söhne"/>
              </a:rPr>
              <a:t>- </a:t>
            </a:r>
            <a:r>
              <a:rPr lang="zh-TW" altLang="en-US" b="1" i="0" dirty="0">
                <a:effectLst/>
                <a:latin typeface="Söhne"/>
              </a:rPr>
              <a:t>錨定距離（</a:t>
            </a:r>
            <a:r>
              <a:rPr lang="en-US" altLang="zh-TW" b="1" i="0" dirty="0">
                <a:effectLst/>
                <a:latin typeface="Söhne"/>
              </a:rPr>
              <a:t>Anchoring Distance</a:t>
            </a:r>
            <a:r>
              <a:rPr lang="zh-TW" altLang="en-US" b="1" i="0" dirty="0">
                <a:effectLst/>
                <a:latin typeface="Söhne"/>
              </a:rPr>
              <a:t>）</a:t>
            </a:r>
            <a:r>
              <a:rPr lang="zh-TW" altLang="en-US" b="0" i="0" dirty="0">
                <a:effectLst/>
                <a:latin typeface="Söhne"/>
              </a:rPr>
              <a:t>：這個指標用於衡量</a:t>
            </a:r>
            <a:r>
              <a:rPr lang="en-US" altLang="zh-TW" b="0" i="0" dirty="0" err="1">
                <a:effectLst/>
                <a:latin typeface="Söhne"/>
              </a:rPr>
              <a:t>scRNA</a:t>
            </a:r>
            <a:r>
              <a:rPr lang="en-US" altLang="zh-TW" b="0" i="0" dirty="0">
                <a:effectLst/>
                <a:latin typeface="Söhne"/>
              </a:rPr>
              <a:t>-seq</a:t>
            </a:r>
            <a:r>
              <a:rPr lang="zh-TW" altLang="en-US" b="0" i="0" dirty="0">
                <a:effectLst/>
                <a:latin typeface="Söhne"/>
              </a:rPr>
              <a:t>和</a:t>
            </a:r>
            <a:r>
              <a:rPr lang="en-US" altLang="zh-TW" b="0" i="0" dirty="0" err="1">
                <a:effectLst/>
                <a:latin typeface="Söhne"/>
              </a:rPr>
              <a:t>scATAC</a:t>
            </a:r>
            <a:r>
              <a:rPr lang="en-US" altLang="zh-TW" b="0" i="0" dirty="0">
                <a:effectLst/>
                <a:latin typeface="Söhne"/>
              </a:rPr>
              <a:t>-seq</a:t>
            </a:r>
            <a:r>
              <a:rPr lang="zh-TW" altLang="en-US" b="0" i="0" dirty="0">
                <a:effectLst/>
                <a:latin typeface="Söhne"/>
              </a:rPr>
              <a:t>數據集中相匹配的細胞對之間的距離。錨定距離越小，表示兩種數據集中相對應的細胞在整合後的空間中越接近，這意味著數據整合的質量較高。</a:t>
            </a:r>
          </a:p>
          <a:p>
            <a:pPr algn="l">
              <a:buFont typeface="+mj-lt"/>
              <a:buNone/>
            </a:pPr>
            <a:r>
              <a:rPr lang="en-US" altLang="zh-TW" b="1" i="0" dirty="0">
                <a:effectLst/>
                <a:latin typeface="Söhne"/>
              </a:rPr>
              <a:t>- </a:t>
            </a:r>
            <a:r>
              <a:rPr lang="zh-TW" altLang="en-US" b="1" i="0" dirty="0">
                <a:effectLst/>
                <a:latin typeface="Söhne"/>
              </a:rPr>
              <a:t>錨定距離排名（</a:t>
            </a:r>
            <a:r>
              <a:rPr lang="en-US" altLang="zh-TW" b="1" i="0" dirty="0">
                <a:effectLst/>
                <a:latin typeface="Söhne"/>
              </a:rPr>
              <a:t>Anchoring Distance Rank</a:t>
            </a:r>
            <a:r>
              <a:rPr lang="zh-TW" altLang="en-US" b="1" i="0" dirty="0">
                <a:effectLst/>
                <a:latin typeface="Söhne"/>
              </a:rPr>
              <a:t>）</a:t>
            </a:r>
            <a:r>
              <a:rPr lang="zh-TW" altLang="en-US" b="0" i="0" dirty="0">
                <a:effectLst/>
                <a:latin typeface="Söhne"/>
              </a:rPr>
              <a:t>：這個指標是基於錨定距離的一個變體，它不僅考慮了匹配細胞對之間的距離，還考慮了這些距離在所有細胞對中的相對排名。排名越高，表示匹配細胞之間的相似度越高，從而表明數據整合效果較好。</a:t>
            </a:r>
          </a:p>
          <a:p>
            <a:pPr algn="l">
              <a:buFont typeface="+mj-lt"/>
              <a:buNone/>
            </a:pPr>
            <a:r>
              <a:rPr lang="en-US" altLang="zh-TW" b="1" i="0" dirty="0">
                <a:effectLst/>
                <a:latin typeface="Söhne"/>
              </a:rPr>
              <a:t>- </a:t>
            </a:r>
            <a:r>
              <a:rPr lang="zh-TW" altLang="en-US" b="1" i="0" dirty="0">
                <a:effectLst/>
                <a:latin typeface="Söhne"/>
              </a:rPr>
              <a:t>輪廓指數（</a:t>
            </a:r>
            <a:r>
              <a:rPr lang="en-US" altLang="zh-TW" b="1" i="0" dirty="0">
                <a:effectLst/>
                <a:latin typeface="Söhne"/>
              </a:rPr>
              <a:t>Silhouette Index</a:t>
            </a:r>
            <a:r>
              <a:rPr lang="zh-TW" altLang="en-US" b="1" i="0" dirty="0">
                <a:effectLst/>
                <a:latin typeface="Söhne"/>
              </a:rPr>
              <a:t>）</a:t>
            </a:r>
            <a:r>
              <a:rPr lang="zh-TW" altLang="en-US" b="0" i="0" dirty="0">
                <a:effectLst/>
                <a:latin typeface="Söhne"/>
              </a:rPr>
              <a:t>：輪廓指數是一種評估群集質量的指標，它測量每個細胞與其群集內其他細胞的相似度與最近的其他群集的細胞的相似度之間的差異。輪廓指數範圍通常在</a:t>
            </a:r>
            <a:r>
              <a:rPr lang="en-US" altLang="zh-TW" b="0" i="0" dirty="0">
                <a:effectLst/>
                <a:latin typeface="Söhne"/>
              </a:rPr>
              <a:t>-1</a:t>
            </a:r>
            <a:r>
              <a:rPr lang="zh-TW" altLang="en-US" b="0" i="0" dirty="0">
                <a:effectLst/>
                <a:latin typeface="Söhne"/>
              </a:rPr>
              <a:t>到</a:t>
            </a:r>
            <a:r>
              <a:rPr lang="en-US" altLang="zh-TW" b="0" i="0" dirty="0">
                <a:effectLst/>
                <a:latin typeface="Söhne"/>
              </a:rPr>
              <a:t>1</a:t>
            </a:r>
            <a:r>
              <a:rPr lang="zh-TW" altLang="en-US" b="0" i="0" dirty="0">
                <a:effectLst/>
                <a:latin typeface="Söhne"/>
              </a:rPr>
              <a:t>之間，值越高表示群集內的一致性和群集間的區分度越高。</a:t>
            </a:r>
          </a:p>
          <a:p>
            <a:pPr algn="l">
              <a:buFont typeface="+mj-lt"/>
              <a:buNone/>
            </a:pPr>
            <a:r>
              <a:rPr lang="en-US" altLang="zh-TW" b="1" i="0" dirty="0">
                <a:effectLst/>
                <a:latin typeface="Söhne"/>
              </a:rPr>
              <a:t>- </a:t>
            </a:r>
            <a:r>
              <a:rPr lang="zh-TW" altLang="en-US" b="1" i="0" dirty="0">
                <a:effectLst/>
                <a:latin typeface="Söhne"/>
              </a:rPr>
              <a:t>群集一致性（</a:t>
            </a:r>
            <a:r>
              <a:rPr lang="en-US" altLang="zh-TW" b="1" i="0" dirty="0">
                <a:effectLst/>
                <a:latin typeface="Söhne"/>
              </a:rPr>
              <a:t>Cluster Agreement</a:t>
            </a:r>
            <a:r>
              <a:rPr lang="zh-TW" altLang="en-US" b="1" i="0" dirty="0">
                <a:effectLst/>
                <a:latin typeface="Söhne"/>
              </a:rPr>
              <a:t>）</a:t>
            </a:r>
            <a:r>
              <a:rPr lang="zh-TW" altLang="en-US" b="0" i="0" dirty="0">
                <a:effectLst/>
                <a:latin typeface="Söhne"/>
              </a:rPr>
              <a:t>：這個指標評估不同方法生成的群集結果之間的一致性。高群集一致性意味著不同方法識別出相似的群集結構，這表明這些方法對數據的解釋具有一定的共識</a:t>
            </a:r>
          </a:p>
          <a:p>
            <a:pPr>
              <a:buFont typeface="+mj-lt"/>
              <a:buAutoNum type="arabicPeriod"/>
            </a:pPr>
            <a:endParaRPr lang="zh-TW" altLang="en-US" dirty="0"/>
          </a:p>
          <a:p>
            <a:endParaRPr lang="en-US" dirty="0"/>
          </a:p>
        </p:txBody>
      </p:sp>
      <p:sp>
        <p:nvSpPr>
          <p:cNvPr id="4" name="Slide Number Placeholder 3"/>
          <p:cNvSpPr>
            <a:spLocks noGrp="1"/>
          </p:cNvSpPr>
          <p:nvPr>
            <p:ph type="sldNum" sz="quarter" idx="5"/>
          </p:nvPr>
        </p:nvSpPr>
        <p:spPr/>
        <p:txBody>
          <a:bodyPr/>
          <a:lstStyle/>
          <a:p>
            <a:fld id="{730E65B1-1032-4944-9DDC-977790F00C48}" type="slidenum">
              <a:rPr lang="en-US" smtClean="0"/>
              <a:t>42</a:t>
            </a:fld>
            <a:endParaRPr lang="en-US"/>
          </a:p>
        </p:txBody>
      </p:sp>
    </p:spTree>
    <p:extLst>
      <p:ext uri="{BB962C8B-B14F-4D97-AF65-F5344CB8AC3E}">
        <p14:creationId xmlns:p14="http://schemas.microsoft.com/office/powerpoint/2010/main" val="14415387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t>
            </a:r>
            <a:r>
              <a:rPr lang="en-US" b="0" i="0" dirty="0">
                <a:solidFill>
                  <a:srgbClr val="374151"/>
                </a:solidFill>
                <a:effectLst/>
                <a:latin typeface="Söhne"/>
              </a:rPr>
              <a:t>You can always see three steps. – Preprocessing, Graph Construction, and Embedding.</a:t>
            </a:r>
          </a:p>
          <a:p>
            <a:endParaRPr lang="en-US" b="0" i="0" dirty="0">
              <a:solidFill>
                <a:srgbClr val="374151"/>
              </a:solidFill>
              <a:effectLst/>
              <a:latin typeface="Söhne"/>
            </a:endParaRPr>
          </a:p>
          <a:p>
            <a:r>
              <a:rPr lang="en-US" b="0" i="0" dirty="0">
                <a:solidFill>
                  <a:srgbClr val="374151"/>
                </a:solidFill>
                <a:effectLst/>
                <a:latin typeface="Söhne"/>
              </a:rPr>
              <a:t>Preprocessing is simple, </a:t>
            </a:r>
            <a:r>
              <a:rPr lang="en-US" b="0" i="0" dirty="0" err="1">
                <a:solidFill>
                  <a:srgbClr val="374151"/>
                </a:solidFill>
                <a:effectLst/>
                <a:latin typeface="Söhne"/>
              </a:rPr>
              <a:t>ehen</a:t>
            </a:r>
            <a:r>
              <a:rPr lang="en-US" b="0" i="0" dirty="0">
                <a:solidFill>
                  <a:srgbClr val="374151"/>
                </a:solidFill>
                <a:effectLst/>
                <a:latin typeface="Söhne"/>
              </a:rPr>
              <a:t> we obtain the gene expression levels of cells, we tend to transform them into a gene expression matrix.</a:t>
            </a:r>
            <a:br>
              <a:rPr lang="en-US" b="0" i="0" dirty="0">
                <a:solidFill>
                  <a:srgbClr val="374151"/>
                </a:solidFill>
                <a:effectLst/>
                <a:latin typeface="Söhne"/>
              </a:rPr>
            </a:br>
            <a:r>
              <a:rPr lang="en-US" b="0" i="0" dirty="0">
                <a:solidFill>
                  <a:srgbClr val="374151"/>
                </a:solidFill>
                <a:effectLst/>
                <a:latin typeface="Söhne"/>
              </a:rPr>
              <a:t>You can see that, on this gene expression matrix, the values are continuous and include decimal points.</a:t>
            </a:r>
          </a:p>
          <a:p>
            <a:endParaRPr lang="en-US" b="0" i="0" dirty="0">
              <a:solidFill>
                <a:srgbClr val="374151"/>
              </a:solidFill>
              <a:effectLst/>
              <a:latin typeface="Söhne"/>
            </a:endParaRPr>
          </a:p>
          <a:p>
            <a:r>
              <a:rPr lang="en-US" b="0" i="0" dirty="0">
                <a:solidFill>
                  <a:srgbClr val="374151"/>
                </a:solidFill>
                <a:effectLst/>
                <a:latin typeface="Söhne"/>
              </a:rPr>
              <a:t>To simplify, we will transform these continuous values through a discrete conversion. We divide these values into five groups.</a:t>
            </a:r>
          </a:p>
          <a:p>
            <a:r>
              <a:rPr lang="en-US" b="0" i="0" dirty="0">
                <a:solidFill>
                  <a:srgbClr val="374151"/>
                </a:solidFill>
                <a:effectLst/>
                <a:latin typeface="Söhne"/>
              </a:rPr>
              <a:t>Each group here implies that the gene expression levels within the same group are relatively similar</a:t>
            </a:r>
          </a:p>
          <a:p>
            <a:endParaRPr lang="en-US" b="0" i="0" dirty="0">
              <a:solidFill>
                <a:srgbClr val="374151"/>
              </a:solidFill>
              <a:effectLst/>
              <a:latin typeface="Söhne"/>
            </a:endParaRPr>
          </a:p>
          <a:p>
            <a:r>
              <a:rPr lang="en-US" b="0" i="0" dirty="0">
                <a:solidFill>
                  <a:srgbClr val="374151"/>
                </a:solidFill>
                <a:effectLst/>
                <a:latin typeface="Söhne"/>
              </a:rPr>
              <a:t>After completing the conversion of discrete values, we can do the graph construction. </a:t>
            </a:r>
          </a:p>
          <a:p>
            <a:r>
              <a:rPr lang="en-US" b="0" i="0" dirty="0">
                <a:solidFill>
                  <a:srgbClr val="374151"/>
                </a:solidFill>
                <a:effectLst/>
                <a:latin typeface="Söhne"/>
              </a:rPr>
              <a:t>Graph construction is very easy, you put cells and genes on a graph. Circles represent Cells, and Squares represent Genes. </a:t>
            </a:r>
          </a:p>
          <a:p>
            <a:r>
              <a:rPr lang="en-US" b="0" i="0" dirty="0">
                <a:solidFill>
                  <a:srgbClr val="374151"/>
                </a:solidFill>
                <a:effectLst/>
                <a:latin typeface="Söhne"/>
              </a:rPr>
              <a:t>You know their relationship, you know which genes expressed in which cells, and you also know the value, the value is their expression level. </a:t>
            </a:r>
          </a:p>
          <a:p>
            <a:r>
              <a:rPr lang="en-US" b="0" i="0" dirty="0">
                <a:solidFill>
                  <a:srgbClr val="374151"/>
                </a:solidFill>
                <a:effectLst/>
                <a:latin typeface="Söhne"/>
              </a:rPr>
              <a:t>So based on their association, you can line them up. And this, is graph construction! </a:t>
            </a:r>
          </a:p>
          <a:p>
            <a:endParaRPr lang="en-US" b="0" i="0" dirty="0">
              <a:solidFill>
                <a:srgbClr val="374151"/>
              </a:solidFill>
              <a:effectLst/>
              <a:latin typeface="Söhne"/>
            </a:endParaRPr>
          </a:p>
          <a:p>
            <a:r>
              <a:rPr lang="en-US" b="0" i="0" dirty="0">
                <a:solidFill>
                  <a:srgbClr val="374151"/>
                </a:solidFill>
                <a:effectLst/>
                <a:latin typeface="Söhne"/>
              </a:rPr>
              <a:t>We will discuss SIMBA embedding later.</a:t>
            </a:r>
          </a:p>
        </p:txBody>
      </p:sp>
      <p:sp>
        <p:nvSpPr>
          <p:cNvPr id="4" name="Slide Number Placeholder 3"/>
          <p:cNvSpPr>
            <a:spLocks noGrp="1"/>
          </p:cNvSpPr>
          <p:nvPr>
            <p:ph type="sldNum" sz="quarter" idx="5"/>
          </p:nvPr>
        </p:nvSpPr>
        <p:spPr/>
        <p:txBody>
          <a:bodyPr/>
          <a:lstStyle/>
          <a:p>
            <a:fld id="{FBF5148F-E0CF-4A3E-922E-B1B7AB039E21}" type="slidenum">
              <a:rPr lang="en-US" smtClean="0"/>
              <a:t>43</a:t>
            </a:fld>
            <a:endParaRPr lang="en-US"/>
          </a:p>
        </p:txBody>
      </p:sp>
    </p:spTree>
    <p:extLst>
      <p:ext uri="{BB962C8B-B14F-4D97-AF65-F5344CB8AC3E}">
        <p14:creationId xmlns:p14="http://schemas.microsoft.com/office/powerpoint/2010/main" val="22319627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Peak selection (truncated-SVD) </a:t>
            </a:r>
            <a:r>
              <a:rPr lang="zh-TW" altLang="en-US" sz="1200" dirty="0"/>
              <a:t>包括 </a:t>
            </a:r>
            <a:r>
              <a:rPr lang="en-US" altLang="zh-TW" sz="1200" dirty="0"/>
              <a:t>find main peak (elbow plot</a:t>
            </a:r>
            <a:r>
              <a:rPr lang="zh-TW" altLang="en-US" sz="1200" dirty="0"/>
              <a:t>，前</a:t>
            </a:r>
            <a:r>
              <a:rPr lang="en-US" altLang="zh-TW" sz="1200" dirty="0"/>
              <a:t>k</a:t>
            </a:r>
            <a:r>
              <a:rPr lang="zh-TW" altLang="en-US" sz="1200" dirty="0"/>
              <a:t>個</a:t>
            </a:r>
            <a:r>
              <a:rPr lang="en-US" altLang="zh-TW" sz="1200" dirty="0"/>
              <a:t>Pcs)</a:t>
            </a:r>
            <a:r>
              <a:rPr lang="zh-TW" altLang="en-US" sz="1200" dirty="0"/>
              <a:t>、</a:t>
            </a:r>
            <a:r>
              <a:rPr lang="en-US" altLang="zh-TW" sz="1200" dirty="0"/>
              <a:t>pick peak (knee point detection algorithm)</a:t>
            </a:r>
            <a:r>
              <a:rPr lang="zh-TW" altLang="en-US" sz="1200" dirty="0"/>
              <a:t>、</a:t>
            </a:r>
            <a:r>
              <a:rPr lang="en-US" altLang="zh-TW" sz="1200" dirty="0"/>
              <a:t>combine peak (variable peaks)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truncated-SVD</a:t>
            </a:r>
            <a:r>
              <a:rPr lang="zh-TW" altLang="en-US" sz="1200" dirty="0"/>
              <a:t>：只保留具有信息的</a:t>
            </a:r>
            <a:r>
              <a:rPr lang="en-US" altLang="zh-TW" sz="1200" dirty="0"/>
              <a:t>peak</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PCs selection</a:t>
            </a:r>
            <a:r>
              <a:rPr lang="en-US" altLang="zh-TW" sz="1200" dirty="0"/>
              <a:t>(</a:t>
            </a:r>
            <a:r>
              <a:rPr lang="en-US" altLang="zh-TW" sz="1200" b="1" dirty="0"/>
              <a:t>elbow</a:t>
            </a:r>
            <a:r>
              <a:rPr lang="en-US" altLang="zh-TW" sz="1200" dirty="0"/>
              <a:t>)</a:t>
            </a:r>
            <a:r>
              <a:rPr lang="en-US" sz="1200" dirty="0"/>
              <a:t>: </a:t>
            </a:r>
            <a:r>
              <a:rPr lang="zh-TW" altLang="en-US" sz="1200" dirty="0"/>
              <a:t>降維，把主幹挑出來，同時達到去噪</a:t>
            </a:r>
            <a:endParaRPr lang="en-US" altLang="zh-TW" sz="1200" dirty="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peak pick</a:t>
            </a:r>
            <a:r>
              <a:rPr lang="zh-TW" altLang="en-US" sz="1200" dirty="0"/>
              <a:t> </a:t>
            </a:r>
            <a:r>
              <a:rPr lang="en-US" altLang="zh-TW" sz="1200" b="1" dirty="0"/>
              <a:t>(knee point detection algo</a:t>
            </a:r>
            <a:r>
              <a:rPr lang="en-US" altLang="zh-TW" sz="1200" dirty="0"/>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Variable peaks combination</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b="0" i="0" dirty="0">
                <a:solidFill>
                  <a:srgbClr val="222222"/>
                </a:solidFill>
                <a:effectLst/>
                <a:latin typeface="Harding"/>
              </a:rPr>
              <a:t>過濾掉出現在少於三個單元格中的峰值。可選擇性地，我們實施了一個可擴展的截斷奇異值分解（</a:t>
            </a:r>
            <a:r>
              <a:rPr lang="en-US" altLang="zh-TW" b="0" i="0" dirty="0">
                <a:solidFill>
                  <a:srgbClr val="222222"/>
                </a:solidFill>
                <a:effectLst/>
                <a:latin typeface="Harding"/>
              </a:rPr>
              <a:t>SVD</a:t>
            </a:r>
            <a:r>
              <a:rPr lang="zh-TW" altLang="en-US" b="0" i="0" dirty="0">
                <a:solidFill>
                  <a:srgbClr val="222222"/>
                </a:solidFill>
                <a:effectLst/>
                <a:latin typeface="Harding"/>
              </a:rPr>
              <a:t>）程序，以選擇變量峰值作為初步步驟，進一步過濾非信息性的峰值並加快訓練過程。首先，根據方差比例的拐點圖，選擇了前</a:t>
            </a:r>
            <a:r>
              <a:rPr lang="en-US" altLang="zh-TW" b="0" i="0" dirty="0">
                <a:solidFill>
                  <a:srgbClr val="222222"/>
                </a:solidFill>
                <a:effectLst/>
                <a:latin typeface="Harding"/>
              </a:rPr>
              <a:t>k</a:t>
            </a:r>
            <a:r>
              <a:rPr lang="zh-TW" altLang="en-US" b="0" i="0" dirty="0">
                <a:solidFill>
                  <a:srgbClr val="222222"/>
                </a:solidFill>
                <a:effectLst/>
                <a:latin typeface="Harding"/>
              </a:rPr>
              <a:t>個主成分（</a:t>
            </a:r>
            <a:r>
              <a:rPr lang="en-US" altLang="zh-TW" b="0" i="0" dirty="0">
                <a:solidFill>
                  <a:srgbClr val="222222"/>
                </a:solidFill>
                <a:effectLst/>
                <a:latin typeface="Harding"/>
              </a:rPr>
              <a:t>PCs</a:t>
            </a:r>
            <a:r>
              <a:rPr lang="zh-TW" altLang="en-US" b="0" i="0" dirty="0">
                <a:solidFill>
                  <a:srgbClr val="222222"/>
                </a:solidFill>
                <a:effectLst/>
                <a:latin typeface="Harding"/>
              </a:rPr>
              <a:t>），其中</a:t>
            </a:r>
            <a:r>
              <a:rPr lang="en-US" altLang="zh-TW" b="0" i="0" dirty="0">
                <a:solidFill>
                  <a:srgbClr val="222222"/>
                </a:solidFill>
                <a:effectLst/>
                <a:latin typeface="Harding"/>
              </a:rPr>
              <a:t>k</a:t>
            </a:r>
            <a:r>
              <a:rPr lang="zh-TW" altLang="en-US" b="0" i="0" dirty="0">
                <a:solidFill>
                  <a:srgbClr val="222222"/>
                </a:solidFill>
                <a:effectLst/>
                <a:latin typeface="Harding"/>
              </a:rPr>
              <a:t>的選擇基於拐點圖。然後，對於每個前</a:t>
            </a:r>
            <a:r>
              <a:rPr lang="en-US" altLang="zh-TW" b="0" i="0" dirty="0">
                <a:solidFill>
                  <a:srgbClr val="222222"/>
                </a:solidFill>
                <a:effectLst/>
                <a:latin typeface="Harding"/>
              </a:rPr>
              <a:t>k</a:t>
            </a:r>
            <a:r>
              <a:rPr lang="zh-TW" altLang="en-US" b="0" i="0" dirty="0">
                <a:solidFill>
                  <a:srgbClr val="222222"/>
                </a:solidFill>
                <a:effectLst/>
                <a:latin typeface="Harding"/>
              </a:rPr>
              <a:t>個</a:t>
            </a:r>
            <a:r>
              <a:rPr lang="en-US" altLang="zh-TW" b="0" i="0" dirty="0">
                <a:solidFill>
                  <a:srgbClr val="222222"/>
                </a:solidFill>
                <a:effectLst/>
                <a:latin typeface="Harding"/>
              </a:rPr>
              <a:t>PC</a:t>
            </a:r>
            <a:r>
              <a:rPr lang="zh-TW" altLang="en-US" b="0" i="0" dirty="0">
                <a:solidFill>
                  <a:srgbClr val="222222"/>
                </a:solidFill>
                <a:effectLst/>
                <a:latin typeface="Harding"/>
              </a:rPr>
              <a:t>，根據加載使用的膝點檢測算法自動選擇峰值，該算法由“</a:t>
            </a:r>
            <a:r>
              <a:rPr lang="en-US" altLang="zh-TW" b="0" i="0" dirty="0">
                <a:solidFill>
                  <a:srgbClr val="222222"/>
                </a:solidFill>
                <a:effectLst/>
                <a:latin typeface="Harding"/>
              </a:rPr>
              <a:t>kneed”</a:t>
            </a:r>
            <a:r>
              <a:rPr lang="zh-TW" altLang="en-US" b="0" i="0" dirty="0">
                <a:solidFill>
                  <a:srgbClr val="222222"/>
                </a:solidFill>
                <a:effectLst/>
                <a:latin typeface="Harding"/>
              </a:rPr>
              <a:t>實現。最後，將每個</a:t>
            </a:r>
            <a:r>
              <a:rPr lang="en-US" altLang="zh-TW" b="0" i="0" dirty="0">
                <a:solidFill>
                  <a:srgbClr val="222222"/>
                </a:solidFill>
                <a:effectLst/>
                <a:latin typeface="Harding"/>
              </a:rPr>
              <a:t>PC</a:t>
            </a:r>
            <a:r>
              <a:rPr lang="zh-TW" altLang="en-US" b="0" i="0" dirty="0">
                <a:solidFill>
                  <a:srgbClr val="222222"/>
                </a:solidFill>
                <a:effectLst/>
                <a:latin typeface="Harding"/>
              </a:rPr>
              <a:t>選擇的峰值結合起來，稱為“變量峰值”。與</a:t>
            </a:r>
            <a:r>
              <a:rPr lang="en-US" altLang="zh-TW" b="0" i="0" dirty="0" err="1">
                <a:solidFill>
                  <a:srgbClr val="222222"/>
                </a:solidFill>
                <a:effectLst/>
                <a:latin typeface="Harding"/>
              </a:rPr>
              <a:t>scRNA</a:t>
            </a:r>
            <a:r>
              <a:rPr lang="en-US" altLang="zh-TW" b="0" i="0" dirty="0">
                <a:solidFill>
                  <a:srgbClr val="222222"/>
                </a:solidFill>
                <a:effectLst/>
                <a:latin typeface="Harding"/>
              </a:rPr>
              <a:t>-seq</a:t>
            </a:r>
            <a:r>
              <a:rPr lang="zh-TW" altLang="en-US" b="0" i="0" dirty="0">
                <a:solidFill>
                  <a:srgbClr val="222222"/>
                </a:solidFill>
                <a:effectLst/>
                <a:latin typeface="Harding"/>
              </a:rPr>
              <a:t>數據觀察到的情況類似，選擇變量峰值的可選步驟對結果的單元嵌入影響微乎其微。儘管對結果的嵌入影響很小，但這個特徵選擇步驟在減少訓練過程時間方面具有顯著的實際優勢。</a:t>
            </a:r>
            <a:endParaRPr lang="en-US" sz="1200" dirty="0"/>
          </a:p>
        </p:txBody>
      </p:sp>
      <p:sp>
        <p:nvSpPr>
          <p:cNvPr id="4" name="Slide Number Placeholder 3"/>
          <p:cNvSpPr>
            <a:spLocks noGrp="1"/>
          </p:cNvSpPr>
          <p:nvPr>
            <p:ph type="sldNum" sz="quarter" idx="5"/>
          </p:nvPr>
        </p:nvSpPr>
        <p:spPr/>
        <p:txBody>
          <a:bodyPr/>
          <a:lstStyle/>
          <a:p>
            <a:fld id="{FBF5148F-E0CF-4A3E-922E-B1B7AB039E21}" type="slidenum">
              <a:rPr lang="en-US" smtClean="0"/>
              <a:t>44</a:t>
            </a:fld>
            <a:endParaRPr lang="en-US"/>
          </a:p>
        </p:txBody>
      </p:sp>
    </p:spTree>
    <p:extLst>
      <p:ext uri="{BB962C8B-B14F-4D97-AF65-F5344CB8AC3E}">
        <p14:creationId xmlns:p14="http://schemas.microsoft.com/office/powerpoint/2010/main" val="40715333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Batch correction analysis is essentially the same, but it involves constructing different graphs for different batches</a:t>
            </a:r>
          </a:p>
          <a:p>
            <a:r>
              <a:rPr lang="en-US" b="0" i="0" dirty="0">
                <a:solidFill>
                  <a:srgbClr val="374151"/>
                </a:solidFill>
                <a:effectLst/>
                <a:latin typeface="Söhne"/>
              </a:rPr>
              <a:t>So, here you can see many graphs</a:t>
            </a:r>
          </a:p>
          <a:p>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dirty="0">
                <a:solidFill>
                  <a:srgbClr val="374151"/>
                </a:solidFill>
                <a:effectLst/>
                <a:latin typeface="Söhne"/>
              </a:rPr>
              <a:t>truncated randomized SVD</a:t>
            </a:r>
            <a:r>
              <a:rPr lang="zh-TW" altLang="en-US" sz="1200" b="0" i="0" dirty="0">
                <a:solidFill>
                  <a:srgbClr val="374151"/>
                </a:solidFill>
                <a:effectLst/>
                <a:latin typeface="Söhne"/>
              </a:rPr>
              <a:t>：</a:t>
            </a:r>
            <a:r>
              <a:rPr lang="en-US" b="1" dirty="0">
                <a:effectLst/>
              </a:rPr>
              <a:t>U</a:t>
            </a:r>
            <a:r>
              <a:rPr lang="zh-TW" altLang="en-US" b="1" dirty="0">
                <a:effectLst/>
              </a:rPr>
              <a:t>、</a:t>
            </a:r>
            <a:r>
              <a:rPr lang="el-GR" b="1" dirty="0">
                <a:effectLst/>
              </a:rPr>
              <a:t>Σ</a:t>
            </a:r>
            <a:r>
              <a:rPr lang="zh-TW" altLang="en-US" b="1" dirty="0">
                <a:effectLst/>
              </a:rPr>
              <a:t>、</a:t>
            </a:r>
            <a:r>
              <a:rPr lang="en-US" b="1" dirty="0">
                <a:effectLst/>
              </a:rPr>
              <a:t>V</a:t>
            </a:r>
            <a:endParaRPr lang="en-US" sz="1200" b="0" i="0" dirty="0">
              <a:solidFill>
                <a:srgbClr val="374151"/>
              </a:solidFill>
              <a:effectLst/>
              <a:latin typeface="Söhne"/>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effectLst/>
              </a:rPr>
              <a:t>L2 </a:t>
            </a:r>
            <a:r>
              <a:rPr lang="zh-TW" altLang="en-US" b="1" dirty="0">
                <a:effectLst/>
              </a:rPr>
              <a:t>归一化</a:t>
            </a:r>
            <a:r>
              <a:rPr lang="zh-TW" altLang="en-US" sz="1200" b="0" i="0" dirty="0">
                <a:solidFill>
                  <a:srgbClr val="374151"/>
                </a:solidFill>
                <a:effectLst/>
                <a:latin typeface="Söhne"/>
              </a:rPr>
              <a:t>：</a:t>
            </a:r>
            <a:r>
              <a:rPr lang="zh-CN" altLang="en-US" dirty="0"/>
              <a:t>矩阵</a:t>
            </a:r>
            <a:r>
              <a:rPr lang="en-US" altLang="zh-CN" dirty="0"/>
              <a:t>U</a:t>
            </a:r>
            <a:r>
              <a:rPr lang="zh-CN" altLang="en-US" dirty="0"/>
              <a:t>和矩阵</a:t>
            </a:r>
            <a:r>
              <a:rPr lang="en-US" altLang="zh-CN" dirty="0"/>
              <a:t>V</a:t>
            </a:r>
            <a:r>
              <a:rPr lang="zh-CN" altLang="en-US" dirty="0"/>
              <a:t>都被进行了</a:t>
            </a:r>
            <a:r>
              <a:rPr lang="en-US" altLang="zh-CN" dirty="0"/>
              <a:t>L2</a:t>
            </a:r>
            <a:r>
              <a:rPr lang="zh-CN" altLang="en-US" dirty="0"/>
              <a:t>归一化操作，以确保它们的向量表示在单位长度上。</a:t>
            </a: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rPr>
              <a:t>寻找最近邻</a:t>
            </a:r>
            <a:r>
              <a:rPr lang="zh-CN" altLang="en-US" dirty="0"/>
              <a:t>：然后，在</a:t>
            </a:r>
            <a:r>
              <a:rPr lang="en-US" altLang="zh-CN" dirty="0"/>
              <a:t>U</a:t>
            </a:r>
            <a:r>
              <a:rPr lang="zh-CN" altLang="en-US" dirty="0"/>
              <a:t>和</a:t>
            </a:r>
            <a:r>
              <a:rPr lang="en-US" altLang="zh-CN" dirty="0"/>
              <a:t>V</a:t>
            </a:r>
            <a:r>
              <a:rPr lang="zh-CN" altLang="en-US" dirty="0"/>
              <a:t>之间的每个细胞中，搜索了</a:t>
            </a:r>
            <a:r>
              <a:rPr lang="en-US" altLang="zh-CN" dirty="0"/>
              <a:t>k</a:t>
            </a:r>
            <a:r>
              <a:rPr lang="zh-CN" altLang="en-US" dirty="0"/>
              <a:t>个最近邻细胞（默认</a:t>
            </a:r>
            <a:r>
              <a:rPr lang="en-US" altLang="zh-CN" dirty="0"/>
              <a:t>k=20</a:t>
            </a:r>
            <a:r>
              <a:rPr lang="zh-CN" altLang="en-US" dirty="0"/>
              <a:t>）。也就是说，对于</a:t>
            </a:r>
            <a:r>
              <a:rPr lang="en-US" altLang="zh-CN" dirty="0"/>
              <a:t>U</a:t>
            </a:r>
            <a:r>
              <a:rPr lang="zh-CN" altLang="en-US" dirty="0"/>
              <a:t>中的每个细胞，找到了在</a:t>
            </a:r>
            <a:r>
              <a:rPr lang="en-US" altLang="zh-CN" dirty="0"/>
              <a:t>V</a:t>
            </a:r>
            <a:r>
              <a:rPr lang="zh-CN" altLang="en-US" dirty="0"/>
              <a:t>中距离最近的</a:t>
            </a:r>
            <a:r>
              <a:rPr lang="en-US" altLang="zh-CN" dirty="0"/>
              <a:t>k</a:t>
            </a:r>
            <a:r>
              <a:rPr lang="zh-CN" altLang="en-US" dirty="0"/>
              <a:t>个细胞</a:t>
            </a: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rPr>
              <a:t>保留共同最近邻</a:t>
            </a:r>
            <a:r>
              <a:rPr lang="zh-CN" altLang="en-US" dirty="0"/>
              <a:t>：最后，只有在</a:t>
            </a:r>
            <a:r>
              <a:rPr lang="en-US" altLang="zh-CN" dirty="0"/>
              <a:t>U</a:t>
            </a:r>
            <a:r>
              <a:rPr lang="zh-CN" altLang="en-US" dirty="0"/>
              <a:t>和</a:t>
            </a:r>
            <a:r>
              <a:rPr lang="en-US" altLang="zh-CN" dirty="0"/>
              <a:t>V</a:t>
            </a:r>
            <a:r>
              <a:rPr lang="zh-CN" altLang="en-US" dirty="0"/>
              <a:t>中互为最近邻的细胞被保留为推断的边缘（</a:t>
            </a:r>
            <a:r>
              <a:rPr lang="en-US" altLang="zh-CN" dirty="0"/>
              <a:t>edges</a:t>
            </a:r>
            <a:r>
              <a:rPr lang="zh-CN" altLang="en-US" dirty="0"/>
              <a:t>）表示不同批次之间的细胞之间的连接</a:t>
            </a:r>
            <a:endParaRPr lang="en-US" sz="1200" dirty="0"/>
          </a:p>
          <a:p>
            <a:endParaRPr lang="en-US" dirty="0"/>
          </a:p>
        </p:txBody>
      </p:sp>
      <p:sp>
        <p:nvSpPr>
          <p:cNvPr id="4" name="Slide Number Placeholder 3"/>
          <p:cNvSpPr>
            <a:spLocks noGrp="1"/>
          </p:cNvSpPr>
          <p:nvPr>
            <p:ph type="sldNum" sz="quarter" idx="5"/>
          </p:nvPr>
        </p:nvSpPr>
        <p:spPr/>
        <p:txBody>
          <a:bodyPr/>
          <a:lstStyle/>
          <a:p>
            <a:fld id="{730E65B1-1032-4944-9DDC-977790F00C48}" type="slidenum">
              <a:rPr lang="en-US" smtClean="0"/>
              <a:t>45</a:t>
            </a:fld>
            <a:endParaRPr lang="en-US"/>
          </a:p>
        </p:txBody>
      </p:sp>
    </p:spTree>
    <p:extLst>
      <p:ext uri="{BB962C8B-B14F-4D97-AF65-F5344CB8AC3E}">
        <p14:creationId xmlns:p14="http://schemas.microsoft.com/office/powerpoint/2010/main" val="10834622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Let’s not go into further about Multi-omics Integration; it's the same concept.</a:t>
            </a:r>
            <a:endParaRPr lang="en-US" sz="1200"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374151"/>
                </a:solidFill>
                <a:effectLst/>
                <a:latin typeface="Söhne"/>
              </a:rPr>
              <a:t>* Gene activity calculation</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374151"/>
                </a:solidFill>
                <a:effectLst/>
                <a:latin typeface="Söhne"/>
              </a:rPr>
              <a:t>* truncated randomized SVD</a:t>
            </a:r>
            <a:endParaRPr lang="en-US" sz="1200" dirty="0"/>
          </a:p>
          <a:p>
            <a:endParaRPr lang="en-US" dirty="0"/>
          </a:p>
        </p:txBody>
      </p:sp>
      <p:sp>
        <p:nvSpPr>
          <p:cNvPr id="4" name="Slide Number Placeholder 3"/>
          <p:cNvSpPr>
            <a:spLocks noGrp="1"/>
          </p:cNvSpPr>
          <p:nvPr>
            <p:ph type="sldNum" sz="quarter" idx="5"/>
          </p:nvPr>
        </p:nvSpPr>
        <p:spPr/>
        <p:txBody>
          <a:bodyPr/>
          <a:lstStyle/>
          <a:p>
            <a:fld id="{730E65B1-1032-4944-9DDC-977790F00C48}" type="slidenum">
              <a:rPr lang="en-US" smtClean="0"/>
              <a:t>46</a:t>
            </a:fld>
            <a:endParaRPr lang="en-US"/>
          </a:p>
        </p:txBody>
      </p:sp>
    </p:spTree>
    <p:extLst>
      <p:ext uri="{BB962C8B-B14F-4D97-AF65-F5344CB8AC3E}">
        <p14:creationId xmlns:p14="http://schemas.microsoft.com/office/powerpoint/2010/main" val="18395568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zh-TW" altLang="en-US" b="0" i="0" dirty="0">
                <a:solidFill>
                  <a:srgbClr val="222222"/>
                </a:solidFill>
                <a:effectLst/>
                <a:latin typeface="Harding"/>
              </a:rPr>
              <a:t>最大分數 </a:t>
            </a:r>
            <a:r>
              <a:rPr lang="en-US" altLang="zh-TW" b="0" i="0" baseline="30000" dirty="0">
                <a:solidFill>
                  <a:srgbClr val="006699"/>
                </a:solidFill>
                <a:effectLst/>
                <a:latin typeface="Harding"/>
                <a:hlinkClick r:id="rId3" tooltip="Jiang, L., Chen, H., Pinello, L. &amp; Yuan, G.-C. GiniClust: detecting rare cell types from single-cell gene expression data with Gini index. Genome Biol. 17, 144 (2016)."/>
              </a:rPr>
              <a:t>46</a:t>
            </a:r>
            <a:r>
              <a:rPr lang="zh-TW" altLang="en-US" b="0" i="0" dirty="0">
                <a:solidFill>
                  <a:srgbClr val="222222"/>
                </a:solidFill>
                <a:effectLst/>
                <a:latin typeface="Harding"/>
              </a:rPr>
              <a:t> 是對前</a:t>
            </a:r>
            <a:r>
              <a:rPr lang="en-US" altLang="zh-TW" b="0" i="0" dirty="0">
                <a:solidFill>
                  <a:srgbClr val="222222"/>
                </a:solidFill>
                <a:effectLst/>
                <a:latin typeface="Harding"/>
              </a:rPr>
              <a:t>50</a:t>
            </a:r>
            <a:r>
              <a:rPr lang="zh-TW" altLang="en-US" b="0" i="0" dirty="0">
                <a:solidFill>
                  <a:srgbClr val="222222"/>
                </a:solidFill>
                <a:effectLst/>
                <a:latin typeface="Harding"/>
              </a:rPr>
              <a:t>個細胞的標準化概率進行平均，用作對細胞類型分配的信心度指標，並有助於過濾噪音特徵（較高的值表示較高的細胞類型特異性）</a:t>
            </a:r>
            <a:endParaRPr lang="en-US" altLang="zh-TW" b="0" i="0" dirty="0">
              <a:solidFill>
                <a:srgbClr val="222222"/>
              </a:solidFill>
              <a:effectLst/>
              <a:latin typeface="Harding"/>
            </a:endParaRPr>
          </a:p>
          <a:p>
            <a:pPr marL="228600" indent="-228600">
              <a:buAutoNum type="arabicPeriod"/>
            </a:pPr>
            <a:r>
              <a:rPr lang="zh-TW" altLang="en-US" b="0" i="0" dirty="0">
                <a:solidFill>
                  <a:srgbClr val="222222"/>
                </a:solidFill>
                <a:effectLst/>
                <a:latin typeface="Harding"/>
              </a:rPr>
              <a:t>基尼指數 </a:t>
            </a:r>
            <a:r>
              <a:rPr lang="en-US" altLang="zh-TW" b="0" i="0" baseline="30000" dirty="0">
                <a:solidFill>
                  <a:srgbClr val="006699"/>
                </a:solidFill>
                <a:effectLst/>
                <a:latin typeface="Harding"/>
                <a:hlinkClick r:id="rId3" tooltip="Jiang, L., Chen, H., Pinello, L. &amp; Yuan, G.-C. GiniClust: detecting rare cell types from single-cell gene expression data with Gini index. Genome Biol. 17, 144 (2016)."/>
              </a:rPr>
              <a:t>46</a:t>
            </a:r>
            <a:r>
              <a:rPr lang="zh-TW" altLang="en-US" b="0" i="0" dirty="0">
                <a:solidFill>
                  <a:srgbClr val="222222"/>
                </a:solidFill>
                <a:effectLst/>
                <a:latin typeface="Harding"/>
              </a:rPr>
              <a:t> 是從經過</a:t>
            </a:r>
            <a:r>
              <a:rPr lang="en-US" altLang="zh-TW" b="0" i="0" dirty="0" err="1">
                <a:solidFill>
                  <a:srgbClr val="222222"/>
                </a:solidFill>
                <a:effectLst/>
                <a:latin typeface="Harding"/>
              </a:rPr>
              <a:t>Softmax</a:t>
            </a:r>
            <a:r>
              <a:rPr lang="zh-TW" altLang="en-US" b="0" i="0" dirty="0">
                <a:solidFill>
                  <a:srgbClr val="222222"/>
                </a:solidFill>
                <a:effectLst/>
                <a:latin typeface="Harding"/>
              </a:rPr>
              <a:t>轉換的概率分佈計算出來，用於評估與完全均勻分佈的偏差，因此顯示出不平衡分佈（即細胞類型特異性）的特徵被賦予較高的基尼指數值（較高的值表示較高的細胞類型特異性）</a:t>
            </a:r>
            <a:endParaRPr lang="en-US" altLang="zh-TW" b="0" i="0" dirty="0">
              <a:solidFill>
                <a:srgbClr val="222222"/>
              </a:solidFill>
              <a:effectLst/>
              <a:latin typeface="Harding"/>
            </a:endParaRPr>
          </a:p>
          <a:p>
            <a:pPr marL="228600" indent="-228600">
              <a:buAutoNum type="arabicPeriod"/>
            </a:pPr>
            <a:r>
              <a:rPr lang="zh-TW" altLang="en-US" b="0" i="0" dirty="0">
                <a:solidFill>
                  <a:srgbClr val="222222"/>
                </a:solidFill>
                <a:effectLst/>
                <a:latin typeface="Harding"/>
              </a:rPr>
              <a:t>標準差（</a:t>
            </a:r>
            <a:r>
              <a:rPr lang="en-US" altLang="zh-TW" b="0" i="0" dirty="0" err="1">
                <a:solidFill>
                  <a:srgbClr val="222222"/>
                </a:solidFill>
                <a:effectLst/>
                <a:latin typeface="Harding"/>
              </a:rPr>
              <a:t>s.d.</a:t>
            </a:r>
            <a:r>
              <a:rPr lang="zh-TW" altLang="en-US" b="0" i="0" dirty="0">
                <a:solidFill>
                  <a:srgbClr val="222222"/>
                </a:solidFill>
                <a:effectLst/>
                <a:latin typeface="Harding"/>
              </a:rPr>
              <a:t>）衡量概率分佈中的變異量，較高的值表示細胞內的偏差較大（即細胞類型特異性較高）（較高的值表示較高的細胞類型特異性）</a:t>
            </a:r>
            <a:endParaRPr lang="en-US" altLang="zh-TW" b="0" i="0" dirty="0">
              <a:solidFill>
                <a:srgbClr val="222222"/>
              </a:solidFill>
              <a:effectLst/>
              <a:latin typeface="Harding"/>
            </a:endParaRPr>
          </a:p>
          <a:p>
            <a:pPr marL="228600" indent="-228600">
              <a:buAutoNum type="arabicPeriod"/>
            </a:pPr>
            <a:r>
              <a:rPr lang="zh-CN" altLang="en-US" b="0" i="0" dirty="0">
                <a:solidFill>
                  <a:srgbClr val="222222"/>
                </a:solidFill>
                <a:effectLst/>
                <a:latin typeface="Harding"/>
              </a:rPr>
              <a:t>熵度量信息内容并捕捉细胞在经过</a:t>
            </a:r>
            <a:r>
              <a:rPr lang="en-US" altLang="zh-CN" b="0" i="0" dirty="0" err="1">
                <a:solidFill>
                  <a:srgbClr val="222222"/>
                </a:solidFill>
                <a:effectLst/>
                <a:latin typeface="Harding"/>
              </a:rPr>
              <a:t>Softmax</a:t>
            </a:r>
            <a:r>
              <a:rPr lang="zh-CN" altLang="en-US" b="0" i="0" dirty="0">
                <a:solidFill>
                  <a:srgbClr val="222222"/>
                </a:solidFill>
                <a:effectLst/>
                <a:latin typeface="Harding"/>
              </a:rPr>
              <a:t>转换的概率分布中的分散程度；较低的熵值表示分布几乎集中在一个细胞子集上（即细胞类型特异性较高）（较低的值表示细胞类型特异性较高）</a:t>
            </a:r>
            <a:endParaRPr lang="en-US" dirty="0"/>
          </a:p>
        </p:txBody>
      </p:sp>
      <p:sp>
        <p:nvSpPr>
          <p:cNvPr id="4" name="Slide Number Placeholder 3"/>
          <p:cNvSpPr>
            <a:spLocks noGrp="1"/>
          </p:cNvSpPr>
          <p:nvPr>
            <p:ph type="sldNum" sz="quarter" idx="5"/>
          </p:nvPr>
        </p:nvSpPr>
        <p:spPr/>
        <p:txBody>
          <a:bodyPr/>
          <a:lstStyle/>
          <a:p>
            <a:fld id="{730E65B1-1032-4944-9DDC-977790F00C48}" type="slidenum">
              <a:rPr lang="en-US" smtClean="0"/>
              <a:t>47</a:t>
            </a:fld>
            <a:endParaRPr lang="en-US"/>
          </a:p>
        </p:txBody>
      </p:sp>
    </p:spTree>
    <p:extLst>
      <p:ext uri="{BB962C8B-B14F-4D97-AF65-F5344CB8AC3E}">
        <p14:creationId xmlns:p14="http://schemas.microsoft.com/office/powerpoint/2010/main" val="21227490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zh-TW" altLang="en-US" b="1" i="0" dirty="0">
                <a:effectLst/>
                <a:latin typeface="Söhne"/>
              </a:rPr>
              <a:t>區塊分解的鄰接矩陣（</a:t>
            </a:r>
            <a:r>
              <a:rPr lang="en-US" altLang="zh-TW" b="1" i="0" dirty="0">
                <a:effectLst/>
                <a:latin typeface="Söhne"/>
              </a:rPr>
              <a:t>Block Decomposition of the Adjacency Matrix</a:t>
            </a:r>
            <a:r>
              <a:rPr lang="zh-TW" altLang="en-US" b="1" i="0" dirty="0">
                <a:effectLst/>
                <a:latin typeface="Söhne"/>
              </a:rPr>
              <a:t>）</a:t>
            </a:r>
            <a:r>
              <a:rPr lang="zh-TW" altLang="en-US" b="0" i="0" dirty="0">
                <a:effectLst/>
                <a:latin typeface="Söhne"/>
              </a:rPr>
              <a:t>：</a:t>
            </a:r>
          </a:p>
          <a:p>
            <a:pPr marL="457200" lvl="1" indent="0" algn="l">
              <a:buFont typeface="+mj-lt"/>
              <a:buNone/>
            </a:pPr>
            <a:r>
              <a:rPr lang="zh-TW" altLang="en-US" b="0" i="0" dirty="0">
                <a:effectLst/>
                <a:latin typeface="Söhne"/>
              </a:rPr>
              <a:t>這通常指的是將一個大的鄰接矩陣（在圖形理論中用來表示節點或頂點之間的連接關係）分解成多個較小的區塊或子矩陣。這樣做可以提高處理效率，尤其是在分佈式系統中，每個區塊可以獨立處理。</a:t>
            </a:r>
          </a:p>
          <a:p>
            <a:pPr algn="l">
              <a:buFont typeface="+mj-lt"/>
              <a:buAutoNum type="arabicPeriod"/>
            </a:pPr>
            <a:r>
              <a:rPr lang="zh-TW" altLang="en-US" b="1" i="0" dirty="0">
                <a:effectLst/>
                <a:latin typeface="Söhne"/>
              </a:rPr>
              <a:t>分佈式執行模型（</a:t>
            </a:r>
            <a:r>
              <a:rPr lang="en-US" altLang="zh-TW" b="1" i="0" dirty="0">
                <a:effectLst/>
                <a:latin typeface="Söhne"/>
              </a:rPr>
              <a:t>Distributed Execution Model</a:t>
            </a:r>
            <a:r>
              <a:rPr lang="zh-TW" altLang="en-US" b="1" i="0" dirty="0">
                <a:effectLst/>
                <a:latin typeface="Söhne"/>
              </a:rPr>
              <a:t>）</a:t>
            </a:r>
            <a:r>
              <a:rPr lang="zh-TW" altLang="en-US" b="0" i="0" dirty="0">
                <a:effectLst/>
                <a:latin typeface="Söhne"/>
              </a:rPr>
              <a:t>：</a:t>
            </a:r>
          </a:p>
          <a:p>
            <a:pPr marL="457200" lvl="1" indent="0" algn="l">
              <a:buFont typeface="+mj-lt"/>
              <a:buNone/>
            </a:pPr>
            <a:r>
              <a:rPr lang="zh-TW" altLang="en-US" b="0" i="0" dirty="0">
                <a:effectLst/>
                <a:latin typeface="Söhne"/>
              </a:rPr>
              <a:t>在分佈式計算中，計算任務被分散到多個計算機節點上執行。分佈式執行模型允許系統橫向擴展，提高大規模數據處理的能力。</a:t>
            </a:r>
          </a:p>
          <a:p>
            <a:pPr algn="l">
              <a:buFont typeface="+mj-lt"/>
              <a:buAutoNum type="arabicPeriod"/>
            </a:pPr>
            <a:r>
              <a:rPr lang="zh-TW" altLang="en-US" b="1" i="0" dirty="0">
                <a:effectLst/>
                <a:latin typeface="Söhne"/>
              </a:rPr>
              <a:t>高效的負採樣（</a:t>
            </a:r>
            <a:r>
              <a:rPr lang="en-US" altLang="zh-TW" b="1" i="0" dirty="0">
                <a:effectLst/>
                <a:latin typeface="Söhne"/>
              </a:rPr>
              <a:t>Efficient Negative Sampling</a:t>
            </a:r>
            <a:r>
              <a:rPr lang="zh-TW" altLang="en-US" b="1" i="0" dirty="0">
                <a:effectLst/>
                <a:latin typeface="Söhne"/>
              </a:rPr>
              <a:t>）</a:t>
            </a:r>
            <a:r>
              <a:rPr lang="zh-TW" altLang="en-US" b="0" i="0" dirty="0">
                <a:effectLst/>
                <a:latin typeface="Söhne"/>
              </a:rPr>
              <a:t>：</a:t>
            </a:r>
          </a:p>
          <a:p>
            <a:pPr marL="457200" lvl="1" indent="0" algn="l">
              <a:buFont typeface="+mj-lt"/>
              <a:buNone/>
            </a:pPr>
            <a:r>
              <a:rPr lang="zh-TW" altLang="en-US" b="0" i="0" dirty="0">
                <a:effectLst/>
                <a:latin typeface="Söhne"/>
              </a:rPr>
              <a:t>負採樣是一種在訓練機器學習模型，特別是在處理大量未標記數據的情境下使用的技術。它選擇一些負例本來幫助模型更好地學習區分正例本和負例本。高效的負採樣意味著這一過程在計算資源和時間上被最佳化。</a:t>
            </a:r>
          </a:p>
          <a:p>
            <a:pPr algn="l">
              <a:buFont typeface="+mj-lt"/>
              <a:buAutoNum type="arabicPeriod"/>
            </a:pPr>
            <a:r>
              <a:rPr lang="zh-TW" altLang="en-US" b="1" i="0" dirty="0">
                <a:effectLst/>
                <a:latin typeface="Söhne"/>
              </a:rPr>
              <a:t>每個關係配置操作（</a:t>
            </a:r>
            <a:r>
              <a:rPr lang="en-US" altLang="zh-TW" b="1" i="0" dirty="0">
                <a:effectLst/>
                <a:latin typeface="Söhne"/>
              </a:rPr>
              <a:t>Per-Relation Configuration Operations</a:t>
            </a:r>
            <a:r>
              <a:rPr lang="zh-TW" altLang="en-US" b="1" i="0" dirty="0">
                <a:effectLst/>
                <a:latin typeface="Söhne"/>
              </a:rPr>
              <a:t>）</a:t>
            </a:r>
            <a:r>
              <a:rPr lang="zh-TW" altLang="en-US" b="0" i="0" dirty="0">
                <a:effectLst/>
                <a:latin typeface="Söhne"/>
              </a:rPr>
              <a:t>：</a:t>
            </a:r>
          </a:p>
          <a:p>
            <a:pPr marL="457200" lvl="1" indent="0" algn="l">
              <a:buFont typeface="+mj-lt"/>
              <a:buNone/>
            </a:pPr>
            <a:r>
              <a:rPr lang="zh-TW" altLang="en-US" b="0" i="0" dirty="0">
                <a:effectLst/>
                <a:latin typeface="Söhne"/>
              </a:rPr>
              <a:t>在圖形處理和關係型數據庫中，這可能指的是對於數據集中的每種類型的關係或連接，都可以進行個別的配置或操作。這允許更細粒度的控制，可以對不同類型的關係實施不同的策略或參數設定</a:t>
            </a:r>
          </a:p>
          <a:p>
            <a:endParaRPr lang="en-US" dirty="0"/>
          </a:p>
        </p:txBody>
      </p:sp>
      <p:sp>
        <p:nvSpPr>
          <p:cNvPr id="4" name="Slide Number Placeholder 3"/>
          <p:cNvSpPr>
            <a:spLocks noGrp="1"/>
          </p:cNvSpPr>
          <p:nvPr>
            <p:ph type="sldNum" sz="quarter" idx="5"/>
          </p:nvPr>
        </p:nvSpPr>
        <p:spPr/>
        <p:txBody>
          <a:bodyPr/>
          <a:lstStyle/>
          <a:p>
            <a:fld id="{730E65B1-1032-4944-9DDC-977790F00C48}" type="slidenum">
              <a:rPr lang="en-US" smtClean="0"/>
              <a:t>53</a:t>
            </a:fld>
            <a:endParaRPr lang="en-US"/>
          </a:p>
        </p:txBody>
      </p:sp>
    </p:spTree>
    <p:extLst>
      <p:ext uri="{BB962C8B-B14F-4D97-AF65-F5344CB8AC3E}">
        <p14:creationId xmlns:p14="http://schemas.microsoft.com/office/powerpoint/2010/main" val="23396489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effectLst/>
                <a:latin typeface="Söhne"/>
              </a:rPr>
              <a:t>block partitioning</a:t>
            </a:r>
            <a:r>
              <a:rPr lang="zh-CN" altLang="en-US" b="0" i="0" dirty="0">
                <a:effectLst/>
                <a:latin typeface="Söhne"/>
              </a:rPr>
              <a:t>是这样工作的：</a:t>
            </a:r>
          </a:p>
          <a:p>
            <a:pPr algn="l">
              <a:buFont typeface="+mj-lt"/>
              <a:buAutoNum type="arabicPeriod"/>
            </a:pPr>
            <a:r>
              <a:rPr lang="zh-CN" altLang="en-US" b="0" i="0" dirty="0">
                <a:effectLst/>
                <a:latin typeface="Söhne"/>
              </a:rPr>
              <a:t>将图的节点划分成多个块（</a:t>
            </a:r>
            <a:r>
              <a:rPr lang="en-US" altLang="zh-CN" b="0" i="0" dirty="0">
                <a:effectLst/>
                <a:latin typeface="Söhne"/>
              </a:rPr>
              <a:t>block</a:t>
            </a:r>
            <a:r>
              <a:rPr lang="zh-CN" altLang="en-US" b="0" i="0" dirty="0">
                <a:effectLst/>
                <a:latin typeface="Söhne"/>
              </a:rPr>
              <a:t>）。</a:t>
            </a:r>
          </a:p>
          <a:p>
            <a:pPr algn="l">
              <a:buFont typeface="+mj-lt"/>
              <a:buAutoNum type="arabicPeriod"/>
            </a:pPr>
            <a:r>
              <a:rPr lang="zh-CN" altLang="en-US" b="0" i="0" dirty="0">
                <a:effectLst/>
                <a:latin typeface="Söhne"/>
              </a:rPr>
              <a:t>根据这些块划分边，使得每个边连接的节点要么在同一个块中，要么在不同块的对应位置。</a:t>
            </a:r>
          </a:p>
          <a:p>
            <a:pPr algn="l">
              <a:buFont typeface="+mj-lt"/>
              <a:buAutoNum type="arabicPeriod"/>
            </a:pPr>
            <a:r>
              <a:rPr lang="zh-CN" altLang="en-US" b="0" i="0" dirty="0">
                <a:effectLst/>
                <a:latin typeface="Söhne"/>
              </a:rPr>
              <a:t>在训练过程中，每个块可以独立地加载到内存中，模型可以在这个子图上进行训练，而不需要整个图全部加载到内存中。</a:t>
            </a:r>
          </a:p>
          <a:p>
            <a:pPr algn="l"/>
            <a:r>
              <a:rPr lang="zh-CN" altLang="en-US" b="0" i="0" dirty="0">
                <a:effectLst/>
                <a:latin typeface="Söhne"/>
              </a:rPr>
              <a:t>这样的方法允许处理大型图数据，因为它减少了同时需要在内存中的数据量，并允许在多台机器上并行处理数据</a:t>
            </a:r>
          </a:p>
          <a:p>
            <a:endParaRPr lang="en-US" dirty="0"/>
          </a:p>
        </p:txBody>
      </p:sp>
      <p:sp>
        <p:nvSpPr>
          <p:cNvPr id="4" name="Slide Number Placeholder 3"/>
          <p:cNvSpPr>
            <a:spLocks noGrp="1"/>
          </p:cNvSpPr>
          <p:nvPr>
            <p:ph type="sldNum" sz="quarter" idx="5"/>
          </p:nvPr>
        </p:nvSpPr>
        <p:spPr/>
        <p:txBody>
          <a:bodyPr/>
          <a:lstStyle/>
          <a:p>
            <a:fld id="{730E65B1-1032-4944-9DDC-977790F00C48}" type="slidenum">
              <a:rPr lang="en-US" smtClean="0"/>
              <a:t>54</a:t>
            </a:fld>
            <a:endParaRPr lang="en-US"/>
          </a:p>
        </p:txBody>
      </p:sp>
    </p:spTree>
    <p:extLst>
      <p:ext uri="{BB962C8B-B14F-4D97-AF65-F5344CB8AC3E}">
        <p14:creationId xmlns:p14="http://schemas.microsoft.com/office/powerpoint/2010/main" val="4255790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A29DE-3811-2A3B-471E-9E229CB09D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32BD53-B64D-D78F-2538-F23312F17A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9729858-36D1-88D1-CF90-16705E4F8891}"/>
              </a:ext>
            </a:extLst>
          </p:cNvPr>
          <p:cNvSpPr>
            <a:spLocks noGrp="1"/>
          </p:cNvSpPr>
          <p:nvPr>
            <p:ph type="dt" sz="half" idx="10"/>
          </p:nvPr>
        </p:nvSpPr>
        <p:spPr/>
        <p:txBody>
          <a:bodyPr/>
          <a:lstStyle/>
          <a:p>
            <a:fld id="{8D70296F-1FA6-4256-9501-6E4B5539BB35}" type="datetime1">
              <a:rPr lang="en-US" smtClean="0"/>
              <a:t>11/22/2023</a:t>
            </a:fld>
            <a:endParaRPr lang="en-US"/>
          </a:p>
        </p:txBody>
      </p:sp>
      <p:sp>
        <p:nvSpPr>
          <p:cNvPr id="5" name="Footer Placeholder 4">
            <a:extLst>
              <a:ext uri="{FF2B5EF4-FFF2-40B4-BE49-F238E27FC236}">
                <a16:creationId xmlns:a16="http://schemas.microsoft.com/office/drawing/2014/main" id="{7090D81F-2E34-8EE8-62E8-67FF7959CB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A66AE1-9D24-C51B-0ED0-7AA9A33B6B41}"/>
              </a:ext>
            </a:extLst>
          </p:cNvPr>
          <p:cNvSpPr>
            <a:spLocks noGrp="1"/>
          </p:cNvSpPr>
          <p:nvPr>
            <p:ph type="sldNum" sz="quarter" idx="12"/>
          </p:nvPr>
        </p:nvSpPr>
        <p:spPr/>
        <p:txBody>
          <a:bodyPr/>
          <a:lstStyle/>
          <a:p>
            <a:fld id="{38543A31-4DFF-4CB7-B4D4-2CA7645BB8BE}" type="slidenum">
              <a:rPr lang="en-US" smtClean="0"/>
              <a:t>‹#›</a:t>
            </a:fld>
            <a:endParaRPr lang="en-US"/>
          </a:p>
        </p:txBody>
      </p:sp>
    </p:spTree>
    <p:extLst>
      <p:ext uri="{BB962C8B-B14F-4D97-AF65-F5344CB8AC3E}">
        <p14:creationId xmlns:p14="http://schemas.microsoft.com/office/powerpoint/2010/main" val="741381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55DDF-D84C-2AA1-F69F-131A32A616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C4878F-4578-4411-EE1D-559DF6E908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D8853F-CA95-EC84-C167-D95AE9954587}"/>
              </a:ext>
            </a:extLst>
          </p:cNvPr>
          <p:cNvSpPr>
            <a:spLocks noGrp="1"/>
          </p:cNvSpPr>
          <p:nvPr>
            <p:ph type="dt" sz="half" idx="10"/>
          </p:nvPr>
        </p:nvSpPr>
        <p:spPr/>
        <p:txBody>
          <a:bodyPr/>
          <a:lstStyle/>
          <a:p>
            <a:fld id="{1F4BBA41-23B4-4369-8C2F-B12DFEAA82FD}" type="datetime1">
              <a:rPr lang="en-US" smtClean="0"/>
              <a:t>11/22/2023</a:t>
            </a:fld>
            <a:endParaRPr lang="en-US"/>
          </a:p>
        </p:txBody>
      </p:sp>
      <p:sp>
        <p:nvSpPr>
          <p:cNvPr id="5" name="Footer Placeholder 4">
            <a:extLst>
              <a:ext uri="{FF2B5EF4-FFF2-40B4-BE49-F238E27FC236}">
                <a16:creationId xmlns:a16="http://schemas.microsoft.com/office/drawing/2014/main" id="{15B5B1A7-6109-A20A-57B8-BCC34B7506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D9DFF2-DBE2-92E1-FF82-04FB05572538}"/>
              </a:ext>
            </a:extLst>
          </p:cNvPr>
          <p:cNvSpPr>
            <a:spLocks noGrp="1"/>
          </p:cNvSpPr>
          <p:nvPr>
            <p:ph type="sldNum" sz="quarter" idx="12"/>
          </p:nvPr>
        </p:nvSpPr>
        <p:spPr/>
        <p:txBody>
          <a:bodyPr/>
          <a:lstStyle/>
          <a:p>
            <a:fld id="{38543A31-4DFF-4CB7-B4D4-2CA7645BB8BE}" type="slidenum">
              <a:rPr lang="en-US" smtClean="0"/>
              <a:t>‹#›</a:t>
            </a:fld>
            <a:endParaRPr lang="en-US"/>
          </a:p>
        </p:txBody>
      </p:sp>
    </p:spTree>
    <p:extLst>
      <p:ext uri="{BB962C8B-B14F-4D97-AF65-F5344CB8AC3E}">
        <p14:creationId xmlns:p14="http://schemas.microsoft.com/office/powerpoint/2010/main" val="3406628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C9565-3B2A-CD09-2DB9-A11677D610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9D7E2E0-E22F-3EAF-9D99-1A0917D473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D75897-400D-8022-7D04-ADA5230A1202}"/>
              </a:ext>
            </a:extLst>
          </p:cNvPr>
          <p:cNvSpPr>
            <a:spLocks noGrp="1"/>
          </p:cNvSpPr>
          <p:nvPr>
            <p:ph type="dt" sz="half" idx="10"/>
          </p:nvPr>
        </p:nvSpPr>
        <p:spPr/>
        <p:txBody>
          <a:bodyPr/>
          <a:lstStyle/>
          <a:p>
            <a:fld id="{B0C9408A-4577-4D56-8EC0-CF024D6B013A}" type="datetime1">
              <a:rPr lang="en-US" smtClean="0"/>
              <a:t>11/22/2023</a:t>
            </a:fld>
            <a:endParaRPr lang="en-US"/>
          </a:p>
        </p:txBody>
      </p:sp>
      <p:sp>
        <p:nvSpPr>
          <p:cNvPr id="5" name="Footer Placeholder 4">
            <a:extLst>
              <a:ext uri="{FF2B5EF4-FFF2-40B4-BE49-F238E27FC236}">
                <a16:creationId xmlns:a16="http://schemas.microsoft.com/office/drawing/2014/main" id="{0625C822-539D-5556-14E0-9AC195BEA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D85C66-04CD-7C28-2ED3-57204E9D77FC}"/>
              </a:ext>
            </a:extLst>
          </p:cNvPr>
          <p:cNvSpPr>
            <a:spLocks noGrp="1"/>
          </p:cNvSpPr>
          <p:nvPr>
            <p:ph type="sldNum" sz="quarter" idx="12"/>
          </p:nvPr>
        </p:nvSpPr>
        <p:spPr/>
        <p:txBody>
          <a:bodyPr/>
          <a:lstStyle/>
          <a:p>
            <a:fld id="{38543A31-4DFF-4CB7-B4D4-2CA7645BB8BE}" type="slidenum">
              <a:rPr lang="en-US" smtClean="0"/>
              <a:t>‹#›</a:t>
            </a:fld>
            <a:endParaRPr lang="en-US"/>
          </a:p>
        </p:txBody>
      </p:sp>
    </p:spTree>
    <p:extLst>
      <p:ext uri="{BB962C8B-B14F-4D97-AF65-F5344CB8AC3E}">
        <p14:creationId xmlns:p14="http://schemas.microsoft.com/office/powerpoint/2010/main" val="1322789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1793A-899D-5693-BC01-5BC46E8F53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AD62D9-F0D8-F033-72A4-F576CF489A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CF2DF8-78D7-4809-F288-0A7F80D694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798E79-B455-6639-DCD1-3887A47E448F}"/>
              </a:ext>
            </a:extLst>
          </p:cNvPr>
          <p:cNvSpPr>
            <a:spLocks noGrp="1"/>
          </p:cNvSpPr>
          <p:nvPr>
            <p:ph type="dt" sz="half" idx="10"/>
          </p:nvPr>
        </p:nvSpPr>
        <p:spPr/>
        <p:txBody>
          <a:bodyPr/>
          <a:lstStyle/>
          <a:p>
            <a:fld id="{DF637C5D-E114-4219-9E4F-C98D5843D50F}" type="datetime1">
              <a:rPr lang="en-US" smtClean="0"/>
              <a:t>11/22/2023</a:t>
            </a:fld>
            <a:endParaRPr lang="en-US"/>
          </a:p>
        </p:txBody>
      </p:sp>
      <p:sp>
        <p:nvSpPr>
          <p:cNvPr id="6" name="Footer Placeholder 5">
            <a:extLst>
              <a:ext uri="{FF2B5EF4-FFF2-40B4-BE49-F238E27FC236}">
                <a16:creationId xmlns:a16="http://schemas.microsoft.com/office/drawing/2014/main" id="{AFA8CCBA-4582-3507-3DD3-07C97080CC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5C6A65-21AE-22B7-BFB8-7D28E14BDC20}"/>
              </a:ext>
            </a:extLst>
          </p:cNvPr>
          <p:cNvSpPr>
            <a:spLocks noGrp="1"/>
          </p:cNvSpPr>
          <p:nvPr>
            <p:ph type="sldNum" sz="quarter" idx="12"/>
          </p:nvPr>
        </p:nvSpPr>
        <p:spPr/>
        <p:txBody>
          <a:bodyPr/>
          <a:lstStyle/>
          <a:p>
            <a:fld id="{38543A31-4DFF-4CB7-B4D4-2CA7645BB8BE}" type="slidenum">
              <a:rPr lang="en-US" smtClean="0"/>
              <a:t>‹#›</a:t>
            </a:fld>
            <a:endParaRPr lang="en-US"/>
          </a:p>
        </p:txBody>
      </p:sp>
    </p:spTree>
    <p:extLst>
      <p:ext uri="{BB962C8B-B14F-4D97-AF65-F5344CB8AC3E}">
        <p14:creationId xmlns:p14="http://schemas.microsoft.com/office/powerpoint/2010/main" val="747929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93CDC-A0E9-66FB-0B3E-E4325C0FE8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AEA6506-385B-80C7-36C4-8CEF534462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89AB4A-5F2B-7CF4-8B14-ED848B1EB2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E33DA5-8AA8-5786-0DE5-809C001281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5BEC6C-8229-2095-62E5-FD216EBC48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5C8E7D6-DFD5-1240-0D52-D16D4E0C7647}"/>
              </a:ext>
            </a:extLst>
          </p:cNvPr>
          <p:cNvSpPr>
            <a:spLocks noGrp="1"/>
          </p:cNvSpPr>
          <p:nvPr>
            <p:ph type="dt" sz="half" idx="10"/>
          </p:nvPr>
        </p:nvSpPr>
        <p:spPr/>
        <p:txBody>
          <a:bodyPr/>
          <a:lstStyle/>
          <a:p>
            <a:fld id="{EDB01E22-3BA5-4C1D-BC64-45DE3B59A3D1}" type="datetime1">
              <a:rPr lang="en-US" smtClean="0"/>
              <a:t>11/22/2023</a:t>
            </a:fld>
            <a:endParaRPr lang="en-US"/>
          </a:p>
        </p:txBody>
      </p:sp>
      <p:sp>
        <p:nvSpPr>
          <p:cNvPr id="8" name="Footer Placeholder 7">
            <a:extLst>
              <a:ext uri="{FF2B5EF4-FFF2-40B4-BE49-F238E27FC236}">
                <a16:creationId xmlns:a16="http://schemas.microsoft.com/office/drawing/2014/main" id="{AAADDD7D-6476-DFE7-D2B1-FB95C03F9A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F9DEF4-5676-9F0D-9893-C93BB6F85288}"/>
              </a:ext>
            </a:extLst>
          </p:cNvPr>
          <p:cNvSpPr>
            <a:spLocks noGrp="1"/>
          </p:cNvSpPr>
          <p:nvPr>
            <p:ph type="sldNum" sz="quarter" idx="12"/>
          </p:nvPr>
        </p:nvSpPr>
        <p:spPr/>
        <p:txBody>
          <a:bodyPr/>
          <a:lstStyle/>
          <a:p>
            <a:fld id="{38543A31-4DFF-4CB7-B4D4-2CA7645BB8BE}" type="slidenum">
              <a:rPr lang="en-US" smtClean="0"/>
              <a:t>‹#›</a:t>
            </a:fld>
            <a:endParaRPr lang="en-US"/>
          </a:p>
        </p:txBody>
      </p:sp>
    </p:spTree>
    <p:extLst>
      <p:ext uri="{BB962C8B-B14F-4D97-AF65-F5344CB8AC3E}">
        <p14:creationId xmlns:p14="http://schemas.microsoft.com/office/powerpoint/2010/main" val="4164823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11A9-3AA7-899F-8624-1333BAAB68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EE526F-755B-AF29-2D67-FB2A4B9A212F}"/>
              </a:ext>
            </a:extLst>
          </p:cNvPr>
          <p:cNvSpPr>
            <a:spLocks noGrp="1"/>
          </p:cNvSpPr>
          <p:nvPr>
            <p:ph type="dt" sz="half" idx="10"/>
          </p:nvPr>
        </p:nvSpPr>
        <p:spPr/>
        <p:txBody>
          <a:bodyPr/>
          <a:lstStyle/>
          <a:p>
            <a:fld id="{438597BE-702A-4BDA-9E8D-F88A66BBDA6C}" type="datetime1">
              <a:rPr lang="en-US" smtClean="0"/>
              <a:t>11/22/2023</a:t>
            </a:fld>
            <a:endParaRPr lang="en-US"/>
          </a:p>
        </p:txBody>
      </p:sp>
      <p:sp>
        <p:nvSpPr>
          <p:cNvPr id="4" name="Footer Placeholder 3">
            <a:extLst>
              <a:ext uri="{FF2B5EF4-FFF2-40B4-BE49-F238E27FC236}">
                <a16:creationId xmlns:a16="http://schemas.microsoft.com/office/drawing/2014/main" id="{72E02B1C-DEDE-E46C-5FA5-462E79A5590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0FDF81-5932-1C31-17C9-83E510ED8469}"/>
              </a:ext>
            </a:extLst>
          </p:cNvPr>
          <p:cNvSpPr>
            <a:spLocks noGrp="1"/>
          </p:cNvSpPr>
          <p:nvPr>
            <p:ph type="sldNum" sz="quarter" idx="12"/>
          </p:nvPr>
        </p:nvSpPr>
        <p:spPr/>
        <p:txBody>
          <a:bodyPr/>
          <a:lstStyle/>
          <a:p>
            <a:fld id="{38543A31-4DFF-4CB7-B4D4-2CA7645BB8BE}" type="slidenum">
              <a:rPr lang="en-US" smtClean="0"/>
              <a:t>‹#›</a:t>
            </a:fld>
            <a:endParaRPr lang="en-US"/>
          </a:p>
        </p:txBody>
      </p:sp>
    </p:spTree>
    <p:extLst>
      <p:ext uri="{BB962C8B-B14F-4D97-AF65-F5344CB8AC3E}">
        <p14:creationId xmlns:p14="http://schemas.microsoft.com/office/powerpoint/2010/main" val="708828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075659-2F74-1C0F-6B3F-43121EAC8E4E}"/>
              </a:ext>
            </a:extLst>
          </p:cNvPr>
          <p:cNvSpPr>
            <a:spLocks noGrp="1"/>
          </p:cNvSpPr>
          <p:nvPr>
            <p:ph type="dt" sz="half" idx="10"/>
          </p:nvPr>
        </p:nvSpPr>
        <p:spPr/>
        <p:txBody>
          <a:bodyPr/>
          <a:lstStyle/>
          <a:p>
            <a:fld id="{DB2A01F9-134D-401F-9C52-C85C7C0E8B04}" type="datetime1">
              <a:rPr lang="en-US" smtClean="0"/>
              <a:t>11/22/2023</a:t>
            </a:fld>
            <a:endParaRPr lang="en-US"/>
          </a:p>
        </p:txBody>
      </p:sp>
      <p:sp>
        <p:nvSpPr>
          <p:cNvPr id="3" name="Footer Placeholder 2">
            <a:extLst>
              <a:ext uri="{FF2B5EF4-FFF2-40B4-BE49-F238E27FC236}">
                <a16:creationId xmlns:a16="http://schemas.microsoft.com/office/drawing/2014/main" id="{225F484A-464E-F701-BFF5-51B8D0FEF91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2E52EC-7ADB-43BC-0076-E80D3947F929}"/>
              </a:ext>
            </a:extLst>
          </p:cNvPr>
          <p:cNvSpPr>
            <a:spLocks noGrp="1"/>
          </p:cNvSpPr>
          <p:nvPr>
            <p:ph type="sldNum" sz="quarter" idx="12"/>
          </p:nvPr>
        </p:nvSpPr>
        <p:spPr/>
        <p:txBody>
          <a:bodyPr/>
          <a:lstStyle/>
          <a:p>
            <a:fld id="{38543A31-4DFF-4CB7-B4D4-2CA7645BB8BE}" type="slidenum">
              <a:rPr lang="en-US" smtClean="0"/>
              <a:t>‹#›</a:t>
            </a:fld>
            <a:endParaRPr lang="en-US"/>
          </a:p>
        </p:txBody>
      </p:sp>
    </p:spTree>
    <p:extLst>
      <p:ext uri="{BB962C8B-B14F-4D97-AF65-F5344CB8AC3E}">
        <p14:creationId xmlns:p14="http://schemas.microsoft.com/office/powerpoint/2010/main" val="3541269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6FD09-3A67-FBCD-5EB2-A8A99081B3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734B4A-F490-8C9D-A8C0-DDA7E0663F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63972F-9CF2-F3BD-1125-6E69F0F743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A772C4-D6EA-1112-85C5-811C5F60DCE2}"/>
              </a:ext>
            </a:extLst>
          </p:cNvPr>
          <p:cNvSpPr>
            <a:spLocks noGrp="1"/>
          </p:cNvSpPr>
          <p:nvPr>
            <p:ph type="dt" sz="half" idx="10"/>
          </p:nvPr>
        </p:nvSpPr>
        <p:spPr/>
        <p:txBody>
          <a:bodyPr/>
          <a:lstStyle/>
          <a:p>
            <a:fld id="{65A1BCCE-9D85-4275-A869-8D0A85416E66}" type="datetime1">
              <a:rPr lang="en-US" smtClean="0"/>
              <a:t>11/22/2023</a:t>
            </a:fld>
            <a:endParaRPr lang="en-US"/>
          </a:p>
        </p:txBody>
      </p:sp>
      <p:sp>
        <p:nvSpPr>
          <p:cNvPr id="6" name="Footer Placeholder 5">
            <a:extLst>
              <a:ext uri="{FF2B5EF4-FFF2-40B4-BE49-F238E27FC236}">
                <a16:creationId xmlns:a16="http://schemas.microsoft.com/office/drawing/2014/main" id="{CB1FB957-BFBC-BA59-E1BB-5012808828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0D37EC-8C09-BFF0-DA36-33396AC79E33}"/>
              </a:ext>
            </a:extLst>
          </p:cNvPr>
          <p:cNvSpPr>
            <a:spLocks noGrp="1"/>
          </p:cNvSpPr>
          <p:nvPr>
            <p:ph type="sldNum" sz="quarter" idx="12"/>
          </p:nvPr>
        </p:nvSpPr>
        <p:spPr/>
        <p:txBody>
          <a:bodyPr/>
          <a:lstStyle/>
          <a:p>
            <a:fld id="{38543A31-4DFF-4CB7-B4D4-2CA7645BB8BE}" type="slidenum">
              <a:rPr lang="en-US" smtClean="0"/>
              <a:t>‹#›</a:t>
            </a:fld>
            <a:endParaRPr lang="en-US"/>
          </a:p>
        </p:txBody>
      </p:sp>
    </p:spTree>
    <p:extLst>
      <p:ext uri="{BB962C8B-B14F-4D97-AF65-F5344CB8AC3E}">
        <p14:creationId xmlns:p14="http://schemas.microsoft.com/office/powerpoint/2010/main" val="2169481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D2F09-E4CB-4664-8F90-441F385D03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6B7BE8-293B-F9B6-E0F4-B6ED1F1A11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88EDFA2-5550-B848-2E78-0FD668D7C6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551CAB-BCEB-B148-4936-E6A02B7978C5}"/>
              </a:ext>
            </a:extLst>
          </p:cNvPr>
          <p:cNvSpPr>
            <a:spLocks noGrp="1"/>
          </p:cNvSpPr>
          <p:nvPr>
            <p:ph type="dt" sz="half" idx="10"/>
          </p:nvPr>
        </p:nvSpPr>
        <p:spPr/>
        <p:txBody>
          <a:bodyPr/>
          <a:lstStyle/>
          <a:p>
            <a:fld id="{B48D0DE7-581C-4230-8D9E-B14E7A4D659B}" type="datetime1">
              <a:rPr lang="en-US" smtClean="0"/>
              <a:t>11/22/2023</a:t>
            </a:fld>
            <a:endParaRPr lang="en-US"/>
          </a:p>
        </p:txBody>
      </p:sp>
      <p:sp>
        <p:nvSpPr>
          <p:cNvPr id="6" name="Footer Placeholder 5">
            <a:extLst>
              <a:ext uri="{FF2B5EF4-FFF2-40B4-BE49-F238E27FC236}">
                <a16:creationId xmlns:a16="http://schemas.microsoft.com/office/drawing/2014/main" id="{6819CC45-0707-7D78-A6F3-CCF359580E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EB27FA-EF8D-7EF8-668A-40A95E6889C1}"/>
              </a:ext>
            </a:extLst>
          </p:cNvPr>
          <p:cNvSpPr>
            <a:spLocks noGrp="1"/>
          </p:cNvSpPr>
          <p:nvPr>
            <p:ph type="sldNum" sz="quarter" idx="12"/>
          </p:nvPr>
        </p:nvSpPr>
        <p:spPr/>
        <p:txBody>
          <a:bodyPr/>
          <a:lstStyle/>
          <a:p>
            <a:fld id="{38543A31-4DFF-4CB7-B4D4-2CA7645BB8BE}" type="slidenum">
              <a:rPr lang="en-US" smtClean="0"/>
              <a:t>‹#›</a:t>
            </a:fld>
            <a:endParaRPr lang="en-US"/>
          </a:p>
        </p:txBody>
      </p:sp>
    </p:spTree>
    <p:extLst>
      <p:ext uri="{BB962C8B-B14F-4D97-AF65-F5344CB8AC3E}">
        <p14:creationId xmlns:p14="http://schemas.microsoft.com/office/powerpoint/2010/main" val="3689170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69904-625D-8981-3844-FA9110B0A74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FCA797-791A-7E0B-F263-DCF71BE5AD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790823-8205-F7D8-E3EF-C5D50F13F65E}"/>
              </a:ext>
            </a:extLst>
          </p:cNvPr>
          <p:cNvSpPr>
            <a:spLocks noGrp="1"/>
          </p:cNvSpPr>
          <p:nvPr>
            <p:ph type="dt" sz="half" idx="10"/>
          </p:nvPr>
        </p:nvSpPr>
        <p:spPr/>
        <p:txBody>
          <a:bodyPr/>
          <a:lstStyle/>
          <a:p>
            <a:fld id="{1620D2FB-A2F9-4267-8904-3D96BCD74037}" type="datetime1">
              <a:rPr lang="en-US" smtClean="0"/>
              <a:t>11/22/2023</a:t>
            </a:fld>
            <a:endParaRPr lang="en-US"/>
          </a:p>
        </p:txBody>
      </p:sp>
      <p:sp>
        <p:nvSpPr>
          <p:cNvPr id="5" name="Footer Placeholder 4">
            <a:extLst>
              <a:ext uri="{FF2B5EF4-FFF2-40B4-BE49-F238E27FC236}">
                <a16:creationId xmlns:a16="http://schemas.microsoft.com/office/drawing/2014/main" id="{9CCBBA91-C141-D1BA-995B-EF615CBEB8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CA2D2A-C73A-60BA-BF54-C7D02B569ADC}"/>
              </a:ext>
            </a:extLst>
          </p:cNvPr>
          <p:cNvSpPr>
            <a:spLocks noGrp="1"/>
          </p:cNvSpPr>
          <p:nvPr>
            <p:ph type="sldNum" sz="quarter" idx="12"/>
          </p:nvPr>
        </p:nvSpPr>
        <p:spPr/>
        <p:txBody>
          <a:bodyPr/>
          <a:lstStyle/>
          <a:p>
            <a:fld id="{38543A31-4DFF-4CB7-B4D4-2CA7645BB8BE}" type="slidenum">
              <a:rPr lang="en-US" smtClean="0"/>
              <a:t>‹#›</a:t>
            </a:fld>
            <a:endParaRPr lang="en-US"/>
          </a:p>
        </p:txBody>
      </p:sp>
    </p:spTree>
    <p:extLst>
      <p:ext uri="{BB962C8B-B14F-4D97-AF65-F5344CB8AC3E}">
        <p14:creationId xmlns:p14="http://schemas.microsoft.com/office/powerpoint/2010/main" val="88540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5CF093-0BBA-73B3-1079-2624D92FCB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2D3D6D6-02E8-1EAF-78EE-7F13FF57A2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1D6D7D-43A4-A1F9-3ED3-15EBC8FFAA8B}"/>
              </a:ext>
            </a:extLst>
          </p:cNvPr>
          <p:cNvSpPr>
            <a:spLocks noGrp="1"/>
          </p:cNvSpPr>
          <p:nvPr>
            <p:ph type="dt" sz="half" idx="10"/>
          </p:nvPr>
        </p:nvSpPr>
        <p:spPr/>
        <p:txBody>
          <a:bodyPr/>
          <a:lstStyle/>
          <a:p>
            <a:fld id="{E6A0CC31-0CC1-41C2-91B2-D7F08C67345D}" type="datetime1">
              <a:rPr lang="en-US" smtClean="0"/>
              <a:t>11/22/2023</a:t>
            </a:fld>
            <a:endParaRPr lang="en-US"/>
          </a:p>
        </p:txBody>
      </p:sp>
      <p:sp>
        <p:nvSpPr>
          <p:cNvPr id="5" name="Footer Placeholder 4">
            <a:extLst>
              <a:ext uri="{FF2B5EF4-FFF2-40B4-BE49-F238E27FC236}">
                <a16:creationId xmlns:a16="http://schemas.microsoft.com/office/drawing/2014/main" id="{CE0ADB27-F71A-613F-523D-A4E5E491B2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128344-A239-7C63-57A1-447884736E7B}"/>
              </a:ext>
            </a:extLst>
          </p:cNvPr>
          <p:cNvSpPr>
            <a:spLocks noGrp="1"/>
          </p:cNvSpPr>
          <p:nvPr>
            <p:ph type="sldNum" sz="quarter" idx="12"/>
          </p:nvPr>
        </p:nvSpPr>
        <p:spPr/>
        <p:txBody>
          <a:bodyPr/>
          <a:lstStyle/>
          <a:p>
            <a:fld id="{38543A31-4DFF-4CB7-B4D4-2CA7645BB8BE}" type="slidenum">
              <a:rPr lang="en-US" smtClean="0"/>
              <a:t>‹#›</a:t>
            </a:fld>
            <a:endParaRPr lang="en-US"/>
          </a:p>
        </p:txBody>
      </p:sp>
    </p:spTree>
    <p:extLst>
      <p:ext uri="{BB962C8B-B14F-4D97-AF65-F5344CB8AC3E}">
        <p14:creationId xmlns:p14="http://schemas.microsoft.com/office/powerpoint/2010/main" val="3224758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903DA0-61E7-DB5C-4151-FE55188178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B890E3-AC3E-7ED6-C065-76BE5BA4BA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D219A8-49EE-DC10-0682-7E6AB59FD5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D51AD8-8E41-4E5A-A338-A52278C973A3}" type="datetime1">
              <a:rPr lang="en-US" smtClean="0"/>
              <a:t>11/22/2023</a:t>
            </a:fld>
            <a:endParaRPr lang="en-US"/>
          </a:p>
        </p:txBody>
      </p:sp>
      <p:sp>
        <p:nvSpPr>
          <p:cNvPr id="5" name="Footer Placeholder 4">
            <a:extLst>
              <a:ext uri="{FF2B5EF4-FFF2-40B4-BE49-F238E27FC236}">
                <a16:creationId xmlns:a16="http://schemas.microsoft.com/office/drawing/2014/main" id="{D07DD9F6-55B9-06A9-3A1F-97A78F8CFC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C56B306-9D6C-9007-31FA-8FE76CB64A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543A31-4DFF-4CB7-B4D4-2CA7645BB8BE}" type="slidenum">
              <a:rPr lang="en-US" smtClean="0"/>
              <a:t>‹#›</a:t>
            </a:fld>
            <a:endParaRPr lang="en-US"/>
          </a:p>
        </p:txBody>
      </p:sp>
    </p:spTree>
    <p:extLst>
      <p:ext uri="{BB962C8B-B14F-4D97-AF65-F5344CB8AC3E}">
        <p14:creationId xmlns:p14="http://schemas.microsoft.com/office/powerpoint/2010/main" val="38160720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sv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sv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E8AC6-E937-7003-2335-0505BB05E005}"/>
              </a:ext>
            </a:extLst>
          </p:cNvPr>
          <p:cNvSpPr>
            <a:spLocks noGrp="1"/>
          </p:cNvSpPr>
          <p:nvPr>
            <p:ph type="ctrTitle"/>
          </p:nvPr>
        </p:nvSpPr>
        <p:spPr/>
        <p:txBody>
          <a:bodyPr>
            <a:normAutofit fontScale="90000"/>
          </a:bodyPr>
          <a:lstStyle/>
          <a:p>
            <a:r>
              <a:rPr lang="en-US" dirty="0"/>
              <a:t>SIMBA</a:t>
            </a:r>
            <a:r>
              <a:rPr lang="en-US" altLang="zh-TW" dirty="0"/>
              <a:t>:</a:t>
            </a:r>
            <a:r>
              <a:rPr lang="zh-TW" altLang="en-US" dirty="0"/>
              <a:t> </a:t>
            </a:r>
            <a:r>
              <a:rPr lang="en-US" altLang="zh-TW" dirty="0"/>
              <a:t>single-cell embedding along with features</a:t>
            </a:r>
            <a:endParaRPr lang="en-US" dirty="0"/>
          </a:p>
        </p:txBody>
      </p:sp>
      <p:sp>
        <p:nvSpPr>
          <p:cNvPr id="3" name="Subtitle 2">
            <a:extLst>
              <a:ext uri="{FF2B5EF4-FFF2-40B4-BE49-F238E27FC236}">
                <a16:creationId xmlns:a16="http://schemas.microsoft.com/office/drawing/2014/main" id="{1127F540-E472-90A1-C813-C1FC181F6D14}"/>
              </a:ext>
            </a:extLst>
          </p:cNvPr>
          <p:cNvSpPr>
            <a:spLocks noGrp="1"/>
          </p:cNvSpPr>
          <p:nvPr>
            <p:ph type="subTitle" idx="1"/>
          </p:nvPr>
        </p:nvSpPr>
        <p:spPr>
          <a:xfrm>
            <a:off x="1524000" y="5459413"/>
            <a:ext cx="9144000" cy="1655762"/>
          </a:xfrm>
        </p:spPr>
        <p:txBody>
          <a:bodyPr/>
          <a:lstStyle/>
          <a:p>
            <a:r>
              <a:rPr lang="en-US" altLang="zh-TW" dirty="0"/>
              <a:t>Chen, Yi-Jie</a:t>
            </a:r>
            <a:endParaRPr lang="en-US" dirty="0"/>
          </a:p>
          <a:p>
            <a:r>
              <a:rPr lang="en-US" altLang="zh-TW" dirty="0"/>
              <a:t>2023/11/20</a:t>
            </a:r>
            <a:endParaRPr lang="en-US" dirty="0"/>
          </a:p>
        </p:txBody>
      </p:sp>
      <p:sp>
        <p:nvSpPr>
          <p:cNvPr id="17" name="TextBox 16">
            <a:extLst>
              <a:ext uri="{FF2B5EF4-FFF2-40B4-BE49-F238E27FC236}">
                <a16:creationId xmlns:a16="http://schemas.microsoft.com/office/drawing/2014/main" id="{80EC7C19-98BA-15CF-4509-AF09598C49F5}"/>
              </a:ext>
            </a:extLst>
          </p:cNvPr>
          <p:cNvSpPr txBox="1"/>
          <p:nvPr/>
        </p:nvSpPr>
        <p:spPr>
          <a:xfrm>
            <a:off x="2136070" y="3841710"/>
            <a:ext cx="8052717" cy="369332"/>
          </a:xfrm>
          <a:prstGeom prst="rect">
            <a:avLst/>
          </a:prstGeom>
          <a:noFill/>
        </p:spPr>
        <p:txBody>
          <a:bodyPr wrap="none" rtlCol="0">
            <a:spAutoFit/>
          </a:bodyPr>
          <a:lstStyle/>
          <a:p>
            <a:r>
              <a:rPr lang="en-US" b="1" dirty="0" err="1"/>
              <a:t>Huidong</a:t>
            </a:r>
            <a:r>
              <a:rPr lang="en-US" b="1" dirty="0"/>
              <a:t> Chen, </a:t>
            </a:r>
            <a:r>
              <a:rPr lang="en-US" b="1" dirty="0" err="1"/>
              <a:t>Jayoung</a:t>
            </a:r>
            <a:r>
              <a:rPr lang="en-US" b="1" dirty="0"/>
              <a:t> Ryu, Michael E. </a:t>
            </a:r>
            <a:r>
              <a:rPr lang="en-US" b="1" dirty="0" err="1"/>
              <a:t>Vinyard</a:t>
            </a:r>
            <a:r>
              <a:rPr lang="en-US" b="1" dirty="0"/>
              <a:t>, Adam </a:t>
            </a:r>
            <a:r>
              <a:rPr lang="en-US" b="1" dirty="0" err="1"/>
              <a:t>Lerer</a:t>
            </a:r>
            <a:r>
              <a:rPr lang="en-US" b="1" dirty="0"/>
              <a:t> &amp; Luca </a:t>
            </a:r>
            <a:r>
              <a:rPr lang="en-US" b="1" dirty="0" err="1"/>
              <a:t>Pinello</a:t>
            </a:r>
            <a:r>
              <a:rPr lang="en-US" b="1" dirty="0"/>
              <a:t> (2023) </a:t>
            </a:r>
          </a:p>
        </p:txBody>
      </p:sp>
      <p:sp>
        <p:nvSpPr>
          <p:cNvPr id="22" name="TextBox 21">
            <a:extLst>
              <a:ext uri="{FF2B5EF4-FFF2-40B4-BE49-F238E27FC236}">
                <a16:creationId xmlns:a16="http://schemas.microsoft.com/office/drawing/2014/main" id="{B155AA2B-759C-9316-5252-DAA023AAF7C6}"/>
              </a:ext>
            </a:extLst>
          </p:cNvPr>
          <p:cNvSpPr txBox="1"/>
          <p:nvPr/>
        </p:nvSpPr>
        <p:spPr>
          <a:xfrm>
            <a:off x="5217329" y="4531877"/>
            <a:ext cx="1757341" cy="369332"/>
          </a:xfrm>
          <a:prstGeom prst="rect">
            <a:avLst/>
          </a:prstGeom>
          <a:noFill/>
        </p:spPr>
        <p:txBody>
          <a:bodyPr wrap="none" rtlCol="0">
            <a:spAutoFit/>
          </a:bodyPr>
          <a:lstStyle/>
          <a:p>
            <a:r>
              <a:rPr lang="en-US" b="1" dirty="0"/>
              <a:t>Nature Methods</a:t>
            </a:r>
          </a:p>
        </p:txBody>
      </p:sp>
      <p:sp>
        <p:nvSpPr>
          <p:cNvPr id="4" name="Slide Number Placeholder 3">
            <a:extLst>
              <a:ext uri="{FF2B5EF4-FFF2-40B4-BE49-F238E27FC236}">
                <a16:creationId xmlns:a16="http://schemas.microsoft.com/office/drawing/2014/main" id="{85AE2280-DA50-883C-1E65-7F1ECFCC552A}"/>
              </a:ext>
            </a:extLst>
          </p:cNvPr>
          <p:cNvSpPr>
            <a:spLocks noGrp="1"/>
          </p:cNvSpPr>
          <p:nvPr>
            <p:ph type="sldNum" sz="quarter" idx="12"/>
          </p:nvPr>
        </p:nvSpPr>
        <p:spPr/>
        <p:txBody>
          <a:bodyPr/>
          <a:lstStyle/>
          <a:p>
            <a:fld id="{7DF2C209-72C5-4BD6-83FD-73557975086B}" type="slidenum">
              <a:rPr lang="en-US" smtClean="0"/>
              <a:t>1</a:t>
            </a:fld>
            <a:endParaRPr lang="en-US" dirty="0"/>
          </a:p>
        </p:txBody>
      </p:sp>
    </p:spTree>
    <p:extLst>
      <p:ext uri="{BB962C8B-B14F-4D97-AF65-F5344CB8AC3E}">
        <p14:creationId xmlns:p14="http://schemas.microsoft.com/office/powerpoint/2010/main" val="421117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
            <a:extLst>
              <a:ext uri="{FF2B5EF4-FFF2-40B4-BE49-F238E27FC236}">
                <a16:creationId xmlns:a16="http://schemas.microsoft.com/office/drawing/2014/main" id="{8AF677A5-2C17-0BE6-D6E0-D666307D131A}"/>
              </a:ext>
            </a:extLst>
          </p:cNvPr>
          <p:cNvPicPr>
            <a:picLocks noGrp="1" noChangeAspect="1"/>
          </p:cNvPicPr>
          <p:nvPr>
            <p:ph idx="1"/>
          </p:nvPr>
        </p:nvPicPr>
        <p:blipFill>
          <a:blip r:embed="rId3"/>
          <a:stretch>
            <a:fillRect/>
          </a:stretch>
        </p:blipFill>
        <p:spPr>
          <a:xfrm>
            <a:off x="9250036" y="2387120"/>
            <a:ext cx="4713111" cy="4351338"/>
          </a:xfrm>
        </p:spPr>
      </p:pic>
      <p:pic>
        <p:nvPicPr>
          <p:cNvPr id="8" name="Picture 7">
            <a:extLst>
              <a:ext uri="{FF2B5EF4-FFF2-40B4-BE49-F238E27FC236}">
                <a16:creationId xmlns:a16="http://schemas.microsoft.com/office/drawing/2014/main" id="{BC4CDA6E-94AC-622D-B372-B5F9218BB227}"/>
              </a:ext>
            </a:extLst>
          </p:cNvPr>
          <p:cNvPicPr>
            <a:picLocks noChangeAspect="1"/>
          </p:cNvPicPr>
          <p:nvPr/>
        </p:nvPicPr>
        <p:blipFill>
          <a:blip r:embed="rId4"/>
          <a:stretch>
            <a:fillRect/>
          </a:stretch>
        </p:blipFill>
        <p:spPr>
          <a:xfrm>
            <a:off x="90310" y="263160"/>
            <a:ext cx="8912176" cy="4266762"/>
          </a:xfrm>
          <a:prstGeom prst="rect">
            <a:avLst/>
          </a:prstGeom>
        </p:spPr>
      </p:pic>
      <p:sp>
        <p:nvSpPr>
          <p:cNvPr id="10" name="TextBox 9">
            <a:extLst>
              <a:ext uri="{FF2B5EF4-FFF2-40B4-BE49-F238E27FC236}">
                <a16:creationId xmlns:a16="http://schemas.microsoft.com/office/drawing/2014/main" id="{C20346D4-4BAD-7D35-7134-67692803639E}"/>
              </a:ext>
            </a:extLst>
          </p:cNvPr>
          <p:cNvSpPr txBox="1"/>
          <p:nvPr/>
        </p:nvSpPr>
        <p:spPr>
          <a:xfrm>
            <a:off x="58490" y="6464035"/>
            <a:ext cx="7281334" cy="261610"/>
          </a:xfrm>
          <a:prstGeom prst="rect">
            <a:avLst/>
          </a:prstGeom>
          <a:noFill/>
        </p:spPr>
        <p:txBody>
          <a:bodyPr wrap="square">
            <a:spAutoFit/>
          </a:bodyPr>
          <a:lstStyle/>
          <a:p>
            <a:r>
              <a:rPr lang="en-US" sz="1100" dirty="0"/>
              <a:t>https://jcr.clarivate.com/jcr-jp/journal-profile?journal=NAT%20METHODS&amp;year=2022&amp;fromPage=%2Fjcr%2Fsearch-results</a:t>
            </a:r>
          </a:p>
        </p:txBody>
      </p:sp>
      <p:sp>
        <p:nvSpPr>
          <p:cNvPr id="2" name="Slide Number Placeholder 1">
            <a:extLst>
              <a:ext uri="{FF2B5EF4-FFF2-40B4-BE49-F238E27FC236}">
                <a16:creationId xmlns:a16="http://schemas.microsoft.com/office/drawing/2014/main" id="{53455D15-75F5-D419-2C7D-FD09082F1FA1}"/>
              </a:ext>
            </a:extLst>
          </p:cNvPr>
          <p:cNvSpPr>
            <a:spLocks noGrp="1"/>
          </p:cNvSpPr>
          <p:nvPr>
            <p:ph type="sldNum" sz="quarter" idx="12"/>
          </p:nvPr>
        </p:nvSpPr>
        <p:spPr/>
        <p:txBody>
          <a:bodyPr/>
          <a:lstStyle/>
          <a:p>
            <a:fld id="{7DF2C209-72C5-4BD6-83FD-73557975086B}" type="slidenum">
              <a:rPr lang="en-US" smtClean="0"/>
              <a:t>2</a:t>
            </a:fld>
            <a:endParaRPr lang="en-US"/>
          </a:p>
        </p:txBody>
      </p:sp>
    </p:spTree>
    <p:extLst>
      <p:ext uri="{BB962C8B-B14F-4D97-AF65-F5344CB8AC3E}">
        <p14:creationId xmlns:p14="http://schemas.microsoft.com/office/powerpoint/2010/main" val="1989591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A3819-419A-3E66-9A4A-92355351119F}"/>
              </a:ext>
            </a:extLst>
          </p:cNvPr>
          <p:cNvSpPr>
            <a:spLocks noGrp="1"/>
          </p:cNvSpPr>
          <p:nvPr>
            <p:ph type="title"/>
          </p:nvPr>
        </p:nvSpPr>
        <p:spPr/>
        <p:txBody>
          <a:bodyPr/>
          <a:lstStyle/>
          <a:p>
            <a:r>
              <a:rPr lang="en-US" dirty="0"/>
              <a:t>Outline</a:t>
            </a:r>
          </a:p>
        </p:txBody>
      </p:sp>
      <p:sp>
        <p:nvSpPr>
          <p:cNvPr id="4" name="Slide Number Placeholder 3">
            <a:extLst>
              <a:ext uri="{FF2B5EF4-FFF2-40B4-BE49-F238E27FC236}">
                <a16:creationId xmlns:a16="http://schemas.microsoft.com/office/drawing/2014/main" id="{FC1FE277-E24A-B048-F1C8-E4ACFA69E5B6}"/>
              </a:ext>
            </a:extLst>
          </p:cNvPr>
          <p:cNvSpPr>
            <a:spLocks noGrp="1"/>
          </p:cNvSpPr>
          <p:nvPr>
            <p:ph type="sldNum" sz="quarter" idx="12"/>
          </p:nvPr>
        </p:nvSpPr>
        <p:spPr/>
        <p:txBody>
          <a:bodyPr/>
          <a:lstStyle/>
          <a:p>
            <a:fld id="{38543A31-4DFF-4CB7-B4D4-2CA7645BB8BE}" type="slidenum">
              <a:rPr lang="en-US" smtClean="0"/>
              <a:t>3</a:t>
            </a:fld>
            <a:endParaRPr lang="en-US"/>
          </a:p>
        </p:txBody>
      </p:sp>
      <p:sp>
        <p:nvSpPr>
          <p:cNvPr id="5" name="Rectangle: Rounded Corners 4">
            <a:extLst>
              <a:ext uri="{FF2B5EF4-FFF2-40B4-BE49-F238E27FC236}">
                <a16:creationId xmlns:a16="http://schemas.microsoft.com/office/drawing/2014/main" id="{2F383A93-AD77-6324-ACA9-C590D859EC7B}"/>
              </a:ext>
            </a:extLst>
          </p:cNvPr>
          <p:cNvSpPr/>
          <p:nvPr/>
        </p:nvSpPr>
        <p:spPr>
          <a:xfrm>
            <a:off x="1028700" y="2032000"/>
            <a:ext cx="2374900" cy="660400"/>
          </a:xfrm>
          <a:prstGeom prst="round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Background</a:t>
            </a:r>
          </a:p>
        </p:txBody>
      </p:sp>
      <p:sp>
        <p:nvSpPr>
          <p:cNvPr id="6" name="Rectangle: Rounded Corners 5">
            <a:extLst>
              <a:ext uri="{FF2B5EF4-FFF2-40B4-BE49-F238E27FC236}">
                <a16:creationId xmlns:a16="http://schemas.microsoft.com/office/drawing/2014/main" id="{48EFADDC-A297-F3E1-2127-E0A1C2C35FBF}"/>
              </a:ext>
            </a:extLst>
          </p:cNvPr>
          <p:cNvSpPr/>
          <p:nvPr/>
        </p:nvSpPr>
        <p:spPr>
          <a:xfrm>
            <a:off x="1028700" y="3158728"/>
            <a:ext cx="2374900" cy="660400"/>
          </a:xfrm>
          <a:prstGeom prst="round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Method</a:t>
            </a:r>
          </a:p>
        </p:txBody>
      </p:sp>
      <p:sp>
        <p:nvSpPr>
          <p:cNvPr id="7" name="Rectangle: Rounded Corners 6">
            <a:extLst>
              <a:ext uri="{FF2B5EF4-FFF2-40B4-BE49-F238E27FC236}">
                <a16:creationId xmlns:a16="http://schemas.microsoft.com/office/drawing/2014/main" id="{E1283B68-C3BB-6A95-9842-A460E0E27022}"/>
              </a:ext>
            </a:extLst>
          </p:cNvPr>
          <p:cNvSpPr/>
          <p:nvPr/>
        </p:nvSpPr>
        <p:spPr>
          <a:xfrm>
            <a:off x="1028700" y="4285456"/>
            <a:ext cx="2374900" cy="660400"/>
          </a:xfrm>
          <a:prstGeom prst="round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Result</a:t>
            </a:r>
          </a:p>
        </p:txBody>
      </p:sp>
      <p:sp>
        <p:nvSpPr>
          <p:cNvPr id="8" name="Rectangle: Rounded Corners 7">
            <a:extLst>
              <a:ext uri="{FF2B5EF4-FFF2-40B4-BE49-F238E27FC236}">
                <a16:creationId xmlns:a16="http://schemas.microsoft.com/office/drawing/2014/main" id="{A4833695-8ADF-43BA-7C3F-FA4F456F32F9}"/>
              </a:ext>
            </a:extLst>
          </p:cNvPr>
          <p:cNvSpPr/>
          <p:nvPr/>
        </p:nvSpPr>
        <p:spPr>
          <a:xfrm>
            <a:off x="1028700" y="5412184"/>
            <a:ext cx="2374900" cy="660400"/>
          </a:xfrm>
          <a:prstGeom prst="round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Discussion</a:t>
            </a:r>
          </a:p>
        </p:txBody>
      </p:sp>
      <p:sp>
        <p:nvSpPr>
          <p:cNvPr id="14" name="TextBox 13">
            <a:extLst>
              <a:ext uri="{FF2B5EF4-FFF2-40B4-BE49-F238E27FC236}">
                <a16:creationId xmlns:a16="http://schemas.microsoft.com/office/drawing/2014/main" id="{3814E27B-5142-9D07-2808-C9E96521F07A}"/>
              </a:ext>
            </a:extLst>
          </p:cNvPr>
          <p:cNvSpPr txBox="1"/>
          <p:nvPr/>
        </p:nvSpPr>
        <p:spPr>
          <a:xfrm>
            <a:off x="3695700" y="2193875"/>
            <a:ext cx="7072001" cy="461665"/>
          </a:xfrm>
          <a:prstGeom prst="rect">
            <a:avLst/>
          </a:prstGeom>
          <a:noFill/>
        </p:spPr>
        <p:txBody>
          <a:bodyPr wrap="none" rtlCol="0">
            <a:spAutoFit/>
          </a:bodyPr>
          <a:lstStyle/>
          <a:p>
            <a:r>
              <a:rPr lang="en-US" sz="2400" dirty="0"/>
              <a:t>What is the </a:t>
            </a:r>
            <a:r>
              <a:rPr lang="en-US" sz="2400" dirty="0">
                <a:solidFill>
                  <a:schemeClr val="accent1"/>
                </a:solidFill>
              </a:rPr>
              <a:t>challenge</a:t>
            </a:r>
            <a:r>
              <a:rPr lang="en-US" sz="2400" dirty="0"/>
              <a:t> of Single Cell Analysis nowadays?</a:t>
            </a:r>
          </a:p>
        </p:txBody>
      </p:sp>
      <p:sp>
        <p:nvSpPr>
          <p:cNvPr id="15" name="TextBox 14">
            <a:extLst>
              <a:ext uri="{FF2B5EF4-FFF2-40B4-BE49-F238E27FC236}">
                <a16:creationId xmlns:a16="http://schemas.microsoft.com/office/drawing/2014/main" id="{37568083-34CA-DC1D-383A-20772F74E98F}"/>
              </a:ext>
            </a:extLst>
          </p:cNvPr>
          <p:cNvSpPr txBox="1"/>
          <p:nvPr/>
        </p:nvSpPr>
        <p:spPr>
          <a:xfrm>
            <a:off x="3695700" y="3304753"/>
            <a:ext cx="4918141" cy="461665"/>
          </a:xfrm>
          <a:prstGeom prst="rect">
            <a:avLst/>
          </a:prstGeom>
          <a:noFill/>
        </p:spPr>
        <p:txBody>
          <a:bodyPr wrap="none" rtlCol="0">
            <a:spAutoFit/>
          </a:bodyPr>
          <a:lstStyle/>
          <a:p>
            <a:r>
              <a:rPr lang="en-US" sz="2400" dirty="0"/>
              <a:t>How does SIMBA </a:t>
            </a:r>
            <a:r>
              <a:rPr lang="en-US" sz="2400" dirty="0">
                <a:solidFill>
                  <a:srgbClr val="FF0000"/>
                </a:solidFill>
              </a:rPr>
              <a:t>solve</a:t>
            </a:r>
            <a:r>
              <a:rPr lang="en-US" sz="2400" dirty="0"/>
              <a:t> the challenge?</a:t>
            </a:r>
          </a:p>
        </p:txBody>
      </p:sp>
      <p:sp>
        <p:nvSpPr>
          <p:cNvPr id="16" name="TextBox 15">
            <a:extLst>
              <a:ext uri="{FF2B5EF4-FFF2-40B4-BE49-F238E27FC236}">
                <a16:creationId xmlns:a16="http://schemas.microsoft.com/office/drawing/2014/main" id="{C3105B5B-1C51-FB10-C555-34A9C8B804C7}"/>
              </a:ext>
            </a:extLst>
          </p:cNvPr>
          <p:cNvSpPr txBox="1"/>
          <p:nvPr/>
        </p:nvSpPr>
        <p:spPr>
          <a:xfrm>
            <a:off x="3695700" y="4408152"/>
            <a:ext cx="4402039" cy="461665"/>
          </a:xfrm>
          <a:prstGeom prst="rect">
            <a:avLst/>
          </a:prstGeom>
          <a:noFill/>
        </p:spPr>
        <p:txBody>
          <a:bodyPr wrap="none" rtlCol="0">
            <a:spAutoFit/>
          </a:bodyPr>
          <a:lstStyle/>
          <a:p>
            <a:r>
              <a:rPr lang="en-US" sz="2400" dirty="0"/>
              <a:t>Does SIMBA </a:t>
            </a:r>
            <a:r>
              <a:rPr lang="en-US" sz="2400" dirty="0">
                <a:solidFill>
                  <a:schemeClr val="accent1"/>
                </a:solidFill>
              </a:rPr>
              <a:t>good enough </a:t>
            </a:r>
            <a:r>
              <a:rPr lang="en-US" sz="2400" dirty="0"/>
              <a:t>to use?</a:t>
            </a:r>
          </a:p>
        </p:txBody>
      </p:sp>
      <p:sp>
        <p:nvSpPr>
          <p:cNvPr id="17" name="TextBox 16">
            <a:extLst>
              <a:ext uri="{FF2B5EF4-FFF2-40B4-BE49-F238E27FC236}">
                <a16:creationId xmlns:a16="http://schemas.microsoft.com/office/drawing/2014/main" id="{C9D7FC63-1801-21EB-DD72-EA41B4124B93}"/>
              </a:ext>
            </a:extLst>
          </p:cNvPr>
          <p:cNvSpPr txBox="1"/>
          <p:nvPr/>
        </p:nvSpPr>
        <p:spPr>
          <a:xfrm>
            <a:off x="3695700" y="5511551"/>
            <a:ext cx="5630259" cy="461665"/>
          </a:xfrm>
          <a:prstGeom prst="rect">
            <a:avLst/>
          </a:prstGeom>
          <a:noFill/>
        </p:spPr>
        <p:txBody>
          <a:bodyPr wrap="none" rtlCol="0">
            <a:spAutoFit/>
          </a:bodyPr>
          <a:lstStyle/>
          <a:p>
            <a:r>
              <a:rPr lang="en-US" sz="2400" dirty="0">
                <a:solidFill>
                  <a:srgbClr val="FF0000"/>
                </a:solidFill>
              </a:rPr>
              <a:t>What else </a:t>
            </a:r>
            <a:r>
              <a:rPr lang="en-US" sz="2400" dirty="0"/>
              <a:t>can we do in Single Cell Analysis?</a:t>
            </a:r>
          </a:p>
        </p:txBody>
      </p:sp>
    </p:spTree>
    <p:extLst>
      <p:ext uri="{BB962C8B-B14F-4D97-AF65-F5344CB8AC3E}">
        <p14:creationId xmlns:p14="http://schemas.microsoft.com/office/powerpoint/2010/main" val="1249464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79BA1-99B9-E8E2-AD59-2C83F583CB7C}"/>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5D5441EB-E454-A280-1AB8-3E426BA21F0A}"/>
              </a:ext>
            </a:extLst>
          </p:cNvPr>
          <p:cNvSpPr>
            <a:spLocks noGrp="1"/>
          </p:cNvSpPr>
          <p:nvPr>
            <p:ph idx="1"/>
          </p:nvPr>
        </p:nvSpPr>
        <p:spPr>
          <a:xfrm>
            <a:off x="838200" y="1825624"/>
            <a:ext cx="10515600" cy="4784725"/>
          </a:xfrm>
        </p:spPr>
        <p:txBody>
          <a:bodyPr>
            <a:normAutofit/>
          </a:bodyPr>
          <a:lstStyle/>
          <a:p>
            <a:pPr>
              <a:lnSpc>
                <a:spcPct val="150000"/>
              </a:lnSpc>
            </a:pPr>
            <a:r>
              <a:rPr lang="en-US" dirty="0"/>
              <a:t>Most current single-cell analysis pipelines rely heavily on </a:t>
            </a:r>
            <a:r>
              <a:rPr lang="en-US" dirty="0">
                <a:solidFill>
                  <a:srgbClr val="FF0000"/>
                </a:solidFill>
                <a:effectLst/>
              </a:rPr>
              <a:t>clustering</a:t>
            </a:r>
          </a:p>
          <a:p>
            <a:pPr lvl="1">
              <a:lnSpc>
                <a:spcPct val="150000"/>
              </a:lnSpc>
            </a:pPr>
            <a:r>
              <a:rPr lang="en-US" dirty="0"/>
              <a:t>False Discovery (just because they are clustered by similar characteristics)</a:t>
            </a:r>
          </a:p>
          <a:p>
            <a:pPr>
              <a:lnSpc>
                <a:spcPct val="150000"/>
              </a:lnSpc>
            </a:pPr>
            <a:r>
              <a:rPr lang="en-US" dirty="0">
                <a:solidFill>
                  <a:srgbClr val="222222"/>
                </a:solidFill>
                <a:latin typeface="Harding"/>
              </a:rPr>
              <a:t>Lots of single-cell computational methods are developed for the</a:t>
            </a:r>
            <a:r>
              <a:rPr lang="en-US" b="0" i="0" dirty="0">
                <a:solidFill>
                  <a:srgbClr val="222222"/>
                </a:solidFill>
                <a:effectLst/>
                <a:latin typeface="Harding"/>
              </a:rPr>
              <a:t> analysis of</a:t>
            </a:r>
            <a:r>
              <a:rPr lang="zh-TW" altLang="en-US" b="0" i="0" dirty="0">
                <a:solidFill>
                  <a:srgbClr val="222222"/>
                </a:solidFill>
                <a:effectLst/>
                <a:latin typeface="Harding"/>
              </a:rPr>
              <a:t> </a:t>
            </a:r>
            <a:r>
              <a:rPr lang="en-US" altLang="zh-TW" b="0" i="0" dirty="0">
                <a:solidFill>
                  <a:srgbClr val="0070C0"/>
                </a:solidFill>
                <a:effectLst/>
                <a:latin typeface="Harding"/>
              </a:rPr>
              <a:t>o</a:t>
            </a:r>
            <a:r>
              <a:rPr lang="en-US" b="0" i="0" dirty="0">
                <a:solidFill>
                  <a:srgbClr val="0070C0"/>
                </a:solidFill>
                <a:effectLst/>
                <a:latin typeface="Harding"/>
              </a:rPr>
              <a:t>ne modality</a:t>
            </a:r>
          </a:p>
          <a:p>
            <a:endParaRPr lang="en-US" dirty="0"/>
          </a:p>
          <a:p>
            <a:pPr marL="0" indent="0">
              <a:buNone/>
            </a:pPr>
            <a:r>
              <a:rPr lang="zh-TW" altLang="en-US" dirty="0"/>
              <a:t>                                                                </a:t>
            </a:r>
            <a:r>
              <a:rPr lang="en-US" altLang="zh-TW" dirty="0"/>
              <a:t>….these are also our obstacles</a:t>
            </a:r>
            <a:endParaRPr lang="en-US" dirty="0"/>
          </a:p>
        </p:txBody>
      </p:sp>
      <p:sp>
        <p:nvSpPr>
          <p:cNvPr id="4" name="Slide Number Placeholder 3">
            <a:extLst>
              <a:ext uri="{FF2B5EF4-FFF2-40B4-BE49-F238E27FC236}">
                <a16:creationId xmlns:a16="http://schemas.microsoft.com/office/drawing/2014/main" id="{0C378AB2-FA4A-62C8-3891-8E39C08796F2}"/>
              </a:ext>
            </a:extLst>
          </p:cNvPr>
          <p:cNvSpPr>
            <a:spLocks noGrp="1"/>
          </p:cNvSpPr>
          <p:nvPr>
            <p:ph type="sldNum" sz="quarter" idx="12"/>
          </p:nvPr>
        </p:nvSpPr>
        <p:spPr/>
        <p:txBody>
          <a:bodyPr/>
          <a:lstStyle/>
          <a:p>
            <a:fld id="{7DF2C209-72C5-4BD6-83FD-73557975086B}" type="slidenum">
              <a:rPr lang="en-US" smtClean="0"/>
              <a:t>4</a:t>
            </a:fld>
            <a:endParaRPr lang="en-US"/>
          </a:p>
        </p:txBody>
      </p:sp>
    </p:spTree>
    <p:extLst>
      <p:ext uri="{BB962C8B-B14F-4D97-AF65-F5344CB8AC3E}">
        <p14:creationId xmlns:p14="http://schemas.microsoft.com/office/powerpoint/2010/main" val="3174988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574814-4AC5-86BC-5DBC-25E9755C504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010F94A-CC87-4CFD-9C93-64BCE1844BCA}"/>
              </a:ext>
            </a:extLst>
          </p:cNvPr>
          <p:cNvPicPr>
            <a:picLocks noChangeAspect="1"/>
          </p:cNvPicPr>
          <p:nvPr/>
        </p:nvPicPr>
        <p:blipFill>
          <a:blip r:embed="rId3"/>
          <a:stretch>
            <a:fillRect/>
          </a:stretch>
        </p:blipFill>
        <p:spPr>
          <a:xfrm>
            <a:off x="158258" y="430484"/>
            <a:ext cx="11748820" cy="6062391"/>
          </a:xfrm>
          <a:prstGeom prst="rect">
            <a:avLst/>
          </a:prstGeom>
        </p:spPr>
      </p:pic>
      <p:sp>
        <p:nvSpPr>
          <p:cNvPr id="2" name="Slide Number Placeholder 1">
            <a:extLst>
              <a:ext uri="{FF2B5EF4-FFF2-40B4-BE49-F238E27FC236}">
                <a16:creationId xmlns:a16="http://schemas.microsoft.com/office/drawing/2014/main" id="{5FF3C912-C20B-88CF-1357-C5943FF76929}"/>
              </a:ext>
            </a:extLst>
          </p:cNvPr>
          <p:cNvSpPr>
            <a:spLocks noGrp="1"/>
          </p:cNvSpPr>
          <p:nvPr>
            <p:ph type="sldNum" sz="quarter" idx="12"/>
          </p:nvPr>
        </p:nvSpPr>
        <p:spPr/>
        <p:txBody>
          <a:bodyPr/>
          <a:lstStyle/>
          <a:p>
            <a:fld id="{7DF2C209-72C5-4BD6-83FD-73557975086B}" type="slidenum">
              <a:rPr lang="en-US" smtClean="0"/>
              <a:t>5</a:t>
            </a:fld>
            <a:endParaRPr lang="en-US"/>
          </a:p>
        </p:txBody>
      </p:sp>
    </p:spTree>
    <p:extLst>
      <p:ext uri="{BB962C8B-B14F-4D97-AF65-F5344CB8AC3E}">
        <p14:creationId xmlns:p14="http://schemas.microsoft.com/office/powerpoint/2010/main" val="2550113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AC6DC-3E4B-5FD3-3842-9F9FCFE60820}"/>
              </a:ext>
            </a:extLst>
          </p:cNvPr>
          <p:cNvSpPr>
            <a:spLocks noGrp="1"/>
          </p:cNvSpPr>
          <p:nvPr>
            <p:ph type="title"/>
          </p:nvPr>
        </p:nvSpPr>
        <p:spPr/>
        <p:txBody>
          <a:bodyPr/>
          <a:lstStyle/>
          <a:p>
            <a:r>
              <a:rPr lang="en-US" dirty="0"/>
              <a:t>This is what SIMBA want to ACHIEVE</a:t>
            </a:r>
          </a:p>
        </p:txBody>
      </p:sp>
      <p:sp>
        <p:nvSpPr>
          <p:cNvPr id="3" name="Content Placeholder 2">
            <a:extLst>
              <a:ext uri="{FF2B5EF4-FFF2-40B4-BE49-F238E27FC236}">
                <a16:creationId xmlns:a16="http://schemas.microsoft.com/office/drawing/2014/main" id="{414E03F7-2C8E-97C8-0BC5-81325601F3D8}"/>
              </a:ext>
            </a:extLst>
          </p:cNvPr>
          <p:cNvSpPr>
            <a:spLocks noGrp="1"/>
          </p:cNvSpPr>
          <p:nvPr>
            <p:ph idx="1"/>
          </p:nvPr>
        </p:nvSpPr>
        <p:spPr>
          <a:xfrm>
            <a:off x="838200" y="1825625"/>
            <a:ext cx="10814538" cy="4351338"/>
          </a:xfrm>
        </p:spPr>
        <p:txBody>
          <a:bodyPr/>
          <a:lstStyle/>
          <a:p>
            <a:pPr>
              <a:lnSpc>
                <a:spcPct val="150000"/>
              </a:lnSpc>
            </a:pPr>
            <a:r>
              <a:rPr lang="en-US" dirty="0">
                <a:effectLst/>
              </a:rPr>
              <a:t>An </a:t>
            </a:r>
            <a:r>
              <a:rPr lang="en-US" dirty="0">
                <a:solidFill>
                  <a:srgbClr val="FF0000"/>
                </a:solidFill>
                <a:effectLst/>
              </a:rPr>
              <a:t>clustering-free</a:t>
            </a:r>
            <a:r>
              <a:rPr lang="en-US" dirty="0">
                <a:effectLst/>
              </a:rPr>
              <a:t> approach</a:t>
            </a:r>
          </a:p>
          <a:p>
            <a:pPr>
              <a:lnSpc>
                <a:spcPct val="150000"/>
              </a:lnSpc>
            </a:pPr>
            <a:r>
              <a:rPr lang="en-US" dirty="0"/>
              <a:t>A</a:t>
            </a:r>
            <a:r>
              <a:rPr lang="en-US" dirty="0">
                <a:effectLst/>
              </a:rPr>
              <a:t> model considering </a:t>
            </a:r>
            <a:r>
              <a:rPr lang="en-US" dirty="0">
                <a:solidFill>
                  <a:srgbClr val="FF0000"/>
                </a:solidFill>
                <a:effectLst/>
              </a:rPr>
              <a:t>interactions</a:t>
            </a:r>
            <a:r>
              <a:rPr lang="en-US" dirty="0">
                <a:effectLst/>
              </a:rPr>
              <a:t> between different features</a:t>
            </a:r>
          </a:p>
          <a:p>
            <a:endParaRPr lang="en-US" dirty="0"/>
          </a:p>
        </p:txBody>
      </p:sp>
      <p:sp>
        <p:nvSpPr>
          <p:cNvPr id="21" name="Arrow: Down 20">
            <a:extLst>
              <a:ext uri="{FF2B5EF4-FFF2-40B4-BE49-F238E27FC236}">
                <a16:creationId xmlns:a16="http://schemas.microsoft.com/office/drawing/2014/main" id="{5D98B7AA-A9FC-61A9-2DBC-AB937CC74DAC}"/>
              </a:ext>
            </a:extLst>
          </p:cNvPr>
          <p:cNvSpPr/>
          <p:nvPr/>
        </p:nvSpPr>
        <p:spPr>
          <a:xfrm>
            <a:off x="5049078" y="3697357"/>
            <a:ext cx="506896" cy="1043608"/>
          </a:xfrm>
          <a:prstGeom prst="downArrow">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09D2687-6C54-8CF2-E46F-B76935740E8D}"/>
              </a:ext>
            </a:extLst>
          </p:cNvPr>
          <p:cNvSpPr txBox="1"/>
          <p:nvPr/>
        </p:nvSpPr>
        <p:spPr>
          <a:xfrm>
            <a:off x="3268731" y="5196543"/>
            <a:ext cx="4574485" cy="523220"/>
          </a:xfrm>
          <a:prstGeom prst="rect">
            <a:avLst/>
          </a:prstGeom>
          <a:noFill/>
        </p:spPr>
        <p:txBody>
          <a:bodyPr wrap="square">
            <a:spAutoFit/>
          </a:bodyPr>
          <a:lstStyle/>
          <a:p>
            <a:r>
              <a:rPr lang="en-US" sz="2800" b="1" dirty="0">
                <a:ln w="0"/>
                <a:effectLst>
                  <a:outerShdw blurRad="38100" dist="19050" dir="2700000" algn="tl" rotWithShape="0">
                    <a:schemeClr val="dk1">
                      <a:alpha val="40000"/>
                    </a:schemeClr>
                  </a:outerShdw>
                </a:effectLst>
              </a:rPr>
              <a:t>A graph embedding method</a:t>
            </a:r>
          </a:p>
        </p:txBody>
      </p:sp>
      <p:sp>
        <p:nvSpPr>
          <p:cNvPr id="4" name="Slide Number Placeholder 3">
            <a:extLst>
              <a:ext uri="{FF2B5EF4-FFF2-40B4-BE49-F238E27FC236}">
                <a16:creationId xmlns:a16="http://schemas.microsoft.com/office/drawing/2014/main" id="{8B996026-42FB-2D8B-68A7-4E8D1F27EBF9}"/>
              </a:ext>
            </a:extLst>
          </p:cNvPr>
          <p:cNvSpPr>
            <a:spLocks noGrp="1"/>
          </p:cNvSpPr>
          <p:nvPr>
            <p:ph type="sldNum" sz="quarter" idx="12"/>
          </p:nvPr>
        </p:nvSpPr>
        <p:spPr/>
        <p:txBody>
          <a:bodyPr/>
          <a:lstStyle/>
          <a:p>
            <a:fld id="{7DF2C209-72C5-4BD6-83FD-73557975086B}" type="slidenum">
              <a:rPr lang="en-US" smtClean="0"/>
              <a:t>6</a:t>
            </a:fld>
            <a:endParaRPr lang="en-US"/>
          </a:p>
        </p:txBody>
      </p:sp>
    </p:spTree>
    <p:extLst>
      <p:ext uri="{BB962C8B-B14F-4D97-AF65-F5344CB8AC3E}">
        <p14:creationId xmlns:p14="http://schemas.microsoft.com/office/powerpoint/2010/main" val="3028911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AC6DC-3E4B-5FD3-3842-9F9FCFE60820}"/>
              </a:ext>
            </a:extLst>
          </p:cNvPr>
          <p:cNvSpPr>
            <a:spLocks noGrp="1"/>
          </p:cNvSpPr>
          <p:nvPr>
            <p:ph type="title"/>
          </p:nvPr>
        </p:nvSpPr>
        <p:spPr/>
        <p:txBody>
          <a:bodyPr/>
          <a:lstStyle/>
          <a:p>
            <a:r>
              <a:rPr lang="en-US" dirty="0"/>
              <a:t>A Graph Embedding Method</a:t>
            </a:r>
          </a:p>
        </p:txBody>
      </p:sp>
      <p:sp>
        <p:nvSpPr>
          <p:cNvPr id="7" name="Rectangle 6">
            <a:extLst>
              <a:ext uri="{FF2B5EF4-FFF2-40B4-BE49-F238E27FC236}">
                <a16:creationId xmlns:a16="http://schemas.microsoft.com/office/drawing/2014/main" id="{0E0E5407-4F64-C40D-B7C3-7C6AA247A7ED}"/>
              </a:ext>
            </a:extLst>
          </p:cNvPr>
          <p:cNvSpPr/>
          <p:nvPr/>
        </p:nvSpPr>
        <p:spPr>
          <a:xfrm>
            <a:off x="1403351" y="3169343"/>
            <a:ext cx="1926167" cy="2963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mRNA  (</a:t>
            </a:r>
            <a:r>
              <a:rPr lang="en-US" dirty="0" err="1">
                <a:solidFill>
                  <a:schemeClr val="tx1"/>
                </a:solidFill>
              </a:rPr>
              <a:t>scRNA</a:t>
            </a:r>
            <a:r>
              <a:rPr lang="en-US" dirty="0">
                <a:solidFill>
                  <a:schemeClr val="tx1"/>
                </a:solidFill>
              </a:rPr>
              <a:t>)</a:t>
            </a:r>
          </a:p>
        </p:txBody>
      </p:sp>
      <p:sp>
        <p:nvSpPr>
          <p:cNvPr id="8" name="Rectangle 7">
            <a:extLst>
              <a:ext uri="{FF2B5EF4-FFF2-40B4-BE49-F238E27FC236}">
                <a16:creationId xmlns:a16="http://schemas.microsoft.com/office/drawing/2014/main" id="{A041FA36-C0FF-2C48-54DE-CF9A7602000B}"/>
              </a:ext>
            </a:extLst>
          </p:cNvPr>
          <p:cNvSpPr/>
          <p:nvPr/>
        </p:nvSpPr>
        <p:spPr>
          <a:xfrm>
            <a:off x="838200" y="3760947"/>
            <a:ext cx="3367457" cy="2963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Chromatin Accessibility (</a:t>
            </a:r>
            <a:r>
              <a:rPr lang="en-US" altLang="zh-TW" dirty="0" err="1">
                <a:solidFill>
                  <a:schemeClr val="tx1"/>
                </a:solidFill>
              </a:rPr>
              <a:t>scATAC</a:t>
            </a:r>
            <a:r>
              <a:rPr lang="en-US" altLang="zh-TW" dirty="0">
                <a:solidFill>
                  <a:schemeClr val="tx1"/>
                </a:solidFill>
              </a:rPr>
              <a:t>) </a:t>
            </a:r>
            <a:r>
              <a:rPr lang="en-US" dirty="0">
                <a:solidFill>
                  <a:schemeClr val="tx1"/>
                </a:solidFill>
              </a:rPr>
              <a:t> </a:t>
            </a:r>
          </a:p>
        </p:txBody>
      </p:sp>
      <p:sp>
        <p:nvSpPr>
          <p:cNvPr id="11" name="Rectangle 10">
            <a:extLst>
              <a:ext uri="{FF2B5EF4-FFF2-40B4-BE49-F238E27FC236}">
                <a16:creationId xmlns:a16="http://schemas.microsoft.com/office/drawing/2014/main" id="{88F014C1-2A81-3AB3-CF54-4C92AC155C85}"/>
              </a:ext>
            </a:extLst>
          </p:cNvPr>
          <p:cNvSpPr/>
          <p:nvPr/>
        </p:nvSpPr>
        <p:spPr>
          <a:xfrm>
            <a:off x="1257761" y="4971749"/>
            <a:ext cx="1926167" cy="2963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DNA sequence</a:t>
            </a:r>
          </a:p>
        </p:txBody>
      </p:sp>
      <p:sp>
        <p:nvSpPr>
          <p:cNvPr id="12" name="Arrow: Right 11">
            <a:extLst>
              <a:ext uri="{FF2B5EF4-FFF2-40B4-BE49-F238E27FC236}">
                <a16:creationId xmlns:a16="http://schemas.microsoft.com/office/drawing/2014/main" id="{32AADA35-E82B-DC29-7B4F-41DA014348B9}"/>
              </a:ext>
            </a:extLst>
          </p:cNvPr>
          <p:cNvSpPr/>
          <p:nvPr/>
        </p:nvSpPr>
        <p:spPr>
          <a:xfrm>
            <a:off x="4706658" y="3766209"/>
            <a:ext cx="2963333" cy="469636"/>
          </a:xfrm>
          <a:prstGeom prst="rightArrow">
            <a:avLst/>
          </a:prstGeom>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2AC6E69-0EBE-77A5-CA7E-891C1D2449DA}"/>
              </a:ext>
            </a:extLst>
          </p:cNvPr>
          <p:cNvSpPr/>
          <p:nvPr/>
        </p:nvSpPr>
        <p:spPr>
          <a:xfrm>
            <a:off x="8402360" y="2563942"/>
            <a:ext cx="2856440" cy="299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14" name="Oval 13">
            <a:extLst>
              <a:ext uri="{FF2B5EF4-FFF2-40B4-BE49-F238E27FC236}">
                <a16:creationId xmlns:a16="http://schemas.microsoft.com/office/drawing/2014/main" id="{D2A918CA-4258-E4F1-6C58-262E53EBBB4D}"/>
              </a:ext>
            </a:extLst>
          </p:cNvPr>
          <p:cNvSpPr/>
          <p:nvPr/>
        </p:nvSpPr>
        <p:spPr>
          <a:xfrm>
            <a:off x="9198751" y="3144704"/>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4F0EC62-BB98-334A-BE19-5112529F0FF7}"/>
              </a:ext>
            </a:extLst>
          </p:cNvPr>
          <p:cNvSpPr/>
          <p:nvPr/>
        </p:nvSpPr>
        <p:spPr>
          <a:xfrm>
            <a:off x="9015662" y="3947714"/>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6144AF5-2E70-3C99-F83D-469BCD133751}"/>
              </a:ext>
            </a:extLst>
          </p:cNvPr>
          <p:cNvSpPr/>
          <p:nvPr/>
        </p:nvSpPr>
        <p:spPr>
          <a:xfrm>
            <a:off x="9371262" y="4774206"/>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03901A6-B8DF-6280-F554-AEB3275922CF}"/>
              </a:ext>
            </a:extLst>
          </p:cNvPr>
          <p:cNvSpPr/>
          <p:nvPr/>
        </p:nvSpPr>
        <p:spPr>
          <a:xfrm>
            <a:off x="10331169" y="3631272"/>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2C49C1F-CC42-FEAD-7501-15FBDF314D1D}"/>
              </a:ext>
            </a:extLst>
          </p:cNvPr>
          <p:cNvSpPr/>
          <p:nvPr/>
        </p:nvSpPr>
        <p:spPr>
          <a:xfrm>
            <a:off x="10358159" y="4723406"/>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CEEF4F9-E03A-4C56-F8B9-06914B25A96F}"/>
              </a:ext>
            </a:extLst>
          </p:cNvPr>
          <p:cNvSpPr/>
          <p:nvPr/>
        </p:nvSpPr>
        <p:spPr>
          <a:xfrm>
            <a:off x="8448398" y="2156485"/>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 common latent space</a:t>
            </a:r>
          </a:p>
        </p:txBody>
      </p:sp>
      <p:cxnSp>
        <p:nvCxnSpPr>
          <p:cNvPr id="20" name="Straight Connector 19">
            <a:extLst>
              <a:ext uri="{FF2B5EF4-FFF2-40B4-BE49-F238E27FC236}">
                <a16:creationId xmlns:a16="http://schemas.microsoft.com/office/drawing/2014/main" id="{2CD383D2-3F1B-F752-6C15-F2A12F4AB33D}"/>
              </a:ext>
            </a:extLst>
          </p:cNvPr>
          <p:cNvCxnSpPr>
            <a:cxnSpLocks/>
            <a:endCxn id="15" idx="0"/>
          </p:cNvCxnSpPr>
          <p:nvPr/>
        </p:nvCxnSpPr>
        <p:spPr>
          <a:xfrm flipH="1">
            <a:off x="9101918" y="3322504"/>
            <a:ext cx="166157" cy="6252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AB358D0-5D6F-7AF3-877D-44B072831E04}"/>
              </a:ext>
            </a:extLst>
          </p:cNvPr>
          <p:cNvCxnSpPr>
            <a:cxnSpLocks/>
            <a:stCxn id="14" idx="4"/>
          </p:cNvCxnSpPr>
          <p:nvPr/>
        </p:nvCxnSpPr>
        <p:spPr>
          <a:xfrm>
            <a:off x="9285007" y="3322504"/>
            <a:ext cx="175687" cy="14517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9051F8D-67BD-93C7-8DC3-0CCAB55C2B8D}"/>
              </a:ext>
            </a:extLst>
          </p:cNvPr>
          <p:cNvCxnSpPr>
            <a:cxnSpLocks/>
            <a:endCxn id="17" idx="1"/>
          </p:cNvCxnSpPr>
          <p:nvPr/>
        </p:nvCxnSpPr>
        <p:spPr>
          <a:xfrm>
            <a:off x="9324958" y="3194381"/>
            <a:ext cx="1031475" cy="462929"/>
          </a:xfrm>
          <a:prstGeom prst="line">
            <a:avLst/>
          </a:prstGeom>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00FB1036-516B-5A5B-845F-1B9420A092E4}"/>
              </a:ext>
            </a:extLst>
          </p:cNvPr>
          <p:cNvSpPr/>
          <p:nvPr/>
        </p:nvSpPr>
        <p:spPr>
          <a:xfrm>
            <a:off x="1399772" y="4366348"/>
            <a:ext cx="1623484" cy="2963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TF motif</a:t>
            </a:r>
            <a:endParaRPr lang="en-US" dirty="0">
              <a:solidFill>
                <a:schemeClr val="tx1"/>
              </a:solidFill>
            </a:endParaRPr>
          </a:p>
        </p:txBody>
      </p:sp>
      <p:sp>
        <p:nvSpPr>
          <p:cNvPr id="4" name="Rectangle 3">
            <a:extLst>
              <a:ext uri="{FF2B5EF4-FFF2-40B4-BE49-F238E27FC236}">
                <a16:creationId xmlns:a16="http://schemas.microsoft.com/office/drawing/2014/main" id="{DEA5D0B7-EAE5-5850-473E-321F859C58C9}"/>
              </a:ext>
            </a:extLst>
          </p:cNvPr>
          <p:cNvSpPr/>
          <p:nvPr/>
        </p:nvSpPr>
        <p:spPr>
          <a:xfrm>
            <a:off x="1097089" y="2563942"/>
            <a:ext cx="1926167" cy="2963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Cell</a:t>
            </a:r>
          </a:p>
        </p:txBody>
      </p:sp>
      <p:sp>
        <p:nvSpPr>
          <p:cNvPr id="5" name="Slide Number Placeholder 4">
            <a:extLst>
              <a:ext uri="{FF2B5EF4-FFF2-40B4-BE49-F238E27FC236}">
                <a16:creationId xmlns:a16="http://schemas.microsoft.com/office/drawing/2014/main" id="{5722441A-E5EB-A669-456B-B4A552F1C67C}"/>
              </a:ext>
            </a:extLst>
          </p:cNvPr>
          <p:cNvSpPr>
            <a:spLocks noGrp="1"/>
          </p:cNvSpPr>
          <p:nvPr>
            <p:ph type="sldNum" sz="quarter" idx="12"/>
          </p:nvPr>
        </p:nvSpPr>
        <p:spPr/>
        <p:txBody>
          <a:bodyPr/>
          <a:lstStyle/>
          <a:p>
            <a:fld id="{7DF2C209-72C5-4BD6-83FD-73557975086B}" type="slidenum">
              <a:rPr lang="en-US" smtClean="0"/>
              <a:t>7</a:t>
            </a:fld>
            <a:endParaRPr lang="en-US"/>
          </a:p>
        </p:txBody>
      </p:sp>
    </p:spTree>
    <p:extLst>
      <p:ext uri="{BB962C8B-B14F-4D97-AF65-F5344CB8AC3E}">
        <p14:creationId xmlns:p14="http://schemas.microsoft.com/office/powerpoint/2010/main" val="3232272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arn(inVertical)">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barn(inVertical)">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650FA4-00FE-9FAF-0D8D-4A92B0A37EC9}"/>
              </a:ext>
            </a:extLst>
          </p:cNvPr>
          <p:cNvPicPr>
            <a:picLocks noChangeAspect="1"/>
          </p:cNvPicPr>
          <p:nvPr/>
        </p:nvPicPr>
        <p:blipFill>
          <a:blip r:embed="rId3"/>
          <a:stretch>
            <a:fillRect/>
          </a:stretch>
        </p:blipFill>
        <p:spPr>
          <a:xfrm>
            <a:off x="1319826" y="223894"/>
            <a:ext cx="9552347" cy="6634106"/>
          </a:xfrm>
          <a:prstGeom prst="rect">
            <a:avLst/>
          </a:prstGeom>
        </p:spPr>
      </p:pic>
      <p:sp>
        <p:nvSpPr>
          <p:cNvPr id="2" name="Slide Number Placeholder 1">
            <a:extLst>
              <a:ext uri="{FF2B5EF4-FFF2-40B4-BE49-F238E27FC236}">
                <a16:creationId xmlns:a16="http://schemas.microsoft.com/office/drawing/2014/main" id="{24223F36-50EA-06DB-2DFE-FFD4B266AA77}"/>
              </a:ext>
            </a:extLst>
          </p:cNvPr>
          <p:cNvSpPr>
            <a:spLocks noGrp="1"/>
          </p:cNvSpPr>
          <p:nvPr>
            <p:ph type="sldNum" sz="quarter" idx="12"/>
          </p:nvPr>
        </p:nvSpPr>
        <p:spPr/>
        <p:txBody>
          <a:bodyPr/>
          <a:lstStyle/>
          <a:p>
            <a:fld id="{7DF2C209-72C5-4BD6-83FD-73557975086B}" type="slidenum">
              <a:rPr lang="en-US" smtClean="0"/>
              <a:t>8</a:t>
            </a:fld>
            <a:endParaRPr lang="en-US"/>
          </a:p>
        </p:txBody>
      </p:sp>
    </p:spTree>
    <p:extLst>
      <p:ext uri="{BB962C8B-B14F-4D97-AF65-F5344CB8AC3E}">
        <p14:creationId xmlns:p14="http://schemas.microsoft.com/office/powerpoint/2010/main" val="1791410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5DE757A-8CCF-571A-02B0-B1225214035F}"/>
              </a:ext>
            </a:extLst>
          </p:cNvPr>
          <p:cNvSpPr/>
          <p:nvPr/>
        </p:nvSpPr>
        <p:spPr>
          <a:xfrm>
            <a:off x="0" y="0"/>
            <a:ext cx="12192000"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4471199" y="2331734"/>
            <a:ext cx="3249597" cy="1671311"/>
          </a:xfrm>
        </p:spPr>
        <p:txBody>
          <a:bodyPr>
            <a:normAutofit/>
          </a:bodyPr>
          <a:lstStyle/>
          <a:p>
            <a:r>
              <a:rPr lang="en-US" sz="6000" dirty="0"/>
              <a:t>Methods</a:t>
            </a:r>
          </a:p>
        </p:txBody>
      </p:sp>
      <p:sp>
        <p:nvSpPr>
          <p:cNvPr id="4" name="Slide Number Placeholder 3">
            <a:extLst>
              <a:ext uri="{FF2B5EF4-FFF2-40B4-BE49-F238E27FC236}">
                <a16:creationId xmlns:a16="http://schemas.microsoft.com/office/drawing/2014/main" id="{F7CCE9EF-6891-C32E-273A-8F512DC0DADA}"/>
              </a:ext>
            </a:extLst>
          </p:cNvPr>
          <p:cNvSpPr>
            <a:spLocks noGrp="1"/>
          </p:cNvSpPr>
          <p:nvPr>
            <p:ph type="sldNum" sz="quarter" idx="12"/>
          </p:nvPr>
        </p:nvSpPr>
        <p:spPr/>
        <p:txBody>
          <a:bodyPr/>
          <a:lstStyle/>
          <a:p>
            <a:fld id="{7DF2C209-72C5-4BD6-83FD-73557975086B}" type="slidenum">
              <a:rPr lang="en-US" smtClean="0"/>
              <a:t>9</a:t>
            </a:fld>
            <a:endParaRPr lang="en-US"/>
          </a:p>
        </p:txBody>
      </p:sp>
      <p:sp>
        <p:nvSpPr>
          <p:cNvPr id="5" name="TextBox 4">
            <a:extLst>
              <a:ext uri="{FF2B5EF4-FFF2-40B4-BE49-F238E27FC236}">
                <a16:creationId xmlns:a16="http://schemas.microsoft.com/office/drawing/2014/main" id="{ED47294E-9279-B873-1EAC-F9966A3C88B9}"/>
              </a:ext>
            </a:extLst>
          </p:cNvPr>
          <p:cNvSpPr txBox="1"/>
          <p:nvPr/>
        </p:nvSpPr>
        <p:spPr>
          <a:xfrm>
            <a:off x="3252205" y="3809698"/>
            <a:ext cx="5687583" cy="523220"/>
          </a:xfrm>
          <a:prstGeom prst="rect">
            <a:avLst/>
          </a:prstGeom>
          <a:noFill/>
        </p:spPr>
        <p:txBody>
          <a:bodyPr wrap="none" rtlCol="0">
            <a:spAutoFit/>
          </a:bodyPr>
          <a:lstStyle/>
          <a:p>
            <a:r>
              <a:rPr lang="en-US" sz="2800" dirty="0"/>
              <a:t>How does SIMBA </a:t>
            </a:r>
            <a:r>
              <a:rPr lang="en-US" sz="2800" dirty="0">
                <a:solidFill>
                  <a:srgbClr val="FF0000"/>
                </a:solidFill>
              </a:rPr>
              <a:t>solve</a:t>
            </a:r>
            <a:r>
              <a:rPr lang="en-US" sz="2800" dirty="0"/>
              <a:t> the challenge</a:t>
            </a:r>
            <a:r>
              <a:rPr lang="en-US" sz="2400" dirty="0"/>
              <a:t>?</a:t>
            </a:r>
          </a:p>
        </p:txBody>
      </p:sp>
    </p:spTree>
    <p:extLst>
      <p:ext uri="{BB962C8B-B14F-4D97-AF65-F5344CB8AC3E}">
        <p14:creationId xmlns:p14="http://schemas.microsoft.com/office/powerpoint/2010/main" val="122466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CCE9EF-6891-C32E-273A-8F512DC0DADA}"/>
              </a:ext>
            </a:extLst>
          </p:cNvPr>
          <p:cNvSpPr>
            <a:spLocks noGrp="1"/>
          </p:cNvSpPr>
          <p:nvPr>
            <p:ph type="sldNum" sz="quarter" idx="12"/>
          </p:nvPr>
        </p:nvSpPr>
        <p:spPr>
          <a:xfrm>
            <a:off x="8695155" y="6355410"/>
            <a:ext cx="2743200" cy="365125"/>
          </a:xfrm>
        </p:spPr>
        <p:txBody>
          <a:bodyPr/>
          <a:lstStyle/>
          <a:p>
            <a:fld id="{7DF2C209-72C5-4BD6-83FD-73557975086B}" type="slidenum">
              <a:rPr lang="en-US" smtClean="0"/>
              <a:t>10</a:t>
            </a:fld>
            <a:endParaRPr lang="en-US"/>
          </a:p>
        </p:txBody>
      </p:sp>
      <p:sp>
        <p:nvSpPr>
          <p:cNvPr id="5" name="TextBox 4">
            <a:extLst>
              <a:ext uri="{FF2B5EF4-FFF2-40B4-BE49-F238E27FC236}">
                <a16:creationId xmlns:a16="http://schemas.microsoft.com/office/drawing/2014/main" id="{6660A00D-92F0-A5EE-09FF-9A99028F7709}"/>
              </a:ext>
            </a:extLst>
          </p:cNvPr>
          <p:cNvSpPr txBox="1"/>
          <p:nvPr/>
        </p:nvSpPr>
        <p:spPr>
          <a:xfrm>
            <a:off x="748021" y="4845830"/>
            <a:ext cx="2976520" cy="523220"/>
          </a:xfrm>
          <a:prstGeom prst="rect">
            <a:avLst/>
          </a:prstGeom>
          <a:noFill/>
        </p:spPr>
        <p:txBody>
          <a:bodyPr wrap="none" rtlCol="0">
            <a:spAutoFit/>
          </a:bodyPr>
          <a:lstStyle/>
          <a:p>
            <a:r>
              <a:rPr lang="en-US" altLang="zh-TW" sz="2800" dirty="0"/>
              <a:t>Data Preprocessing</a:t>
            </a:r>
            <a:endParaRPr lang="en-US" sz="2800" dirty="0"/>
          </a:p>
        </p:txBody>
      </p:sp>
      <p:pic>
        <p:nvPicPr>
          <p:cNvPr id="1026" name="Picture 2" descr="Matrices - Solve, Types, Meaning, Examples | Matrix Definition">
            <a:extLst>
              <a:ext uri="{FF2B5EF4-FFF2-40B4-BE49-F238E27FC236}">
                <a16:creationId xmlns:a16="http://schemas.microsoft.com/office/drawing/2014/main" id="{5FA095C9-A904-67CF-CE1F-FFC6F582468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587" t="35080" r="23000" b="-2"/>
          <a:stretch/>
        </p:blipFill>
        <p:spPr bwMode="auto">
          <a:xfrm>
            <a:off x="335903" y="2017438"/>
            <a:ext cx="3107095" cy="2689458"/>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216F1242-4A01-4AF0-1AF2-884D561C842E}"/>
              </a:ext>
            </a:extLst>
          </p:cNvPr>
          <p:cNvSpPr txBox="1">
            <a:spLocks/>
          </p:cNvSpPr>
          <p:nvPr/>
        </p:nvSpPr>
        <p:spPr>
          <a:xfrm>
            <a:off x="636037" y="39622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In General, Three Steps </a:t>
            </a:r>
          </a:p>
        </p:txBody>
      </p:sp>
      <p:sp>
        <p:nvSpPr>
          <p:cNvPr id="8" name="Arrow: Right 7">
            <a:extLst>
              <a:ext uri="{FF2B5EF4-FFF2-40B4-BE49-F238E27FC236}">
                <a16:creationId xmlns:a16="http://schemas.microsoft.com/office/drawing/2014/main" id="{A2E528F3-0916-ABD9-EC29-5C6BD685F869}"/>
              </a:ext>
            </a:extLst>
          </p:cNvPr>
          <p:cNvSpPr/>
          <p:nvPr/>
        </p:nvSpPr>
        <p:spPr>
          <a:xfrm>
            <a:off x="4066593" y="2995959"/>
            <a:ext cx="839755" cy="345233"/>
          </a:xfrm>
          <a:prstGeom prst="rightArrow">
            <a:avLst/>
          </a:prstGeom>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C07F13B8-2C83-8863-29A5-535F516962EA}"/>
              </a:ext>
            </a:extLst>
          </p:cNvPr>
          <p:cNvPicPr>
            <a:picLocks noChangeAspect="1"/>
          </p:cNvPicPr>
          <p:nvPr/>
        </p:nvPicPr>
        <p:blipFill>
          <a:blip r:embed="rId4"/>
          <a:stretch>
            <a:fillRect/>
          </a:stretch>
        </p:blipFill>
        <p:spPr>
          <a:xfrm>
            <a:off x="5186228" y="2134731"/>
            <a:ext cx="2674852" cy="2171888"/>
          </a:xfrm>
          <a:prstGeom prst="rect">
            <a:avLst/>
          </a:prstGeom>
        </p:spPr>
      </p:pic>
      <p:sp>
        <p:nvSpPr>
          <p:cNvPr id="13" name="Arrow: Right 12">
            <a:extLst>
              <a:ext uri="{FF2B5EF4-FFF2-40B4-BE49-F238E27FC236}">
                <a16:creationId xmlns:a16="http://schemas.microsoft.com/office/drawing/2014/main" id="{AFD433AF-2DCF-F4E6-A913-DA4ED9FFC6F0}"/>
              </a:ext>
            </a:extLst>
          </p:cNvPr>
          <p:cNvSpPr/>
          <p:nvPr/>
        </p:nvSpPr>
        <p:spPr>
          <a:xfrm>
            <a:off x="8140960" y="2910161"/>
            <a:ext cx="839755" cy="345233"/>
          </a:xfrm>
          <a:prstGeom prst="rightArrow">
            <a:avLst/>
          </a:prstGeom>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1726F7D-F56D-0001-1532-1191CF097908}"/>
              </a:ext>
            </a:extLst>
          </p:cNvPr>
          <p:cNvPicPr>
            <a:picLocks noChangeAspect="1"/>
          </p:cNvPicPr>
          <p:nvPr/>
        </p:nvPicPr>
        <p:blipFill>
          <a:blip r:embed="rId5"/>
          <a:stretch>
            <a:fillRect/>
          </a:stretch>
        </p:blipFill>
        <p:spPr>
          <a:xfrm>
            <a:off x="9402912" y="2145983"/>
            <a:ext cx="2035443" cy="2361114"/>
          </a:xfrm>
          <a:prstGeom prst="rect">
            <a:avLst/>
          </a:prstGeom>
        </p:spPr>
      </p:pic>
      <p:sp>
        <p:nvSpPr>
          <p:cNvPr id="16" name="TextBox 15">
            <a:extLst>
              <a:ext uri="{FF2B5EF4-FFF2-40B4-BE49-F238E27FC236}">
                <a16:creationId xmlns:a16="http://schemas.microsoft.com/office/drawing/2014/main" id="{7B4426ED-8468-7FCA-929F-A3EE3FCF6BA7}"/>
              </a:ext>
            </a:extLst>
          </p:cNvPr>
          <p:cNvSpPr txBox="1"/>
          <p:nvPr/>
        </p:nvSpPr>
        <p:spPr>
          <a:xfrm>
            <a:off x="5118191" y="4845830"/>
            <a:ext cx="3033010" cy="523220"/>
          </a:xfrm>
          <a:prstGeom prst="rect">
            <a:avLst/>
          </a:prstGeom>
          <a:noFill/>
        </p:spPr>
        <p:txBody>
          <a:bodyPr wrap="none" rtlCol="0">
            <a:spAutoFit/>
          </a:bodyPr>
          <a:lstStyle/>
          <a:p>
            <a:r>
              <a:rPr lang="en-US" altLang="zh-TW" sz="2800" dirty="0"/>
              <a:t>Graph Construction</a:t>
            </a:r>
            <a:endParaRPr lang="en-US" sz="2800" dirty="0"/>
          </a:p>
        </p:txBody>
      </p:sp>
      <p:sp>
        <p:nvSpPr>
          <p:cNvPr id="17" name="TextBox 16">
            <a:extLst>
              <a:ext uri="{FF2B5EF4-FFF2-40B4-BE49-F238E27FC236}">
                <a16:creationId xmlns:a16="http://schemas.microsoft.com/office/drawing/2014/main" id="{FAF9BCC8-DED2-F85B-21A3-50346A4F6CEB}"/>
              </a:ext>
            </a:extLst>
          </p:cNvPr>
          <p:cNvSpPr txBox="1"/>
          <p:nvPr/>
        </p:nvSpPr>
        <p:spPr>
          <a:xfrm>
            <a:off x="9524783" y="4845830"/>
            <a:ext cx="1830950" cy="523220"/>
          </a:xfrm>
          <a:prstGeom prst="rect">
            <a:avLst/>
          </a:prstGeom>
          <a:noFill/>
        </p:spPr>
        <p:txBody>
          <a:bodyPr wrap="none" rtlCol="0">
            <a:spAutoFit/>
          </a:bodyPr>
          <a:lstStyle/>
          <a:p>
            <a:r>
              <a:rPr lang="en-US" altLang="zh-TW" sz="2800" dirty="0"/>
              <a:t>Embedding</a:t>
            </a:r>
            <a:endParaRPr lang="en-US" sz="2800" dirty="0"/>
          </a:p>
        </p:txBody>
      </p:sp>
    </p:spTree>
    <p:extLst>
      <p:ext uri="{BB962C8B-B14F-4D97-AF65-F5344CB8AC3E}">
        <p14:creationId xmlns:p14="http://schemas.microsoft.com/office/powerpoint/2010/main" val="2585265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CCE9EF-6891-C32E-273A-8F512DC0DADA}"/>
              </a:ext>
            </a:extLst>
          </p:cNvPr>
          <p:cNvSpPr>
            <a:spLocks noGrp="1"/>
          </p:cNvSpPr>
          <p:nvPr>
            <p:ph type="sldNum" sz="quarter" idx="12"/>
          </p:nvPr>
        </p:nvSpPr>
        <p:spPr>
          <a:xfrm>
            <a:off x="8695155" y="6355410"/>
            <a:ext cx="2743200" cy="365125"/>
          </a:xfrm>
        </p:spPr>
        <p:txBody>
          <a:bodyPr/>
          <a:lstStyle/>
          <a:p>
            <a:fld id="{7DF2C209-72C5-4BD6-83FD-73557975086B}" type="slidenum">
              <a:rPr lang="en-US" smtClean="0"/>
              <a:t>11</a:t>
            </a:fld>
            <a:endParaRPr lang="en-US"/>
          </a:p>
        </p:txBody>
      </p:sp>
      <p:sp>
        <p:nvSpPr>
          <p:cNvPr id="5" name="TextBox 4">
            <a:extLst>
              <a:ext uri="{FF2B5EF4-FFF2-40B4-BE49-F238E27FC236}">
                <a16:creationId xmlns:a16="http://schemas.microsoft.com/office/drawing/2014/main" id="{6660A00D-92F0-A5EE-09FF-9A99028F7709}"/>
              </a:ext>
            </a:extLst>
          </p:cNvPr>
          <p:cNvSpPr txBox="1"/>
          <p:nvPr/>
        </p:nvSpPr>
        <p:spPr>
          <a:xfrm>
            <a:off x="748021" y="4845830"/>
            <a:ext cx="2976520" cy="523220"/>
          </a:xfrm>
          <a:prstGeom prst="rect">
            <a:avLst/>
          </a:prstGeom>
          <a:noFill/>
        </p:spPr>
        <p:txBody>
          <a:bodyPr wrap="none" rtlCol="0">
            <a:spAutoFit/>
          </a:bodyPr>
          <a:lstStyle/>
          <a:p>
            <a:r>
              <a:rPr lang="en-US" altLang="zh-TW" sz="2800" dirty="0"/>
              <a:t>Data Preprocessing</a:t>
            </a:r>
            <a:endParaRPr lang="en-US" sz="2800" dirty="0"/>
          </a:p>
        </p:txBody>
      </p:sp>
      <p:pic>
        <p:nvPicPr>
          <p:cNvPr id="1026" name="Picture 2" descr="Matrices - Solve, Types, Meaning, Examples | Matrix Definition">
            <a:extLst>
              <a:ext uri="{FF2B5EF4-FFF2-40B4-BE49-F238E27FC236}">
                <a16:creationId xmlns:a16="http://schemas.microsoft.com/office/drawing/2014/main" id="{5FA095C9-A904-67CF-CE1F-FFC6F582468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587" t="35080" r="23000" b="-2"/>
          <a:stretch/>
        </p:blipFill>
        <p:spPr bwMode="auto">
          <a:xfrm>
            <a:off x="335903" y="2017438"/>
            <a:ext cx="3107095" cy="2689458"/>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216F1242-4A01-4AF0-1AF2-884D561C842E}"/>
              </a:ext>
            </a:extLst>
          </p:cNvPr>
          <p:cNvSpPr txBox="1">
            <a:spLocks/>
          </p:cNvSpPr>
          <p:nvPr/>
        </p:nvSpPr>
        <p:spPr>
          <a:xfrm>
            <a:off x="636037" y="39622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1</a:t>
            </a:r>
            <a:r>
              <a:rPr lang="en-US" baseline="30000" dirty="0"/>
              <a:t>st</a:t>
            </a:r>
            <a:r>
              <a:rPr lang="en-US" dirty="0"/>
              <a:t>: Data Preprocessing</a:t>
            </a:r>
          </a:p>
        </p:txBody>
      </p:sp>
      <p:sp>
        <p:nvSpPr>
          <p:cNvPr id="8" name="Arrow: Right 7">
            <a:extLst>
              <a:ext uri="{FF2B5EF4-FFF2-40B4-BE49-F238E27FC236}">
                <a16:creationId xmlns:a16="http://schemas.microsoft.com/office/drawing/2014/main" id="{A2E528F3-0916-ABD9-EC29-5C6BD685F869}"/>
              </a:ext>
            </a:extLst>
          </p:cNvPr>
          <p:cNvSpPr/>
          <p:nvPr/>
        </p:nvSpPr>
        <p:spPr>
          <a:xfrm>
            <a:off x="4066593" y="2995959"/>
            <a:ext cx="839755" cy="345233"/>
          </a:xfrm>
          <a:prstGeom prst="rightArrow">
            <a:avLst/>
          </a:prstGeom>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C07F13B8-2C83-8863-29A5-535F516962EA}"/>
              </a:ext>
            </a:extLst>
          </p:cNvPr>
          <p:cNvPicPr>
            <a:picLocks noChangeAspect="1"/>
          </p:cNvPicPr>
          <p:nvPr/>
        </p:nvPicPr>
        <p:blipFill>
          <a:blip r:embed="rId4"/>
          <a:stretch>
            <a:fillRect/>
          </a:stretch>
        </p:blipFill>
        <p:spPr>
          <a:xfrm>
            <a:off x="5186228" y="2134731"/>
            <a:ext cx="2674852" cy="2171888"/>
          </a:xfrm>
          <a:prstGeom prst="rect">
            <a:avLst/>
          </a:prstGeom>
        </p:spPr>
      </p:pic>
      <p:sp>
        <p:nvSpPr>
          <p:cNvPr id="13" name="Arrow: Right 12">
            <a:extLst>
              <a:ext uri="{FF2B5EF4-FFF2-40B4-BE49-F238E27FC236}">
                <a16:creationId xmlns:a16="http://schemas.microsoft.com/office/drawing/2014/main" id="{AFD433AF-2DCF-F4E6-A913-DA4ED9FFC6F0}"/>
              </a:ext>
            </a:extLst>
          </p:cNvPr>
          <p:cNvSpPr/>
          <p:nvPr/>
        </p:nvSpPr>
        <p:spPr>
          <a:xfrm>
            <a:off x="8140960" y="2910161"/>
            <a:ext cx="839755" cy="345233"/>
          </a:xfrm>
          <a:prstGeom prst="rightArrow">
            <a:avLst/>
          </a:prstGeom>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1726F7D-F56D-0001-1532-1191CF097908}"/>
              </a:ext>
            </a:extLst>
          </p:cNvPr>
          <p:cNvPicPr>
            <a:picLocks noChangeAspect="1"/>
          </p:cNvPicPr>
          <p:nvPr/>
        </p:nvPicPr>
        <p:blipFill>
          <a:blip r:embed="rId5"/>
          <a:stretch>
            <a:fillRect/>
          </a:stretch>
        </p:blipFill>
        <p:spPr>
          <a:xfrm>
            <a:off x="9402912" y="2145983"/>
            <a:ext cx="2035443" cy="2361114"/>
          </a:xfrm>
          <a:prstGeom prst="rect">
            <a:avLst/>
          </a:prstGeom>
        </p:spPr>
      </p:pic>
      <p:sp>
        <p:nvSpPr>
          <p:cNvPr id="16" name="TextBox 15">
            <a:extLst>
              <a:ext uri="{FF2B5EF4-FFF2-40B4-BE49-F238E27FC236}">
                <a16:creationId xmlns:a16="http://schemas.microsoft.com/office/drawing/2014/main" id="{7B4426ED-8468-7FCA-929F-A3EE3FCF6BA7}"/>
              </a:ext>
            </a:extLst>
          </p:cNvPr>
          <p:cNvSpPr txBox="1"/>
          <p:nvPr/>
        </p:nvSpPr>
        <p:spPr>
          <a:xfrm>
            <a:off x="5118191" y="4845830"/>
            <a:ext cx="3033010" cy="523220"/>
          </a:xfrm>
          <a:prstGeom prst="rect">
            <a:avLst/>
          </a:prstGeom>
          <a:noFill/>
        </p:spPr>
        <p:txBody>
          <a:bodyPr wrap="none" rtlCol="0">
            <a:spAutoFit/>
          </a:bodyPr>
          <a:lstStyle/>
          <a:p>
            <a:r>
              <a:rPr lang="en-US" altLang="zh-TW" sz="2800" dirty="0">
                <a:solidFill>
                  <a:schemeClr val="bg1">
                    <a:lumMod val="85000"/>
                  </a:schemeClr>
                </a:solidFill>
              </a:rPr>
              <a:t>Graph Construction</a:t>
            </a:r>
            <a:endParaRPr lang="en-US" sz="2800" dirty="0">
              <a:solidFill>
                <a:schemeClr val="bg1">
                  <a:lumMod val="85000"/>
                </a:schemeClr>
              </a:solidFill>
            </a:endParaRPr>
          </a:p>
        </p:txBody>
      </p:sp>
      <p:sp>
        <p:nvSpPr>
          <p:cNvPr id="17" name="TextBox 16">
            <a:extLst>
              <a:ext uri="{FF2B5EF4-FFF2-40B4-BE49-F238E27FC236}">
                <a16:creationId xmlns:a16="http://schemas.microsoft.com/office/drawing/2014/main" id="{FAF9BCC8-DED2-F85B-21A3-50346A4F6CEB}"/>
              </a:ext>
            </a:extLst>
          </p:cNvPr>
          <p:cNvSpPr txBox="1"/>
          <p:nvPr/>
        </p:nvSpPr>
        <p:spPr>
          <a:xfrm>
            <a:off x="9524783" y="4845830"/>
            <a:ext cx="1830950" cy="523220"/>
          </a:xfrm>
          <a:prstGeom prst="rect">
            <a:avLst/>
          </a:prstGeom>
          <a:noFill/>
        </p:spPr>
        <p:txBody>
          <a:bodyPr wrap="none" rtlCol="0">
            <a:spAutoFit/>
          </a:bodyPr>
          <a:lstStyle/>
          <a:p>
            <a:r>
              <a:rPr lang="en-US" altLang="zh-TW" sz="2800" dirty="0">
                <a:solidFill>
                  <a:schemeClr val="bg1">
                    <a:lumMod val="85000"/>
                  </a:schemeClr>
                </a:solidFill>
              </a:rPr>
              <a:t>Embedding</a:t>
            </a:r>
            <a:endParaRPr lang="en-US" sz="2800" dirty="0">
              <a:solidFill>
                <a:schemeClr val="bg1">
                  <a:lumMod val="85000"/>
                </a:schemeClr>
              </a:solidFill>
            </a:endParaRPr>
          </a:p>
        </p:txBody>
      </p:sp>
    </p:spTree>
    <p:extLst>
      <p:ext uri="{BB962C8B-B14F-4D97-AF65-F5344CB8AC3E}">
        <p14:creationId xmlns:p14="http://schemas.microsoft.com/office/powerpoint/2010/main" val="2137517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ED203-EFF9-01AE-9963-EEACA48742EE}"/>
              </a:ext>
            </a:extLst>
          </p:cNvPr>
          <p:cNvSpPr>
            <a:spLocks noGrp="1"/>
          </p:cNvSpPr>
          <p:nvPr>
            <p:ph type="title"/>
          </p:nvPr>
        </p:nvSpPr>
        <p:spPr>
          <a:xfrm>
            <a:off x="485552" y="321880"/>
            <a:ext cx="5777025" cy="1325563"/>
          </a:xfrm>
        </p:spPr>
        <p:txBody>
          <a:bodyPr/>
          <a:lstStyle/>
          <a:p>
            <a:pPr>
              <a:lnSpc>
                <a:spcPct val="150000"/>
              </a:lnSpc>
            </a:pPr>
            <a:r>
              <a:rPr lang="en-US" dirty="0"/>
              <a:t>Single cell RNA </a:t>
            </a:r>
          </a:p>
        </p:txBody>
      </p:sp>
      <p:sp>
        <p:nvSpPr>
          <p:cNvPr id="4" name="Slide Number Placeholder 3">
            <a:extLst>
              <a:ext uri="{FF2B5EF4-FFF2-40B4-BE49-F238E27FC236}">
                <a16:creationId xmlns:a16="http://schemas.microsoft.com/office/drawing/2014/main" id="{DD019F24-82CF-60FF-671D-5E730ECF5289}"/>
              </a:ext>
            </a:extLst>
          </p:cNvPr>
          <p:cNvSpPr>
            <a:spLocks noGrp="1"/>
          </p:cNvSpPr>
          <p:nvPr>
            <p:ph type="sldNum" sz="quarter" idx="12"/>
          </p:nvPr>
        </p:nvSpPr>
        <p:spPr/>
        <p:txBody>
          <a:bodyPr/>
          <a:lstStyle/>
          <a:p>
            <a:fld id="{38543A31-4DFF-4CB7-B4D4-2CA7645BB8BE}" type="slidenum">
              <a:rPr lang="en-US" smtClean="0"/>
              <a:t>12</a:t>
            </a:fld>
            <a:endParaRPr lang="en-US"/>
          </a:p>
        </p:txBody>
      </p:sp>
      <p:pic>
        <p:nvPicPr>
          <p:cNvPr id="5" name="Content Placeholder 3">
            <a:extLst>
              <a:ext uri="{FF2B5EF4-FFF2-40B4-BE49-F238E27FC236}">
                <a16:creationId xmlns:a16="http://schemas.microsoft.com/office/drawing/2014/main" id="{102BEE13-6754-A909-EC44-A399AA0C3F98}"/>
              </a:ext>
            </a:extLst>
          </p:cNvPr>
          <p:cNvPicPr>
            <a:picLocks noGrp="1" noChangeAspect="1"/>
          </p:cNvPicPr>
          <p:nvPr>
            <p:ph idx="1"/>
          </p:nvPr>
        </p:nvPicPr>
        <p:blipFill rotWithShape="1">
          <a:blip r:embed="rId3"/>
          <a:srcRect l="3713" t="1387" r="38240" b="77268"/>
          <a:stretch/>
        </p:blipFill>
        <p:spPr>
          <a:xfrm>
            <a:off x="629931" y="1987103"/>
            <a:ext cx="10828116" cy="3697005"/>
          </a:xfrm>
          <a:prstGeom prst="rect">
            <a:avLst/>
          </a:prstGeom>
        </p:spPr>
      </p:pic>
    </p:spTree>
    <p:extLst>
      <p:ext uri="{BB962C8B-B14F-4D97-AF65-F5344CB8AC3E}">
        <p14:creationId xmlns:p14="http://schemas.microsoft.com/office/powerpoint/2010/main" val="625989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ED203-EFF9-01AE-9963-EEACA48742EE}"/>
              </a:ext>
            </a:extLst>
          </p:cNvPr>
          <p:cNvSpPr>
            <a:spLocks noGrp="1"/>
          </p:cNvSpPr>
          <p:nvPr>
            <p:ph type="title"/>
          </p:nvPr>
        </p:nvSpPr>
        <p:spPr>
          <a:xfrm>
            <a:off x="485552" y="321880"/>
            <a:ext cx="3925810" cy="1325563"/>
          </a:xfrm>
        </p:spPr>
        <p:txBody>
          <a:bodyPr>
            <a:normAutofit/>
          </a:bodyPr>
          <a:lstStyle/>
          <a:p>
            <a:pPr>
              <a:lnSpc>
                <a:spcPct val="150000"/>
              </a:lnSpc>
            </a:pPr>
            <a:r>
              <a:rPr lang="en-US" dirty="0"/>
              <a:t>Single cell ATAC</a:t>
            </a:r>
          </a:p>
        </p:txBody>
      </p:sp>
      <p:sp>
        <p:nvSpPr>
          <p:cNvPr id="4" name="Slide Number Placeholder 3">
            <a:extLst>
              <a:ext uri="{FF2B5EF4-FFF2-40B4-BE49-F238E27FC236}">
                <a16:creationId xmlns:a16="http://schemas.microsoft.com/office/drawing/2014/main" id="{DD019F24-82CF-60FF-671D-5E730ECF5289}"/>
              </a:ext>
            </a:extLst>
          </p:cNvPr>
          <p:cNvSpPr>
            <a:spLocks noGrp="1"/>
          </p:cNvSpPr>
          <p:nvPr>
            <p:ph type="sldNum" sz="quarter" idx="12"/>
          </p:nvPr>
        </p:nvSpPr>
        <p:spPr/>
        <p:txBody>
          <a:bodyPr/>
          <a:lstStyle/>
          <a:p>
            <a:fld id="{38543A31-4DFF-4CB7-B4D4-2CA7645BB8BE}" type="slidenum">
              <a:rPr lang="en-US" smtClean="0"/>
              <a:t>13</a:t>
            </a:fld>
            <a:endParaRPr lang="en-US"/>
          </a:p>
        </p:txBody>
      </p:sp>
      <p:grpSp>
        <p:nvGrpSpPr>
          <p:cNvPr id="11" name="Group 10">
            <a:extLst>
              <a:ext uri="{FF2B5EF4-FFF2-40B4-BE49-F238E27FC236}">
                <a16:creationId xmlns:a16="http://schemas.microsoft.com/office/drawing/2014/main" id="{F6DF28D5-74EA-2CD8-609E-29D5E7761968}"/>
              </a:ext>
            </a:extLst>
          </p:cNvPr>
          <p:cNvGrpSpPr/>
          <p:nvPr/>
        </p:nvGrpSpPr>
        <p:grpSpPr>
          <a:xfrm>
            <a:off x="2094522" y="1647443"/>
            <a:ext cx="6649743" cy="5074032"/>
            <a:chOff x="2991291" y="1697685"/>
            <a:chExt cx="5445255" cy="4145203"/>
          </a:xfrm>
        </p:grpSpPr>
        <p:pic>
          <p:nvPicPr>
            <p:cNvPr id="6" name="Picture 5">
              <a:extLst>
                <a:ext uri="{FF2B5EF4-FFF2-40B4-BE49-F238E27FC236}">
                  <a16:creationId xmlns:a16="http://schemas.microsoft.com/office/drawing/2014/main" id="{7CEE00D4-DBD5-4611-0325-3EBD70CA1761}"/>
                </a:ext>
              </a:extLst>
            </p:cNvPr>
            <p:cNvPicPr>
              <a:picLocks noChangeAspect="1"/>
            </p:cNvPicPr>
            <p:nvPr/>
          </p:nvPicPr>
          <p:blipFill rotWithShape="1">
            <a:blip r:embed="rId3"/>
            <a:srcRect l="1827" t="1703" r="78505" b="80274"/>
            <a:stretch/>
          </p:blipFill>
          <p:spPr>
            <a:xfrm>
              <a:off x="2991291" y="1697685"/>
              <a:ext cx="5004392" cy="4145203"/>
            </a:xfrm>
            <a:prstGeom prst="rect">
              <a:avLst/>
            </a:prstGeom>
          </p:spPr>
        </p:pic>
        <p:pic>
          <p:nvPicPr>
            <p:cNvPr id="10" name="Picture 9">
              <a:extLst>
                <a:ext uri="{FF2B5EF4-FFF2-40B4-BE49-F238E27FC236}">
                  <a16:creationId xmlns:a16="http://schemas.microsoft.com/office/drawing/2014/main" id="{C2CEA0CF-C891-A2B3-47BC-4270AFBC7132}"/>
                </a:ext>
              </a:extLst>
            </p:cNvPr>
            <p:cNvPicPr>
              <a:picLocks noChangeAspect="1"/>
            </p:cNvPicPr>
            <p:nvPr/>
          </p:nvPicPr>
          <p:blipFill>
            <a:blip r:embed="rId4"/>
            <a:stretch>
              <a:fillRect/>
            </a:stretch>
          </p:blipFill>
          <p:spPr>
            <a:xfrm>
              <a:off x="7179137" y="3343529"/>
              <a:ext cx="1257409" cy="426757"/>
            </a:xfrm>
            <a:prstGeom prst="rect">
              <a:avLst/>
            </a:prstGeom>
          </p:spPr>
        </p:pic>
      </p:grpSp>
      <p:pic>
        <p:nvPicPr>
          <p:cNvPr id="5" name="Picture 4">
            <a:extLst>
              <a:ext uri="{FF2B5EF4-FFF2-40B4-BE49-F238E27FC236}">
                <a16:creationId xmlns:a16="http://schemas.microsoft.com/office/drawing/2014/main" id="{C4169676-6583-EDAC-6639-B0D6A89F3094}"/>
              </a:ext>
            </a:extLst>
          </p:cNvPr>
          <p:cNvPicPr>
            <a:picLocks noChangeAspect="1"/>
          </p:cNvPicPr>
          <p:nvPr/>
        </p:nvPicPr>
        <p:blipFill rotWithShape="1">
          <a:blip r:embed="rId3"/>
          <a:srcRect l="18266" t="7986" r="75219" b="88656"/>
          <a:stretch/>
        </p:blipFill>
        <p:spPr>
          <a:xfrm>
            <a:off x="7805057" y="3662077"/>
            <a:ext cx="1611086" cy="761642"/>
          </a:xfrm>
          <a:prstGeom prst="rect">
            <a:avLst/>
          </a:prstGeom>
        </p:spPr>
      </p:pic>
      <p:grpSp>
        <p:nvGrpSpPr>
          <p:cNvPr id="16" name="Group 15">
            <a:extLst>
              <a:ext uri="{FF2B5EF4-FFF2-40B4-BE49-F238E27FC236}">
                <a16:creationId xmlns:a16="http://schemas.microsoft.com/office/drawing/2014/main" id="{3EF720F6-4BF7-6CBA-43B5-78B14CA0DD24}"/>
              </a:ext>
            </a:extLst>
          </p:cNvPr>
          <p:cNvGrpSpPr/>
          <p:nvPr/>
        </p:nvGrpSpPr>
        <p:grpSpPr>
          <a:xfrm>
            <a:off x="9527354" y="2098741"/>
            <a:ext cx="2384560" cy="2471496"/>
            <a:chOff x="9527354" y="2098741"/>
            <a:chExt cx="2384560" cy="2471496"/>
          </a:xfrm>
        </p:grpSpPr>
        <p:pic>
          <p:nvPicPr>
            <p:cNvPr id="7" name="Picture 6">
              <a:extLst>
                <a:ext uri="{FF2B5EF4-FFF2-40B4-BE49-F238E27FC236}">
                  <a16:creationId xmlns:a16="http://schemas.microsoft.com/office/drawing/2014/main" id="{29B8422A-5E1D-FE73-8193-A4CEA0CAB2B4}"/>
                </a:ext>
              </a:extLst>
            </p:cNvPr>
            <p:cNvPicPr>
              <a:picLocks noChangeAspect="1"/>
            </p:cNvPicPr>
            <p:nvPr/>
          </p:nvPicPr>
          <p:blipFill>
            <a:blip r:embed="rId5"/>
            <a:stretch>
              <a:fillRect/>
            </a:stretch>
          </p:blipFill>
          <p:spPr>
            <a:xfrm>
              <a:off x="9527354" y="2098741"/>
              <a:ext cx="2384560" cy="2471496"/>
            </a:xfrm>
            <a:prstGeom prst="rect">
              <a:avLst/>
            </a:prstGeom>
          </p:spPr>
        </p:pic>
        <p:pic>
          <p:nvPicPr>
            <p:cNvPr id="9" name="Picture 8">
              <a:extLst>
                <a:ext uri="{FF2B5EF4-FFF2-40B4-BE49-F238E27FC236}">
                  <a16:creationId xmlns:a16="http://schemas.microsoft.com/office/drawing/2014/main" id="{CB2AFB26-E03A-3E7F-76D8-D4171AFEBD69}"/>
                </a:ext>
              </a:extLst>
            </p:cNvPr>
            <p:cNvPicPr>
              <a:picLocks noChangeAspect="1"/>
            </p:cNvPicPr>
            <p:nvPr/>
          </p:nvPicPr>
          <p:blipFill rotWithShape="1">
            <a:blip r:embed="rId5"/>
            <a:srcRect l="22119" t="15506" r="67475" b="75495"/>
            <a:stretch/>
          </p:blipFill>
          <p:spPr>
            <a:xfrm>
              <a:off x="10330249" y="3087354"/>
              <a:ext cx="248132" cy="222421"/>
            </a:xfrm>
            <a:prstGeom prst="rect">
              <a:avLst/>
            </a:prstGeom>
          </p:spPr>
        </p:pic>
        <p:pic>
          <p:nvPicPr>
            <p:cNvPr id="12" name="Picture 11">
              <a:extLst>
                <a:ext uri="{FF2B5EF4-FFF2-40B4-BE49-F238E27FC236}">
                  <a16:creationId xmlns:a16="http://schemas.microsoft.com/office/drawing/2014/main" id="{3EA94896-0997-C93F-CCB9-ED31F0BC424F}"/>
                </a:ext>
              </a:extLst>
            </p:cNvPr>
            <p:cNvPicPr>
              <a:picLocks noChangeAspect="1"/>
            </p:cNvPicPr>
            <p:nvPr/>
          </p:nvPicPr>
          <p:blipFill rotWithShape="1">
            <a:blip r:embed="rId5"/>
            <a:srcRect l="22119" t="15506" r="67475" b="75495"/>
            <a:stretch/>
          </p:blipFill>
          <p:spPr>
            <a:xfrm>
              <a:off x="10607925" y="2498349"/>
              <a:ext cx="248132" cy="222421"/>
            </a:xfrm>
            <a:prstGeom prst="rect">
              <a:avLst/>
            </a:prstGeom>
          </p:spPr>
        </p:pic>
        <p:pic>
          <p:nvPicPr>
            <p:cNvPr id="15" name="Picture 14">
              <a:extLst>
                <a:ext uri="{FF2B5EF4-FFF2-40B4-BE49-F238E27FC236}">
                  <a16:creationId xmlns:a16="http://schemas.microsoft.com/office/drawing/2014/main" id="{95B1B4FA-2410-2812-F8A8-5AE25FECC423}"/>
                </a:ext>
              </a:extLst>
            </p:cNvPr>
            <p:cNvPicPr>
              <a:picLocks noChangeAspect="1"/>
            </p:cNvPicPr>
            <p:nvPr/>
          </p:nvPicPr>
          <p:blipFill rotWithShape="1">
            <a:blip r:embed="rId5"/>
            <a:srcRect l="22119" t="15506" r="67475" b="75495"/>
            <a:stretch/>
          </p:blipFill>
          <p:spPr>
            <a:xfrm>
              <a:off x="10856057" y="3664037"/>
              <a:ext cx="248132" cy="222421"/>
            </a:xfrm>
            <a:prstGeom prst="rect">
              <a:avLst/>
            </a:prstGeom>
          </p:spPr>
        </p:pic>
      </p:grpSp>
    </p:spTree>
    <p:extLst>
      <p:ext uri="{BB962C8B-B14F-4D97-AF65-F5344CB8AC3E}">
        <p14:creationId xmlns:p14="http://schemas.microsoft.com/office/powerpoint/2010/main" val="1495590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CCE9EF-6891-C32E-273A-8F512DC0DADA}"/>
              </a:ext>
            </a:extLst>
          </p:cNvPr>
          <p:cNvSpPr>
            <a:spLocks noGrp="1"/>
          </p:cNvSpPr>
          <p:nvPr>
            <p:ph type="sldNum" sz="quarter" idx="12"/>
          </p:nvPr>
        </p:nvSpPr>
        <p:spPr>
          <a:xfrm>
            <a:off x="8695155" y="6355410"/>
            <a:ext cx="2743200" cy="365125"/>
          </a:xfrm>
        </p:spPr>
        <p:txBody>
          <a:bodyPr/>
          <a:lstStyle/>
          <a:p>
            <a:fld id="{7DF2C209-72C5-4BD6-83FD-73557975086B}" type="slidenum">
              <a:rPr lang="en-US" smtClean="0"/>
              <a:t>14</a:t>
            </a:fld>
            <a:endParaRPr lang="en-US"/>
          </a:p>
        </p:txBody>
      </p:sp>
      <p:sp>
        <p:nvSpPr>
          <p:cNvPr id="5" name="TextBox 4">
            <a:extLst>
              <a:ext uri="{FF2B5EF4-FFF2-40B4-BE49-F238E27FC236}">
                <a16:creationId xmlns:a16="http://schemas.microsoft.com/office/drawing/2014/main" id="{6660A00D-92F0-A5EE-09FF-9A99028F7709}"/>
              </a:ext>
            </a:extLst>
          </p:cNvPr>
          <p:cNvSpPr txBox="1"/>
          <p:nvPr/>
        </p:nvSpPr>
        <p:spPr>
          <a:xfrm>
            <a:off x="748021" y="4845830"/>
            <a:ext cx="2976520" cy="523220"/>
          </a:xfrm>
          <a:prstGeom prst="rect">
            <a:avLst/>
          </a:prstGeom>
          <a:noFill/>
        </p:spPr>
        <p:txBody>
          <a:bodyPr wrap="none" rtlCol="0">
            <a:spAutoFit/>
          </a:bodyPr>
          <a:lstStyle/>
          <a:p>
            <a:r>
              <a:rPr lang="en-US" altLang="zh-TW" sz="2800" dirty="0">
                <a:solidFill>
                  <a:schemeClr val="bg1">
                    <a:lumMod val="85000"/>
                  </a:schemeClr>
                </a:solidFill>
              </a:rPr>
              <a:t>Data Preprocessing</a:t>
            </a:r>
            <a:endParaRPr lang="en-US" sz="2800" dirty="0">
              <a:solidFill>
                <a:schemeClr val="bg1">
                  <a:lumMod val="85000"/>
                </a:schemeClr>
              </a:solidFill>
            </a:endParaRPr>
          </a:p>
        </p:txBody>
      </p:sp>
      <p:pic>
        <p:nvPicPr>
          <p:cNvPr id="1026" name="Picture 2" descr="Matrices - Solve, Types, Meaning, Examples | Matrix Definition">
            <a:extLst>
              <a:ext uri="{FF2B5EF4-FFF2-40B4-BE49-F238E27FC236}">
                <a16:creationId xmlns:a16="http://schemas.microsoft.com/office/drawing/2014/main" id="{5FA095C9-A904-67CF-CE1F-FFC6F582468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587" t="35080" r="23000" b="-2"/>
          <a:stretch/>
        </p:blipFill>
        <p:spPr bwMode="auto">
          <a:xfrm>
            <a:off x="335903" y="2017438"/>
            <a:ext cx="3107095" cy="2689458"/>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216F1242-4A01-4AF0-1AF2-884D561C842E}"/>
              </a:ext>
            </a:extLst>
          </p:cNvPr>
          <p:cNvSpPr txBox="1">
            <a:spLocks/>
          </p:cNvSpPr>
          <p:nvPr/>
        </p:nvSpPr>
        <p:spPr>
          <a:xfrm>
            <a:off x="636037" y="39622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2</a:t>
            </a:r>
            <a:r>
              <a:rPr lang="en-US" baseline="30000" dirty="0"/>
              <a:t>nd</a:t>
            </a:r>
            <a:r>
              <a:rPr lang="zh-TW" altLang="en-US" dirty="0"/>
              <a:t>：</a:t>
            </a:r>
            <a:r>
              <a:rPr lang="en-US" altLang="zh-TW" dirty="0"/>
              <a:t>Graph Construction</a:t>
            </a:r>
            <a:endParaRPr lang="en-US" dirty="0"/>
          </a:p>
        </p:txBody>
      </p:sp>
      <p:sp>
        <p:nvSpPr>
          <p:cNvPr id="8" name="Arrow: Right 7">
            <a:extLst>
              <a:ext uri="{FF2B5EF4-FFF2-40B4-BE49-F238E27FC236}">
                <a16:creationId xmlns:a16="http://schemas.microsoft.com/office/drawing/2014/main" id="{A2E528F3-0916-ABD9-EC29-5C6BD685F869}"/>
              </a:ext>
            </a:extLst>
          </p:cNvPr>
          <p:cNvSpPr/>
          <p:nvPr/>
        </p:nvSpPr>
        <p:spPr>
          <a:xfrm>
            <a:off x="4066593" y="2995959"/>
            <a:ext cx="839755" cy="345233"/>
          </a:xfrm>
          <a:prstGeom prst="rightArrow">
            <a:avLst/>
          </a:prstGeom>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C07F13B8-2C83-8863-29A5-535F516962EA}"/>
              </a:ext>
            </a:extLst>
          </p:cNvPr>
          <p:cNvPicPr>
            <a:picLocks noChangeAspect="1"/>
          </p:cNvPicPr>
          <p:nvPr/>
        </p:nvPicPr>
        <p:blipFill>
          <a:blip r:embed="rId4"/>
          <a:stretch>
            <a:fillRect/>
          </a:stretch>
        </p:blipFill>
        <p:spPr>
          <a:xfrm>
            <a:off x="5186228" y="2134731"/>
            <a:ext cx="2674852" cy="2171888"/>
          </a:xfrm>
          <a:prstGeom prst="rect">
            <a:avLst/>
          </a:prstGeom>
        </p:spPr>
      </p:pic>
      <p:sp>
        <p:nvSpPr>
          <p:cNvPr id="13" name="Arrow: Right 12">
            <a:extLst>
              <a:ext uri="{FF2B5EF4-FFF2-40B4-BE49-F238E27FC236}">
                <a16:creationId xmlns:a16="http://schemas.microsoft.com/office/drawing/2014/main" id="{AFD433AF-2DCF-F4E6-A913-DA4ED9FFC6F0}"/>
              </a:ext>
            </a:extLst>
          </p:cNvPr>
          <p:cNvSpPr/>
          <p:nvPr/>
        </p:nvSpPr>
        <p:spPr>
          <a:xfrm>
            <a:off x="8140960" y="2910161"/>
            <a:ext cx="839755" cy="345233"/>
          </a:xfrm>
          <a:prstGeom prst="rightArrow">
            <a:avLst/>
          </a:prstGeom>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1726F7D-F56D-0001-1532-1191CF097908}"/>
              </a:ext>
            </a:extLst>
          </p:cNvPr>
          <p:cNvPicPr>
            <a:picLocks noChangeAspect="1"/>
          </p:cNvPicPr>
          <p:nvPr/>
        </p:nvPicPr>
        <p:blipFill>
          <a:blip r:embed="rId5"/>
          <a:stretch>
            <a:fillRect/>
          </a:stretch>
        </p:blipFill>
        <p:spPr>
          <a:xfrm>
            <a:off x="9402912" y="2145983"/>
            <a:ext cx="2035443" cy="2361114"/>
          </a:xfrm>
          <a:prstGeom prst="rect">
            <a:avLst/>
          </a:prstGeom>
        </p:spPr>
      </p:pic>
      <p:sp>
        <p:nvSpPr>
          <p:cNvPr id="16" name="TextBox 15">
            <a:extLst>
              <a:ext uri="{FF2B5EF4-FFF2-40B4-BE49-F238E27FC236}">
                <a16:creationId xmlns:a16="http://schemas.microsoft.com/office/drawing/2014/main" id="{7B4426ED-8468-7FCA-929F-A3EE3FCF6BA7}"/>
              </a:ext>
            </a:extLst>
          </p:cNvPr>
          <p:cNvSpPr txBox="1"/>
          <p:nvPr/>
        </p:nvSpPr>
        <p:spPr>
          <a:xfrm>
            <a:off x="5118191" y="4845830"/>
            <a:ext cx="3033010" cy="523220"/>
          </a:xfrm>
          <a:prstGeom prst="rect">
            <a:avLst/>
          </a:prstGeom>
          <a:noFill/>
        </p:spPr>
        <p:txBody>
          <a:bodyPr wrap="none" rtlCol="0">
            <a:spAutoFit/>
          </a:bodyPr>
          <a:lstStyle/>
          <a:p>
            <a:r>
              <a:rPr lang="en-US" altLang="zh-TW" sz="2800" dirty="0"/>
              <a:t>Graph Construction</a:t>
            </a:r>
            <a:endParaRPr lang="en-US" sz="2800" dirty="0"/>
          </a:p>
        </p:txBody>
      </p:sp>
      <p:sp>
        <p:nvSpPr>
          <p:cNvPr id="17" name="TextBox 16">
            <a:extLst>
              <a:ext uri="{FF2B5EF4-FFF2-40B4-BE49-F238E27FC236}">
                <a16:creationId xmlns:a16="http://schemas.microsoft.com/office/drawing/2014/main" id="{FAF9BCC8-DED2-F85B-21A3-50346A4F6CEB}"/>
              </a:ext>
            </a:extLst>
          </p:cNvPr>
          <p:cNvSpPr txBox="1"/>
          <p:nvPr/>
        </p:nvSpPr>
        <p:spPr>
          <a:xfrm>
            <a:off x="9524783" y="4845830"/>
            <a:ext cx="1830950" cy="523220"/>
          </a:xfrm>
          <a:prstGeom prst="rect">
            <a:avLst/>
          </a:prstGeom>
          <a:noFill/>
        </p:spPr>
        <p:txBody>
          <a:bodyPr wrap="none" rtlCol="0">
            <a:spAutoFit/>
          </a:bodyPr>
          <a:lstStyle/>
          <a:p>
            <a:r>
              <a:rPr lang="en-US" altLang="zh-TW" sz="2800" dirty="0">
                <a:solidFill>
                  <a:schemeClr val="bg1">
                    <a:lumMod val="85000"/>
                  </a:schemeClr>
                </a:solidFill>
              </a:rPr>
              <a:t>Embedding</a:t>
            </a:r>
            <a:endParaRPr lang="en-US" sz="2800" dirty="0">
              <a:solidFill>
                <a:schemeClr val="bg1">
                  <a:lumMod val="85000"/>
                </a:schemeClr>
              </a:solidFill>
            </a:endParaRPr>
          </a:p>
        </p:txBody>
      </p:sp>
    </p:spTree>
    <p:extLst>
      <p:ext uri="{BB962C8B-B14F-4D97-AF65-F5344CB8AC3E}">
        <p14:creationId xmlns:p14="http://schemas.microsoft.com/office/powerpoint/2010/main" val="3022728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0B34CC7-32CA-3BD4-73E1-A835C8D1AB35}"/>
              </a:ext>
            </a:extLst>
          </p:cNvPr>
          <p:cNvSpPr>
            <a:spLocks noGrp="1"/>
          </p:cNvSpPr>
          <p:nvPr>
            <p:ph type="sldNum" sz="quarter" idx="12"/>
          </p:nvPr>
        </p:nvSpPr>
        <p:spPr/>
        <p:txBody>
          <a:bodyPr/>
          <a:lstStyle/>
          <a:p>
            <a:fld id="{38543A31-4DFF-4CB7-B4D4-2CA7645BB8BE}" type="slidenum">
              <a:rPr lang="en-US" smtClean="0"/>
              <a:t>15</a:t>
            </a:fld>
            <a:endParaRPr lang="en-US"/>
          </a:p>
        </p:txBody>
      </p:sp>
      <p:grpSp>
        <p:nvGrpSpPr>
          <p:cNvPr id="10" name="Group 9">
            <a:extLst>
              <a:ext uri="{FF2B5EF4-FFF2-40B4-BE49-F238E27FC236}">
                <a16:creationId xmlns:a16="http://schemas.microsoft.com/office/drawing/2014/main" id="{50833B6F-884B-2FC3-49FF-E6EA024CBA00}"/>
              </a:ext>
            </a:extLst>
          </p:cNvPr>
          <p:cNvGrpSpPr/>
          <p:nvPr/>
        </p:nvGrpSpPr>
        <p:grpSpPr>
          <a:xfrm>
            <a:off x="1349828" y="1414834"/>
            <a:ext cx="9525001" cy="4321936"/>
            <a:chOff x="1349828" y="1394777"/>
            <a:chExt cx="8969829" cy="3942397"/>
          </a:xfrm>
        </p:grpSpPr>
        <p:sp>
          <p:nvSpPr>
            <p:cNvPr id="5" name="Arrow: Right 4">
              <a:extLst>
                <a:ext uri="{FF2B5EF4-FFF2-40B4-BE49-F238E27FC236}">
                  <a16:creationId xmlns:a16="http://schemas.microsoft.com/office/drawing/2014/main" id="{BA187171-C2CF-F412-D0D4-5D100AA0CA9C}"/>
                </a:ext>
              </a:extLst>
            </p:cNvPr>
            <p:cNvSpPr/>
            <p:nvPr/>
          </p:nvSpPr>
          <p:spPr>
            <a:xfrm>
              <a:off x="5179767" y="1436793"/>
              <a:ext cx="772886" cy="500743"/>
            </a:xfrm>
            <a:prstGeom prst="rightArrow">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onverting a square adjacency matrix into an undirected network. (a) In...  | Download Scientific Diagram">
              <a:extLst>
                <a:ext uri="{FF2B5EF4-FFF2-40B4-BE49-F238E27FC236}">
                  <a16:creationId xmlns:a16="http://schemas.microsoft.com/office/drawing/2014/main" id="{FB4F1FF1-AE21-DF1D-0CC8-21A947EE2D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932" r="53648" b="63224"/>
            <a:stretch/>
          </p:blipFill>
          <p:spPr bwMode="auto">
            <a:xfrm>
              <a:off x="1349828" y="2629806"/>
              <a:ext cx="2786743" cy="23014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nverting a square adjacency matrix into an undirected network. (a) In...  | Download Scientific Diagram">
              <a:extLst>
                <a:ext uri="{FF2B5EF4-FFF2-40B4-BE49-F238E27FC236}">
                  <a16:creationId xmlns:a16="http://schemas.microsoft.com/office/drawing/2014/main" id="{517480E1-98DD-E353-4779-815DBCE9DA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378" t="44782" r="16253" b="5468"/>
            <a:stretch/>
          </p:blipFill>
          <p:spPr bwMode="auto">
            <a:xfrm>
              <a:off x="5431972" y="2223860"/>
              <a:ext cx="4887685" cy="311331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2C7A84A-F468-8FA9-2B73-8C57D20E76C3}"/>
                </a:ext>
              </a:extLst>
            </p:cNvPr>
            <p:cNvSpPr txBox="1"/>
            <p:nvPr/>
          </p:nvSpPr>
          <p:spPr>
            <a:xfrm>
              <a:off x="1444863" y="1394777"/>
              <a:ext cx="3075907" cy="584775"/>
            </a:xfrm>
            <a:prstGeom prst="rect">
              <a:avLst/>
            </a:prstGeom>
            <a:noFill/>
          </p:spPr>
          <p:txBody>
            <a:bodyPr wrap="none" rtlCol="0">
              <a:spAutoFit/>
            </a:bodyPr>
            <a:lstStyle/>
            <a:p>
              <a:r>
                <a:rPr lang="en-US" sz="3200" dirty="0"/>
                <a:t>Adjacency Matrix</a:t>
              </a:r>
            </a:p>
          </p:txBody>
        </p:sp>
        <p:sp>
          <p:nvSpPr>
            <p:cNvPr id="9" name="TextBox 8">
              <a:extLst>
                <a:ext uri="{FF2B5EF4-FFF2-40B4-BE49-F238E27FC236}">
                  <a16:creationId xmlns:a16="http://schemas.microsoft.com/office/drawing/2014/main" id="{E43DB21C-FDF2-0631-D122-79883C2DC439}"/>
                </a:ext>
              </a:extLst>
            </p:cNvPr>
            <p:cNvSpPr txBox="1"/>
            <p:nvPr/>
          </p:nvSpPr>
          <p:spPr>
            <a:xfrm>
              <a:off x="6963896" y="1394777"/>
              <a:ext cx="1301575" cy="584775"/>
            </a:xfrm>
            <a:prstGeom prst="rect">
              <a:avLst/>
            </a:prstGeom>
            <a:noFill/>
          </p:spPr>
          <p:txBody>
            <a:bodyPr wrap="none" rtlCol="0">
              <a:spAutoFit/>
            </a:bodyPr>
            <a:lstStyle/>
            <a:p>
              <a:r>
                <a:rPr lang="en-US" sz="3200" dirty="0"/>
                <a:t>Graph </a:t>
              </a:r>
            </a:p>
          </p:txBody>
        </p:sp>
      </p:grpSp>
      <p:sp>
        <p:nvSpPr>
          <p:cNvPr id="16" name="TextBox 15">
            <a:extLst>
              <a:ext uri="{FF2B5EF4-FFF2-40B4-BE49-F238E27FC236}">
                <a16:creationId xmlns:a16="http://schemas.microsoft.com/office/drawing/2014/main" id="{C9C44164-0656-645F-929A-400831D159A2}"/>
              </a:ext>
            </a:extLst>
          </p:cNvPr>
          <p:cNvSpPr txBox="1"/>
          <p:nvPr/>
        </p:nvSpPr>
        <p:spPr>
          <a:xfrm>
            <a:off x="133946" y="6604084"/>
            <a:ext cx="11386457" cy="253916"/>
          </a:xfrm>
          <a:prstGeom prst="rect">
            <a:avLst/>
          </a:prstGeom>
          <a:noFill/>
        </p:spPr>
        <p:txBody>
          <a:bodyPr wrap="square">
            <a:spAutoFit/>
          </a:bodyPr>
          <a:lstStyle/>
          <a:p>
            <a:r>
              <a:rPr lang="en-US" sz="1050" dirty="0"/>
              <a:t>https://www.researchgate.net/publication/326959557/figure/fig1/AS:658714340098048@1534061145513/Converting-a-square-adjacency-matrix-into-an-undirected-network-a-In-Excel-Python.png</a:t>
            </a:r>
          </a:p>
        </p:txBody>
      </p:sp>
    </p:spTree>
    <p:extLst>
      <p:ext uri="{BB962C8B-B14F-4D97-AF65-F5344CB8AC3E}">
        <p14:creationId xmlns:p14="http://schemas.microsoft.com/office/powerpoint/2010/main" val="4131685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ED203-EFF9-01AE-9963-EEACA48742EE}"/>
              </a:ext>
            </a:extLst>
          </p:cNvPr>
          <p:cNvSpPr>
            <a:spLocks noGrp="1"/>
          </p:cNvSpPr>
          <p:nvPr>
            <p:ph type="title"/>
          </p:nvPr>
        </p:nvSpPr>
        <p:spPr>
          <a:xfrm>
            <a:off x="485552" y="321880"/>
            <a:ext cx="5777025" cy="1325563"/>
          </a:xfrm>
        </p:spPr>
        <p:txBody>
          <a:bodyPr/>
          <a:lstStyle/>
          <a:p>
            <a:r>
              <a:rPr lang="en-US" dirty="0"/>
              <a:t>Single cell RNA Analysis</a:t>
            </a:r>
          </a:p>
        </p:txBody>
      </p:sp>
      <p:sp>
        <p:nvSpPr>
          <p:cNvPr id="4" name="Slide Number Placeholder 3">
            <a:extLst>
              <a:ext uri="{FF2B5EF4-FFF2-40B4-BE49-F238E27FC236}">
                <a16:creationId xmlns:a16="http://schemas.microsoft.com/office/drawing/2014/main" id="{DD019F24-82CF-60FF-671D-5E730ECF5289}"/>
              </a:ext>
            </a:extLst>
          </p:cNvPr>
          <p:cNvSpPr>
            <a:spLocks noGrp="1"/>
          </p:cNvSpPr>
          <p:nvPr>
            <p:ph type="sldNum" sz="quarter" idx="12"/>
          </p:nvPr>
        </p:nvSpPr>
        <p:spPr>
          <a:xfrm>
            <a:off x="8660271" y="6112717"/>
            <a:ext cx="2720693" cy="372735"/>
          </a:xfrm>
        </p:spPr>
        <p:txBody>
          <a:bodyPr/>
          <a:lstStyle/>
          <a:p>
            <a:fld id="{38543A31-4DFF-4CB7-B4D4-2CA7645BB8BE}" type="slidenum">
              <a:rPr lang="en-US" smtClean="0"/>
              <a:t>16</a:t>
            </a:fld>
            <a:endParaRPr lang="en-US"/>
          </a:p>
        </p:txBody>
      </p:sp>
      <p:pic>
        <p:nvPicPr>
          <p:cNvPr id="8" name="Content Placeholder 3">
            <a:extLst>
              <a:ext uri="{FF2B5EF4-FFF2-40B4-BE49-F238E27FC236}">
                <a16:creationId xmlns:a16="http://schemas.microsoft.com/office/drawing/2014/main" id="{C0E843F2-D569-7FE0-0206-EB782D8F2BFC}"/>
              </a:ext>
            </a:extLst>
          </p:cNvPr>
          <p:cNvPicPr>
            <a:picLocks noGrp="1" noChangeAspect="1"/>
          </p:cNvPicPr>
          <p:nvPr>
            <p:ph idx="1"/>
          </p:nvPr>
        </p:nvPicPr>
        <p:blipFill rotWithShape="1">
          <a:blip r:embed="rId3"/>
          <a:srcRect l="3317" t="1376" r="22374" b="77159"/>
          <a:stretch/>
        </p:blipFill>
        <p:spPr>
          <a:xfrm>
            <a:off x="275029" y="2273498"/>
            <a:ext cx="11641942" cy="3122414"/>
          </a:xfrm>
          <a:prstGeom prst="rect">
            <a:avLst/>
          </a:prstGeom>
        </p:spPr>
      </p:pic>
      <p:sp>
        <p:nvSpPr>
          <p:cNvPr id="9" name="Arrow: Down 8">
            <a:extLst>
              <a:ext uri="{FF2B5EF4-FFF2-40B4-BE49-F238E27FC236}">
                <a16:creationId xmlns:a16="http://schemas.microsoft.com/office/drawing/2014/main" id="{162E8369-29BD-95BA-B297-BE755A4755E5}"/>
              </a:ext>
            </a:extLst>
          </p:cNvPr>
          <p:cNvSpPr/>
          <p:nvPr/>
        </p:nvSpPr>
        <p:spPr>
          <a:xfrm>
            <a:off x="10641683" y="1049448"/>
            <a:ext cx="464245" cy="681079"/>
          </a:xfrm>
          <a:prstGeom prst="downArrow">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9D769-1CA8-DD5C-7CD5-635DFE988343}"/>
              </a:ext>
            </a:extLst>
          </p:cNvPr>
          <p:cNvSpPr/>
          <p:nvPr/>
        </p:nvSpPr>
        <p:spPr>
          <a:xfrm>
            <a:off x="9675406" y="1868634"/>
            <a:ext cx="2396801" cy="3533806"/>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31265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ED203-EFF9-01AE-9963-EEACA48742EE}"/>
              </a:ext>
            </a:extLst>
          </p:cNvPr>
          <p:cNvSpPr>
            <a:spLocks noGrp="1"/>
          </p:cNvSpPr>
          <p:nvPr>
            <p:ph type="title"/>
          </p:nvPr>
        </p:nvSpPr>
        <p:spPr>
          <a:xfrm>
            <a:off x="485552" y="321880"/>
            <a:ext cx="5777025" cy="1325563"/>
          </a:xfrm>
        </p:spPr>
        <p:txBody>
          <a:bodyPr/>
          <a:lstStyle/>
          <a:p>
            <a:r>
              <a:rPr lang="en-US" dirty="0"/>
              <a:t>Single cell ATAC Analysis</a:t>
            </a:r>
          </a:p>
        </p:txBody>
      </p:sp>
      <p:sp>
        <p:nvSpPr>
          <p:cNvPr id="4" name="Slide Number Placeholder 3">
            <a:extLst>
              <a:ext uri="{FF2B5EF4-FFF2-40B4-BE49-F238E27FC236}">
                <a16:creationId xmlns:a16="http://schemas.microsoft.com/office/drawing/2014/main" id="{DD019F24-82CF-60FF-671D-5E730ECF5289}"/>
              </a:ext>
            </a:extLst>
          </p:cNvPr>
          <p:cNvSpPr>
            <a:spLocks noGrp="1"/>
          </p:cNvSpPr>
          <p:nvPr>
            <p:ph type="sldNum" sz="quarter" idx="12"/>
          </p:nvPr>
        </p:nvSpPr>
        <p:spPr/>
        <p:txBody>
          <a:bodyPr/>
          <a:lstStyle/>
          <a:p>
            <a:fld id="{38543A31-4DFF-4CB7-B4D4-2CA7645BB8BE}" type="slidenum">
              <a:rPr lang="en-US" smtClean="0"/>
              <a:t>17</a:t>
            </a:fld>
            <a:endParaRPr lang="en-US"/>
          </a:p>
        </p:txBody>
      </p:sp>
      <p:sp>
        <p:nvSpPr>
          <p:cNvPr id="9" name="Arrow: Down 8">
            <a:extLst>
              <a:ext uri="{FF2B5EF4-FFF2-40B4-BE49-F238E27FC236}">
                <a16:creationId xmlns:a16="http://schemas.microsoft.com/office/drawing/2014/main" id="{162E8369-29BD-95BA-B297-BE755A4755E5}"/>
              </a:ext>
            </a:extLst>
          </p:cNvPr>
          <p:cNvSpPr/>
          <p:nvPr/>
        </p:nvSpPr>
        <p:spPr>
          <a:xfrm>
            <a:off x="8610600" y="681978"/>
            <a:ext cx="468085" cy="667174"/>
          </a:xfrm>
          <a:prstGeom prst="downArrow">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35B16952-F025-5A19-4208-B07424E07A6C}"/>
              </a:ext>
            </a:extLst>
          </p:cNvPr>
          <p:cNvGrpSpPr/>
          <p:nvPr/>
        </p:nvGrpSpPr>
        <p:grpSpPr>
          <a:xfrm>
            <a:off x="1595120" y="1971041"/>
            <a:ext cx="8790420" cy="4300002"/>
            <a:chOff x="1273629" y="2710544"/>
            <a:chExt cx="5984420" cy="2927920"/>
          </a:xfrm>
        </p:grpSpPr>
        <p:pic>
          <p:nvPicPr>
            <p:cNvPr id="6" name="Picture 5">
              <a:extLst>
                <a:ext uri="{FF2B5EF4-FFF2-40B4-BE49-F238E27FC236}">
                  <a16:creationId xmlns:a16="http://schemas.microsoft.com/office/drawing/2014/main" id="{6E773090-B16C-82BF-9394-045C18B0128B}"/>
                </a:ext>
              </a:extLst>
            </p:cNvPr>
            <p:cNvPicPr>
              <a:picLocks noChangeAspect="1"/>
            </p:cNvPicPr>
            <p:nvPr/>
          </p:nvPicPr>
          <p:blipFill rotWithShape="1">
            <a:blip r:embed="rId3"/>
            <a:srcRect l="1650" t="1595" r="65171" b="80357"/>
            <a:stretch/>
          </p:blipFill>
          <p:spPr>
            <a:xfrm>
              <a:off x="1273629" y="2710544"/>
              <a:ext cx="5954485" cy="2927920"/>
            </a:xfrm>
            <a:prstGeom prst="rect">
              <a:avLst/>
            </a:prstGeom>
          </p:spPr>
        </p:pic>
        <p:pic>
          <p:nvPicPr>
            <p:cNvPr id="12" name="Picture 11">
              <a:extLst>
                <a:ext uri="{FF2B5EF4-FFF2-40B4-BE49-F238E27FC236}">
                  <a16:creationId xmlns:a16="http://schemas.microsoft.com/office/drawing/2014/main" id="{7525235E-2809-C4FA-1B6E-7515139E194F}"/>
                </a:ext>
              </a:extLst>
            </p:cNvPr>
            <p:cNvPicPr>
              <a:picLocks noChangeAspect="1"/>
            </p:cNvPicPr>
            <p:nvPr/>
          </p:nvPicPr>
          <p:blipFill>
            <a:blip r:embed="rId4"/>
            <a:stretch>
              <a:fillRect/>
            </a:stretch>
          </p:blipFill>
          <p:spPr>
            <a:xfrm>
              <a:off x="6816051" y="3747379"/>
              <a:ext cx="441998" cy="647756"/>
            </a:xfrm>
            <a:prstGeom prst="rect">
              <a:avLst/>
            </a:prstGeom>
          </p:spPr>
        </p:pic>
      </p:grpSp>
      <p:sp>
        <p:nvSpPr>
          <p:cNvPr id="10" name="Rectangle 9">
            <a:extLst>
              <a:ext uri="{FF2B5EF4-FFF2-40B4-BE49-F238E27FC236}">
                <a16:creationId xmlns:a16="http://schemas.microsoft.com/office/drawing/2014/main" id="{8D69D769-1CA8-DD5C-7CD5-635DFE988343}"/>
              </a:ext>
            </a:extLst>
          </p:cNvPr>
          <p:cNvSpPr/>
          <p:nvPr/>
        </p:nvSpPr>
        <p:spPr>
          <a:xfrm>
            <a:off x="7223760" y="1576699"/>
            <a:ext cx="3117809" cy="4840193"/>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72643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5CAEF-DA25-D032-3439-BAE369298FF2}"/>
              </a:ext>
            </a:extLst>
          </p:cNvPr>
          <p:cNvSpPr>
            <a:spLocks noGrp="1"/>
          </p:cNvSpPr>
          <p:nvPr>
            <p:ph type="title"/>
          </p:nvPr>
        </p:nvSpPr>
        <p:spPr>
          <a:xfrm>
            <a:off x="591065" y="365126"/>
            <a:ext cx="10515600" cy="1325563"/>
          </a:xfrm>
        </p:spPr>
        <p:txBody>
          <a:bodyPr/>
          <a:lstStyle/>
          <a:p>
            <a:r>
              <a:rPr lang="en-US" dirty="0"/>
              <a:t>Multimodal </a:t>
            </a:r>
            <a:r>
              <a:rPr lang="en-US" altLang="zh-TW" dirty="0"/>
              <a:t>Analysis</a:t>
            </a:r>
            <a:endParaRPr lang="en-US" dirty="0"/>
          </a:p>
        </p:txBody>
      </p:sp>
      <p:sp>
        <p:nvSpPr>
          <p:cNvPr id="4" name="Slide Number Placeholder 3">
            <a:extLst>
              <a:ext uri="{FF2B5EF4-FFF2-40B4-BE49-F238E27FC236}">
                <a16:creationId xmlns:a16="http://schemas.microsoft.com/office/drawing/2014/main" id="{7C794F3A-8F2A-BC4E-0769-7C73DD42DA53}"/>
              </a:ext>
            </a:extLst>
          </p:cNvPr>
          <p:cNvSpPr>
            <a:spLocks noGrp="1"/>
          </p:cNvSpPr>
          <p:nvPr>
            <p:ph type="sldNum" sz="quarter" idx="12"/>
          </p:nvPr>
        </p:nvSpPr>
        <p:spPr/>
        <p:txBody>
          <a:bodyPr/>
          <a:lstStyle/>
          <a:p>
            <a:fld id="{38543A31-4DFF-4CB7-B4D4-2CA7645BB8BE}" type="slidenum">
              <a:rPr lang="en-US" smtClean="0"/>
              <a:t>18</a:t>
            </a:fld>
            <a:endParaRPr lang="en-US"/>
          </a:p>
        </p:txBody>
      </p:sp>
      <p:pic>
        <p:nvPicPr>
          <p:cNvPr id="5" name="Content Placeholder 4">
            <a:extLst>
              <a:ext uri="{FF2B5EF4-FFF2-40B4-BE49-F238E27FC236}">
                <a16:creationId xmlns:a16="http://schemas.microsoft.com/office/drawing/2014/main" id="{6A6C6954-4BF2-F83D-B337-E806D82EEFC9}"/>
              </a:ext>
            </a:extLst>
          </p:cNvPr>
          <p:cNvPicPr>
            <a:picLocks noGrp="1" noChangeAspect="1"/>
          </p:cNvPicPr>
          <p:nvPr>
            <p:ph idx="1"/>
          </p:nvPr>
        </p:nvPicPr>
        <p:blipFill rotWithShape="1">
          <a:blip r:embed="rId3"/>
          <a:srcRect l="1589" t="2567" r="60258" b="73119"/>
          <a:stretch/>
        </p:blipFill>
        <p:spPr>
          <a:xfrm>
            <a:off x="1851331" y="1690689"/>
            <a:ext cx="8489338" cy="4357572"/>
          </a:xfrm>
          <a:prstGeom prst="rect">
            <a:avLst/>
          </a:prstGeom>
        </p:spPr>
      </p:pic>
    </p:spTree>
    <p:extLst>
      <p:ext uri="{BB962C8B-B14F-4D97-AF65-F5344CB8AC3E}">
        <p14:creationId xmlns:p14="http://schemas.microsoft.com/office/powerpoint/2010/main" val="2907194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CCE9EF-6891-C32E-273A-8F512DC0DADA}"/>
              </a:ext>
            </a:extLst>
          </p:cNvPr>
          <p:cNvSpPr>
            <a:spLocks noGrp="1"/>
          </p:cNvSpPr>
          <p:nvPr>
            <p:ph type="sldNum" sz="quarter" idx="12"/>
          </p:nvPr>
        </p:nvSpPr>
        <p:spPr>
          <a:xfrm>
            <a:off x="8695155" y="6355410"/>
            <a:ext cx="2743200" cy="365125"/>
          </a:xfrm>
        </p:spPr>
        <p:txBody>
          <a:bodyPr/>
          <a:lstStyle/>
          <a:p>
            <a:fld id="{7DF2C209-72C5-4BD6-83FD-73557975086B}" type="slidenum">
              <a:rPr lang="en-US" smtClean="0"/>
              <a:t>19</a:t>
            </a:fld>
            <a:endParaRPr lang="en-US"/>
          </a:p>
        </p:txBody>
      </p:sp>
      <p:sp>
        <p:nvSpPr>
          <p:cNvPr id="5" name="TextBox 4">
            <a:extLst>
              <a:ext uri="{FF2B5EF4-FFF2-40B4-BE49-F238E27FC236}">
                <a16:creationId xmlns:a16="http://schemas.microsoft.com/office/drawing/2014/main" id="{6660A00D-92F0-A5EE-09FF-9A99028F7709}"/>
              </a:ext>
            </a:extLst>
          </p:cNvPr>
          <p:cNvSpPr txBox="1"/>
          <p:nvPr/>
        </p:nvSpPr>
        <p:spPr>
          <a:xfrm>
            <a:off x="748021" y="4845830"/>
            <a:ext cx="2976520" cy="523220"/>
          </a:xfrm>
          <a:prstGeom prst="rect">
            <a:avLst/>
          </a:prstGeom>
          <a:noFill/>
        </p:spPr>
        <p:txBody>
          <a:bodyPr wrap="none" rtlCol="0">
            <a:spAutoFit/>
          </a:bodyPr>
          <a:lstStyle/>
          <a:p>
            <a:r>
              <a:rPr lang="en-US" altLang="zh-TW" sz="2800" dirty="0">
                <a:solidFill>
                  <a:schemeClr val="bg1">
                    <a:lumMod val="85000"/>
                  </a:schemeClr>
                </a:solidFill>
              </a:rPr>
              <a:t>Data Preprocessing</a:t>
            </a:r>
            <a:endParaRPr lang="en-US" sz="2800" dirty="0">
              <a:solidFill>
                <a:schemeClr val="bg1">
                  <a:lumMod val="85000"/>
                </a:schemeClr>
              </a:solidFill>
            </a:endParaRPr>
          </a:p>
        </p:txBody>
      </p:sp>
      <p:pic>
        <p:nvPicPr>
          <p:cNvPr id="1026" name="Picture 2" descr="Matrices - Solve, Types, Meaning, Examples | Matrix Definition">
            <a:extLst>
              <a:ext uri="{FF2B5EF4-FFF2-40B4-BE49-F238E27FC236}">
                <a16:creationId xmlns:a16="http://schemas.microsoft.com/office/drawing/2014/main" id="{5FA095C9-A904-67CF-CE1F-FFC6F582468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587" t="35080" r="23000" b="-2"/>
          <a:stretch/>
        </p:blipFill>
        <p:spPr bwMode="auto">
          <a:xfrm>
            <a:off x="335903" y="2017438"/>
            <a:ext cx="3107095" cy="2689458"/>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216F1242-4A01-4AF0-1AF2-884D561C842E}"/>
              </a:ext>
            </a:extLst>
          </p:cNvPr>
          <p:cNvSpPr txBox="1">
            <a:spLocks/>
          </p:cNvSpPr>
          <p:nvPr/>
        </p:nvSpPr>
        <p:spPr>
          <a:xfrm>
            <a:off x="636037" y="39622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dirty="0"/>
              <a:t>3</a:t>
            </a:r>
            <a:r>
              <a:rPr lang="en-US" altLang="zh-TW" baseline="30000" dirty="0"/>
              <a:t>rd</a:t>
            </a:r>
            <a:r>
              <a:rPr lang="zh-TW" altLang="en-US" dirty="0"/>
              <a:t>：</a:t>
            </a:r>
            <a:r>
              <a:rPr lang="en-US" altLang="zh-TW" dirty="0"/>
              <a:t>Embedding</a:t>
            </a:r>
            <a:endParaRPr lang="en-US" dirty="0"/>
          </a:p>
        </p:txBody>
      </p:sp>
      <p:sp>
        <p:nvSpPr>
          <p:cNvPr id="8" name="Arrow: Right 7">
            <a:extLst>
              <a:ext uri="{FF2B5EF4-FFF2-40B4-BE49-F238E27FC236}">
                <a16:creationId xmlns:a16="http://schemas.microsoft.com/office/drawing/2014/main" id="{A2E528F3-0916-ABD9-EC29-5C6BD685F869}"/>
              </a:ext>
            </a:extLst>
          </p:cNvPr>
          <p:cNvSpPr/>
          <p:nvPr/>
        </p:nvSpPr>
        <p:spPr>
          <a:xfrm>
            <a:off x="4066593" y="2995959"/>
            <a:ext cx="839755" cy="345233"/>
          </a:xfrm>
          <a:prstGeom prst="rightArrow">
            <a:avLst/>
          </a:prstGeom>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C07F13B8-2C83-8863-29A5-535F516962EA}"/>
              </a:ext>
            </a:extLst>
          </p:cNvPr>
          <p:cNvPicPr>
            <a:picLocks noChangeAspect="1"/>
          </p:cNvPicPr>
          <p:nvPr/>
        </p:nvPicPr>
        <p:blipFill>
          <a:blip r:embed="rId4"/>
          <a:stretch>
            <a:fillRect/>
          </a:stretch>
        </p:blipFill>
        <p:spPr>
          <a:xfrm>
            <a:off x="5186228" y="2134731"/>
            <a:ext cx="2674852" cy="2171888"/>
          </a:xfrm>
          <a:prstGeom prst="rect">
            <a:avLst/>
          </a:prstGeom>
        </p:spPr>
      </p:pic>
      <p:sp>
        <p:nvSpPr>
          <p:cNvPr id="13" name="Arrow: Right 12">
            <a:extLst>
              <a:ext uri="{FF2B5EF4-FFF2-40B4-BE49-F238E27FC236}">
                <a16:creationId xmlns:a16="http://schemas.microsoft.com/office/drawing/2014/main" id="{AFD433AF-2DCF-F4E6-A913-DA4ED9FFC6F0}"/>
              </a:ext>
            </a:extLst>
          </p:cNvPr>
          <p:cNvSpPr/>
          <p:nvPr/>
        </p:nvSpPr>
        <p:spPr>
          <a:xfrm>
            <a:off x="8140960" y="2910161"/>
            <a:ext cx="839755" cy="345233"/>
          </a:xfrm>
          <a:prstGeom prst="rightArrow">
            <a:avLst/>
          </a:prstGeom>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1726F7D-F56D-0001-1532-1191CF097908}"/>
              </a:ext>
            </a:extLst>
          </p:cNvPr>
          <p:cNvPicPr>
            <a:picLocks noChangeAspect="1"/>
          </p:cNvPicPr>
          <p:nvPr/>
        </p:nvPicPr>
        <p:blipFill>
          <a:blip r:embed="rId5"/>
          <a:stretch>
            <a:fillRect/>
          </a:stretch>
        </p:blipFill>
        <p:spPr>
          <a:xfrm>
            <a:off x="9402912" y="2145983"/>
            <a:ext cx="2035443" cy="2361114"/>
          </a:xfrm>
          <a:prstGeom prst="rect">
            <a:avLst/>
          </a:prstGeom>
        </p:spPr>
      </p:pic>
      <p:sp>
        <p:nvSpPr>
          <p:cNvPr id="16" name="TextBox 15">
            <a:extLst>
              <a:ext uri="{FF2B5EF4-FFF2-40B4-BE49-F238E27FC236}">
                <a16:creationId xmlns:a16="http://schemas.microsoft.com/office/drawing/2014/main" id="{7B4426ED-8468-7FCA-929F-A3EE3FCF6BA7}"/>
              </a:ext>
            </a:extLst>
          </p:cNvPr>
          <p:cNvSpPr txBox="1"/>
          <p:nvPr/>
        </p:nvSpPr>
        <p:spPr>
          <a:xfrm>
            <a:off x="5118191" y="4845830"/>
            <a:ext cx="3033010" cy="523220"/>
          </a:xfrm>
          <a:prstGeom prst="rect">
            <a:avLst/>
          </a:prstGeom>
          <a:noFill/>
        </p:spPr>
        <p:txBody>
          <a:bodyPr wrap="none" rtlCol="0">
            <a:spAutoFit/>
          </a:bodyPr>
          <a:lstStyle/>
          <a:p>
            <a:r>
              <a:rPr lang="en-US" altLang="zh-TW" sz="2800" dirty="0">
                <a:solidFill>
                  <a:schemeClr val="bg1">
                    <a:lumMod val="85000"/>
                  </a:schemeClr>
                </a:solidFill>
              </a:rPr>
              <a:t>Graph Construction</a:t>
            </a:r>
            <a:endParaRPr lang="en-US" sz="2800" dirty="0">
              <a:solidFill>
                <a:schemeClr val="bg1">
                  <a:lumMod val="85000"/>
                </a:schemeClr>
              </a:solidFill>
            </a:endParaRPr>
          </a:p>
        </p:txBody>
      </p:sp>
      <p:sp>
        <p:nvSpPr>
          <p:cNvPr id="17" name="TextBox 16">
            <a:extLst>
              <a:ext uri="{FF2B5EF4-FFF2-40B4-BE49-F238E27FC236}">
                <a16:creationId xmlns:a16="http://schemas.microsoft.com/office/drawing/2014/main" id="{FAF9BCC8-DED2-F85B-21A3-50346A4F6CEB}"/>
              </a:ext>
            </a:extLst>
          </p:cNvPr>
          <p:cNvSpPr txBox="1"/>
          <p:nvPr/>
        </p:nvSpPr>
        <p:spPr>
          <a:xfrm>
            <a:off x="9524783" y="4845830"/>
            <a:ext cx="1830950" cy="523220"/>
          </a:xfrm>
          <a:prstGeom prst="rect">
            <a:avLst/>
          </a:prstGeom>
          <a:noFill/>
        </p:spPr>
        <p:txBody>
          <a:bodyPr wrap="none" rtlCol="0">
            <a:spAutoFit/>
          </a:bodyPr>
          <a:lstStyle/>
          <a:p>
            <a:r>
              <a:rPr lang="en-US" altLang="zh-TW" sz="2800" dirty="0"/>
              <a:t>Embedding</a:t>
            </a:r>
            <a:endParaRPr lang="en-US" sz="2800" dirty="0"/>
          </a:p>
        </p:txBody>
      </p:sp>
    </p:spTree>
    <p:extLst>
      <p:ext uri="{BB962C8B-B14F-4D97-AF65-F5344CB8AC3E}">
        <p14:creationId xmlns:p14="http://schemas.microsoft.com/office/powerpoint/2010/main" val="291164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89103-AA66-504F-239C-E146A2F0D5F1}"/>
              </a:ext>
            </a:extLst>
          </p:cNvPr>
          <p:cNvSpPr>
            <a:spLocks noGrp="1"/>
          </p:cNvSpPr>
          <p:nvPr>
            <p:ph type="title"/>
          </p:nvPr>
        </p:nvSpPr>
        <p:spPr>
          <a:xfrm>
            <a:off x="838200" y="365125"/>
            <a:ext cx="10515600" cy="1325563"/>
          </a:xfrm>
        </p:spPr>
        <p:txBody>
          <a:bodyPr/>
          <a:lstStyle/>
          <a:p>
            <a:r>
              <a:rPr lang="en-US" dirty="0"/>
              <a:t>Vector</a:t>
            </a:r>
          </a:p>
        </p:txBody>
      </p:sp>
      <p:sp>
        <p:nvSpPr>
          <p:cNvPr id="17" name="TextBox 16">
            <a:extLst>
              <a:ext uri="{FF2B5EF4-FFF2-40B4-BE49-F238E27FC236}">
                <a16:creationId xmlns:a16="http://schemas.microsoft.com/office/drawing/2014/main" id="{7480C7F3-6C8E-2292-3B3F-2CAB0C114762}"/>
              </a:ext>
            </a:extLst>
          </p:cNvPr>
          <p:cNvSpPr txBox="1"/>
          <p:nvPr/>
        </p:nvSpPr>
        <p:spPr>
          <a:xfrm>
            <a:off x="3702558" y="2045044"/>
            <a:ext cx="1389611" cy="369332"/>
          </a:xfrm>
          <a:prstGeom prst="rect">
            <a:avLst/>
          </a:prstGeom>
          <a:noFill/>
        </p:spPr>
        <p:txBody>
          <a:bodyPr wrap="none" rtlCol="0">
            <a:spAutoFit/>
          </a:bodyPr>
          <a:lstStyle/>
          <a:p>
            <a:r>
              <a:rPr lang="en-US" dirty="0"/>
              <a:t>Edge = (u, v)</a:t>
            </a:r>
          </a:p>
        </p:txBody>
      </p:sp>
      <p:sp>
        <p:nvSpPr>
          <p:cNvPr id="18" name="Arrow: Down 17">
            <a:extLst>
              <a:ext uri="{FF2B5EF4-FFF2-40B4-BE49-F238E27FC236}">
                <a16:creationId xmlns:a16="http://schemas.microsoft.com/office/drawing/2014/main" id="{651F74FA-FC97-5C79-AFEA-CDF70A31D807}"/>
              </a:ext>
            </a:extLst>
          </p:cNvPr>
          <p:cNvSpPr/>
          <p:nvPr/>
        </p:nvSpPr>
        <p:spPr>
          <a:xfrm rot="10800000">
            <a:off x="4562200" y="2414376"/>
            <a:ext cx="97656" cy="2963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Down 18">
            <a:extLst>
              <a:ext uri="{FF2B5EF4-FFF2-40B4-BE49-F238E27FC236}">
                <a16:creationId xmlns:a16="http://schemas.microsoft.com/office/drawing/2014/main" id="{50C78ECA-94FD-12C7-7CCD-9627E5AA2B1E}"/>
              </a:ext>
            </a:extLst>
          </p:cNvPr>
          <p:cNvSpPr/>
          <p:nvPr/>
        </p:nvSpPr>
        <p:spPr>
          <a:xfrm flipH="1">
            <a:off x="4740169" y="1785210"/>
            <a:ext cx="107911" cy="2963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7AF3621-D780-AFDA-91E6-925A920079DB}"/>
              </a:ext>
            </a:extLst>
          </p:cNvPr>
          <p:cNvSpPr txBox="1"/>
          <p:nvPr/>
        </p:nvSpPr>
        <p:spPr>
          <a:xfrm>
            <a:off x="4036643" y="2742783"/>
            <a:ext cx="1407052" cy="369332"/>
          </a:xfrm>
          <a:prstGeom prst="rect">
            <a:avLst/>
          </a:prstGeom>
          <a:noFill/>
        </p:spPr>
        <p:txBody>
          <a:bodyPr wrap="none" rtlCol="0">
            <a:spAutoFit/>
          </a:bodyPr>
          <a:lstStyle/>
          <a:p>
            <a:r>
              <a:rPr lang="en-US" dirty="0"/>
              <a:t>source entity</a:t>
            </a:r>
          </a:p>
        </p:txBody>
      </p:sp>
      <p:sp>
        <p:nvSpPr>
          <p:cNvPr id="21" name="TextBox 20">
            <a:extLst>
              <a:ext uri="{FF2B5EF4-FFF2-40B4-BE49-F238E27FC236}">
                <a16:creationId xmlns:a16="http://schemas.microsoft.com/office/drawing/2014/main" id="{F481D0C7-1699-7667-CDDD-924C2DB445F3}"/>
              </a:ext>
            </a:extLst>
          </p:cNvPr>
          <p:cNvSpPr txBox="1"/>
          <p:nvPr/>
        </p:nvSpPr>
        <p:spPr>
          <a:xfrm>
            <a:off x="4090598" y="1326843"/>
            <a:ext cx="1841786" cy="369332"/>
          </a:xfrm>
          <a:prstGeom prst="rect">
            <a:avLst/>
          </a:prstGeom>
          <a:noFill/>
        </p:spPr>
        <p:txBody>
          <a:bodyPr wrap="none" rtlCol="0">
            <a:spAutoFit/>
          </a:bodyPr>
          <a:lstStyle/>
          <a:p>
            <a:r>
              <a:rPr lang="en-US" dirty="0"/>
              <a:t>destination entity</a:t>
            </a:r>
          </a:p>
        </p:txBody>
      </p:sp>
      <p:sp>
        <p:nvSpPr>
          <p:cNvPr id="22" name="Rectangle: Rounded Corners 21">
            <a:extLst>
              <a:ext uri="{FF2B5EF4-FFF2-40B4-BE49-F238E27FC236}">
                <a16:creationId xmlns:a16="http://schemas.microsoft.com/office/drawing/2014/main" id="{61FCBEAB-C2BE-2F80-1DC8-0A4FE114753E}"/>
              </a:ext>
            </a:extLst>
          </p:cNvPr>
          <p:cNvSpPr/>
          <p:nvPr/>
        </p:nvSpPr>
        <p:spPr>
          <a:xfrm>
            <a:off x="1212258" y="3641934"/>
            <a:ext cx="5080000" cy="39973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Calculate “edge score” based on the connection</a:t>
            </a:r>
          </a:p>
        </p:txBody>
      </p:sp>
      <p:sp>
        <p:nvSpPr>
          <p:cNvPr id="25" name="Rectangle: Rounded Corners 24">
            <a:extLst>
              <a:ext uri="{FF2B5EF4-FFF2-40B4-BE49-F238E27FC236}">
                <a16:creationId xmlns:a16="http://schemas.microsoft.com/office/drawing/2014/main" id="{2E73A2C6-584F-E11B-2D65-7179D35163A7}"/>
              </a:ext>
            </a:extLst>
          </p:cNvPr>
          <p:cNvSpPr/>
          <p:nvPr/>
        </p:nvSpPr>
        <p:spPr>
          <a:xfrm>
            <a:off x="1440827" y="4345530"/>
            <a:ext cx="4523462" cy="33283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Calculate “loss” to evaluate the score</a:t>
            </a:r>
          </a:p>
        </p:txBody>
      </p:sp>
      <p:sp>
        <p:nvSpPr>
          <p:cNvPr id="26" name="Arrow: Down 25">
            <a:extLst>
              <a:ext uri="{FF2B5EF4-FFF2-40B4-BE49-F238E27FC236}">
                <a16:creationId xmlns:a16="http://schemas.microsoft.com/office/drawing/2014/main" id="{60EDEA4D-5750-C7E4-EC29-1DDF74901640}"/>
              </a:ext>
            </a:extLst>
          </p:cNvPr>
          <p:cNvSpPr/>
          <p:nvPr/>
        </p:nvSpPr>
        <p:spPr>
          <a:xfrm>
            <a:off x="3524435" y="4980373"/>
            <a:ext cx="178123" cy="3328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AD9AA9F6-0A77-900C-65D2-5D84F591AC77}"/>
              </a:ext>
            </a:extLst>
          </p:cNvPr>
          <p:cNvSpPr/>
          <p:nvPr/>
        </p:nvSpPr>
        <p:spPr>
          <a:xfrm>
            <a:off x="2006353" y="5745963"/>
            <a:ext cx="3329128" cy="33283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Find the overall best score</a:t>
            </a:r>
          </a:p>
        </p:txBody>
      </p:sp>
      <p:pic>
        <p:nvPicPr>
          <p:cNvPr id="4" name="Picture 3">
            <a:extLst>
              <a:ext uri="{FF2B5EF4-FFF2-40B4-BE49-F238E27FC236}">
                <a16:creationId xmlns:a16="http://schemas.microsoft.com/office/drawing/2014/main" id="{4541869C-9DC1-9123-B67E-02B1FA4B5026}"/>
              </a:ext>
            </a:extLst>
          </p:cNvPr>
          <p:cNvPicPr>
            <a:picLocks noChangeAspect="1"/>
          </p:cNvPicPr>
          <p:nvPr/>
        </p:nvPicPr>
        <p:blipFill>
          <a:blip r:embed="rId3"/>
          <a:stretch>
            <a:fillRect/>
          </a:stretch>
        </p:blipFill>
        <p:spPr>
          <a:xfrm>
            <a:off x="6463720" y="3599417"/>
            <a:ext cx="1422370" cy="442249"/>
          </a:xfrm>
          <a:prstGeom prst="rect">
            <a:avLst/>
          </a:prstGeom>
        </p:spPr>
      </p:pic>
      <p:sp>
        <p:nvSpPr>
          <p:cNvPr id="16" name="Slide Number Placeholder 15">
            <a:extLst>
              <a:ext uri="{FF2B5EF4-FFF2-40B4-BE49-F238E27FC236}">
                <a16:creationId xmlns:a16="http://schemas.microsoft.com/office/drawing/2014/main" id="{4C669462-7427-0FCB-98B2-B25C4C308D46}"/>
              </a:ext>
            </a:extLst>
          </p:cNvPr>
          <p:cNvSpPr>
            <a:spLocks noGrp="1"/>
          </p:cNvSpPr>
          <p:nvPr>
            <p:ph type="sldNum" sz="quarter" idx="12"/>
          </p:nvPr>
        </p:nvSpPr>
        <p:spPr/>
        <p:txBody>
          <a:bodyPr/>
          <a:lstStyle/>
          <a:p>
            <a:fld id="{7DF2C209-72C5-4BD6-83FD-73557975086B}" type="slidenum">
              <a:rPr lang="en-US" smtClean="0"/>
              <a:t>20</a:t>
            </a:fld>
            <a:endParaRPr lang="en-US"/>
          </a:p>
        </p:txBody>
      </p:sp>
      <p:pic>
        <p:nvPicPr>
          <p:cNvPr id="28" name="Picture 27">
            <a:extLst>
              <a:ext uri="{FF2B5EF4-FFF2-40B4-BE49-F238E27FC236}">
                <a16:creationId xmlns:a16="http://schemas.microsoft.com/office/drawing/2014/main" id="{43113655-BFE4-8D40-289D-73D8BB275D9C}"/>
              </a:ext>
            </a:extLst>
          </p:cNvPr>
          <p:cNvPicPr>
            <a:picLocks noChangeAspect="1"/>
          </p:cNvPicPr>
          <p:nvPr/>
        </p:nvPicPr>
        <p:blipFill rotWithShape="1">
          <a:blip r:embed="rId4"/>
          <a:srcRect l="24620" t="4870" r="67453" b="90184"/>
          <a:stretch/>
        </p:blipFill>
        <p:spPr>
          <a:xfrm>
            <a:off x="8489444" y="3268538"/>
            <a:ext cx="3281589" cy="1878251"/>
          </a:xfrm>
          <a:prstGeom prst="rect">
            <a:avLst/>
          </a:prstGeom>
        </p:spPr>
      </p:pic>
      <p:grpSp>
        <p:nvGrpSpPr>
          <p:cNvPr id="33" name="Group 32">
            <a:extLst>
              <a:ext uri="{FF2B5EF4-FFF2-40B4-BE49-F238E27FC236}">
                <a16:creationId xmlns:a16="http://schemas.microsoft.com/office/drawing/2014/main" id="{0E25C546-9545-D11A-7095-39CE187A2D28}"/>
              </a:ext>
            </a:extLst>
          </p:cNvPr>
          <p:cNvGrpSpPr/>
          <p:nvPr/>
        </p:nvGrpSpPr>
        <p:grpSpPr>
          <a:xfrm>
            <a:off x="926838" y="2015923"/>
            <a:ext cx="1937657" cy="291476"/>
            <a:chOff x="1175654" y="2074566"/>
            <a:chExt cx="1388421" cy="212436"/>
          </a:xfrm>
        </p:grpSpPr>
        <p:cxnSp>
          <p:nvCxnSpPr>
            <p:cNvPr id="15" name="Straight Connector 14">
              <a:extLst>
                <a:ext uri="{FF2B5EF4-FFF2-40B4-BE49-F238E27FC236}">
                  <a16:creationId xmlns:a16="http://schemas.microsoft.com/office/drawing/2014/main" id="{5001869C-72F8-E17B-9300-3CAA52EA7745}"/>
                </a:ext>
              </a:extLst>
            </p:cNvPr>
            <p:cNvCxnSpPr>
              <a:cxnSpLocks/>
            </p:cNvCxnSpPr>
            <p:nvPr/>
          </p:nvCxnSpPr>
          <p:spPr>
            <a:xfrm>
              <a:off x="1298370" y="2203761"/>
              <a:ext cx="1142989"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373127DB-D782-327F-C3EF-49B6DFD3A2E4}"/>
                </a:ext>
              </a:extLst>
            </p:cNvPr>
            <p:cNvSpPr/>
            <p:nvPr/>
          </p:nvSpPr>
          <p:spPr>
            <a:xfrm>
              <a:off x="1175654" y="2109202"/>
              <a:ext cx="172511" cy="177800"/>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9CDB9D11-8981-2D01-B0FD-13682A07B33F}"/>
                </a:ext>
              </a:extLst>
            </p:cNvPr>
            <p:cNvSpPr/>
            <p:nvPr/>
          </p:nvSpPr>
          <p:spPr>
            <a:xfrm>
              <a:off x="2391708" y="2074566"/>
              <a:ext cx="172367" cy="212436"/>
            </a:xfrm>
            <a:prstGeom prst="triangle">
              <a:avLst/>
            </a:prstGeom>
            <a:solidFill>
              <a:srgbClr val="00B05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grpSp>
      <p:sp>
        <p:nvSpPr>
          <p:cNvPr id="34" name="TextBox 33">
            <a:extLst>
              <a:ext uri="{FF2B5EF4-FFF2-40B4-BE49-F238E27FC236}">
                <a16:creationId xmlns:a16="http://schemas.microsoft.com/office/drawing/2014/main" id="{A8D023D3-64D1-B5BC-BEC5-329C481AB1AC}"/>
              </a:ext>
            </a:extLst>
          </p:cNvPr>
          <p:cNvSpPr txBox="1"/>
          <p:nvPr/>
        </p:nvSpPr>
        <p:spPr>
          <a:xfrm>
            <a:off x="905764" y="2384489"/>
            <a:ext cx="306494" cy="369332"/>
          </a:xfrm>
          <a:prstGeom prst="rect">
            <a:avLst/>
          </a:prstGeom>
          <a:noFill/>
        </p:spPr>
        <p:txBody>
          <a:bodyPr wrap="none" rtlCol="0">
            <a:spAutoFit/>
          </a:bodyPr>
          <a:lstStyle/>
          <a:p>
            <a:r>
              <a:rPr lang="en-US"/>
              <a:t>u</a:t>
            </a:r>
            <a:endParaRPr lang="en-US" dirty="0"/>
          </a:p>
        </p:txBody>
      </p:sp>
      <p:sp>
        <p:nvSpPr>
          <p:cNvPr id="36" name="TextBox 35">
            <a:extLst>
              <a:ext uri="{FF2B5EF4-FFF2-40B4-BE49-F238E27FC236}">
                <a16:creationId xmlns:a16="http://schemas.microsoft.com/office/drawing/2014/main" id="{EE264F81-3C3A-CFC2-17CB-CC5629715245}"/>
              </a:ext>
            </a:extLst>
          </p:cNvPr>
          <p:cNvSpPr txBox="1"/>
          <p:nvPr/>
        </p:nvSpPr>
        <p:spPr>
          <a:xfrm>
            <a:off x="2593315" y="2414376"/>
            <a:ext cx="293914" cy="369332"/>
          </a:xfrm>
          <a:prstGeom prst="rect">
            <a:avLst/>
          </a:prstGeom>
          <a:noFill/>
        </p:spPr>
        <p:txBody>
          <a:bodyPr wrap="square">
            <a:spAutoFit/>
          </a:bodyPr>
          <a:lstStyle/>
          <a:p>
            <a:r>
              <a:rPr lang="en-US" dirty="0"/>
              <a:t>v</a:t>
            </a:r>
          </a:p>
        </p:txBody>
      </p:sp>
    </p:spTree>
    <p:extLst>
      <p:ext uri="{BB962C8B-B14F-4D97-AF65-F5344CB8AC3E}">
        <p14:creationId xmlns:p14="http://schemas.microsoft.com/office/powerpoint/2010/main" val="1695383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9E919-4D34-05CE-BAC1-D8BE19CB1028}"/>
              </a:ext>
            </a:extLst>
          </p:cNvPr>
          <p:cNvSpPr>
            <a:spLocks noGrp="1"/>
          </p:cNvSpPr>
          <p:nvPr>
            <p:ph type="title"/>
          </p:nvPr>
        </p:nvSpPr>
        <p:spPr/>
        <p:txBody>
          <a:bodyPr/>
          <a:lstStyle/>
          <a:p>
            <a:r>
              <a:rPr lang="en-US" altLang="zh-TW" dirty="0"/>
              <a:t>What is theta?</a:t>
            </a:r>
            <a:endParaRPr lang="en-US" dirty="0"/>
          </a:p>
        </p:txBody>
      </p:sp>
      <p:sp>
        <p:nvSpPr>
          <p:cNvPr id="4" name="Slide Number Placeholder 3">
            <a:extLst>
              <a:ext uri="{FF2B5EF4-FFF2-40B4-BE49-F238E27FC236}">
                <a16:creationId xmlns:a16="http://schemas.microsoft.com/office/drawing/2014/main" id="{0A795394-552E-6834-B983-277CAD4517AA}"/>
              </a:ext>
            </a:extLst>
          </p:cNvPr>
          <p:cNvSpPr>
            <a:spLocks noGrp="1"/>
          </p:cNvSpPr>
          <p:nvPr>
            <p:ph type="sldNum" sz="quarter" idx="12"/>
          </p:nvPr>
        </p:nvSpPr>
        <p:spPr/>
        <p:txBody>
          <a:bodyPr/>
          <a:lstStyle/>
          <a:p>
            <a:fld id="{38543A31-4DFF-4CB7-B4D4-2CA7645BB8BE}" type="slidenum">
              <a:rPr lang="en-US" smtClean="0"/>
              <a:t>21</a:t>
            </a:fld>
            <a:endParaRPr lang="en-US"/>
          </a:p>
        </p:txBody>
      </p:sp>
      <p:pic>
        <p:nvPicPr>
          <p:cNvPr id="6" name="Picture 5">
            <a:extLst>
              <a:ext uri="{FF2B5EF4-FFF2-40B4-BE49-F238E27FC236}">
                <a16:creationId xmlns:a16="http://schemas.microsoft.com/office/drawing/2014/main" id="{59B71F34-66ED-0099-68EF-AC29585136D7}"/>
              </a:ext>
            </a:extLst>
          </p:cNvPr>
          <p:cNvPicPr>
            <a:picLocks noChangeAspect="1"/>
          </p:cNvPicPr>
          <p:nvPr/>
        </p:nvPicPr>
        <p:blipFill>
          <a:blip r:embed="rId2"/>
          <a:stretch>
            <a:fillRect/>
          </a:stretch>
        </p:blipFill>
        <p:spPr>
          <a:xfrm>
            <a:off x="979714" y="2494771"/>
            <a:ext cx="3517248" cy="715900"/>
          </a:xfrm>
          <a:prstGeom prst="rect">
            <a:avLst/>
          </a:prstGeom>
        </p:spPr>
      </p:pic>
      <p:sp>
        <p:nvSpPr>
          <p:cNvPr id="7" name="TextBox 6">
            <a:extLst>
              <a:ext uri="{FF2B5EF4-FFF2-40B4-BE49-F238E27FC236}">
                <a16:creationId xmlns:a16="http://schemas.microsoft.com/office/drawing/2014/main" id="{2950C605-C91D-AD4D-480D-57058DEB63D7}"/>
              </a:ext>
            </a:extLst>
          </p:cNvPr>
          <p:cNvSpPr txBox="1"/>
          <p:nvPr/>
        </p:nvSpPr>
        <p:spPr>
          <a:xfrm>
            <a:off x="1306285" y="3500299"/>
            <a:ext cx="2565126" cy="523220"/>
          </a:xfrm>
          <a:prstGeom prst="rect">
            <a:avLst/>
          </a:prstGeom>
          <a:noFill/>
        </p:spPr>
        <p:txBody>
          <a:bodyPr wrap="none" rtlCol="0">
            <a:spAutoFit/>
          </a:bodyPr>
          <a:lstStyle/>
          <a:p>
            <a:r>
              <a:rPr lang="en-US" sz="2800" b="0" i="1" dirty="0" err="1">
                <a:solidFill>
                  <a:srgbClr val="0F0F0F"/>
                </a:solidFill>
                <a:effectLst/>
                <a:latin typeface="KaTeX_Math"/>
              </a:rPr>
              <a:t>f</a:t>
            </a:r>
            <a:r>
              <a:rPr lang="en-US" b="0" i="0" dirty="0" err="1">
                <a:solidFill>
                  <a:srgbClr val="0F0F0F"/>
                </a:solidFill>
                <a:effectLst/>
                <a:latin typeface="KaTeX_Main"/>
              </a:rPr>
              <a:t>embedding</a:t>
            </a:r>
            <a:r>
              <a:rPr lang="en-US" b="0" i="0" dirty="0">
                <a:solidFill>
                  <a:srgbClr val="0F0F0F"/>
                </a:solidFill>
                <a:effectLst/>
                <a:latin typeface="KaTeX_Main"/>
              </a:rPr>
              <a:t>​</a:t>
            </a:r>
            <a:r>
              <a:rPr lang="en-US" b="0" i="0" dirty="0">
                <a:solidFill>
                  <a:srgbClr val="0F0F0F"/>
                </a:solidFill>
                <a:effectLst/>
                <a:latin typeface="Söhne"/>
              </a:rPr>
              <a:t> </a:t>
            </a:r>
            <a:r>
              <a:rPr lang="zh-TW" altLang="en-US" b="0" i="0" dirty="0">
                <a:solidFill>
                  <a:srgbClr val="0F0F0F"/>
                </a:solidFill>
                <a:effectLst/>
                <a:latin typeface="Söhne"/>
              </a:rPr>
              <a:t>是嵌入函數</a:t>
            </a:r>
            <a:endParaRPr lang="en-US" dirty="0"/>
          </a:p>
        </p:txBody>
      </p:sp>
      <p:sp>
        <p:nvSpPr>
          <p:cNvPr id="8" name="TextBox 7">
            <a:extLst>
              <a:ext uri="{FF2B5EF4-FFF2-40B4-BE49-F238E27FC236}">
                <a16:creationId xmlns:a16="http://schemas.microsoft.com/office/drawing/2014/main" id="{AC5A672A-2DC4-294E-036A-16A146C82136}"/>
              </a:ext>
            </a:extLst>
          </p:cNvPr>
          <p:cNvSpPr txBox="1"/>
          <p:nvPr/>
        </p:nvSpPr>
        <p:spPr>
          <a:xfrm>
            <a:off x="2588848" y="4132376"/>
            <a:ext cx="5292796" cy="923330"/>
          </a:xfrm>
          <a:prstGeom prst="rect">
            <a:avLst/>
          </a:prstGeom>
          <a:noFill/>
        </p:spPr>
        <p:txBody>
          <a:bodyPr wrap="none" rtlCol="0">
            <a:spAutoFit/>
          </a:bodyPr>
          <a:lstStyle/>
          <a:p>
            <a:r>
              <a:rPr lang="zh-TW" altLang="en-US" dirty="0"/>
              <a:t>包含 </a:t>
            </a:r>
            <a:r>
              <a:rPr lang="en-US" altLang="zh-TW" dirty="0"/>
              <a:t>weight</a:t>
            </a:r>
            <a:r>
              <a:rPr lang="zh-TW" altLang="en-US" dirty="0"/>
              <a:t> 和 </a:t>
            </a:r>
            <a:r>
              <a:rPr lang="en-US" altLang="zh-TW" dirty="0"/>
              <a:t>bias</a:t>
            </a:r>
            <a:r>
              <a:rPr lang="zh-TW" altLang="en-US" dirty="0"/>
              <a:t>，然後可能會有一個激活函數</a:t>
            </a:r>
            <a:endParaRPr lang="en-US" altLang="zh-TW" dirty="0"/>
          </a:p>
          <a:p>
            <a:endParaRPr lang="en-US" dirty="0"/>
          </a:p>
          <a:p>
            <a:r>
              <a:rPr lang="zh-TW" altLang="en-US" dirty="0"/>
              <a:t>但在 </a:t>
            </a:r>
            <a:r>
              <a:rPr lang="en-US" altLang="zh-TW" dirty="0"/>
              <a:t>SIMBA</a:t>
            </a:r>
            <a:r>
              <a:rPr lang="zh-TW" altLang="en-US" dirty="0"/>
              <a:t> 中，並沒有詳細解釋該嵌入函數的算法</a:t>
            </a:r>
            <a:endParaRPr lang="en-US" dirty="0"/>
          </a:p>
        </p:txBody>
      </p:sp>
    </p:spTree>
    <p:extLst>
      <p:ext uri="{BB962C8B-B14F-4D97-AF65-F5344CB8AC3E}">
        <p14:creationId xmlns:p14="http://schemas.microsoft.com/office/powerpoint/2010/main" val="419213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7C82A-14E7-F1D3-ECD0-28435FC8F9A8}"/>
              </a:ext>
            </a:extLst>
          </p:cNvPr>
          <p:cNvSpPr>
            <a:spLocks noGrp="1"/>
          </p:cNvSpPr>
          <p:nvPr>
            <p:ph type="title"/>
          </p:nvPr>
        </p:nvSpPr>
        <p:spPr/>
        <p:txBody>
          <a:bodyPr/>
          <a:lstStyle/>
          <a:p>
            <a:r>
              <a:rPr lang="en-US" dirty="0"/>
              <a:t>Loss Function</a:t>
            </a:r>
          </a:p>
        </p:txBody>
      </p:sp>
      <p:sp>
        <p:nvSpPr>
          <p:cNvPr id="4" name="Slide Number Placeholder 3">
            <a:extLst>
              <a:ext uri="{FF2B5EF4-FFF2-40B4-BE49-F238E27FC236}">
                <a16:creationId xmlns:a16="http://schemas.microsoft.com/office/drawing/2014/main" id="{D2B89919-3552-D0D2-BE86-36197104062D}"/>
              </a:ext>
            </a:extLst>
          </p:cNvPr>
          <p:cNvSpPr>
            <a:spLocks noGrp="1"/>
          </p:cNvSpPr>
          <p:nvPr>
            <p:ph type="sldNum" sz="quarter" idx="12"/>
          </p:nvPr>
        </p:nvSpPr>
        <p:spPr/>
        <p:txBody>
          <a:bodyPr/>
          <a:lstStyle/>
          <a:p>
            <a:fld id="{38543A31-4DFF-4CB7-B4D4-2CA7645BB8BE}" type="slidenum">
              <a:rPr lang="en-US" smtClean="0"/>
              <a:t>22</a:t>
            </a:fld>
            <a:endParaRPr lang="en-US"/>
          </a:p>
        </p:txBody>
      </p:sp>
      <p:pic>
        <p:nvPicPr>
          <p:cNvPr id="6" name="Picture 5">
            <a:extLst>
              <a:ext uri="{FF2B5EF4-FFF2-40B4-BE49-F238E27FC236}">
                <a16:creationId xmlns:a16="http://schemas.microsoft.com/office/drawing/2014/main" id="{DF444EC2-B901-D1D3-73B9-44CB2BE36C67}"/>
              </a:ext>
            </a:extLst>
          </p:cNvPr>
          <p:cNvPicPr>
            <a:picLocks noChangeAspect="1"/>
          </p:cNvPicPr>
          <p:nvPr/>
        </p:nvPicPr>
        <p:blipFill>
          <a:blip r:embed="rId3"/>
          <a:stretch>
            <a:fillRect/>
          </a:stretch>
        </p:blipFill>
        <p:spPr>
          <a:xfrm>
            <a:off x="684058" y="1863060"/>
            <a:ext cx="6527310" cy="1805426"/>
          </a:xfrm>
          <a:prstGeom prst="rect">
            <a:avLst/>
          </a:prstGeom>
        </p:spPr>
      </p:pic>
    </p:spTree>
    <p:extLst>
      <p:ext uri="{BB962C8B-B14F-4D97-AF65-F5344CB8AC3E}">
        <p14:creationId xmlns:p14="http://schemas.microsoft.com/office/powerpoint/2010/main" val="27984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E3B4C-8135-40F2-F0AF-F84EC8C95994}"/>
              </a:ext>
            </a:extLst>
          </p:cNvPr>
          <p:cNvSpPr>
            <a:spLocks noGrp="1"/>
          </p:cNvSpPr>
          <p:nvPr>
            <p:ph type="title"/>
          </p:nvPr>
        </p:nvSpPr>
        <p:spPr/>
        <p:txBody>
          <a:bodyPr/>
          <a:lstStyle/>
          <a:p>
            <a:r>
              <a:rPr lang="en-US" dirty="0">
                <a:effectLst/>
              </a:rPr>
              <a:t>Negative Sampling</a:t>
            </a:r>
            <a:endParaRPr lang="en-US" dirty="0"/>
          </a:p>
        </p:txBody>
      </p:sp>
      <p:sp>
        <p:nvSpPr>
          <p:cNvPr id="4" name="Rectangle 3">
            <a:extLst>
              <a:ext uri="{FF2B5EF4-FFF2-40B4-BE49-F238E27FC236}">
                <a16:creationId xmlns:a16="http://schemas.microsoft.com/office/drawing/2014/main" id="{365ABD6C-419A-EC5D-9A8C-40F6B91F5846}"/>
              </a:ext>
            </a:extLst>
          </p:cNvPr>
          <p:cNvSpPr/>
          <p:nvPr/>
        </p:nvSpPr>
        <p:spPr>
          <a:xfrm>
            <a:off x="8772827" y="2910157"/>
            <a:ext cx="2856440" cy="299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Oval 4">
            <a:extLst>
              <a:ext uri="{FF2B5EF4-FFF2-40B4-BE49-F238E27FC236}">
                <a16:creationId xmlns:a16="http://schemas.microsoft.com/office/drawing/2014/main" id="{5C5E383C-A1B7-A0A4-9C2D-840105146C0C}"/>
              </a:ext>
            </a:extLst>
          </p:cNvPr>
          <p:cNvSpPr/>
          <p:nvPr/>
        </p:nvSpPr>
        <p:spPr>
          <a:xfrm>
            <a:off x="9569218" y="3490919"/>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AC3556E-2729-9575-EB28-E38B45E92156}"/>
              </a:ext>
            </a:extLst>
          </p:cNvPr>
          <p:cNvSpPr/>
          <p:nvPr/>
        </p:nvSpPr>
        <p:spPr>
          <a:xfrm>
            <a:off x="9386129" y="4293929"/>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D630AC0-6084-BF38-8337-6B40F0E06722}"/>
              </a:ext>
            </a:extLst>
          </p:cNvPr>
          <p:cNvSpPr/>
          <p:nvPr/>
        </p:nvSpPr>
        <p:spPr>
          <a:xfrm>
            <a:off x="9741729" y="5120421"/>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3388613-C2B2-7C30-599D-E53F8F3439F3}"/>
              </a:ext>
            </a:extLst>
          </p:cNvPr>
          <p:cNvSpPr/>
          <p:nvPr/>
        </p:nvSpPr>
        <p:spPr>
          <a:xfrm>
            <a:off x="10701636" y="397748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299862C-979E-9CAC-35B2-0814E6C3301A}"/>
              </a:ext>
            </a:extLst>
          </p:cNvPr>
          <p:cNvSpPr/>
          <p:nvPr/>
        </p:nvSpPr>
        <p:spPr>
          <a:xfrm>
            <a:off x="10728626" y="5069621"/>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B6F2034-76EF-959A-B805-B0E54A557027}"/>
              </a:ext>
            </a:extLst>
          </p:cNvPr>
          <p:cNvSpPr/>
          <p:nvPr/>
        </p:nvSpPr>
        <p:spPr>
          <a:xfrm>
            <a:off x="8818865" y="2502700"/>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 common latent space</a:t>
            </a:r>
          </a:p>
        </p:txBody>
      </p:sp>
      <p:cxnSp>
        <p:nvCxnSpPr>
          <p:cNvPr id="11" name="Straight Connector 10">
            <a:extLst>
              <a:ext uri="{FF2B5EF4-FFF2-40B4-BE49-F238E27FC236}">
                <a16:creationId xmlns:a16="http://schemas.microsoft.com/office/drawing/2014/main" id="{B765764C-5FB6-B1E3-E313-15EC73A7D099}"/>
              </a:ext>
            </a:extLst>
          </p:cNvPr>
          <p:cNvCxnSpPr>
            <a:cxnSpLocks/>
            <a:endCxn id="6" idx="0"/>
          </p:cNvCxnSpPr>
          <p:nvPr/>
        </p:nvCxnSpPr>
        <p:spPr>
          <a:xfrm flipH="1">
            <a:off x="9472385" y="3668719"/>
            <a:ext cx="166157" cy="6252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09F7E7C-1808-4575-CDFF-21402C0A790B}"/>
              </a:ext>
            </a:extLst>
          </p:cNvPr>
          <p:cNvCxnSpPr>
            <a:cxnSpLocks/>
            <a:stCxn id="5" idx="4"/>
          </p:cNvCxnSpPr>
          <p:nvPr/>
        </p:nvCxnSpPr>
        <p:spPr>
          <a:xfrm>
            <a:off x="9655474" y="3668719"/>
            <a:ext cx="175687" cy="14517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5ED59D-FB22-ECA4-60AD-0E6336A0069F}"/>
              </a:ext>
            </a:extLst>
          </p:cNvPr>
          <p:cNvCxnSpPr>
            <a:cxnSpLocks/>
            <a:endCxn id="8" idx="1"/>
          </p:cNvCxnSpPr>
          <p:nvPr/>
        </p:nvCxnSpPr>
        <p:spPr>
          <a:xfrm>
            <a:off x="9695425" y="3540596"/>
            <a:ext cx="1031475" cy="4629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FD1703-8753-49DA-7D0D-B6D303150608}"/>
              </a:ext>
            </a:extLst>
          </p:cNvPr>
          <p:cNvCxnSpPr>
            <a:cxnSpLocks/>
            <a:stCxn id="8" idx="3"/>
            <a:endCxn id="7" idx="7"/>
          </p:cNvCxnSpPr>
          <p:nvPr/>
        </p:nvCxnSpPr>
        <p:spPr>
          <a:xfrm flipH="1">
            <a:off x="9888976" y="4129249"/>
            <a:ext cx="837924" cy="1017210"/>
          </a:xfrm>
          <a:prstGeom prst="line">
            <a:avLst/>
          </a:prstGeom>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01C8F174-A11D-23A2-40AD-7FD8628F77CF}"/>
              </a:ext>
            </a:extLst>
          </p:cNvPr>
          <p:cNvCxnSpPr>
            <a:cxnSpLocks/>
            <a:stCxn id="5" idx="5"/>
            <a:endCxn id="9" idx="1"/>
          </p:cNvCxnSpPr>
          <p:nvPr/>
        </p:nvCxnSpPr>
        <p:spPr>
          <a:xfrm>
            <a:off x="9716465" y="3642681"/>
            <a:ext cx="1037425" cy="1452978"/>
          </a:xfrm>
          <a:prstGeom prst="line">
            <a:avLst/>
          </a:prstGeom>
        </p:spPr>
        <p:style>
          <a:lnRef idx="1">
            <a:schemeClr val="accent2"/>
          </a:lnRef>
          <a:fillRef idx="0">
            <a:schemeClr val="accent2"/>
          </a:fillRef>
          <a:effectRef idx="0">
            <a:schemeClr val="accent2"/>
          </a:effectRef>
          <a:fontRef idx="minor">
            <a:schemeClr val="tx1"/>
          </a:fontRef>
        </p:style>
      </p:cxnSp>
      <p:sp>
        <p:nvSpPr>
          <p:cNvPr id="15" name="Slide Number Placeholder 14">
            <a:extLst>
              <a:ext uri="{FF2B5EF4-FFF2-40B4-BE49-F238E27FC236}">
                <a16:creationId xmlns:a16="http://schemas.microsoft.com/office/drawing/2014/main" id="{8D781DDA-8697-8A8E-688E-58DA83F2C8A9}"/>
              </a:ext>
            </a:extLst>
          </p:cNvPr>
          <p:cNvSpPr>
            <a:spLocks noGrp="1"/>
          </p:cNvSpPr>
          <p:nvPr>
            <p:ph type="sldNum" sz="quarter" idx="12"/>
          </p:nvPr>
        </p:nvSpPr>
        <p:spPr/>
        <p:txBody>
          <a:bodyPr/>
          <a:lstStyle/>
          <a:p>
            <a:fld id="{7DF2C209-72C5-4BD6-83FD-73557975086B}" type="slidenum">
              <a:rPr lang="en-US" smtClean="0"/>
              <a:t>23</a:t>
            </a:fld>
            <a:endParaRPr lang="en-US"/>
          </a:p>
        </p:txBody>
      </p:sp>
      <p:sp>
        <p:nvSpPr>
          <p:cNvPr id="21" name="Rectangle: Rounded Corners 20">
            <a:extLst>
              <a:ext uri="{FF2B5EF4-FFF2-40B4-BE49-F238E27FC236}">
                <a16:creationId xmlns:a16="http://schemas.microsoft.com/office/drawing/2014/main" id="{BBC55CE8-11A8-A339-9147-48E6C34BC673}"/>
              </a:ext>
            </a:extLst>
          </p:cNvPr>
          <p:cNvSpPr/>
          <p:nvPr/>
        </p:nvSpPr>
        <p:spPr>
          <a:xfrm>
            <a:off x="838200" y="1870470"/>
            <a:ext cx="4044811" cy="47932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Font typeface="Arial" panose="020B0604020202020204" pitchFamily="34" charset="0"/>
              <a:buChar char="•"/>
            </a:pPr>
            <a:r>
              <a:rPr lang="en-US" sz="2400" dirty="0">
                <a:solidFill>
                  <a:schemeClr val="tx1"/>
                </a:solidFill>
              </a:rPr>
              <a:t>Create the wrong edge</a:t>
            </a:r>
          </a:p>
        </p:txBody>
      </p:sp>
      <p:pic>
        <p:nvPicPr>
          <p:cNvPr id="33" name="Picture 32">
            <a:extLst>
              <a:ext uri="{FF2B5EF4-FFF2-40B4-BE49-F238E27FC236}">
                <a16:creationId xmlns:a16="http://schemas.microsoft.com/office/drawing/2014/main" id="{00E2FA45-99F9-6F60-7CD8-12B719C1CEFC}"/>
              </a:ext>
            </a:extLst>
          </p:cNvPr>
          <p:cNvPicPr>
            <a:picLocks noChangeAspect="1"/>
          </p:cNvPicPr>
          <p:nvPr/>
        </p:nvPicPr>
        <p:blipFill>
          <a:blip r:embed="rId3"/>
          <a:stretch>
            <a:fillRect/>
          </a:stretch>
        </p:blipFill>
        <p:spPr>
          <a:xfrm>
            <a:off x="1094620" y="2502700"/>
            <a:ext cx="2764364" cy="1835711"/>
          </a:xfrm>
          <a:prstGeom prst="rect">
            <a:avLst/>
          </a:prstGeom>
        </p:spPr>
      </p:pic>
      <p:sp>
        <p:nvSpPr>
          <p:cNvPr id="38" name="Arrow: Right 37">
            <a:extLst>
              <a:ext uri="{FF2B5EF4-FFF2-40B4-BE49-F238E27FC236}">
                <a16:creationId xmlns:a16="http://schemas.microsoft.com/office/drawing/2014/main" id="{F819A68E-413B-0B4A-7D95-93CC8EEB6CB3}"/>
              </a:ext>
            </a:extLst>
          </p:cNvPr>
          <p:cNvSpPr/>
          <p:nvPr/>
        </p:nvSpPr>
        <p:spPr>
          <a:xfrm>
            <a:off x="4176221" y="3214509"/>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Graphic 38" descr="Robot">
            <a:extLst>
              <a:ext uri="{FF2B5EF4-FFF2-40B4-BE49-F238E27FC236}">
                <a16:creationId xmlns:a16="http://schemas.microsoft.com/office/drawing/2014/main" id="{2C5ECC40-D9BC-94D1-94BB-3F213BF68E0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83011" y="2934862"/>
            <a:ext cx="914400" cy="914400"/>
          </a:xfrm>
          <a:prstGeom prst="rect">
            <a:avLst/>
          </a:prstGeom>
        </p:spPr>
      </p:pic>
      <p:sp>
        <p:nvSpPr>
          <p:cNvPr id="40" name="Speech Bubble: Rectangle 39">
            <a:extLst>
              <a:ext uri="{FF2B5EF4-FFF2-40B4-BE49-F238E27FC236}">
                <a16:creationId xmlns:a16="http://schemas.microsoft.com/office/drawing/2014/main" id="{159DEE8B-7F73-8276-D273-D1E64F6C4035}"/>
              </a:ext>
            </a:extLst>
          </p:cNvPr>
          <p:cNvSpPr/>
          <p:nvPr/>
        </p:nvSpPr>
        <p:spPr>
          <a:xfrm>
            <a:off x="6114648" y="2605755"/>
            <a:ext cx="1606858" cy="723530"/>
          </a:xfrm>
          <a:prstGeom prst="wedgeRectCallout">
            <a:avLst>
              <a:gd name="adj1" fmla="val -63927"/>
              <a:gd name="adj2" fmla="val 5268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Yummy</a:t>
            </a:r>
          </a:p>
        </p:txBody>
      </p:sp>
      <p:pic>
        <p:nvPicPr>
          <p:cNvPr id="41" name="Picture 6" descr="食物腐壞過程縮時攝影》猜猜把食物放到爛掉需要多少天？ | 點我一下">
            <a:extLst>
              <a:ext uri="{FF2B5EF4-FFF2-40B4-BE49-F238E27FC236}">
                <a16:creationId xmlns:a16="http://schemas.microsoft.com/office/drawing/2014/main" id="{C43F7475-32DB-8A41-8FA4-E8ECFCA22C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1637" y="4657164"/>
            <a:ext cx="2892013" cy="1835711"/>
          </a:xfrm>
          <a:prstGeom prst="rect">
            <a:avLst/>
          </a:prstGeom>
          <a:noFill/>
          <a:extLst>
            <a:ext uri="{909E8E84-426E-40DD-AFC4-6F175D3DCCD1}">
              <a14:hiddenFill xmlns:a14="http://schemas.microsoft.com/office/drawing/2010/main">
                <a:solidFill>
                  <a:srgbClr val="FFFFFF"/>
                </a:solidFill>
              </a14:hiddenFill>
            </a:ext>
          </a:extLst>
        </p:spPr>
      </p:pic>
      <p:sp>
        <p:nvSpPr>
          <p:cNvPr id="42" name="Arrow: Right 41">
            <a:extLst>
              <a:ext uri="{FF2B5EF4-FFF2-40B4-BE49-F238E27FC236}">
                <a16:creationId xmlns:a16="http://schemas.microsoft.com/office/drawing/2014/main" id="{DC6A6CE6-682F-1153-0CC4-18E06DCE658F}"/>
              </a:ext>
            </a:extLst>
          </p:cNvPr>
          <p:cNvSpPr/>
          <p:nvPr/>
        </p:nvSpPr>
        <p:spPr>
          <a:xfrm>
            <a:off x="4176221" y="5293158"/>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Graphic 42" descr="Robot">
            <a:extLst>
              <a:ext uri="{FF2B5EF4-FFF2-40B4-BE49-F238E27FC236}">
                <a16:creationId xmlns:a16="http://schemas.microsoft.com/office/drawing/2014/main" id="{20295F71-552C-F6FC-422A-ECD909E054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68771" y="5013511"/>
            <a:ext cx="914400" cy="914400"/>
          </a:xfrm>
          <a:prstGeom prst="rect">
            <a:avLst/>
          </a:prstGeom>
        </p:spPr>
      </p:pic>
      <p:sp>
        <p:nvSpPr>
          <p:cNvPr id="44" name="Speech Bubble: Rectangle 43">
            <a:extLst>
              <a:ext uri="{FF2B5EF4-FFF2-40B4-BE49-F238E27FC236}">
                <a16:creationId xmlns:a16="http://schemas.microsoft.com/office/drawing/2014/main" id="{A31020BF-B2F7-E5F8-3A67-E0E40551F31C}"/>
              </a:ext>
            </a:extLst>
          </p:cNvPr>
          <p:cNvSpPr/>
          <p:nvPr/>
        </p:nvSpPr>
        <p:spPr>
          <a:xfrm>
            <a:off x="6139664" y="4851489"/>
            <a:ext cx="1606858" cy="723530"/>
          </a:xfrm>
          <a:prstGeom prst="wedgeRectCallout">
            <a:avLst>
              <a:gd name="adj1" fmla="val -63927"/>
              <a:gd name="adj2" fmla="val 5268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Yummy</a:t>
            </a:r>
          </a:p>
        </p:txBody>
      </p:sp>
      <p:sp>
        <p:nvSpPr>
          <p:cNvPr id="16" name="TextBox 15">
            <a:extLst>
              <a:ext uri="{FF2B5EF4-FFF2-40B4-BE49-F238E27FC236}">
                <a16:creationId xmlns:a16="http://schemas.microsoft.com/office/drawing/2014/main" id="{DC827727-A16B-9BBE-B350-6F04C2BB1526}"/>
              </a:ext>
            </a:extLst>
          </p:cNvPr>
          <p:cNvSpPr txBox="1"/>
          <p:nvPr/>
        </p:nvSpPr>
        <p:spPr>
          <a:xfrm>
            <a:off x="61888" y="6617863"/>
            <a:ext cx="12068224" cy="261610"/>
          </a:xfrm>
          <a:prstGeom prst="rect">
            <a:avLst/>
          </a:prstGeom>
          <a:noFill/>
        </p:spPr>
        <p:txBody>
          <a:bodyPr wrap="square">
            <a:spAutoFit/>
          </a:bodyPr>
          <a:lstStyle/>
          <a:p>
            <a:r>
              <a:rPr lang="en-US" sz="1100" dirty="0"/>
              <a:t>https://www.liyofu.com.tw/blog/%E7%82%BA%E4%BB%80%E9%BA%BC%E4%BD%A0%E8%A9%B2%E5%A4%9A%E5%90%83%E9%A3%9F%E7%89%A9%E5%B0%91%E5%90%83%E9%A3%9F%E5%93%81</a:t>
            </a:r>
          </a:p>
        </p:txBody>
      </p:sp>
    </p:spTree>
    <p:extLst>
      <p:ext uri="{BB962C8B-B14F-4D97-AF65-F5344CB8AC3E}">
        <p14:creationId xmlns:p14="http://schemas.microsoft.com/office/powerpoint/2010/main" val="2836169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arn(inVertical)">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par>
                                <p:cTn id="23" presetID="10" presetClass="entr" presetSubtype="0" fill="hold" nodeType="with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500"/>
                                        <p:tgtEl>
                                          <p:spTgt spid="3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fade">
                                      <p:cBhvr>
                                        <p:cTn id="28" dur="500"/>
                                        <p:tgtEl>
                                          <p:spTgt spid="4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1"/>
                                        </p:tgtEl>
                                        <p:attrNameLst>
                                          <p:attrName>style.visibility</p:attrName>
                                        </p:attrNameLst>
                                      </p:cBhvr>
                                      <p:to>
                                        <p:strVal val="visible"/>
                                      </p:to>
                                    </p:set>
                                    <p:animEffect transition="in" filter="fade">
                                      <p:cBhvr>
                                        <p:cTn id="33" dur="500"/>
                                        <p:tgtEl>
                                          <p:spTgt spid="4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2"/>
                                        </p:tgtEl>
                                        <p:attrNameLst>
                                          <p:attrName>style.visibility</p:attrName>
                                        </p:attrNameLst>
                                      </p:cBhvr>
                                      <p:to>
                                        <p:strVal val="visible"/>
                                      </p:to>
                                    </p:set>
                                    <p:animEffect transition="in" filter="fade">
                                      <p:cBhvr>
                                        <p:cTn id="36" dur="500"/>
                                        <p:tgtEl>
                                          <p:spTgt spid="4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fade">
                                      <p:cBhvr>
                                        <p:cTn id="41" dur="500"/>
                                        <p:tgtEl>
                                          <p:spTgt spid="4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4"/>
                                        </p:tgtEl>
                                        <p:attrNameLst>
                                          <p:attrName>style.visibility</p:attrName>
                                        </p:attrNameLst>
                                      </p:cBhvr>
                                      <p:to>
                                        <p:strVal val="visible"/>
                                      </p:to>
                                    </p:set>
                                    <p:animEffect transition="in" filter="fade">
                                      <p:cBhvr>
                                        <p:cTn id="4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0" grpId="0" animBg="1"/>
      <p:bldP spid="42" grpId="0" animBg="1"/>
      <p:bldP spid="4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E3B4C-8135-40F2-F0AF-F84EC8C95994}"/>
              </a:ext>
            </a:extLst>
          </p:cNvPr>
          <p:cNvSpPr>
            <a:spLocks noGrp="1"/>
          </p:cNvSpPr>
          <p:nvPr>
            <p:ph type="title"/>
          </p:nvPr>
        </p:nvSpPr>
        <p:spPr/>
        <p:txBody>
          <a:bodyPr/>
          <a:lstStyle/>
          <a:p>
            <a:r>
              <a:rPr lang="en-US" dirty="0">
                <a:effectLst/>
              </a:rPr>
              <a:t>Negative Sampling</a:t>
            </a:r>
            <a:endParaRPr lang="en-US" dirty="0"/>
          </a:p>
        </p:txBody>
      </p:sp>
      <p:sp>
        <p:nvSpPr>
          <p:cNvPr id="4" name="Rectangle 3">
            <a:extLst>
              <a:ext uri="{FF2B5EF4-FFF2-40B4-BE49-F238E27FC236}">
                <a16:creationId xmlns:a16="http://schemas.microsoft.com/office/drawing/2014/main" id="{365ABD6C-419A-EC5D-9A8C-40F6B91F5846}"/>
              </a:ext>
            </a:extLst>
          </p:cNvPr>
          <p:cNvSpPr/>
          <p:nvPr/>
        </p:nvSpPr>
        <p:spPr>
          <a:xfrm>
            <a:off x="8772827" y="2910157"/>
            <a:ext cx="2856440" cy="299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Oval 4">
            <a:extLst>
              <a:ext uri="{FF2B5EF4-FFF2-40B4-BE49-F238E27FC236}">
                <a16:creationId xmlns:a16="http://schemas.microsoft.com/office/drawing/2014/main" id="{5C5E383C-A1B7-A0A4-9C2D-840105146C0C}"/>
              </a:ext>
            </a:extLst>
          </p:cNvPr>
          <p:cNvSpPr/>
          <p:nvPr/>
        </p:nvSpPr>
        <p:spPr>
          <a:xfrm>
            <a:off x="9569218" y="3490919"/>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AC3556E-2729-9575-EB28-E38B45E92156}"/>
              </a:ext>
            </a:extLst>
          </p:cNvPr>
          <p:cNvSpPr/>
          <p:nvPr/>
        </p:nvSpPr>
        <p:spPr>
          <a:xfrm>
            <a:off x="9386129" y="4293929"/>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D630AC0-6084-BF38-8337-6B40F0E06722}"/>
              </a:ext>
            </a:extLst>
          </p:cNvPr>
          <p:cNvSpPr/>
          <p:nvPr/>
        </p:nvSpPr>
        <p:spPr>
          <a:xfrm>
            <a:off x="9741729" y="5120421"/>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3388613-C2B2-7C30-599D-E53F8F3439F3}"/>
              </a:ext>
            </a:extLst>
          </p:cNvPr>
          <p:cNvSpPr/>
          <p:nvPr/>
        </p:nvSpPr>
        <p:spPr>
          <a:xfrm>
            <a:off x="10701636" y="397748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299862C-979E-9CAC-35B2-0814E6C3301A}"/>
              </a:ext>
            </a:extLst>
          </p:cNvPr>
          <p:cNvSpPr/>
          <p:nvPr/>
        </p:nvSpPr>
        <p:spPr>
          <a:xfrm>
            <a:off x="10728626" y="5069621"/>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B6F2034-76EF-959A-B805-B0E54A557027}"/>
              </a:ext>
            </a:extLst>
          </p:cNvPr>
          <p:cNvSpPr/>
          <p:nvPr/>
        </p:nvSpPr>
        <p:spPr>
          <a:xfrm>
            <a:off x="8818865" y="2502700"/>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 common latent space</a:t>
            </a:r>
          </a:p>
        </p:txBody>
      </p:sp>
      <p:cxnSp>
        <p:nvCxnSpPr>
          <p:cNvPr id="11" name="Straight Connector 10">
            <a:extLst>
              <a:ext uri="{FF2B5EF4-FFF2-40B4-BE49-F238E27FC236}">
                <a16:creationId xmlns:a16="http://schemas.microsoft.com/office/drawing/2014/main" id="{B765764C-5FB6-B1E3-E313-15EC73A7D099}"/>
              </a:ext>
            </a:extLst>
          </p:cNvPr>
          <p:cNvCxnSpPr>
            <a:cxnSpLocks/>
            <a:endCxn id="6" idx="0"/>
          </p:cNvCxnSpPr>
          <p:nvPr/>
        </p:nvCxnSpPr>
        <p:spPr>
          <a:xfrm flipH="1">
            <a:off x="9472385" y="3668719"/>
            <a:ext cx="166157" cy="6252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09F7E7C-1808-4575-CDFF-21402C0A790B}"/>
              </a:ext>
            </a:extLst>
          </p:cNvPr>
          <p:cNvCxnSpPr>
            <a:cxnSpLocks/>
            <a:stCxn id="5" idx="4"/>
          </p:cNvCxnSpPr>
          <p:nvPr/>
        </p:nvCxnSpPr>
        <p:spPr>
          <a:xfrm>
            <a:off x="9655474" y="3668719"/>
            <a:ext cx="175687" cy="14517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5ED59D-FB22-ECA4-60AD-0E6336A0069F}"/>
              </a:ext>
            </a:extLst>
          </p:cNvPr>
          <p:cNvCxnSpPr>
            <a:cxnSpLocks/>
            <a:endCxn id="8" idx="1"/>
          </p:cNvCxnSpPr>
          <p:nvPr/>
        </p:nvCxnSpPr>
        <p:spPr>
          <a:xfrm>
            <a:off x="9695425" y="3540596"/>
            <a:ext cx="1031475" cy="4629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FD1703-8753-49DA-7D0D-B6D303150608}"/>
              </a:ext>
            </a:extLst>
          </p:cNvPr>
          <p:cNvCxnSpPr>
            <a:cxnSpLocks/>
            <a:stCxn id="8" idx="3"/>
            <a:endCxn id="7" idx="7"/>
          </p:cNvCxnSpPr>
          <p:nvPr/>
        </p:nvCxnSpPr>
        <p:spPr>
          <a:xfrm flipH="1">
            <a:off x="9888976" y="4129249"/>
            <a:ext cx="837924" cy="1017210"/>
          </a:xfrm>
          <a:prstGeom prst="line">
            <a:avLst/>
          </a:prstGeom>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01C8F174-A11D-23A2-40AD-7FD8628F77CF}"/>
              </a:ext>
            </a:extLst>
          </p:cNvPr>
          <p:cNvCxnSpPr>
            <a:cxnSpLocks/>
            <a:stCxn id="5" idx="5"/>
            <a:endCxn id="9" idx="1"/>
          </p:cNvCxnSpPr>
          <p:nvPr/>
        </p:nvCxnSpPr>
        <p:spPr>
          <a:xfrm>
            <a:off x="9716465" y="3642681"/>
            <a:ext cx="1037425" cy="1452978"/>
          </a:xfrm>
          <a:prstGeom prst="line">
            <a:avLst/>
          </a:prstGeom>
        </p:spPr>
        <p:style>
          <a:lnRef idx="1">
            <a:schemeClr val="accent2"/>
          </a:lnRef>
          <a:fillRef idx="0">
            <a:schemeClr val="accent2"/>
          </a:fillRef>
          <a:effectRef idx="0">
            <a:schemeClr val="accent2"/>
          </a:effectRef>
          <a:fontRef idx="minor">
            <a:schemeClr val="tx1"/>
          </a:fontRef>
        </p:style>
      </p:cxnSp>
      <p:sp>
        <p:nvSpPr>
          <p:cNvPr id="15" name="Slide Number Placeholder 14">
            <a:extLst>
              <a:ext uri="{FF2B5EF4-FFF2-40B4-BE49-F238E27FC236}">
                <a16:creationId xmlns:a16="http://schemas.microsoft.com/office/drawing/2014/main" id="{8D781DDA-8697-8A8E-688E-58DA83F2C8A9}"/>
              </a:ext>
            </a:extLst>
          </p:cNvPr>
          <p:cNvSpPr>
            <a:spLocks noGrp="1"/>
          </p:cNvSpPr>
          <p:nvPr>
            <p:ph type="sldNum" sz="quarter" idx="12"/>
          </p:nvPr>
        </p:nvSpPr>
        <p:spPr/>
        <p:txBody>
          <a:bodyPr/>
          <a:lstStyle/>
          <a:p>
            <a:fld id="{7DF2C209-72C5-4BD6-83FD-73557975086B}" type="slidenum">
              <a:rPr lang="en-US" smtClean="0"/>
              <a:t>24</a:t>
            </a:fld>
            <a:endParaRPr lang="en-US"/>
          </a:p>
        </p:txBody>
      </p:sp>
      <p:sp>
        <p:nvSpPr>
          <p:cNvPr id="21" name="Rectangle: Rounded Corners 20">
            <a:extLst>
              <a:ext uri="{FF2B5EF4-FFF2-40B4-BE49-F238E27FC236}">
                <a16:creationId xmlns:a16="http://schemas.microsoft.com/office/drawing/2014/main" id="{BBC55CE8-11A8-A339-9147-48E6C34BC673}"/>
              </a:ext>
            </a:extLst>
          </p:cNvPr>
          <p:cNvSpPr/>
          <p:nvPr/>
        </p:nvSpPr>
        <p:spPr>
          <a:xfrm>
            <a:off x="838200" y="1870470"/>
            <a:ext cx="4044811" cy="47932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Font typeface="Arial" panose="020B0604020202020204" pitchFamily="34" charset="0"/>
              <a:buChar char="•"/>
            </a:pPr>
            <a:r>
              <a:rPr lang="en-US" sz="2400" dirty="0">
                <a:solidFill>
                  <a:schemeClr val="tx1"/>
                </a:solidFill>
              </a:rPr>
              <a:t>Create the wrong edge</a:t>
            </a:r>
          </a:p>
        </p:txBody>
      </p:sp>
      <p:pic>
        <p:nvPicPr>
          <p:cNvPr id="33" name="Picture 32">
            <a:extLst>
              <a:ext uri="{FF2B5EF4-FFF2-40B4-BE49-F238E27FC236}">
                <a16:creationId xmlns:a16="http://schemas.microsoft.com/office/drawing/2014/main" id="{00E2FA45-99F9-6F60-7CD8-12B719C1CEFC}"/>
              </a:ext>
            </a:extLst>
          </p:cNvPr>
          <p:cNvPicPr>
            <a:picLocks noChangeAspect="1"/>
          </p:cNvPicPr>
          <p:nvPr/>
        </p:nvPicPr>
        <p:blipFill>
          <a:blip r:embed="rId3"/>
          <a:stretch>
            <a:fillRect/>
          </a:stretch>
        </p:blipFill>
        <p:spPr>
          <a:xfrm>
            <a:off x="1094620" y="2502700"/>
            <a:ext cx="2764364" cy="1835711"/>
          </a:xfrm>
          <a:prstGeom prst="rect">
            <a:avLst/>
          </a:prstGeom>
        </p:spPr>
      </p:pic>
      <p:sp>
        <p:nvSpPr>
          <p:cNvPr id="38" name="Arrow: Right 37">
            <a:extLst>
              <a:ext uri="{FF2B5EF4-FFF2-40B4-BE49-F238E27FC236}">
                <a16:creationId xmlns:a16="http://schemas.microsoft.com/office/drawing/2014/main" id="{F819A68E-413B-0B4A-7D95-93CC8EEB6CB3}"/>
              </a:ext>
            </a:extLst>
          </p:cNvPr>
          <p:cNvSpPr/>
          <p:nvPr/>
        </p:nvSpPr>
        <p:spPr>
          <a:xfrm>
            <a:off x="4176221" y="3214509"/>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Graphic 38" descr="Robot">
            <a:extLst>
              <a:ext uri="{FF2B5EF4-FFF2-40B4-BE49-F238E27FC236}">
                <a16:creationId xmlns:a16="http://schemas.microsoft.com/office/drawing/2014/main" id="{2C5ECC40-D9BC-94D1-94BB-3F213BF68E0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83011" y="2934862"/>
            <a:ext cx="914400" cy="914400"/>
          </a:xfrm>
          <a:prstGeom prst="rect">
            <a:avLst/>
          </a:prstGeom>
        </p:spPr>
      </p:pic>
      <p:sp>
        <p:nvSpPr>
          <p:cNvPr id="40" name="Speech Bubble: Rectangle 39">
            <a:extLst>
              <a:ext uri="{FF2B5EF4-FFF2-40B4-BE49-F238E27FC236}">
                <a16:creationId xmlns:a16="http://schemas.microsoft.com/office/drawing/2014/main" id="{159DEE8B-7F73-8276-D273-D1E64F6C4035}"/>
              </a:ext>
            </a:extLst>
          </p:cNvPr>
          <p:cNvSpPr/>
          <p:nvPr/>
        </p:nvSpPr>
        <p:spPr>
          <a:xfrm>
            <a:off x="6114648" y="2605755"/>
            <a:ext cx="1606858" cy="723530"/>
          </a:xfrm>
          <a:prstGeom prst="wedgeRectCallout">
            <a:avLst>
              <a:gd name="adj1" fmla="val -63927"/>
              <a:gd name="adj2" fmla="val 5268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Yummy</a:t>
            </a:r>
          </a:p>
        </p:txBody>
      </p:sp>
      <p:pic>
        <p:nvPicPr>
          <p:cNvPr id="41" name="Picture 6" descr="食物腐壞過程縮時攝影》猜猜把食物放到爛掉需要多少天？ | 點我一下">
            <a:extLst>
              <a:ext uri="{FF2B5EF4-FFF2-40B4-BE49-F238E27FC236}">
                <a16:creationId xmlns:a16="http://schemas.microsoft.com/office/drawing/2014/main" id="{C43F7475-32DB-8A41-8FA4-E8ECFCA22C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1637" y="4657164"/>
            <a:ext cx="2892013" cy="1835711"/>
          </a:xfrm>
          <a:prstGeom prst="rect">
            <a:avLst/>
          </a:prstGeom>
          <a:noFill/>
          <a:extLst>
            <a:ext uri="{909E8E84-426E-40DD-AFC4-6F175D3DCCD1}">
              <a14:hiddenFill xmlns:a14="http://schemas.microsoft.com/office/drawing/2010/main">
                <a:solidFill>
                  <a:srgbClr val="FFFFFF"/>
                </a:solidFill>
              </a14:hiddenFill>
            </a:ext>
          </a:extLst>
        </p:spPr>
      </p:pic>
      <p:sp>
        <p:nvSpPr>
          <p:cNvPr id="42" name="Arrow: Right 41">
            <a:extLst>
              <a:ext uri="{FF2B5EF4-FFF2-40B4-BE49-F238E27FC236}">
                <a16:creationId xmlns:a16="http://schemas.microsoft.com/office/drawing/2014/main" id="{DC6A6CE6-682F-1153-0CC4-18E06DCE658F}"/>
              </a:ext>
            </a:extLst>
          </p:cNvPr>
          <p:cNvSpPr/>
          <p:nvPr/>
        </p:nvSpPr>
        <p:spPr>
          <a:xfrm>
            <a:off x="4176221" y="5293158"/>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Graphic 42" descr="Robot">
            <a:extLst>
              <a:ext uri="{FF2B5EF4-FFF2-40B4-BE49-F238E27FC236}">
                <a16:creationId xmlns:a16="http://schemas.microsoft.com/office/drawing/2014/main" id="{20295F71-552C-F6FC-422A-ECD909E054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68771" y="5013511"/>
            <a:ext cx="914400" cy="914400"/>
          </a:xfrm>
          <a:prstGeom prst="rect">
            <a:avLst/>
          </a:prstGeom>
        </p:spPr>
      </p:pic>
      <p:sp>
        <p:nvSpPr>
          <p:cNvPr id="3" name="Rectangle: Rounded Corners 2">
            <a:extLst>
              <a:ext uri="{FF2B5EF4-FFF2-40B4-BE49-F238E27FC236}">
                <a16:creationId xmlns:a16="http://schemas.microsoft.com/office/drawing/2014/main" id="{EF58DEE6-E64E-8C87-7000-7CA7A9F3F228}"/>
              </a:ext>
            </a:extLst>
          </p:cNvPr>
          <p:cNvSpPr/>
          <p:nvPr/>
        </p:nvSpPr>
        <p:spPr>
          <a:xfrm>
            <a:off x="838200" y="6166964"/>
            <a:ext cx="3413690" cy="32591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kern="1200" dirty="0">
                <a:solidFill>
                  <a:srgbClr val="000000"/>
                </a:solidFill>
                <a:effectLst/>
                <a:latin typeface="Calibri Light" panose="020F0302020204030204" pitchFamily="34" charset="0"/>
                <a:ea typeface="+mj-ea"/>
                <a:cs typeface="+mj-cs"/>
              </a:rPr>
              <a:t>rotten food = disgusting</a:t>
            </a:r>
            <a:endParaRPr lang="en-US" dirty="0">
              <a:solidFill>
                <a:schemeClr val="tx1"/>
              </a:solidFill>
            </a:endParaRPr>
          </a:p>
        </p:txBody>
      </p:sp>
      <p:sp>
        <p:nvSpPr>
          <p:cNvPr id="16" name="Speech Bubble: Rectangle 15">
            <a:extLst>
              <a:ext uri="{FF2B5EF4-FFF2-40B4-BE49-F238E27FC236}">
                <a16:creationId xmlns:a16="http://schemas.microsoft.com/office/drawing/2014/main" id="{473DD340-6C1E-1C04-A36C-F2D71D711E6A}"/>
              </a:ext>
            </a:extLst>
          </p:cNvPr>
          <p:cNvSpPr/>
          <p:nvPr/>
        </p:nvSpPr>
        <p:spPr>
          <a:xfrm>
            <a:off x="6114648" y="4784694"/>
            <a:ext cx="1606858" cy="723530"/>
          </a:xfrm>
          <a:prstGeom prst="wedgeRectCallout">
            <a:avLst>
              <a:gd name="adj1" fmla="val -63927"/>
              <a:gd name="adj2" fmla="val 5268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Disgusting</a:t>
            </a:r>
          </a:p>
        </p:txBody>
      </p:sp>
      <p:sp>
        <p:nvSpPr>
          <p:cNvPr id="18" name="Cross 17">
            <a:extLst>
              <a:ext uri="{FF2B5EF4-FFF2-40B4-BE49-F238E27FC236}">
                <a16:creationId xmlns:a16="http://schemas.microsoft.com/office/drawing/2014/main" id="{8A2B7B49-9CA1-6F9D-CF70-03C5C113529E}"/>
              </a:ext>
            </a:extLst>
          </p:cNvPr>
          <p:cNvSpPr/>
          <p:nvPr/>
        </p:nvSpPr>
        <p:spPr>
          <a:xfrm rot="2684369">
            <a:off x="9896490" y="3952316"/>
            <a:ext cx="393657" cy="405941"/>
          </a:xfrm>
          <a:prstGeom prst="plus">
            <a:avLst>
              <a:gd name="adj" fmla="val 45365"/>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ross 18">
            <a:extLst>
              <a:ext uri="{FF2B5EF4-FFF2-40B4-BE49-F238E27FC236}">
                <a16:creationId xmlns:a16="http://schemas.microsoft.com/office/drawing/2014/main" id="{42ECE481-C75D-4BBD-A02F-2E7AB651E938}"/>
              </a:ext>
            </a:extLst>
          </p:cNvPr>
          <p:cNvSpPr/>
          <p:nvPr/>
        </p:nvSpPr>
        <p:spPr>
          <a:xfrm rot="4063765">
            <a:off x="9950899" y="4607583"/>
            <a:ext cx="393657" cy="405941"/>
          </a:xfrm>
          <a:prstGeom prst="plus">
            <a:avLst>
              <a:gd name="adj" fmla="val 45365"/>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D41E7B1-F5AB-AB0D-D176-396E9121A51D}"/>
              </a:ext>
            </a:extLst>
          </p:cNvPr>
          <p:cNvSpPr txBox="1"/>
          <p:nvPr/>
        </p:nvSpPr>
        <p:spPr>
          <a:xfrm>
            <a:off x="61888" y="6617863"/>
            <a:ext cx="12068224" cy="261610"/>
          </a:xfrm>
          <a:prstGeom prst="rect">
            <a:avLst/>
          </a:prstGeom>
          <a:noFill/>
        </p:spPr>
        <p:txBody>
          <a:bodyPr wrap="square">
            <a:spAutoFit/>
          </a:bodyPr>
          <a:lstStyle/>
          <a:p>
            <a:r>
              <a:rPr lang="en-US" sz="1100" dirty="0"/>
              <a:t>https://www.liyofu.com.tw/blog/%E7%82%BA%E4%BB%80%E9%BA%BC%E4%BD%A0%E8%A9%B2%E5%A4%9A%E5%90%83%E9%A3%9F%E7%89%A9%E5%B0%91%E5%90%83%E9%A3%9F%E5%93%81</a:t>
            </a:r>
          </a:p>
        </p:txBody>
      </p:sp>
    </p:spTree>
    <p:extLst>
      <p:ext uri="{BB962C8B-B14F-4D97-AF65-F5344CB8AC3E}">
        <p14:creationId xmlns:p14="http://schemas.microsoft.com/office/powerpoint/2010/main" val="2340955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fade">
                                      <p:cBhvr>
                                        <p:cTn id="13" dur="500"/>
                                        <p:tgtEl>
                                          <p:spTgt spid="42"/>
                                        </p:tgtEl>
                                      </p:cBhvr>
                                    </p:animEffect>
                                  </p:childTnLst>
                                </p:cTn>
                              </p:par>
                              <p:par>
                                <p:cTn id="14" presetID="10" presetClass="entr" presetSubtype="0" fill="hold"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500"/>
                                        <p:tgtEl>
                                          <p:spTgt spid="4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3" grpId="0" animBg="1"/>
      <p:bldP spid="16" grpId="0" animBg="1"/>
      <p:bldP spid="18" grpId="0" animBg="1"/>
      <p:bldP spid="1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4141803" y="2152650"/>
            <a:ext cx="3249597" cy="1671311"/>
          </a:xfrm>
        </p:spPr>
        <p:txBody>
          <a:bodyPr>
            <a:normAutofit fontScale="90000"/>
          </a:bodyPr>
          <a:lstStyle/>
          <a:p>
            <a:r>
              <a:rPr lang="en-US" sz="6000" dirty="0"/>
              <a:t>Evaluation</a:t>
            </a:r>
          </a:p>
        </p:txBody>
      </p:sp>
      <p:sp>
        <p:nvSpPr>
          <p:cNvPr id="5" name="Title 1">
            <a:extLst>
              <a:ext uri="{FF2B5EF4-FFF2-40B4-BE49-F238E27FC236}">
                <a16:creationId xmlns:a16="http://schemas.microsoft.com/office/drawing/2014/main" id="{3E5C6F5E-2E2E-CBE4-DD15-988B610D2E79}"/>
              </a:ext>
            </a:extLst>
          </p:cNvPr>
          <p:cNvSpPr txBox="1">
            <a:spLocks/>
          </p:cNvSpPr>
          <p:nvPr/>
        </p:nvSpPr>
        <p:spPr>
          <a:xfrm>
            <a:off x="4141803" y="3429000"/>
            <a:ext cx="2868730" cy="585215"/>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altLang="zh-TW" sz="3200" dirty="0"/>
              <a:t>Model Training</a:t>
            </a:r>
            <a:endParaRPr lang="en-US" sz="3200" dirty="0"/>
          </a:p>
        </p:txBody>
      </p:sp>
      <p:sp>
        <p:nvSpPr>
          <p:cNvPr id="3" name="Slide Number Placeholder 2">
            <a:extLst>
              <a:ext uri="{FF2B5EF4-FFF2-40B4-BE49-F238E27FC236}">
                <a16:creationId xmlns:a16="http://schemas.microsoft.com/office/drawing/2014/main" id="{CEAA0549-DFE2-9B92-A350-A5405DB464D6}"/>
              </a:ext>
            </a:extLst>
          </p:cNvPr>
          <p:cNvSpPr>
            <a:spLocks noGrp="1"/>
          </p:cNvSpPr>
          <p:nvPr>
            <p:ph type="sldNum" sz="quarter" idx="12"/>
          </p:nvPr>
        </p:nvSpPr>
        <p:spPr/>
        <p:txBody>
          <a:bodyPr/>
          <a:lstStyle/>
          <a:p>
            <a:fld id="{7DF2C209-72C5-4BD6-83FD-73557975086B}" type="slidenum">
              <a:rPr lang="en-US" smtClean="0"/>
              <a:t>25</a:t>
            </a:fld>
            <a:endParaRPr lang="en-US"/>
          </a:p>
        </p:txBody>
      </p:sp>
    </p:spTree>
    <p:extLst>
      <p:ext uri="{BB962C8B-B14F-4D97-AF65-F5344CB8AC3E}">
        <p14:creationId xmlns:p14="http://schemas.microsoft.com/office/powerpoint/2010/main" val="31872548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7ABA25B-C67B-8B09-E984-21E17C3BE44A}"/>
              </a:ext>
            </a:extLst>
          </p:cNvPr>
          <p:cNvSpPr/>
          <p:nvPr/>
        </p:nvSpPr>
        <p:spPr>
          <a:xfrm>
            <a:off x="645195" y="3529966"/>
            <a:ext cx="7569728" cy="259689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nSpc>
                <a:spcPct val="150000"/>
              </a:lnSpc>
              <a:buAutoNum type="arabicPeriod"/>
            </a:pPr>
            <a:r>
              <a:rPr lang="en-US" sz="2400" dirty="0" err="1">
                <a:solidFill>
                  <a:srgbClr val="FF0000"/>
                </a:solidFill>
              </a:rPr>
              <a:t>MRR</a:t>
            </a:r>
            <a:r>
              <a:rPr lang="en-US" sz="2400" b="0" i="0" dirty="0" err="1">
                <a:solidFill>
                  <a:srgbClr val="FF0000"/>
                </a:solidFill>
                <a:effectLst/>
                <a:latin typeface="Söhne"/>
              </a:rPr>
              <a:t>（Mean</a:t>
            </a:r>
            <a:r>
              <a:rPr lang="en-US" sz="2400" b="0" i="0" dirty="0">
                <a:solidFill>
                  <a:srgbClr val="FF0000"/>
                </a:solidFill>
                <a:effectLst/>
                <a:latin typeface="Söhne"/>
              </a:rPr>
              <a:t> Reciprocal Rank）</a:t>
            </a:r>
            <a:endParaRPr lang="en-US" sz="2400" dirty="0">
              <a:solidFill>
                <a:srgbClr val="FF0000"/>
              </a:solidFill>
            </a:endParaRPr>
          </a:p>
          <a:p>
            <a:pPr marL="457200" indent="-457200">
              <a:lnSpc>
                <a:spcPct val="150000"/>
              </a:lnSpc>
              <a:buAutoNum type="arabicPeriod"/>
            </a:pPr>
            <a:r>
              <a:rPr lang="en-US" sz="2400" dirty="0">
                <a:solidFill>
                  <a:schemeClr val="tx1"/>
                </a:solidFill>
              </a:rPr>
              <a:t>R1: the frequency of the correct answer is ranked </a:t>
            </a:r>
            <a:r>
              <a:rPr lang="en-US" sz="2400" dirty="0">
                <a:solidFill>
                  <a:srgbClr val="FF0000"/>
                </a:solidFill>
              </a:rPr>
              <a:t>first</a:t>
            </a:r>
          </a:p>
          <a:p>
            <a:pPr marL="457200" indent="-457200">
              <a:lnSpc>
                <a:spcPct val="150000"/>
              </a:lnSpc>
              <a:buAutoNum type="arabicPeriod"/>
            </a:pPr>
            <a:r>
              <a:rPr lang="en-US" sz="2400" dirty="0">
                <a:solidFill>
                  <a:schemeClr val="tx1"/>
                </a:solidFill>
              </a:rPr>
              <a:t>R10: same above, but range is wider to </a:t>
            </a:r>
            <a:r>
              <a:rPr lang="en-US" sz="2400" dirty="0">
                <a:solidFill>
                  <a:srgbClr val="FF0000"/>
                </a:solidFill>
              </a:rPr>
              <a:t>10%</a:t>
            </a:r>
          </a:p>
          <a:p>
            <a:pPr marL="457200" indent="-457200">
              <a:lnSpc>
                <a:spcPct val="150000"/>
              </a:lnSpc>
              <a:buAutoNum type="arabicPeriod"/>
            </a:pPr>
            <a:r>
              <a:rPr lang="en-US" sz="2400" dirty="0">
                <a:solidFill>
                  <a:schemeClr val="tx1"/>
                </a:solidFill>
              </a:rPr>
              <a:t>R50: same above, but range is wider to </a:t>
            </a:r>
            <a:r>
              <a:rPr lang="en-US" sz="2400" dirty="0">
                <a:solidFill>
                  <a:srgbClr val="FF0000"/>
                </a:solidFill>
              </a:rPr>
              <a:t>50%</a:t>
            </a:r>
          </a:p>
          <a:p>
            <a:pPr marL="457200" indent="-457200">
              <a:lnSpc>
                <a:spcPct val="150000"/>
              </a:lnSpc>
              <a:buAutoNum type="arabicPeriod"/>
            </a:pPr>
            <a:r>
              <a:rPr lang="en-US" sz="2400" dirty="0" err="1">
                <a:solidFill>
                  <a:schemeClr val="tx1"/>
                </a:solidFill>
              </a:rPr>
              <a:t>AUC（Area</a:t>
            </a:r>
            <a:r>
              <a:rPr lang="en-US" sz="2400" dirty="0">
                <a:solidFill>
                  <a:schemeClr val="tx1"/>
                </a:solidFill>
              </a:rPr>
              <a:t> Under the Curve）</a:t>
            </a:r>
          </a:p>
        </p:txBody>
      </p:sp>
      <p:sp>
        <p:nvSpPr>
          <p:cNvPr id="6" name="Title 1">
            <a:extLst>
              <a:ext uri="{FF2B5EF4-FFF2-40B4-BE49-F238E27FC236}">
                <a16:creationId xmlns:a16="http://schemas.microsoft.com/office/drawing/2014/main" id="{66950F30-FE79-40BB-964E-60EE94B796E2}"/>
              </a:ext>
            </a:extLst>
          </p:cNvPr>
          <p:cNvSpPr>
            <a:spLocks noGrp="1"/>
          </p:cNvSpPr>
          <p:nvPr>
            <p:ph type="title"/>
          </p:nvPr>
        </p:nvSpPr>
        <p:spPr>
          <a:xfrm>
            <a:off x="838200" y="365125"/>
            <a:ext cx="10515600" cy="1325563"/>
          </a:xfrm>
        </p:spPr>
        <p:txBody>
          <a:bodyPr/>
          <a:lstStyle/>
          <a:p>
            <a:r>
              <a:rPr lang="en-US" altLang="zh-TW" sz="4400" dirty="0">
                <a:solidFill>
                  <a:schemeClr val="tx1"/>
                </a:solidFill>
              </a:rPr>
              <a:t>Can our model predict precisely?</a:t>
            </a:r>
            <a:endParaRPr lang="en-US" sz="4400" dirty="0">
              <a:solidFill>
                <a:schemeClr val="tx1"/>
              </a:solidFill>
            </a:endParaRPr>
          </a:p>
        </p:txBody>
      </p:sp>
      <p:sp>
        <p:nvSpPr>
          <p:cNvPr id="7" name="Rectangle: Rounded Corners 6">
            <a:extLst>
              <a:ext uri="{FF2B5EF4-FFF2-40B4-BE49-F238E27FC236}">
                <a16:creationId xmlns:a16="http://schemas.microsoft.com/office/drawing/2014/main" id="{9E6FEEBD-59E9-3DE0-50C3-55B63393F016}"/>
              </a:ext>
            </a:extLst>
          </p:cNvPr>
          <p:cNvSpPr/>
          <p:nvPr/>
        </p:nvSpPr>
        <p:spPr>
          <a:xfrm>
            <a:off x="838200" y="1673352"/>
            <a:ext cx="4140575" cy="877824"/>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In this case….</a:t>
            </a:r>
          </a:p>
        </p:txBody>
      </p:sp>
      <p:sp>
        <p:nvSpPr>
          <p:cNvPr id="9" name="TextBox 8">
            <a:extLst>
              <a:ext uri="{FF2B5EF4-FFF2-40B4-BE49-F238E27FC236}">
                <a16:creationId xmlns:a16="http://schemas.microsoft.com/office/drawing/2014/main" id="{12A2F6D0-9E38-CAD0-3A04-8B9ED9AA39A6}"/>
              </a:ext>
            </a:extLst>
          </p:cNvPr>
          <p:cNvSpPr txBox="1"/>
          <p:nvPr/>
        </p:nvSpPr>
        <p:spPr>
          <a:xfrm>
            <a:off x="838200" y="2677406"/>
            <a:ext cx="5257800" cy="461665"/>
          </a:xfrm>
          <a:prstGeom prst="rect">
            <a:avLst/>
          </a:prstGeom>
          <a:noFill/>
        </p:spPr>
        <p:txBody>
          <a:bodyPr wrap="square">
            <a:spAutoFit/>
          </a:bodyPr>
          <a:lstStyle/>
          <a:p>
            <a:r>
              <a:rPr lang="en-US" sz="2400" dirty="0">
                <a:solidFill>
                  <a:srgbClr val="0070C0"/>
                </a:solidFill>
              </a:rPr>
              <a:t>The connection of the edges and nodes</a:t>
            </a:r>
          </a:p>
        </p:txBody>
      </p:sp>
      <p:sp>
        <p:nvSpPr>
          <p:cNvPr id="10" name="Rectangle 9">
            <a:extLst>
              <a:ext uri="{FF2B5EF4-FFF2-40B4-BE49-F238E27FC236}">
                <a16:creationId xmlns:a16="http://schemas.microsoft.com/office/drawing/2014/main" id="{EC162B32-C0FE-19F9-CFFB-991120371F0D}"/>
              </a:ext>
            </a:extLst>
          </p:cNvPr>
          <p:cNvSpPr/>
          <p:nvPr/>
        </p:nvSpPr>
        <p:spPr>
          <a:xfrm>
            <a:off x="8497360" y="3179763"/>
            <a:ext cx="2856440" cy="299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1" name="Oval 10">
            <a:extLst>
              <a:ext uri="{FF2B5EF4-FFF2-40B4-BE49-F238E27FC236}">
                <a16:creationId xmlns:a16="http://schemas.microsoft.com/office/drawing/2014/main" id="{BE401656-57A8-CCE5-885E-8FB3BAD29D96}"/>
              </a:ext>
            </a:extLst>
          </p:cNvPr>
          <p:cNvSpPr/>
          <p:nvPr/>
        </p:nvSpPr>
        <p:spPr>
          <a:xfrm>
            <a:off x="9293751" y="376052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16C4682-432A-0F36-CE18-01759334EBD9}"/>
              </a:ext>
            </a:extLst>
          </p:cNvPr>
          <p:cNvSpPr/>
          <p:nvPr/>
        </p:nvSpPr>
        <p:spPr>
          <a:xfrm>
            <a:off x="9110662" y="456353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9F70A71-2A21-285A-F1D5-F27D73685AD3}"/>
              </a:ext>
            </a:extLst>
          </p:cNvPr>
          <p:cNvSpPr/>
          <p:nvPr/>
        </p:nvSpPr>
        <p:spPr>
          <a:xfrm>
            <a:off x="9466262" y="53900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74BDACA-9BA2-7675-21CD-02B7E4A181AA}"/>
              </a:ext>
            </a:extLst>
          </p:cNvPr>
          <p:cNvSpPr/>
          <p:nvPr/>
        </p:nvSpPr>
        <p:spPr>
          <a:xfrm>
            <a:off x="10426169" y="4247093"/>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F73DFEE8-5C7C-8A99-7AD5-F592A75CCD46}"/>
              </a:ext>
            </a:extLst>
          </p:cNvPr>
          <p:cNvSpPr/>
          <p:nvPr/>
        </p:nvSpPr>
        <p:spPr>
          <a:xfrm>
            <a:off x="10453159" y="53392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A5543910-F86C-AB67-2697-1DEDAAA88338}"/>
              </a:ext>
            </a:extLst>
          </p:cNvPr>
          <p:cNvSpPr/>
          <p:nvPr/>
        </p:nvSpPr>
        <p:spPr>
          <a:xfrm>
            <a:off x="8543398" y="2772306"/>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 common latent space</a:t>
            </a:r>
          </a:p>
        </p:txBody>
      </p:sp>
      <p:cxnSp>
        <p:nvCxnSpPr>
          <p:cNvPr id="17" name="Straight Connector 16">
            <a:extLst>
              <a:ext uri="{FF2B5EF4-FFF2-40B4-BE49-F238E27FC236}">
                <a16:creationId xmlns:a16="http://schemas.microsoft.com/office/drawing/2014/main" id="{F62AC340-96B1-3095-BBEC-F0E6DFEECBDD}"/>
              </a:ext>
            </a:extLst>
          </p:cNvPr>
          <p:cNvCxnSpPr>
            <a:cxnSpLocks/>
            <a:endCxn id="12" idx="0"/>
          </p:cNvCxnSpPr>
          <p:nvPr/>
        </p:nvCxnSpPr>
        <p:spPr>
          <a:xfrm flipH="1">
            <a:off x="9196918" y="3938325"/>
            <a:ext cx="166157" cy="6252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69CDBA6-5D79-D3FB-C16C-3782AF09B175}"/>
              </a:ext>
            </a:extLst>
          </p:cNvPr>
          <p:cNvCxnSpPr>
            <a:cxnSpLocks/>
            <a:stCxn id="11" idx="4"/>
          </p:cNvCxnSpPr>
          <p:nvPr/>
        </p:nvCxnSpPr>
        <p:spPr>
          <a:xfrm>
            <a:off x="9380007" y="3938325"/>
            <a:ext cx="175687" cy="14517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56FF5FE-5B7C-BF79-051D-79B8F48AFAB4}"/>
              </a:ext>
            </a:extLst>
          </p:cNvPr>
          <p:cNvCxnSpPr>
            <a:cxnSpLocks/>
            <a:endCxn id="14" idx="1"/>
          </p:cNvCxnSpPr>
          <p:nvPr/>
        </p:nvCxnSpPr>
        <p:spPr>
          <a:xfrm>
            <a:off x="9419958" y="3810202"/>
            <a:ext cx="1031475" cy="462929"/>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FC710FD-7C09-A652-BA7F-E3A21120CC0A}"/>
              </a:ext>
            </a:extLst>
          </p:cNvPr>
          <p:cNvCxnSpPr>
            <a:cxnSpLocks/>
            <a:stCxn id="14" idx="3"/>
            <a:endCxn id="13" idx="7"/>
          </p:cNvCxnSpPr>
          <p:nvPr/>
        </p:nvCxnSpPr>
        <p:spPr>
          <a:xfrm flipH="1">
            <a:off x="9613509" y="4398855"/>
            <a:ext cx="837924" cy="1017210"/>
          </a:xfrm>
          <a:prstGeom prst="line">
            <a:avLst/>
          </a:prstGeom>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9C1E58CD-F0BB-F2FF-085D-9B83C5974A79}"/>
              </a:ext>
            </a:extLst>
          </p:cNvPr>
          <p:cNvCxnSpPr>
            <a:cxnSpLocks/>
            <a:stCxn id="11" idx="5"/>
            <a:endCxn id="15" idx="1"/>
          </p:cNvCxnSpPr>
          <p:nvPr/>
        </p:nvCxnSpPr>
        <p:spPr>
          <a:xfrm>
            <a:off x="9440998" y="3912287"/>
            <a:ext cx="1037425" cy="1452978"/>
          </a:xfrm>
          <a:prstGeom prst="line">
            <a:avLst/>
          </a:prstGeom>
        </p:spPr>
        <p:style>
          <a:lnRef idx="1">
            <a:schemeClr val="accent2"/>
          </a:lnRef>
          <a:fillRef idx="0">
            <a:schemeClr val="accent2"/>
          </a:fillRef>
          <a:effectRef idx="0">
            <a:schemeClr val="accent2"/>
          </a:effectRef>
          <a:fontRef idx="minor">
            <a:schemeClr val="tx1"/>
          </a:fontRef>
        </p:style>
      </p:cxnSp>
      <p:sp>
        <p:nvSpPr>
          <p:cNvPr id="2" name="Slide Number Placeholder 1">
            <a:extLst>
              <a:ext uri="{FF2B5EF4-FFF2-40B4-BE49-F238E27FC236}">
                <a16:creationId xmlns:a16="http://schemas.microsoft.com/office/drawing/2014/main" id="{97AE74F2-C9E8-41F1-7DE1-3127FD00F133}"/>
              </a:ext>
            </a:extLst>
          </p:cNvPr>
          <p:cNvSpPr>
            <a:spLocks noGrp="1"/>
          </p:cNvSpPr>
          <p:nvPr>
            <p:ph type="sldNum" sz="quarter" idx="12"/>
          </p:nvPr>
        </p:nvSpPr>
        <p:spPr/>
        <p:txBody>
          <a:bodyPr/>
          <a:lstStyle/>
          <a:p>
            <a:fld id="{7DF2C209-72C5-4BD6-83FD-73557975086B}" type="slidenum">
              <a:rPr lang="en-US" smtClean="0"/>
              <a:t>26</a:t>
            </a:fld>
            <a:endParaRPr lang="en-US"/>
          </a:p>
        </p:txBody>
      </p:sp>
    </p:spTree>
    <p:extLst>
      <p:ext uri="{BB962C8B-B14F-4D97-AF65-F5344CB8AC3E}">
        <p14:creationId xmlns:p14="http://schemas.microsoft.com/office/powerpoint/2010/main" val="29896533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C0BACD3-8432-99A1-9082-98D04988D43B}"/>
              </a:ext>
            </a:extLst>
          </p:cNvPr>
          <p:cNvSpPr/>
          <p:nvPr/>
        </p:nvSpPr>
        <p:spPr>
          <a:xfrm>
            <a:off x="0" y="0"/>
            <a:ext cx="12192000"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3981763" y="2362511"/>
            <a:ext cx="4228474" cy="1671311"/>
          </a:xfrm>
        </p:spPr>
        <p:txBody>
          <a:bodyPr>
            <a:normAutofit/>
          </a:bodyPr>
          <a:lstStyle/>
          <a:p>
            <a:pPr algn="ctr"/>
            <a:r>
              <a:rPr lang="en-US" sz="6000" dirty="0"/>
              <a:t>Results</a:t>
            </a:r>
          </a:p>
        </p:txBody>
      </p:sp>
      <p:sp>
        <p:nvSpPr>
          <p:cNvPr id="3" name="Slide Number Placeholder 2">
            <a:extLst>
              <a:ext uri="{FF2B5EF4-FFF2-40B4-BE49-F238E27FC236}">
                <a16:creationId xmlns:a16="http://schemas.microsoft.com/office/drawing/2014/main" id="{AE8C8704-AC52-46C0-17FB-BCCED6E96405}"/>
              </a:ext>
            </a:extLst>
          </p:cNvPr>
          <p:cNvSpPr>
            <a:spLocks noGrp="1"/>
          </p:cNvSpPr>
          <p:nvPr>
            <p:ph type="sldNum" sz="quarter" idx="12"/>
          </p:nvPr>
        </p:nvSpPr>
        <p:spPr/>
        <p:txBody>
          <a:bodyPr/>
          <a:lstStyle/>
          <a:p>
            <a:fld id="{7DF2C209-72C5-4BD6-83FD-73557975086B}" type="slidenum">
              <a:rPr lang="en-US" smtClean="0"/>
              <a:t>27</a:t>
            </a:fld>
            <a:endParaRPr lang="en-US"/>
          </a:p>
        </p:txBody>
      </p:sp>
      <p:sp>
        <p:nvSpPr>
          <p:cNvPr id="5" name="TextBox 4">
            <a:extLst>
              <a:ext uri="{FF2B5EF4-FFF2-40B4-BE49-F238E27FC236}">
                <a16:creationId xmlns:a16="http://schemas.microsoft.com/office/drawing/2014/main" id="{39BB835A-BAA3-30D5-FFA2-32D5B6AA1A51}"/>
              </a:ext>
            </a:extLst>
          </p:cNvPr>
          <p:cNvSpPr txBox="1"/>
          <p:nvPr/>
        </p:nvSpPr>
        <p:spPr>
          <a:xfrm>
            <a:off x="3981763" y="3802989"/>
            <a:ext cx="4402039" cy="461665"/>
          </a:xfrm>
          <a:prstGeom prst="rect">
            <a:avLst/>
          </a:prstGeom>
          <a:noFill/>
        </p:spPr>
        <p:txBody>
          <a:bodyPr wrap="none" rtlCol="0">
            <a:spAutoFit/>
          </a:bodyPr>
          <a:lstStyle/>
          <a:p>
            <a:r>
              <a:rPr lang="en-US" sz="2400" dirty="0"/>
              <a:t>Does SIMBA </a:t>
            </a:r>
            <a:r>
              <a:rPr lang="en-US" sz="2400" dirty="0">
                <a:solidFill>
                  <a:srgbClr val="FF0000"/>
                </a:solidFill>
              </a:rPr>
              <a:t>good enough </a:t>
            </a:r>
            <a:r>
              <a:rPr lang="en-US" sz="2400" dirty="0"/>
              <a:t>to use?</a:t>
            </a:r>
          </a:p>
        </p:txBody>
      </p:sp>
    </p:spTree>
    <p:extLst>
      <p:ext uri="{BB962C8B-B14F-4D97-AF65-F5344CB8AC3E}">
        <p14:creationId xmlns:p14="http://schemas.microsoft.com/office/powerpoint/2010/main" val="47228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0" y="0"/>
            <a:ext cx="2718061"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159425" y="2527300"/>
            <a:ext cx="2764364" cy="180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Single-cell </a:t>
            </a:r>
          </a:p>
          <a:p>
            <a:pPr algn="ctr"/>
            <a:r>
              <a:rPr lang="en-US" sz="2800" dirty="0">
                <a:solidFill>
                  <a:schemeClr val="tx1"/>
                </a:solidFill>
              </a:rPr>
              <a:t>RNA-seq </a:t>
            </a:r>
          </a:p>
          <a:p>
            <a:pPr algn="ctr"/>
            <a:r>
              <a:rPr lang="en-US" sz="2800" dirty="0">
                <a:solidFill>
                  <a:schemeClr val="tx1"/>
                </a:solidFill>
              </a:rPr>
              <a:t>analysis</a:t>
            </a:r>
          </a:p>
        </p:txBody>
      </p:sp>
      <p:sp>
        <p:nvSpPr>
          <p:cNvPr id="4" name="Rectangle 3">
            <a:extLst>
              <a:ext uri="{FF2B5EF4-FFF2-40B4-BE49-F238E27FC236}">
                <a16:creationId xmlns:a16="http://schemas.microsoft.com/office/drawing/2014/main" id="{AB50607C-D90C-8385-7F82-47608504619B}"/>
              </a:ext>
            </a:extLst>
          </p:cNvPr>
          <p:cNvSpPr/>
          <p:nvPr/>
        </p:nvSpPr>
        <p:spPr>
          <a:xfrm>
            <a:off x="76461" y="6445742"/>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10x Genomics PBMCs</a:t>
            </a:r>
          </a:p>
        </p:txBody>
      </p:sp>
      <p:pic>
        <p:nvPicPr>
          <p:cNvPr id="10" name="Picture 9">
            <a:extLst>
              <a:ext uri="{FF2B5EF4-FFF2-40B4-BE49-F238E27FC236}">
                <a16:creationId xmlns:a16="http://schemas.microsoft.com/office/drawing/2014/main" id="{673885F3-3B48-5FD6-AFA6-17E3153C2BA7}"/>
              </a:ext>
            </a:extLst>
          </p:cNvPr>
          <p:cNvPicPr>
            <a:picLocks noChangeAspect="1"/>
          </p:cNvPicPr>
          <p:nvPr/>
        </p:nvPicPr>
        <p:blipFill rotWithShape="1">
          <a:blip r:embed="rId3"/>
          <a:srcRect t="24058"/>
          <a:stretch/>
        </p:blipFill>
        <p:spPr>
          <a:xfrm>
            <a:off x="2843616" y="204241"/>
            <a:ext cx="9271923" cy="6537834"/>
          </a:xfrm>
          <a:prstGeom prst="rect">
            <a:avLst/>
          </a:prstGeom>
        </p:spPr>
      </p:pic>
      <p:sp>
        <p:nvSpPr>
          <p:cNvPr id="2" name="Slide Number Placeholder 1">
            <a:extLst>
              <a:ext uri="{FF2B5EF4-FFF2-40B4-BE49-F238E27FC236}">
                <a16:creationId xmlns:a16="http://schemas.microsoft.com/office/drawing/2014/main" id="{F97F1DCC-1919-3CBC-AA0E-81A7A4BD8BD9}"/>
              </a:ext>
            </a:extLst>
          </p:cNvPr>
          <p:cNvSpPr>
            <a:spLocks noGrp="1"/>
          </p:cNvSpPr>
          <p:nvPr>
            <p:ph type="sldNum" sz="quarter" idx="12"/>
          </p:nvPr>
        </p:nvSpPr>
        <p:spPr/>
        <p:txBody>
          <a:bodyPr/>
          <a:lstStyle/>
          <a:p>
            <a:fld id="{7DF2C209-72C5-4BD6-83FD-73557975086B}" type="slidenum">
              <a:rPr lang="en-US" smtClean="0"/>
              <a:t>28</a:t>
            </a:fld>
            <a:endParaRPr lang="en-US"/>
          </a:p>
        </p:txBody>
      </p:sp>
    </p:spTree>
    <p:extLst>
      <p:ext uri="{BB962C8B-B14F-4D97-AF65-F5344CB8AC3E}">
        <p14:creationId xmlns:p14="http://schemas.microsoft.com/office/powerpoint/2010/main" val="13025119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1" y="0"/>
            <a:ext cx="2236303"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334664" y="2317750"/>
            <a:ext cx="1566976" cy="180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Single-cell ATAC-seq analysis</a:t>
            </a:r>
          </a:p>
        </p:txBody>
      </p:sp>
      <p:sp>
        <p:nvSpPr>
          <p:cNvPr id="4" name="Rectangle 3">
            <a:extLst>
              <a:ext uri="{FF2B5EF4-FFF2-40B4-BE49-F238E27FC236}">
                <a16:creationId xmlns:a16="http://schemas.microsoft.com/office/drawing/2014/main" id="{0A5BC295-0C03-7A0F-6AA1-1913CA668CA6}"/>
              </a:ext>
            </a:extLst>
          </p:cNvPr>
          <p:cNvSpPr/>
          <p:nvPr/>
        </p:nvSpPr>
        <p:spPr>
          <a:xfrm>
            <a:off x="-202648" y="6359001"/>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a:t>
            </a:r>
          </a:p>
          <a:p>
            <a:pPr algn="ctr"/>
            <a:r>
              <a:rPr lang="en-US" sz="1400" dirty="0">
                <a:solidFill>
                  <a:schemeClr val="tx1"/>
                </a:solidFill>
              </a:rPr>
              <a:t>human hematopoiesis</a:t>
            </a:r>
          </a:p>
        </p:txBody>
      </p:sp>
      <p:pic>
        <p:nvPicPr>
          <p:cNvPr id="2" name="Picture 1">
            <a:extLst>
              <a:ext uri="{FF2B5EF4-FFF2-40B4-BE49-F238E27FC236}">
                <a16:creationId xmlns:a16="http://schemas.microsoft.com/office/drawing/2014/main" id="{EBEA3510-1569-4598-F9FF-A2FB6C08BB5C}"/>
              </a:ext>
            </a:extLst>
          </p:cNvPr>
          <p:cNvPicPr>
            <a:picLocks noChangeAspect="1"/>
          </p:cNvPicPr>
          <p:nvPr/>
        </p:nvPicPr>
        <p:blipFill rotWithShape="1">
          <a:blip r:embed="rId3"/>
          <a:srcRect t="22894"/>
          <a:stretch/>
        </p:blipFill>
        <p:spPr>
          <a:xfrm>
            <a:off x="2470052" y="61383"/>
            <a:ext cx="9662681" cy="6735233"/>
          </a:xfrm>
          <a:prstGeom prst="rect">
            <a:avLst/>
          </a:prstGeom>
        </p:spPr>
      </p:pic>
      <p:sp>
        <p:nvSpPr>
          <p:cNvPr id="3" name="Slide Number Placeholder 2">
            <a:extLst>
              <a:ext uri="{FF2B5EF4-FFF2-40B4-BE49-F238E27FC236}">
                <a16:creationId xmlns:a16="http://schemas.microsoft.com/office/drawing/2014/main" id="{D8943E7D-CDC2-D30B-3BB0-82352C2EE766}"/>
              </a:ext>
            </a:extLst>
          </p:cNvPr>
          <p:cNvSpPr>
            <a:spLocks noGrp="1"/>
          </p:cNvSpPr>
          <p:nvPr>
            <p:ph type="sldNum" sz="quarter" idx="12"/>
          </p:nvPr>
        </p:nvSpPr>
        <p:spPr/>
        <p:txBody>
          <a:bodyPr/>
          <a:lstStyle/>
          <a:p>
            <a:fld id="{7DF2C209-72C5-4BD6-83FD-73557975086B}" type="slidenum">
              <a:rPr lang="en-US" smtClean="0"/>
              <a:t>29</a:t>
            </a:fld>
            <a:endParaRPr lang="en-US"/>
          </a:p>
        </p:txBody>
      </p:sp>
    </p:spTree>
    <p:extLst>
      <p:ext uri="{BB962C8B-B14F-4D97-AF65-F5344CB8AC3E}">
        <p14:creationId xmlns:p14="http://schemas.microsoft.com/office/powerpoint/2010/main" val="41559599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0" y="0"/>
            <a:ext cx="2460171"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152097" y="2785419"/>
            <a:ext cx="2764364" cy="12500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 Multimodal analysis</a:t>
            </a:r>
          </a:p>
        </p:txBody>
      </p:sp>
      <p:sp>
        <p:nvSpPr>
          <p:cNvPr id="4" name="Rectangle 3">
            <a:extLst>
              <a:ext uri="{FF2B5EF4-FFF2-40B4-BE49-F238E27FC236}">
                <a16:creationId xmlns:a16="http://schemas.microsoft.com/office/drawing/2014/main" id="{AB50607C-D90C-8385-7F82-47608504619B}"/>
              </a:ext>
            </a:extLst>
          </p:cNvPr>
          <p:cNvSpPr/>
          <p:nvPr/>
        </p:nvSpPr>
        <p:spPr>
          <a:xfrm>
            <a:off x="-90715" y="6533016"/>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SHARE-seq hair follicle</a:t>
            </a:r>
          </a:p>
        </p:txBody>
      </p:sp>
      <p:pic>
        <p:nvPicPr>
          <p:cNvPr id="5" name="Picture 4">
            <a:extLst>
              <a:ext uri="{FF2B5EF4-FFF2-40B4-BE49-F238E27FC236}">
                <a16:creationId xmlns:a16="http://schemas.microsoft.com/office/drawing/2014/main" id="{C6342A0D-3CA6-D844-A81E-DC4FEF25AA73}"/>
              </a:ext>
            </a:extLst>
          </p:cNvPr>
          <p:cNvPicPr>
            <a:picLocks noChangeAspect="1"/>
          </p:cNvPicPr>
          <p:nvPr/>
        </p:nvPicPr>
        <p:blipFill rotWithShape="1">
          <a:blip r:embed="rId3"/>
          <a:srcRect t="29262"/>
          <a:stretch/>
        </p:blipFill>
        <p:spPr>
          <a:xfrm>
            <a:off x="2612266" y="806657"/>
            <a:ext cx="9536341" cy="5433768"/>
          </a:xfrm>
          <a:prstGeom prst="rect">
            <a:avLst/>
          </a:prstGeom>
        </p:spPr>
      </p:pic>
      <p:sp>
        <p:nvSpPr>
          <p:cNvPr id="2" name="Slide Number Placeholder 1">
            <a:extLst>
              <a:ext uri="{FF2B5EF4-FFF2-40B4-BE49-F238E27FC236}">
                <a16:creationId xmlns:a16="http://schemas.microsoft.com/office/drawing/2014/main" id="{6F26B640-20BC-5FA4-2498-2E2D8B520D83}"/>
              </a:ext>
            </a:extLst>
          </p:cNvPr>
          <p:cNvSpPr>
            <a:spLocks noGrp="1"/>
          </p:cNvSpPr>
          <p:nvPr>
            <p:ph type="sldNum" sz="quarter" idx="12"/>
          </p:nvPr>
        </p:nvSpPr>
        <p:spPr/>
        <p:txBody>
          <a:bodyPr/>
          <a:lstStyle/>
          <a:p>
            <a:fld id="{7DF2C209-72C5-4BD6-83FD-73557975086B}" type="slidenum">
              <a:rPr lang="en-US" smtClean="0"/>
              <a:t>30</a:t>
            </a:fld>
            <a:endParaRPr lang="en-US"/>
          </a:p>
        </p:txBody>
      </p:sp>
    </p:spTree>
    <p:extLst>
      <p:ext uri="{BB962C8B-B14F-4D97-AF65-F5344CB8AC3E}">
        <p14:creationId xmlns:p14="http://schemas.microsoft.com/office/powerpoint/2010/main" val="8654024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1" y="-65988"/>
            <a:ext cx="2366127" cy="692398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202143" y="2542116"/>
            <a:ext cx="2000248" cy="1773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Batch correction analysis</a:t>
            </a:r>
          </a:p>
        </p:txBody>
      </p:sp>
      <p:sp>
        <p:nvSpPr>
          <p:cNvPr id="4" name="Rectangle 3">
            <a:extLst>
              <a:ext uri="{FF2B5EF4-FFF2-40B4-BE49-F238E27FC236}">
                <a16:creationId xmlns:a16="http://schemas.microsoft.com/office/drawing/2014/main" id="{0A5BC295-0C03-7A0F-6AA1-1913CA668CA6}"/>
              </a:ext>
            </a:extLst>
          </p:cNvPr>
          <p:cNvSpPr/>
          <p:nvPr/>
        </p:nvSpPr>
        <p:spPr>
          <a:xfrm>
            <a:off x="-118533" y="6489701"/>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a:t>
            </a:r>
            <a:r>
              <a:rPr lang="en-US" sz="1400" dirty="0" err="1">
                <a:solidFill>
                  <a:schemeClr val="tx1"/>
                </a:solidFill>
              </a:rPr>
              <a:t>scRNA</a:t>
            </a:r>
            <a:r>
              <a:rPr lang="en-US" sz="1400" dirty="0">
                <a:solidFill>
                  <a:schemeClr val="tx1"/>
                </a:solidFill>
              </a:rPr>
              <a:t>-seq data</a:t>
            </a:r>
          </a:p>
        </p:txBody>
      </p:sp>
      <p:pic>
        <p:nvPicPr>
          <p:cNvPr id="5" name="Picture 4">
            <a:extLst>
              <a:ext uri="{FF2B5EF4-FFF2-40B4-BE49-F238E27FC236}">
                <a16:creationId xmlns:a16="http://schemas.microsoft.com/office/drawing/2014/main" id="{51CE9773-1BCB-E0CC-CB31-179402E2D985}"/>
              </a:ext>
            </a:extLst>
          </p:cNvPr>
          <p:cNvPicPr>
            <a:picLocks noChangeAspect="1"/>
          </p:cNvPicPr>
          <p:nvPr/>
        </p:nvPicPr>
        <p:blipFill rotWithShape="1">
          <a:blip r:embed="rId3"/>
          <a:srcRect t="34009" r="41427"/>
          <a:stretch/>
        </p:blipFill>
        <p:spPr>
          <a:xfrm>
            <a:off x="3097741" y="272975"/>
            <a:ext cx="8116891" cy="6364892"/>
          </a:xfrm>
          <a:prstGeom prst="rect">
            <a:avLst/>
          </a:prstGeom>
        </p:spPr>
      </p:pic>
      <p:sp>
        <p:nvSpPr>
          <p:cNvPr id="2" name="Slide Number Placeholder 1">
            <a:extLst>
              <a:ext uri="{FF2B5EF4-FFF2-40B4-BE49-F238E27FC236}">
                <a16:creationId xmlns:a16="http://schemas.microsoft.com/office/drawing/2014/main" id="{D48283E5-59AC-2A68-C14A-7B577500A167}"/>
              </a:ext>
            </a:extLst>
          </p:cNvPr>
          <p:cNvSpPr>
            <a:spLocks noGrp="1"/>
          </p:cNvSpPr>
          <p:nvPr>
            <p:ph type="sldNum" sz="quarter" idx="12"/>
          </p:nvPr>
        </p:nvSpPr>
        <p:spPr/>
        <p:txBody>
          <a:bodyPr/>
          <a:lstStyle/>
          <a:p>
            <a:fld id="{7DF2C209-72C5-4BD6-83FD-73557975086B}" type="slidenum">
              <a:rPr lang="en-US" smtClean="0"/>
              <a:t>31</a:t>
            </a:fld>
            <a:endParaRPr lang="en-US"/>
          </a:p>
        </p:txBody>
      </p:sp>
    </p:spTree>
    <p:extLst>
      <p:ext uri="{BB962C8B-B14F-4D97-AF65-F5344CB8AC3E}">
        <p14:creationId xmlns:p14="http://schemas.microsoft.com/office/powerpoint/2010/main" val="30443854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0" y="0"/>
            <a:ext cx="2462431"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119591" y="2527300"/>
            <a:ext cx="2342840" cy="180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Multi-omics integration</a:t>
            </a:r>
          </a:p>
        </p:txBody>
      </p:sp>
      <p:pic>
        <p:nvPicPr>
          <p:cNvPr id="3" name="Picture 2">
            <a:extLst>
              <a:ext uri="{FF2B5EF4-FFF2-40B4-BE49-F238E27FC236}">
                <a16:creationId xmlns:a16="http://schemas.microsoft.com/office/drawing/2014/main" id="{4909CF60-2068-A1CC-336F-2F23BA644A31}"/>
              </a:ext>
            </a:extLst>
          </p:cNvPr>
          <p:cNvPicPr>
            <a:picLocks noChangeAspect="1"/>
          </p:cNvPicPr>
          <p:nvPr/>
        </p:nvPicPr>
        <p:blipFill rotWithShape="1">
          <a:blip r:embed="rId3"/>
          <a:srcRect t="34885" r="43075"/>
          <a:stretch/>
        </p:blipFill>
        <p:spPr>
          <a:xfrm>
            <a:off x="3763187" y="582529"/>
            <a:ext cx="6480271" cy="5692942"/>
          </a:xfrm>
          <a:prstGeom prst="rect">
            <a:avLst/>
          </a:prstGeom>
        </p:spPr>
      </p:pic>
      <p:sp>
        <p:nvSpPr>
          <p:cNvPr id="2" name="Slide Number Placeholder 1">
            <a:extLst>
              <a:ext uri="{FF2B5EF4-FFF2-40B4-BE49-F238E27FC236}">
                <a16:creationId xmlns:a16="http://schemas.microsoft.com/office/drawing/2014/main" id="{581D94F6-C92F-871D-C314-C4E2F9171A44}"/>
              </a:ext>
            </a:extLst>
          </p:cNvPr>
          <p:cNvSpPr>
            <a:spLocks noGrp="1"/>
          </p:cNvSpPr>
          <p:nvPr>
            <p:ph type="sldNum" sz="quarter" idx="12"/>
          </p:nvPr>
        </p:nvSpPr>
        <p:spPr/>
        <p:txBody>
          <a:bodyPr/>
          <a:lstStyle/>
          <a:p>
            <a:fld id="{7DF2C209-72C5-4BD6-83FD-73557975086B}" type="slidenum">
              <a:rPr lang="en-US" smtClean="0"/>
              <a:t>32</a:t>
            </a:fld>
            <a:endParaRPr lang="en-US"/>
          </a:p>
        </p:txBody>
      </p:sp>
    </p:spTree>
    <p:extLst>
      <p:ext uri="{BB962C8B-B14F-4D97-AF65-F5344CB8AC3E}">
        <p14:creationId xmlns:p14="http://schemas.microsoft.com/office/powerpoint/2010/main" val="30921210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4244673" y="1421130"/>
            <a:ext cx="3420285" cy="1760982"/>
          </a:xfrm>
        </p:spPr>
        <p:txBody>
          <a:bodyPr>
            <a:normAutofit/>
          </a:bodyPr>
          <a:lstStyle/>
          <a:p>
            <a:r>
              <a:rPr lang="en-US" sz="6000" dirty="0"/>
              <a:t>Discussion</a:t>
            </a:r>
          </a:p>
        </p:txBody>
      </p:sp>
      <p:sp>
        <p:nvSpPr>
          <p:cNvPr id="5" name="Title 1">
            <a:extLst>
              <a:ext uri="{FF2B5EF4-FFF2-40B4-BE49-F238E27FC236}">
                <a16:creationId xmlns:a16="http://schemas.microsoft.com/office/drawing/2014/main" id="{3E5C6F5E-2E2E-CBE4-DD15-988B610D2E79}"/>
              </a:ext>
            </a:extLst>
          </p:cNvPr>
          <p:cNvSpPr txBox="1">
            <a:spLocks/>
          </p:cNvSpPr>
          <p:nvPr/>
        </p:nvSpPr>
        <p:spPr>
          <a:xfrm>
            <a:off x="3322867" y="2697480"/>
            <a:ext cx="5093208"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altLang="zh-TW" sz="3200" dirty="0"/>
              <a:t>SIMBA</a:t>
            </a:r>
            <a:endParaRPr lang="en-US" sz="3200" dirty="0">
              <a:solidFill>
                <a:srgbClr val="0070C0"/>
              </a:solidFill>
            </a:endParaRPr>
          </a:p>
        </p:txBody>
      </p:sp>
      <p:pic>
        <p:nvPicPr>
          <p:cNvPr id="5122" name="Picture 2" descr="辛巴- 維基百科，自由的百科全書">
            <a:extLst>
              <a:ext uri="{FF2B5EF4-FFF2-40B4-BE49-F238E27FC236}">
                <a16:creationId xmlns:a16="http://schemas.microsoft.com/office/drawing/2014/main" id="{C6B4CE06-7F69-A928-655E-5B555AE063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2190" y="2845760"/>
            <a:ext cx="3905250" cy="23145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B297089-6884-CE7B-49B6-ADBADE4B78A8}"/>
              </a:ext>
            </a:extLst>
          </p:cNvPr>
          <p:cNvSpPr txBox="1"/>
          <p:nvPr/>
        </p:nvSpPr>
        <p:spPr>
          <a:xfrm>
            <a:off x="7664958" y="6550223"/>
            <a:ext cx="4628550" cy="307777"/>
          </a:xfrm>
          <a:prstGeom prst="rect">
            <a:avLst/>
          </a:prstGeom>
          <a:noFill/>
        </p:spPr>
        <p:txBody>
          <a:bodyPr wrap="square">
            <a:spAutoFit/>
          </a:bodyPr>
          <a:lstStyle/>
          <a:p>
            <a:r>
              <a:rPr lang="en-US" sz="1400" dirty="0"/>
              <a:t>https://zh.wikipedia.org/zh-tw/%E8%BE%9B%E5%B7%B4</a:t>
            </a:r>
          </a:p>
        </p:txBody>
      </p:sp>
      <p:sp>
        <p:nvSpPr>
          <p:cNvPr id="3" name="Slide Number Placeholder 2">
            <a:extLst>
              <a:ext uri="{FF2B5EF4-FFF2-40B4-BE49-F238E27FC236}">
                <a16:creationId xmlns:a16="http://schemas.microsoft.com/office/drawing/2014/main" id="{3E32B928-3033-B952-EC78-411CD0A6935A}"/>
              </a:ext>
            </a:extLst>
          </p:cNvPr>
          <p:cNvSpPr>
            <a:spLocks noGrp="1"/>
          </p:cNvSpPr>
          <p:nvPr>
            <p:ph type="sldNum" sz="quarter" idx="12"/>
          </p:nvPr>
        </p:nvSpPr>
        <p:spPr/>
        <p:txBody>
          <a:bodyPr/>
          <a:lstStyle/>
          <a:p>
            <a:fld id="{7DF2C209-72C5-4BD6-83FD-73557975086B}" type="slidenum">
              <a:rPr lang="en-US" smtClean="0"/>
              <a:t>33</a:t>
            </a:fld>
            <a:endParaRPr lang="en-US"/>
          </a:p>
        </p:txBody>
      </p:sp>
    </p:spTree>
    <p:extLst>
      <p:ext uri="{BB962C8B-B14F-4D97-AF65-F5344CB8AC3E}">
        <p14:creationId xmlns:p14="http://schemas.microsoft.com/office/powerpoint/2010/main" val="28483571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2ECDB22-2D28-CFEF-4680-6D1EA7006E43}"/>
              </a:ext>
            </a:extLst>
          </p:cNvPr>
          <p:cNvSpPr>
            <a:spLocks noGrp="1"/>
          </p:cNvSpPr>
          <p:nvPr>
            <p:ph type="title"/>
          </p:nvPr>
        </p:nvSpPr>
        <p:spPr>
          <a:xfrm>
            <a:off x="625337" y="208469"/>
            <a:ext cx="10515600" cy="1325563"/>
          </a:xfrm>
        </p:spPr>
        <p:txBody>
          <a:bodyPr/>
          <a:lstStyle/>
          <a:p>
            <a:r>
              <a:rPr lang="en-US" dirty="0">
                <a:effectLst/>
              </a:rPr>
              <a:t>SIMBA</a:t>
            </a:r>
            <a:r>
              <a:rPr lang="zh-TW" altLang="en-US" dirty="0">
                <a:effectLst/>
              </a:rPr>
              <a:t>！</a:t>
            </a:r>
            <a:r>
              <a:rPr lang="en-US" altLang="zh-TW" dirty="0">
                <a:effectLst/>
              </a:rPr>
              <a:t>To do more</a:t>
            </a:r>
            <a:r>
              <a:rPr lang="zh-TW" altLang="en-US" dirty="0">
                <a:effectLst/>
              </a:rPr>
              <a:t>？</a:t>
            </a:r>
            <a:endParaRPr lang="en-US" sz="4400" dirty="0">
              <a:solidFill>
                <a:schemeClr val="tx1"/>
              </a:solidFill>
            </a:endParaRPr>
          </a:p>
        </p:txBody>
      </p:sp>
      <p:sp>
        <p:nvSpPr>
          <p:cNvPr id="13" name="Rectangle 12">
            <a:extLst>
              <a:ext uri="{FF2B5EF4-FFF2-40B4-BE49-F238E27FC236}">
                <a16:creationId xmlns:a16="http://schemas.microsoft.com/office/drawing/2014/main" id="{EA4DB846-25D9-FE1B-D2C4-719C2F2983BA}"/>
              </a:ext>
            </a:extLst>
          </p:cNvPr>
          <p:cNvSpPr/>
          <p:nvPr/>
        </p:nvSpPr>
        <p:spPr>
          <a:xfrm>
            <a:off x="1058240" y="2824210"/>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effectLst/>
              </a:rPr>
              <a:t>cellular heterogeneity</a:t>
            </a:r>
            <a:endParaRPr lang="en-US" sz="2800" dirty="0">
              <a:solidFill>
                <a:schemeClr val="tx1"/>
              </a:solidFill>
            </a:endParaRPr>
          </a:p>
        </p:txBody>
      </p:sp>
      <p:sp>
        <p:nvSpPr>
          <p:cNvPr id="4" name="Rectangle 3">
            <a:extLst>
              <a:ext uri="{FF2B5EF4-FFF2-40B4-BE49-F238E27FC236}">
                <a16:creationId xmlns:a16="http://schemas.microsoft.com/office/drawing/2014/main" id="{D7F0740B-864B-B39D-E7FA-BA67826011F4}"/>
              </a:ext>
            </a:extLst>
          </p:cNvPr>
          <p:cNvSpPr/>
          <p:nvPr/>
        </p:nvSpPr>
        <p:spPr>
          <a:xfrm>
            <a:off x="902792" y="4410721"/>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effectLst/>
              </a:rPr>
              <a:t>regulatory mechanisms</a:t>
            </a:r>
            <a:endParaRPr lang="en-US" sz="2800" dirty="0">
              <a:solidFill>
                <a:schemeClr val="tx1"/>
              </a:solidFill>
            </a:endParaRPr>
          </a:p>
        </p:txBody>
      </p:sp>
      <p:sp>
        <p:nvSpPr>
          <p:cNvPr id="6" name="Rectangle 5">
            <a:extLst>
              <a:ext uri="{FF2B5EF4-FFF2-40B4-BE49-F238E27FC236}">
                <a16:creationId xmlns:a16="http://schemas.microsoft.com/office/drawing/2014/main" id="{A9654783-5BCD-5AD1-3CCC-BCBB506AFE09}"/>
              </a:ext>
            </a:extLst>
          </p:cNvPr>
          <p:cNvSpPr/>
          <p:nvPr/>
        </p:nvSpPr>
        <p:spPr>
          <a:xfrm rot="409328">
            <a:off x="8646427" y="3728689"/>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effectLst/>
              </a:rPr>
              <a:t>time points</a:t>
            </a:r>
            <a:endParaRPr lang="en-US" sz="2800" dirty="0">
              <a:solidFill>
                <a:schemeClr val="tx1"/>
              </a:solidFill>
            </a:endParaRPr>
          </a:p>
        </p:txBody>
      </p:sp>
      <p:pic>
        <p:nvPicPr>
          <p:cNvPr id="7170" name="Picture 2" descr="Israeli photographer's real-life 'Lion King' photo grabs headlines | The  Times of Israel">
            <a:extLst>
              <a:ext uri="{FF2B5EF4-FFF2-40B4-BE49-F238E27FC236}">
                <a16:creationId xmlns:a16="http://schemas.microsoft.com/office/drawing/2014/main" id="{39B12045-B443-DD56-A6F6-3C84E80378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277" y="2517806"/>
            <a:ext cx="3855720" cy="2409825"/>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4062E6B4-83D6-2BEB-E6E9-9E479517641F}"/>
              </a:ext>
            </a:extLst>
          </p:cNvPr>
          <p:cNvCxnSpPr>
            <a:cxnSpLocks/>
          </p:cNvCxnSpPr>
          <p:nvPr/>
        </p:nvCxnSpPr>
        <p:spPr>
          <a:xfrm flipV="1">
            <a:off x="3667156" y="2824210"/>
            <a:ext cx="1243172" cy="1843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C6F7F36-7669-E461-F0BE-8ABAF665C03E}"/>
              </a:ext>
            </a:extLst>
          </p:cNvPr>
          <p:cNvCxnSpPr>
            <a:cxnSpLocks/>
            <a:stCxn id="4" idx="3"/>
          </p:cNvCxnSpPr>
          <p:nvPr/>
        </p:nvCxnSpPr>
        <p:spPr>
          <a:xfrm flipV="1">
            <a:off x="3667156" y="2824210"/>
            <a:ext cx="1243172" cy="1734678"/>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AB98273-D43B-EFBD-C2BA-FFDF53D107EA}"/>
              </a:ext>
            </a:extLst>
          </p:cNvPr>
          <p:cNvSpPr txBox="1"/>
          <p:nvPr/>
        </p:nvSpPr>
        <p:spPr>
          <a:xfrm>
            <a:off x="6485382" y="6596390"/>
            <a:ext cx="5706618" cy="261610"/>
          </a:xfrm>
          <a:prstGeom prst="rect">
            <a:avLst/>
          </a:prstGeom>
          <a:noFill/>
        </p:spPr>
        <p:txBody>
          <a:bodyPr wrap="square">
            <a:spAutoFit/>
          </a:bodyPr>
          <a:lstStyle/>
          <a:p>
            <a:r>
              <a:rPr lang="en-US" sz="1100" dirty="0"/>
              <a:t>https://www.timesofisrael.com/israeli-photographers-real-life-lion-king-photo-grabs-headlines/</a:t>
            </a:r>
          </a:p>
        </p:txBody>
      </p:sp>
      <p:sp>
        <p:nvSpPr>
          <p:cNvPr id="25" name="Rectangle 24">
            <a:extLst>
              <a:ext uri="{FF2B5EF4-FFF2-40B4-BE49-F238E27FC236}">
                <a16:creationId xmlns:a16="http://schemas.microsoft.com/office/drawing/2014/main" id="{6936796C-5270-D87E-3066-A91C765A9536}"/>
              </a:ext>
            </a:extLst>
          </p:cNvPr>
          <p:cNvSpPr/>
          <p:nvPr/>
        </p:nvSpPr>
        <p:spPr>
          <a:xfrm rot="409328">
            <a:off x="8646425" y="4247585"/>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effectLst/>
              </a:rPr>
              <a:t>Perturbations</a:t>
            </a:r>
            <a:endParaRPr lang="en-US" sz="2800" dirty="0">
              <a:solidFill>
                <a:schemeClr val="tx1"/>
              </a:solidFill>
            </a:endParaRPr>
          </a:p>
        </p:txBody>
      </p:sp>
      <p:sp>
        <p:nvSpPr>
          <p:cNvPr id="2" name="Slide Number Placeholder 1">
            <a:extLst>
              <a:ext uri="{FF2B5EF4-FFF2-40B4-BE49-F238E27FC236}">
                <a16:creationId xmlns:a16="http://schemas.microsoft.com/office/drawing/2014/main" id="{2C55BD5E-AE80-C4FF-B125-8407060DEDF8}"/>
              </a:ext>
            </a:extLst>
          </p:cNvPr>
          <p:cNvSpPr>
            <a:spLocks noGrp="1"/>
          </p:cNvSpPr>
          <p:nvPr>
            <p:ph type="sldNum" sz="quarter" idx="12"/>
          </p:nvPr>
        </p:nvSpPr>
        <p:spPr/>
        <p:txBody>
          <a:bodyPr/>
          <a:lstStyle/>
          <a:p>
            <a:fld id="{7DF2C209-72C5-4BD6-83FD-73557975086B}" type="slidenum">
              <a:rPr lang="en-US" smtClean="0"/>
              <a:t>34</a:t>
            </a:fld>
            <a:endParaRPr lang="en-US"/>
          </a:p>
        </p:txBody>
      </p:sp>
    </p:spTree>
    <p:extLst>
      <p:ext uri="{BB962C8B-B14F-4D97-AF65-F5344CB8AC3E}">
        <p14:creationId xmlns:p14="http://schemas.microsoft.com/office/powerpoint/2010/main" val="105249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386A398-5F73-83D5-72BA-D95064DFC256}"/>
              </a:ext>
            </a:extLst>
          </p:cNvPr>
          <p:cNvSpPr txBox="1"/>
          <p:nvPr/>
        </p:nvSpPr>
        <p:spPr>
          <a:xfrm>
            <a:off x="9679686" y="6581001"/>
            <a:ext cx="2512314" cy="276999"/>
          </a:xfrm>
          <a:prstGeom prst="rect">
            <a:avLst/>
          </a:prstGeom>
          <a:noFill/>
        </p:spPr>
        <p:txBody>
          <a:bodyPr wrap="square">
            <a:spAutoFit/>
          </a:bodyPr>
          <a:lstStyle/>
          <a:p>
            <a:r>
              <a:rPr lang="en-US" sz="1200" dirty="0"/>
              <a:t>https://en.wikipedia.org/wiki/Simba</a:t>
            </a:r>
          </a:p>
        </p:txBody>
      </p:sp>
      <p:sp>
        <p:nvSpPr>
          <p:cNvPr id="8" name="Title 1">
            <a:extLst>
              <a:ext uri="{FF2B5EF4-FFF2-40B4-BE49-F238E27FC236}">
                <a16:creationId xmlns:a16="http://schemas.microsoft.com/office/drawing/2014/main" id="{9B272056-DD63-C6DA-6226-121D1DE0182F}"/>
              </a:ext>
            </a:extLst>
          </p:cNvPr>
          <p:cNvSpPr>
            <a:spLocks noGrp="1"/>
          </p:cNvSpPr>
          <p:nvPr>
            <p:ph type="title"/>
          </p:nvPr>
        </p:nvSpPr>
        <p:spPr>
          <a:xfrm>
            <a:off x="1790700" y="2144486"/>
            <a:ext cx="8610600" cy="2569028"/>
          </a:xfrm>
        </p:spPr>
        <p:txBody>
          <a:bodyPr>
            <a:normAutofit/>
          </a:bodyPr>
          <a:lstStyle/>
          <a:p>
            <a:pPr algn="ctr"/>
            <a:r>
              <a:rPr lang="en-US" altLang="zh-TW" sz="6000" dirty="0"/>
              <a:t>Thanks for your attention</a:t>
            </a:r>
            <a:br>
              <a:rPr lang="en-US" altLang="zh-TW" sz="6000" dirty="0"/>
            </a:br>
            <a:br>
              <a:rPr lang="en-US" altLang="zh-TW" sz="6000" dirty="0"/>
            </a:br>
            <a:r>
              <a:rPr lang="en-US" altLang="zh-TW" sz="6000" dirty="0"/>
              <a:t>Q&amp;A Time</a:t>
            </a:r>
            <a:endParaRPr lang="en-US" sz="6000" dirty="0"/>
          </a:p>
        </p:txBody>
      </p:sp>
      <p:sp>
        <p:nvSpPr>
          <p:cNvPr id="2" name="Slide Number Placeholder 1">
            <a:extLst>
              <a:ext uri="{FF2B5EF4-FFF2-40B4-BE49-F238E27FC236}">
                <a16:creationId xmlns:a16="http://schemas.microsoft.com/office/drawing/2014/main" id="{492E02A0-60C3-13C6-84D9-3A69172C8570}"/>
              </a:ext>
            </a:extLst>
          </p:cNvPr>
          <p:cNvSpPr>
            <a:spLocks noGrp="1"/>
          </p:cNvSpPr>
          <p:nvPr>
            <p:ph type="sldNum" sz="quarter" idx="12"/>
          </p:nvPr>
        </p:nvSpPr>
        <p:spPr/>
        <p:txBody>
          <a:bodyPr/>
          <a:lstStyle/>
          <a:p>
            <a:fld id="{7DF2C209-72C5-4BD6-83FD-73557975086B}" type="slidenum">
              <a:rPr lang="en-US" smtClean="0"/>
              <a:t>35</a:t>
            </a:fld>
            <a:endParaRPr lang="en-US"/>
          </a:p>
        </p:txBody>
      </p:sp>
    </p:spTree>
    <p:extLst>
      <p:ext uri="{BB962C8B-B14F-4D97-AF65-F5344CB8AC3E}">
        <p14:creationId xmlns:p14="http://schemas.microsoft.com/office/powerpoint/2010/main" val="4928999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0CDD689-3A3D-6952-3807-D8065A0A692F}"/>
              </a:ext>
            </a:extLst>
          </p:cNvPr>
          <p:cNvSpPr/>
          <p:nvPr/>
        </p:nvSpPr>
        <p:spPr>
          <a:xfrm>
            <a:off x="0" y="0"/>
            <a:ext cx="12192000" cy="685800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3897086" y="2593344"/>
            <a:ext cx="4397828" cy="1671311"/>
          </a:xfrm>
        </p:spPr>
        <p:txBody>
          <a:bodyPr>
            <a:normAutofit fontScale="90000"/>
          </a:bodyPr>
          <a:lstStyle/>
          <a:p>
            <a:pPr algn="ctr"/>
            <a:r>
              <a:rPr lang="en-US" sz="6000" dirty="0"/>
              <a:t>Supplementary</a:t>
            </a:r>
          </a:p>
        </p:txBody>
      </p:sp>
      <p:sp>
        <p:nvSpPr>
          <p:cNvPr id="4" name="Slide Number Placeholder 3">
            <a:extLst>
              <a:ext uri="{FF2B5EF4-FFF2-40B4-BE49-F238E27FC236}">
                <a16:creationId xmlns:a16="http://schemas.microsoft.com/office/drawing/2014/main" id="{F7CCE9EF-6891-C32E-273A-8F512DC0DADA}"/>
              </a:ext>
            </a:extLst>
          </p:cNvPr>
          <p:cNvSpPr>
            <a:spLocks noGrp="1"/>
          </p:cNvSpPr>
          <p:nvPr>
            <p:ph type="sldNum" sz="quarter" idx="12"/>
          </p:nvPr>
        </p:nvSpPr>
        <p:spPr/>
        <p:txBody>
          <a:bodyPr/>
          <a:lstStyle/>
          <a:p>
            <a:fld id="{7DF2C209-72C5-4BD6-83FD-73557975086B}" type="slidenum">
              <a:rPr lang="en-US" smtClean="0"/>
              <a:t>36</a:t>
            </a:fld>
            <a:endParaRPr lang="en-US"/>
          </a:p>
        </p:txBody>
      </p:sp>
    </p:spTree>
    <p:extLst>
      <p:ext uri="{BB962C8B-B14F-4D97-AF65-F5344CB8AC3E}">
        <p14:creationId xmlns:p14="http://schemas.microsoft.com/office/powerpoint/2010/main" val="418540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88FA2-8300-5607-96A2-38953F7361CB}"/>
              </a:ext>
            </a:extLst>
          </p:cNvPr>
          <p:cNvSpPr>
            <a:spLocks noGrp="1"/>
          </p:cNvSpPr>
          <p:nvPr>
            <p:ph type="title"/>
          </p:nvPr>
        </p:nvSpPr>
        <p:spPr/>
        <p:txBody>
          <a:bodyPr/>
          <a:lstStyle/>
          <a:p>
            <a:r>
              <a:rPr lang="en-US" altLang="zh-TW" dirty="0"/>
              <a:t>Dataset</a:t>
            </a:r>
            <a:endParaRPr lang="en-US" dirty="0"/>
          </a:p>
        </p:txBody>
      </p:sp>
      <p:sp>
        <p:nvSpPr>
          <p:cNvPr id="4" name="Slide Number Placeholder 3">
            <a:extLst>
              <a:ext uri="{FF2B5EF4-FFF2-40B4-BE49-F238E27FC236}">
                <a16:creationId xmlns:a16="http://schemas.microsoft.com/office/drawing/2014/main" id="{8EBB94F6-9420-D592-21B0-61DC75C85688}"/>
              </a:ext>
            </a:extLst>
          </p:cNvPr>
          <p:cNvSpPr>
            <a:spLocks noGrp="1"/>
          </p:cNvSpPr>
          <p:nvPr>
            <p:ph type="sldNum" sz="quarter" idx="12"/>
          </p:nvPr>
        </p:nvSpPr>
        <p:spPr/>
        <p:txBody>
          <a:bodyPr/>
          <a:lstStyle/>
          <a:p>
            <a:fld id="{38543A31-4DFF-4CB7-B4D4-2CA7645BB8BE}" type="slidenum">
              <a:rPr lang="en-US" smtClean="0"/>
              <a:t>37</a:t>
            </a:fld>
            <a:endParaRPr lang="en-US"/>
          </a:p>
        </p:txBody>
      </p:sp>
      <p:pic>
        <p:nvPicPr>
          <p:cNvPr id="6" name="Picture 5">
            <a:extLst>
              <a:ext uri="{FF2B5EF4-FFF2-40B4-BE49-F238E27FC236}">
                <a16:creationId xmlns:a16="http://schemas.microsoft.com/office/drawing/2014/main" id="{EEBF2206-7D88-1D56-4D78-8B08FEFEF008}"/>
              </a:ext>
            </a:extLst>
          </p:cNvPr>
          <p:cNvPicPr>
            <a:picLocks noChangeAspect="1"/>
          </p:cNvPicPr>
          <p:nvPr/>
        </p:nvPicPr>
        <p:blipFill>
          <a:blip r:embed="rId3"/>
          <a:stretch>
            <a:fillRect/>
          </a:stretch>
        </p:blipFill>
        <p:spPr>
          <a:xfrm>
            <a:off x="2962784" y="552208"/>
            <a:ext cx="7865604" cy="6169267"/>
          </a:xfrm>
          <a:prstGeom prst="rect">
            <a:avLst/>
          </a:prstGeom>
        </p:spPr>
      </p:pic>
    </p:spTree>
    <p:extLst>
      <p:ext uri="{BB962C8B-B14F-4D97-AF65-F5344CB8AC3E}">
        <p14:creationId xmlns:p14="http://schemas.microsoft.com/office/powerpoint/2010/main" val="34909244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545CB-CBCF-05E5-1176-D0A697B3971F}"/>
              </a:ext>
            </a:extLst>
          </p:cNvPr>
          <p:cNvSpPr>
            <a:spLocks noGrp="1"/>
          </p:cNvSpPr>
          <p:nvPr>
            <p:ph type="title"/>
          </p:nvPr>
        </p:nvSpPr>
        <p:spPr/>
        <p:txBody>
          <a:bodyPr/>
          <a:lstStyle/>
          <a:p>
            <a:r>
              <a:rPr lang="en-US" dirty="0"/>
              <a:t>SIMBA’s Innovation</a:t>
            </a:r>
          </a:p>
        </p:txBody>
      </p:sp>
      <p:sp>
        <p:nvSpPr>
          <p:cNvPr id="3" name="Content Placeholder 2">
            <a:extLst>
              <a:ext uri="{FF2B5EF4-FFF2-40B4-BE49-F238E27FC236}">
                <a16:creationId xmlns:a16="http://schemas.microsoft.com/office/drawing/2014/main" id="{A2298D9F-D63E-D953-E353-3F0D5E5A65C0}"/>
              </a:ext>
            </a:extLst>
          </p:cNvPr>
          <p:cNvSpPr>
            <a:spLocks noGrp="1"/>
          </p:cNvSpPr>
          <p:nvPr>
            <p:ph idx="1"/>
          </p:nvPr>
        </p:nvSpPr>
        <p:spPr>
          <a:xfrm>
            <a:off x="838200" y="1611086"/>
            <a:ext cx="10515600" cy="4582886"/>
          </a:xfrm>
        </p:spPr>
        <p:txBody>
          <a:bodyPr>
            <a:normAutofit fontScale="92500"/>
          </a:bodyPr>
          <a:lstStyle/>
          <a:p>
            <a:pPr marL="0" indent="0">
              <a:lnSpc>
                <a:spcPct val="170000"/>
              </a:lnSpc>
              <a:buNone/>
            </a:pPr>
            <a:r>
              <a:rPr lang="en-US" dirty="0"/>
              <a:t>(1) SIMBA </a:t>
            </a:r>
            <a:r>
              <a:rPr lang="en-US" dirty="0">
                <a:solidFill>
                  <a:srgbClr val="0070C0"/>
                </a:solidFill>
              </a:rPr>
              <a:t>does not require node featurization</a:t>
            </a:r>
            <a:r>
              <a:rPr lang="en-US" dirty="0"/>
              <a:t> nor </a:t>
            </a:r>
            <a:r>
              <a:rPr lang="en-US" dirty="0">
                <a:solidFill>
                  <a:srgbClr val="0070C0"/>
                </a:solidFill>
              </a:rPr>
              <a:t>ad-hoc transformations</a:t>
            </a:r>
            <a:r>
              <a:rPr lang="en-US" dirty="0"/>
              <a:t>.</a:t>
            </a:r>
            <a:endParaRPr lang="zh-TW" altLang="en-US" b="0" i="0" dirty="0">
              <a:solidFill>
                <a:srgbClr val="0F0F0F"/>
              </a:solidFill>
              <a:effectLst/>
              <a:latin typeface="Söhne"/>
            </a:endParaRPr>
          </a:p>
          <a:p>
            <a:pPr marL="0" indent="0">
              <a:lnSpc>
                <a:spcPct val="170000"/>
              </a:lnSpc>
              <a:buNone/>
            </a:pPr>
            <a:r>
              <a:rPr lang="en-US" dirty="0"/>
              <a:t>(2) The </a:t>
            </a:r>
            <a:r>
              <a:rPr lang="en-US" dirty="0">
                <a:solidFill>
                  <a:srgbClr val="0070C0"/>
                </a:solidFill>
              </a:rPr>
              <a:t>co-embedding of cells and features </a:t>
            </a:r>
            <a:r>
              <a:rPr lang="en-US" dirty="0"/>
              <a:t>in a common space generated by SIMBA enables an intuitive interface for inferring biologically meaningful information. </a:t>
            </a:r>
            <a:endParaRPr lang="zh-TW" altLang="en-US" b="0" i="0" dirty="0">
              <a:solidFill>
                <a:srgbClr val="0F0F0F"/>
              </a:solidFill>
              <a:effectLst/>
              <a:latin typeface="Söhne"/>
            </a:endParaRPr>
          </a:p>
          <a:p>
            <a:pPr marL="0" indent="0">
              <a:lnSpc>
                <a:spcPct val="170000"/>
              </a:lnSpc>
              <a:buNone/>
            </a:pPr>
            <a:r>
              <a:rPr lang="en-US" dirty="0"/>
              <a:t>(3) </a:t>
            </a:r>
            <a:r>
              <a:rPr lang="en-US" dirty="0">
                <a:solidFill>
                  <a:srgbClr val="0070C0"/>
                </a:solidFill>
              </a:rPr>
              <a:t>Perform better </a:t>
            </a:r>
            <a:r>
              <a:rPr lang="en-US" dirty="0"/>
              <a:t>or comparably well than existing state-of-the-art methods that are dedicated to respective tasks.</a:t>
            </a:r>
            <a:endParaRPr lang="zh-TW" altLang="en-US" b="0" i="0" dirty="0">
              <a:solidFill>
                <a:srgbClr val="0F0F0F"/>
              </a:solidFill>
              <a:effectLst/>
              <a:latin typeface="Söhne"/>
            </a:endParaRPr>
          </a:p>
        </p:txBody>
      </p:sp>
      <p:sp>
        <p:nvSpPr>
          <p:cNvPr id="4" name="Slide Number Placeholder 3">
            <a:extLst>
              <a:ext uri="{FF2B5EF4-FFF2-40B4-BE49-F238E27FC236}">
                <a16:creationId xmlns:a16="http://schemas.microsoft.com/office/drawing/2014/main" id="{5FA9A69A-930C-CBDA-D02A-89875CD1DE00}"/>
              </a:ext>
            </a:extLst>
          </p:cNvPr>
          <p:cNvSpPr>
            <a:spLocks noGrp="1"/>
          </p:cNvSpPr>
          <p:nvPr>
            <p:ph type="sldNum" sz="quarter" idx="12"/>
          </p:nvPr>
        </p:nvSpPr>
        <p:spPr/>
        <p:txBody>
          <a:bodyPr/>
          <a:lstStyle/>
          <a:p>
            <a:fld id="{38543A31-4DFF-4CB7-B4D4-2CA7645BB8BE}" type="slidenum">
              <a:rPr lang="en-US" smtClean="0"/>
              <a:t>38</a:t>
            </a:fld>
            <a:endParaRPr lang="en-US"/>
          </a:p>
        </p:txBody>
      </p:sp>
    </p:spTree>
    <p:extLst>
      <p:ext uri="{BB962C8B-B14F-4D97-AF65-F5344CB8AC3E}">
        <p14:creationId xmlns:p14="http://schemas.microsoft.com/office/powerpoint/2010/main" val="7861181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D8723-6D5B-8A77-96B1-9E19299F891C}"/>
              </a:ext>
            </a:extLst>
          </p:cNvPr>
          <p:cNvSpPr>
            <a:spLocks noGrp="1"/>
          </p:cNvSpPr>
          <p:nvPr>
            <p:ph type="title"/>
          </p:nvPr>
        </p:nvSpPr>
        <p:spPr/>
        <p:txBody>
          <a:bodyPr/>
          <a:lstStyle/>
          <a:p>
            <a:r>
              <a:rPr lang="en-US" dirty="0"/>
              <a:t>SIMBA and </a:t>
            </a:r>
            <a:r>
              <a:rPr lang="en-US" dirty="0" err="1"/>
              <a:t>Scanpy</a:t>
            </a:r>
            <a:endParaRPr lang="en-US" dirty="0"/>
          </a:p>
        </p:txBody>
      </p:sp>
      <p:sp>
        <p:nvSpPr>
          <p:cNvPr id="3" name="Content Placeholder 2">
            <a:extLst>
              <a:ext uri="{FF2B5EF4-FFF2-40B4-BE49-F238E27FC236}">
                <a16:creationId xmlns:a16="http://schemas.microsoft.com/office/drawing/2014/main" id="{C9BD8B83-33F2-F417-3CB5-5A722D5B605B}"/>
              </a:ext>
            </a:extLst>
          </p:cNvPr>
          <p:cNvSpPr>
            <a:spLocks noGrp="1"/>
          </p:cNvSpPr>
          <p:nvPr>
            <p:ph idx="1"/>
          </p:nvPr>
        </p:nvSpPr>
        <p:spPr/>
        <p:txBody>
          <a:bodyPr/>
          <a:lstStyle/>
          <a:p>
            <a:r>
              <a:rPr lang="en-US" dirty="0"/>
              <a:t>Top 600 marker genes identified by SIMBA</a:t>
            </a:r>
          </a:p>
          <a:p>
            <a:pPr lvl="1"/>
            <a:r>
              <a:rPr lang="en-US" dirty="0"/>
              <a:t>max value</a:t>
            </a:r>
          </a:p>
          <a:p>
            <a:pPr lvl="1"/>
            <a:r>
              <a:rPr lang="en-US" dirty="0"/>
              <a:t>Gini index</a:t>
            </a:r>
          </a:p>
          <a:p>
            <a:pPr lvl="1"/>
            <a:endParaRPr lang="en-US" dirty="0"/>
          </a:p>
          <a:p>
            <a:r>
              <a:rPr lang="en-US" dirty="0" err="1"/>
              <a:t>Scanpy</a:t>
            </a:r>
            <a:endParaRPr lang="en-US" dirty="0"/>
          </a:p>
          <a:p>
            <a:pPr lvl="1"/>
            <a:r>
              <a:rPr lang="en-US" dirty="0"/>
              <a:t> z-score calculated from the two-sided Wilcoxon rank-sum test with a </a:t>
            </a:r>
            <a:r>
              <a:rPr lang="en-US" dirty="0" err="1"/>
              <a:t>Benjamini</a:t>
            </a:r>
            <a:r>
              <a:rPr lang="en-US" dirty="0"/>
              <a:t>-Hochberg p-value correction</a:t>
            </a:r>
          </a:p>
        </p:txBody>
      </p:sp>
      <p:sp>
        <p:nvSpPr>
          <p:cNvPr id="4" name="Slide Number Placeholder 3">
            <a:extLst>
              <a:ext uri="{FF2B5EF4-FFF2-40B4-BE49-F238E27FC236}">
                <a16:creationId xmlns:a16="http://schemas.microsoft.com/office/drawing/2014/main" id="{63BEA41B-9979-7483-EF91-3CCF73195D88}"/>
              </a:ext>
            </a:extLst>
          </p:cNvPr>
          <p:cNvSpPr>
            <a:spLocks noGrp="1"/>
          </p:cNvSpPr>
          <p:nvPr>
            <p:ph type="sldNum" sz="quarter" idx="12"/>
          </p:nvPr>
        </p:nvSpPr>
        <p:spPr/>
        <p:txBody>
          <a:bodyPr/>
          <a:lstStyle/>
          <a:p>
            <a:fld id="{38543A31-4DFF-4CB7-B4D4-2CA7645BB8BE}" type="slidenum">
              <a:rPr lang="en-US" smtClean="0"/>
              <a:t>39</a:t>
            </a:fld>
            <a:endParaRPr lang="en-US"/>
          </a:p>
        </p:txBody>
      </p:sp>
    </p:spTree>
    <p:extLst>
      <p:ext uri="{BB962C8B-B14F-4D97-AF65-F5344CB8AC3E}">
        <p14:creationId xmlns:p14="http://schemas.microsoft.com/office/powerpoint/2010/main" val="40640648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50499-FC61-297D-EB16-2BFAE5B884B6}"/>
              </a:ext>
            </a:extLst>
          </p:cNvPr>
          <p:cNvSpPr>
            <a:spLocks noGrp="1"/>
          </p:cNvSpPr>
          <p:nvPr>
            <p:ph type="title"/>
          </p:nvPr>
        </p:nvSpPr>
        <p:spPr>
          <a:xfrm>
            <a:off x="838200" y="681037"/>
            <a:ext cx="10515600" cy="1325563"/>
          </a:xfrm>
        </p:spPr>
        <p:txBody>
          <a:bodyPr>
            <a:normAutofit fontScale="90000"/>
          </a:bodyPr>
          <a:lstStyle/>
          <a:p>
            <a:r>
              <a:rPr lang="en-US" i="0" dirty="0">
                <a:solidFill>
                  <a:srgbClr val="222222"/>
                </a:solidFill>
                <a:effectLst/>
              </a:rPr>
              <a:t>Benchmarking </a:t>
            </a:r>
            <a:r>
              <a:rPr lang="en-US" i="0" dirty="0" err="1">
                <a:solidFill>
                  <a:srgbClr val="222222"/>
                </a:solidFill>
                <a:effectLst/>
              </a:rPr>
              <a:t>scATAC</a:t>
            </a:r>
            <a:r>
              <a:rPr lang="en-US" i="0" dirty="0">
                <a:solidFill>
                  <a:srgbClr val="222222"/>
                </a:solidFill>
                <a:effectLst/>
              </a:rPr>
              <a:t>-seq computational methods</a:t>
            </a:r>
            <a:br>
              <a:rPr lang="en-US" i="0" dirty="0">
                <a:solidFill>
                  <a:srgbClr val="222222"/>
                </a:solidFill>
                <a:effectLst/>
              </a:rPr>
            </a:br>
            <a:endParaRPr lang="en-US" dirty="0"/>
          </a:p>
        </p:txBody>
      </p:sp>
      <p:sp>
        <p:nvSpPr>
          <p:cNvPr id="3" name="Content Placeholder 2">
            <a:extLst>
              <a:ext uri="{FF2B5EF4-FFF2-40B4-BE49-F238E27FC236}">
                <a16:creationId xmlns:a16="http://schemas.microsoft.com/office/drawing/2014/main" id="{B134F6F9-86E7-DF16-C4B1-D96B4BB3B3DB}"/>
              </a:ext>
            </a:extLst>
          </p:cNvPr>
          <p:cNvSpPr>
            <a:spLocks noGrp="1"/>
          </p:cNvSpPr>
          <p:nvPr>
            <p:ph idx="1"/>
          </p:nvPr>
        </p:nvSpPr>
        <p:spPr/>
        <p:txBody>
          <a:bodyPr/>
          <a:lstStyle/>
          <a:p>
            <a:pPr>
              <a:lnSpc>
                <a:spcPct val="150000"/>
              </a:lnSpc>
            </a:pPr>
            <a:r>
              <a:rPr lang="en-US" b="0" i="1" dirty="0">
                <a:solidFill>
                  <a:srgbClr val="222222"/>
                </a:solidFill>
                <a:effectLst/>
                <a:latin typeface="Harding"/>
              </a:rPr>
              <a:t>k</a:t>
            </a:r>
            <a:r>
              <a:rPr lang="en-US" b="0" i="0" dirty="0">
                <a:solidFill>
                  <a:srgbClr val="222222"/>
                </a:solidFill>
                <a:effectLst/>
                <a:latin typeface="Harding"/>
              </a:rPr>
              <a:t>-means clustering</a:t>
            </a:r>
          </a:p>
          <a:p>
            <a:pPr>
              <a:lnSpc>
                <a:spcPct val="150000"/>
              </a:lnSpc>
            </a:pPr>
            <a:r>
              <a:rPr lang="en-US" b="0" i="0" dirty="0">
                <a:solidFill>
                  <a:srgbClr val="222222"/>
                </a:solidFill>
                <a:effectLst/>
                <a:latin typeface="Harding"/>
              </a:rPr>
              <a:t>hierarchical clustering</a:t>
            </a:r>
            <a:endParaRPr lang="en-US" dirty="0">
              <a:solidFill>
                <a:srgbClr val="222222"/>
              </a:solidFill>
              <a:latin typeface="Harding"/>
            </a:endParaRPr>
          </a:p>
          <a:p>
            <a:pPr>
              <a:lnSpc>
                <a:spcPct val="150000"/>
              </a:lnSpc>
            </a:pPr>
            <a:r>
              <a:rPr lang="en-US" b="0" i="0" dirty="0">
                <a:solidFill>
                  <a:srgbClr val="222222"/>
                </a:solidFill>
                <a:effectLst/>
                <a:latin typeface="Harding"/>
              </a:rPr>
              <a:t>Louvain clustering</a:t>
            </a:r>
            <a:endParaRPr lang="en-US" dirty="0"/>
          </a:p>
        </p:txBody>
      </p:sp>
      <p:sp>
        <p:nvSpPr>
          <p:cNvPr id="4" name="Slide Number Placeholder 3">
            <a:extLst>
              <a:ext uri="{FF2B5EF4-FFF2-40B4-BE49-F238E27FC236}">
                <a16:creationId xmlns:a16="http://schemas.microsoft.com/office/drawing/2014/main" id="{A83DD1A8-2330-8B08-5235-6FC8DA59A6DE}"/>
              </a:ext>
            </a:extLst>
          </p:cNvPr>
          <p:cNvSpPr>
            <a:spLocks noGrp="1"/>
          </p:cNvSpPr>
          <p:nvPr>
            <p:ph type="sldNum" sz="quarter" idx="12"/>
          </p:nvPr>
        </p:nvSpPr>
        <p:spPr/>
        <p:txBody>
          <a:bodyPr/>
          <a:lstStyle/>
          <a:p>
            <a:fld id="{38543A31-4DFF-4CB7-B4D4-2CA7645BB8BE}" type="slidenum">
              <a:rPr lang="en-US" smtClean="0"/>
              <a:t>40</a:t>
            </a:fld>
            <a:endParaRPr lang="en-US"/>
          </a:p>
        </p:txBody>
      </p:sp>
    </p:spTree>
    <p:extLst>
      <p:ext uri="{BB962C8B-B14F-4D97-AF65-F5344CB8AC3E}">
        <p14:creationId xmlns:p14="http://schemas.microsoft.com/office/powerpoint/2010/main" val="7761723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A0CB0-7F31-0D45-D44D-946EE8AAF47E}"/>
              </a:ext>
            </a:extLst>
          </p:cNvPr>
          <p:cNvSpPr>
            <a:spLocks noGrp="1"/>
          </p:cNvSpPr>
          <p:nvPr>
            <p:ph type="title"/>
          </p:nvPr>
        </p:nvSpPr>
        <p:spPr/>
        <p:txBody>
          <a:bodyPr>
            <a:normAutofit/>
          </a:bodyPr>
          <a:lstStyle/>
          <a:p>
            <a:r>
              <a:rPr lang="en-US" b="0" i="0" dirty="0">
                <a:solidFill>
                  <a:srgbClr val="222222"/>
                </a:solidFill>
                <a:effectLst/>
                <a:latin typeface="-apple-system"/>
              </a:rPr>
              <a:t>Benchmarking single-cell batch correction methods</a:t>
            </a:r>
            <a:endParaRPr lang="en-US" dirty="0"/>
          </a:p>
        </p:txBody>
      </p:sp>
      <p:sp>
        <p:nvSpPr>
          <p:cNvPr id="3" name="Content Placeholder 2">
            <a:extLst>
              <a:ext uri="{FF2B5EF4-FFF2-40B4-BE49-F238E27FC236}">
                <a16:creationId xmlns:a16="http://schemas.microsoft.com/office/drawing/2014/main" id="{0A4D4115-7201-2662-C370-A78F650A2DBB}"/>
              </a:ext>
            </a:extLst>
          </p:cNvPr>
          <p:cNvSpPr>
            <a:spLocks noGrp="1"/>
          </p:cNvSpPr>
          <p:nvPr>
            <p:ph idx="1"/>
          </p:nvPr>
        </p:nvSpPr>
        <p:spPr/>
        <p:txBody>
          <a:bodyPr/>
          <a:lstStyle/>
          <a:p>
            <a:pPr>
              <a:lnSpc>
                <a:spcPct val="150000"/>
              </a:lnSpc>
            </a:pPr>
            <a:r>
              <a:rPr lang="en-US" altLang="zh-TW" dirty="0">
                <a:solidFill>
                  <a:srgbClr val="222222"/>
                </a:solidFill>
                <a:latin typeface="Harding"/>
              </a:rPr>
              <a:t>A</a:t>
            </a:r>
            <a:r>
              <a:rPr lang="en-US" b="0" i="0" dirty="0">
                <a:solidFill>
                  <a:srgbClr val="222222"/>
                </a:solidFill>
                <a:effectLst/>
                <a:latin typeface="Harding"/>
              </a:rPr>
              <a:t>verage Silhouette width (ASW)</a:t>
            </a:r>
          </a:p>
          <a:p>
            <a:pPr>
              <a:lnSpc>
                <a:spcPct val="150000"/>
              </a:lnSpc>
            </a:pPr>
            <a:r>
              <a:rPr lang="en-US" altLang="zh-TW" dirty="0">
                <a:solidFill>
                  <a:srgbClr val="222222"/>
                </a:solidFill>
                <a:latin typeface="Harding"/>
              </a:rPr>
              <a:t>A</a:t>
            </a:r>
            <a:r>
              <a:rPr lang="en-US" b="0" i="0" dirty="0">
                <a:solidFill>
                  <a:srgbClr val="222222"/>
                </a:solidFill>
                <a:effectLst/>
                <a:latin typeface="Harding"/>
              </a:rPr>
              <a:t>djusted Rand index (ARI)</a:t>
            </a:r>
          </a:p>
          <a:p>
            <a:pPr>
              <a:lnSpc>
                <a:spcPct val="150000"/>
              </a:lnSpc>
            </a:pPr>
            <a:r>
              <a:rPr lang="en-US" b="0" i="0" dirty="0">
                <a:solidFill>
                  <a:srgbClr val="222222"/>
                </a:solidFill>
                <a:effectLst/>
                <a:latin typeface="Harding"/>
              </a:rPr>
              <a:t> </a:t>
            </a:r>
            <a:r>
              <a:rPr lang="en-US" altLang="zh-TW" b="0" i="0" dirty="0">
                <a:solidFill>
                  <a:srgbClr val="222222"/>
                </a:solidFill>
                <a:effectLst/>
                <a:latin typeface="Harding"/>
              </a:rPr>
              <a:t>L</a:t>
            </a:r>
            <a:r>
              <a:rPr lang="en-US" b="0" i="0" dirty="0">
                <a:solidFill>
                  <a:srgbClr val="222222"/>
                </a:solidFill>
                <a:effectLst/>
                <a:latin typeface="Harding"/>
              </a:rPr>
              <a:t>ocal inverse Simpson’s index (LISI)</a:t>
            </a:r>
            <a:endParaRPr lang="en-US" dirty="0"/>
          </a:p>
        </p:txBody>
      </p:sp>
      <p:sp>
        <p:nvSpPr>
          <p:cNvPr id="4" name="Slide Number Placeholder 3">
            <a:extLst>
              <a:ext uri="{FF2B5EF4-FFF2-40B4-BE49-F238E27FC236}">
                <a16:creationId xmlns:a16="http://schemas.microsoft.com/office/drawing/2014/main" id="{7A64B421-BEC1-3517-577C-F6B245F70C82}"/>
              </a:ext>
            </a:extLst>
          </p:cNvPr>
          <p:cNvSpPr>
            <a:spLocks noGrp="1"/>
          </p:cNvSpPr>
          <p:nvPr>
            <p:ph type="sldNum" sz="quarter" idx="12"/>
          </p:nvPr>
        </p:nvSpPr>
        <p:spPr/>
        <p:txBody>
          <a:bodyPr/>
          <a:lstStyle/>
          <a:p>
            <a:fld id="{38543A31-4DFF-4CB7-B4D4-2CA7645BB8BE}" type="slidenum">
              <a:rPr lang="en-US" smtClean="0"/>
              <a:t>41</a:t>
            </a:fld>
            <a:endParaRPr lang="en-US"/>
          </a:p>
        </p:txBody>
      </p:sp>
    </p:spTree>
    <p:extLst>
      <p:ext uri="{BB962C8B-B14F-4D97-AF65-F5344CB8AC3E}">
        <p14:creationId xmlns:p14="http://schemas.microsoft.com/office/powerpoint/2010/main" val="26901194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2BC16-6422-D6BD-A540-714897F24207}"/>
              </a:ext>
            </a:extLst>
          </p:cNvPr>
          <p:cNvSpPr>
            <a:spLocks noGrp="1"/>
          </p:cNvSpPr>
          <p:nvPr>
            <p:ph type="title"/>
          </p:nvPr>
        </p:nvSpPr>
        <p:spPr/>
        <p:txBody>
          <a:bodyPr/>
          <a:lstStyle/>
          <a:p>
            <a:r>
              <a:rPr lang="en-US" dirty="0"/>
              <a:t>Benchmarking single cell multi-omics integration methods</a:t>
            </a:r>
          </a:p>
        </p:txBody>
      </p:sp>
      <p:sp>
        <p:nvSpPr>
          <p:cNvPr id="3" name="Content Placeholder 2">
            <a:extLst>
              <a:ext uri="{FF2B5EF4-FFF2-40B4-BE49-F238E27FC236}">
                <a16:creationId xmlns:a16="http://schemas.microsoft.com/office/drawing/2014/main" id="{B609381F-7771-8A31-917D-06FDAB481007}"/>
              </a:ext>
            </a:extLst>
          </p:cNvPr>
          <p:cNvSpPr>
            <a:spLocks noGrp="1"/>
          </p:cNvSpPr>
          <p:nvPr>
            <p:ph idx="1"/>
          </p:nvPr>
        </p:nvSpPr>
        <p:spPr/>
        <p:txBody>
          <a:bodyPr/>
          <a:lstStyle/>
          <a:p>
            <a:pPr>
              <a:lnSpc>
                <a:spcPct val="150000"/>
              </a:lnSpc>
            </a:pPr>
            <a:r>
              <a:rPr lang="en-US" dirty="0"/>
              <a:t>Anchoring distance</a:t>
            </a:r>
          </a:p>
          <a:p>
            <a:pPr>
              <a:lnSpc>
                <a:spcPct val="150000"/>
              </a:lnSpc>
            </a:pPr>
            <a:r>
              <a:rPr lang="en-US" dirty="0"/>
              <a:t>Anchoring distance rank</a:t>
            </a:r>
          </a:p>
          <a:p>
            <a:pPr>
              <a:lnSpc>
                <a:spcPct val="150000"/>
              </a:lnSpc>
            </a:pPr>
            <a:r>
              <a:rPr lang="en-US" dirty="0"/>
              <a:t>Silhouette index</a:t>
            </a:r>
          </a:p>
          <a:p>
            <a:pPr>
              <a:lnSpc>
                <a:spcPct val="150000"/>
              </a:lnSpc>
            </a:pPr>
            <a:r>
              <a:rPr lang="en-US" dirty="0"/>
              <a:t>Cluster agreement </a:t>
            </a:r>
          </a:p>
        </p:txBody>
      </p:sp>
      <p:sp>
        <p:nvSpPr>
          <p:cNvPr id="4" name="Slide Number Placeholder 3">
            <a:extLst>
              <a:ext uri="{FF2B5EF4-FFF2-40B4-BE49-F238E27FC236}">
                <a16:creationId xmlns:a16="http://schemas.microsoft.com/office/drawing/2014/main" id="{DCAD7C13-C949-76D7-34AA-CF531E38D3AD}"/>
              </a:ext>
            </a:extLst>
          </p:cNvPr>
          <p:cNvSpPr>
            <a:spLocks noGrp="1"/>
          </p:cNvSpPr>
          <p:nvPr>
            <p:ph type="sldNum" sz="quarter" idx="12"/>
          </p:nvPr>
        </p:nvSpPr>
        <p:spPr/>
        <p:txBody>
          <a:bodyPr/>
          <a:lstStyle/>
          <a:p>
            <a:fld id="{38543A31-4DFF-4CB7-B4D4-2CA7645BB8BE}" type="slidenum">
              <a:rPr lang="en-US" smtClean="0"/>
              <a:t>42</a:t>
            </a:fld>
            <a:endParaRPr lang="en-US"/>
          </a:p>
        </p:txBody>
      </p:sp>
    </p:spTree>
    <p:extLst>
      <p:ext uri="{BB962C8B-B14F-4D97-AF65-F5344CB8AC3E}">
        <p14:creationId xmlns:p14="http://schemas.microsoft.com/office/powerpoint/2010/main" val="3354746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507D-6182-0AAD-C296-DFC9B7A3DABE}"/>
              </a:ext>
            </a:extLst>
          </p:cNvPr>
          <p:cNvSpPr>
            <a:spLocks noGrp="1"/>
          </p:cNvSpPr>
          <p:nvPr>
            <p:ph type="title"/>
          </p:nvPr>
        </p:nvSpPr>
        <p:spPr>
          <a:xfrm>
            <a:off x="838200" y="365125"/>
            <a:ext cx="8418922" cy="1325563"/>
          </a:xfrm>
        </p:spPr>
        <p:txBody>
          <a:bodyPr/>
          <a:lstStyle/>
          <a:p>
            <a:r>
              <a:rPr lang="en-US" dirty="0"/>
              <a:t>Single-cell RNA seq Analysis</a:t>
            </a:r>
          </a:p>
        </p:txBody>
      </p:sp>
      <p:pic>
        <p:nvPicPr>
          <p:cNvPr id="4" name="Content Placeholder 3">
            <a:extLst>
              <a:ext uri="{FF2B5EF4-FFF2-40B4-BE49-F238E27FC236}">
                <a16:creationId xmlns:a16="http://schemas.microsoft.com/office/drawing/2014/main" id="{3033B7B3-85FE-C9CD-44FF-2268C5448D77}"/>
              </a:ext>
            </a:extLst>
          </p:cNvPr>
          <p:cNvPicPr>
            <a:picLocks noGrp="1" noChangeAspect="1"/>
          </p:cNvPicPr>
          <p:nvPr>
            <p:ph idx="1"/>
          </p:nvPr>
        </p:nvPicPr>
        <p:blipFill rotWithShape="1">
          <a:blip r:embed="rId3"/>
          <a:srcRect b="75880"/>
          <a:stretch/>
        </p:blipFill>
        <p:spPr>
          <a:xfrm>
            <a:off x="285463" y="2077329"/>
            <a:ext cx="12070870" cy="2703341"/>
          </a:xfrm>
          <a:prstGeom prst="rect">
            <a:avLst/>
          </a:prstGeom>
        </p:spPr>
      </p:pic>
      <p:sp>
        <p:nvSpPr>
          <p:cNvPr id="3" name="Rectangle 2">
            <a:extLst>
              <a:ext uri="{FF2B5EF4-FFF2-40B4-BE49-F238E27FC236}">
                <a16:creationId xmlns:a16="http://schemas.microsoft.com/office/drawing/2014/main" id="{F6FEF716-9C84-9EA1-9F91-A8B1E1653FB0}"/>
              </a:ext>
            </a:extLst>
          </p:cNvPr>
          <p:cNvSpPr/>
          <p:nvPr/>
        </p:nvSpPr>
        <p:spPr>
          <a:xfrm>
            <a:off x="1669398" y="5167311"/>
            <a:ext cx="3902697"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Preprocessing</a:t>
            </a:r>
          </a:p>
        </p:txBody>
      </p:sp>
      <p:sp>
        <p:nvSpPr>
          <p:cNvPr id="5" name="Rectangle 4">
            <a:extLst>
              <a:ext uri="{FF2B5EF4-FFF2-40B4-BE49-F238E27FC236}">
                <a16:creationId xmlns:a16="http://schemas.microsoft.com/office/drawing/2014/main" id="{6DE96067-39B7-3375-5539-65DCC869500A}"/>
              </a:ext>
            </a:extLst>
          </p:cNvPr>
          <p:cNvSpPr/>
          <p:nvPr/>
        </p:nvSpPr>
        <p:spPr>
          <a:xfrm>
            <a:off x="7783727" y="5167311"/>
            <a:ext cx="1872447"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Graph Construction</a:t>
            </a:r>
          </a:p>
        </p:txBody>
      </p:sp>
      <p:sp>
        <p:nvSpPr>
          <p:cNvPr id="6" name="Rectangle 5">
            <a:extLst>
              <a:ext uri="{FF2B5EF4-FFF2-40B4-BE49-F238E27FC236}">
                <a16:creationId xmlns:a16="http://schemas.microsoft.com/office/drawing/2014/main" id="{A7FCBB52-9B3C-34B4-9DC6-2824623A49C6}"/>
              </a:ext>
            </a:extLst>
          </p:cNvPr>
          <p:cNvSpPr/>
          <p:nvPr/>
        </p:nvSpPr>
        <p:spPr>
          <a:xfrm>
            <a:off x="4666660" y="3743664"/>
            <a:ext cx="905435" cy="179294"/>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K-means</a:t>
            </a:r>
          </a:p>
        </p:txBody>
      </p:sp>
      <p:sp>
        <p:nvSpPr>
          <p:cNvPr id="7" name="Rectangle 6">
            <a:extLst>
              <a:ext uri="{FF2B5EF4-FFF2-40B4-BE49-F238E27FC236}">
                <a16:creationId xmlns:a16="http://schemas.microsoft.com/office/drawing/2014/main" id="{8CE15E04-319D-A361-A9C6-86EAF327DF48}"/>
              </a:ext>
            </a:extLst>
          </p:cNvPr>
          <p:cNvSpPr/>
          <p:nvPr/>
        </p:nvSpPr>
        <p:spPr>
          <a:xfrm>
            <a:off x="1382527" y="5928501"/>
            <a:ext cx="905435" cy="179294"/>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Filtering</a:t>
            </a:r>
          </a:p>
        </p:txBody>
      </p:sp>
      <p:sp>
        <p:nvSpPr>
          <p:cNvPr id="8" name="Rectangle 7">
            <a:extLst>
              <a:ext uri="{FF2B5EF4-FFF2-40B4-BE49-F238E27FC236}">
                <a16:creationId xmlns:a16="http://schemas.microsoft.com/office/drawing/2014/main" id="{61A8FD4D-386A-B585-13B4-CEB9A339DA4D}"/>
              </a:ext>
            </a:extLst>
          </p:cNvPr>
          <p:cNvSpPr/>
          <p:nvPr/>
        </p:nvSpPr>
        <p:spPr>
          <a:xfrm>
            <a:off x="2428440" y="5931316"/>
            <a:ext cx="1467440" cy="176479"/>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Normalization</a:t>
            </a:r>
          </a:p>
        </p:txBody>
      </p:sp>
      <p:sp>
        <p:nvSpPr>
          <p:cNvPr id="10" name="Rectangle 9">
            <a:extLst>
              <a:ext uri="{FF2B5EF4-FFF2-40B4-BE49-F238E27FC236}">
                <a16:creationId xmlns:a16="http://schemas.microsoft.com/office/drawing/2014/main" id="{BCCED95E-BFE2-5B39-9928-39E6C598A01D}"/>
              </a:ext>
            </a:extLst>
          </p:cNvPr>
          <p:cNvSpPr/>
          <p:nvPr/>
        </p:nvSpPr>
        <p:spPr>
          <a:xfrm>
            <a:off x="4036358" y="5944217"/>
            <a:ext cx="2068932" cy="158411"/>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Variable gene selection</a:t>
            </a:r>
          </a:p>
        </p:txBody>
      </p:sp>
      <p:sp>
        <p:nvSpPr>
          <p:cNvPr id="12" name="Rectangle 11">
            <a:extLst>
              <a:ext uri="{FF2B5EF4-FFF2-40B4-BE49-F238E27FC236}">
                <a16:creationId xmlns:a16="http://schemas.microsoft.com/office/drawing/2014/main" id="{A744763C-CAB0-E4CB-28CD-4F8060FB1B5D}"/>
              </a:ext>
            </a:extLst>
          </p:cNvPr>
          <p:cNvSpPr/>
          <p:nvPr/>
        </p:nvSpPr>
        <p:spPr>
          <a:xfrm>
            <a:off x="9954939" y="5167311"/>
            <a:ext cx="1977529"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Embedding</a:t>
            </a:r>
          </a:p>
        </p:txBody>
      </p:sp>
      <p:sp>
        <p:nvSpPr>
          <p:cNvPr id="11" name="Slide Number Placeholder 10">
            <a:extLst>
              <a:ext uri="{FF2B5EF4-FFF2-40B4-BE49-F238E27FC236}">
                <a16:creationId xmlns:a16="http://schemas.microsoft.com/office/drawing/2014/main" id="{0B923F64-2C92-AF61-689B-528427C82193}"/>
              </a:ext>
            </a:extLst>
          </p:cNvPr>
          <p:cNvSpPr>
            <a:spLocks noGrp="1"/>
          </p:cNvSpPr>
          <p:nvPr>
            <p:ph type="sldNum" sz="quarter" idx="12"/>
          </p:nvPr>
        </p:nvSpPr>
        <p:spPr/>
        <p:txBody>
          <a:bodyPr/>
          <a:lstStyle/>
          <a:p>
            <a:fld id="{7DF2C209-72C5-4BD6-83FD-73557975086B}" type="slidenum">
              <a:rPr lang="en-US" smtClean="0"/>
              <a:t>43</a:t>
            </a:fld>
            <a:endParaRPr lang="en-US"/>
          </a:p>
        </p:txBody>
      </p:sp>
    </p:spTree>
    <p:extLst>
      <p:ext uri="{BB962C8B-B14F-4D97-AF65-F5344CB8AC3E}">
        <p14:creationId xmlns:p14="http://schemas.microsoft.com/office/powerpoint/2010/main" val="10959405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507D-6182-0AAD-C296-DFC9B7A3DABE}"/>
              </a:ext>
            </a:extLst>
          </p:cNvPr>
          <p:cNvSpPr>
            <a:spLocks noGrp="1"/>
          </p:cNvSpPr>
          <p:nvPr>
            <p:ph type="title"/>
          </p:nvPr>
        </p:nvSpPr>
        <p:spPr>
          <a:xfrm>
            <a:off x="838199" y="365125"/>
            <a:ext cx="10549379" cy="1325563"/>
          </a:xfrm>
        </p:spPr>
        <p:txBody>
          <a:bodyPr>
            <a:normAutofit/>
          </a:bodyPr>
          <a:lstStyle/>
          <a:p>
            <a:r>
              <a:rPr lang="en-US" sz="4400" dirty="0">
                <a:solidFill>
                  <a:schemeClr val="tx1"/>
                </a:solidFill>
              </a:rPr>
              <a:t>Single-cell ATAC-seq Analysis</a:t>
            </a:r>
            <a:endParaRPr lang="en-US" dirty="0"/>
          </a:p>
        </p:txBody>
      </p:sp>
      <p:sp>
        <p:nvSpPr>
          <p:cNvPr id="3" name="Rectangle 2">
            <a:extLst>
              <a:ext uri="{FF2B5EF4-FFF2-40B4-BE49-F238E27FC236}">
                <a16:creationId xmlns:a16="http://schemas.microsoft.com/office/drawing/2014/main" id="{F6FEF716-9C84-9EA1-9F91-A8B1E1653FB0}"/>
              </a:ext>
            </a:extLst>
          </p:cNvPr>
          <p:cNvSpPr/>
          <p:nvPr/>
        </p:nvSpPr>
        <p:spPr>
          <a:xfrm>
            <a:off x="1894394" y="5429839"/>
            <a:ext cx="3902697"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Preprocessing</a:t>
            </a:r>
          </a:p>
        </p:txBody>
      </p:sp>
      <p:sp>
        <p:nvSpPr>
          <p:cNvPr id="5" name="Rectangle 4">
            <a:extLst>
              <a:ext uri="{FF2B5EF4-FFF2-40B4-BE49-F238E27FC236}">
                <a16:creationId xmlns:a16="http://schemas.microsoft.com/office/drawing/2014/main" id="{6DE96067-39B7-3375-5539-65DCC869500A}"/>
              </a:ext>
            </a:extLst>
          </p:cNvPr>
          <p:cNvSpPr/>
          <p:nvPr/>
        </p:nvSpPr>
        <p:spPr>
          <a:xfrm>
            <a:off x="6122498" y="5429839"/>
            <a:ext cx="1868445"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Graph Construction</a:t>
            </a:r>
          </a:p>
        </p:txBody>
      </p:sp>
      <p:pic>
        <p:nvPicPr>
          <p:cNvPr id="8" name="Picture 7">
            <a:extLst>
              <a:ext uri="{FF2B5EF4-FFF2-40B4-BE49-F238E27FC236}">
                <a16:creationId xmlns:a16="http://schemas.microsoft.com/office/drawing/2014/main" id="{6678A85D-601B-5D15-F6BC-8EE8CC996406}"/>
              </a:ext>
            </a:extLst>
          </p:cNvPr>
          <p:cNvPicPr>
            <a:picLocks noChangeAspect="1"/>
          </p:cNvPicPr>
          <p:nvPr/>
        </p:nvPicPr>
        <p:blipFill rotWithShape="1">
          <a:blip r:embed="rId3"/>
          <a:srcRect r="52882" b="78145"/>
          <a:stretch/>
        </p:blipFill>
        <p:spPr>
          <a:xfrm>
            <a:off x="1894393" y="1596632"/>
            <a:ext cx="8456211" cy="3545735"/>
          </a:xfrm>
          <a:prstGeom prst="rect">
            <a:avLst/>
          </a:prstGeom>
        </p:spPr>
      </p:pic>
      <p:sp>
        <p:nvSpPr>
          <p:cNvPr id="4" name="Rectangle 3">
            <a:extLst>
              <a:ext uri="{FF2B5EF4-FFF2-40B4-BE49-F238E27FC236}">
                <a16:creationId xmlns:a16="http://schemas.microsoft.com/office/drawing/2014/main" id="{DFEF46D5-9AD9-A0B6-7752-09294BB918B9}"/>
              </a:ext>
            </a:extLst>
          </p:cNvPr>
          <p:cNvSpPr/>
          <p:nvPr/>
        </p:nvSpPr>
        <p:spPr>
          <a:xfrm>
            <a:off x="8373075" y="5421065"/>
            <a:ext cx="1977529"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Embedding</a:t>
            </a:r>
          </a:p>
        </p:txBody>
      </p:sp>
      <p:sp>
        <p:nvSpPr>
          <p:cNvPr id="6" name="Rectangle 5">
            <a:extLst>
              <a:ext uri="{FF2B5EF4-FFF2-40B4-BE49-F238E27FC236}">
                <a16:creationId xmlns:a16="http://schemas.microsoft.com/office/drawing/2014/main" id="{056E49E7-9B05-9E53-1EBA-7564619549C6}"/>
              </a:ext>
            </a:extLst>
          </p:cNvPr>
          <p:cNvSpPr/>
          <p:nvPr/>
        </p:nvSpPr>
        <p:spPr>
          <a:xfrm>
            <a:off x="2382587" y="6154081"/>
            <a:ext cx="905435" cy="179294"/>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Filtering</a:t>
            </a:r>
          </a:p>
        </p:txBody>
      </p:sp>
      <p:sp>
        <p:nvSpPr>
          <p:cNvPr id="7" name="Rectangle 6">
            <a:extLst>
              <a:ext uri="{FF2B5EF4-FFF2-40B4-BE49-F238E27FC236}">
                <a16:creationId xmlns:a16="http://schemas.microsoft.com/office/drawing/2014/main" id="{7DE85A40-3D76-4790-74DB-729992DBAA0E}"/>
              </a:ext>
            </a:extLst>
          </p:cNvPr>
          <p:cNvSpPr/>
          <p:nvPr/>
        </p:nvSpPr>
        <p:spPr>
          <a:xfrm>
            <a:off x="3845742" y="6154081"/>
            <a:ext cx="1271647" cy="179294"/>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Peak selection</a:t>
            </a:r>
          </a:p>
        </p:txBody>
      </p:sp>
      <p:sp>
        <p:nvSpPr>
          <p:cNvPr id="9" name="Rectangle 8">
            <a:extLst>
              <a:ext uri="{FF2B5EF4-FFF2-40B4-BE49-F238E27FC236}">
                <a16:creationId xmlns:a16="http://schemas.microsoft.com/office/drawing/2014/main" id="{3A6C802B-67FD-FFF6-DBFF-70DCA88AB082}"/>
              </a:ext>
            </a:extLst>
          </p:cNvPr>
          <p:cNvSpPr/>
          <p:nvPr/>
        </p:nvSpPr>
        <p:spPr>
          <a:xfrm>
            <a:off x="1781209" y="1586820"/>
            <a:ext cx="6400800" cy="49060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1131E327-F729-D6F7-70C5-26D4FBB278A3}"/>
              </a:ext>
            </a:extLst>
          </p:cNvPr>
          <p:cNvSpPr>
            <a:spLocks noGrp="1"/>
          </p:cNvSpPr>
          <p:nvPr>
            <p:ph type="sldNum" sz="quarter" idx="12"/>
          </p:nvPr>
        </p:nvSpPr>
        <p:spPr/>
        <p:txBody>
          <a:bodyPr/>
          <a:lstStyle/>
          <a:p>
            <a:fld id="{7DF2C209-72C5-4BD6-83FD-73557975086B}" type="slidenum">
              <a:rPr lang="en-US" smtClean="0"/>
              <a:t>44</a:t>
            </a:fld>
            <a:endParaRPr lang="en-US"/>
          </a:p>
        </p:txBody>
      </p:sp>
    </p:spTree>
    <p:extLst>
      <p:ext uri="{BB962C8B-B14F-4D97-AF65-F5344CB8AC3E}">
        <p14:creationId xmlns:p14="http://schemas.microsoft.com/office/powerpoint/2010/main" val="11554153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5CAEF-DA25-D032-3439-BAE369298FF2}"/>
              </a:ext>
            </a:extLst>
          </p:cNvPr>
          <p:cNvSpPr>
            <a:spLocks noGrp="1"/>
          </p:cNvSpPr>
          <p:nvPr>
            <p:ph type="title"/>
          </p:nvPr>
        </p:nvSpPr>
        <p:spPr/>
        <p:txBody>
          <a:bodyPr/>
          <a:lstStyle/>
          <a:p>
            <a:r>
              <a:rPr lang="en-US" dirty="0"/>
              <a:t>Batch Correction</a:t>
            </a:r>
          </a:p>
        </p:txBody>
      </p:sp>
      <p:sp>
        <p:nvSpPr>
          <p:cNvPr id="4" name="Slide Number Placeholder 3">
            <a:extLst>
              <a:ext uri="{FF2B5EF4-FFF2-40B4-BE49-F238E27FC236}">
                <a16:creationId xmlns:a16="http://schemas.microsoft.com/office/drawing/2014/main" id="{7C794F3A-8F2A-BC4E-0769-7C73DD42DA53}"/>
              </a:ext>
            </a:extLst>
          </p:cNvPr>
          <p:cNvSpPr>
            <a:spLocks noGrp="1"/>
          </p:cNvSpPr>
          <p:nvPr>
            <p:ph type="sldNum" sz="quarter" idx="12"/>
          </p:nvPr>
        </p:nvSpPr>
        <p:spPr/>
        <p:txBody>
          <a:bodyPr/>
          <a:lstStyle/>
          <a:p>
            <a:fld id="{38543A31-4DFF-4CB7-B4D4-2CA7645BB8BE}" type="slidenum">
              <a:rPr lang="en-US" smtClean="0"/>
              <a:t>45</a:t>
            </a:fld>
            <a:endParaRPr lang="en-US"/>
          </a:p>
        </p:txBody>
      </p:sp>
      <p:pic>
        <p:nvPicPr>
          <p:cNvPr id="7" name="Picture 6">
            <a:extLst>
              <a:ext uri="{FF2B5EF4-FFF2-40B4-BE49-F238E27FC236}">
                <a16:creationId xmlns:a16="http://schemas.microsoft.com/office/drawing/2014/main" id="{F394508A-172F-D416-7E99-9F53B9071447}"/>
              </a:ext>
            </a:extLst>
          </p:cNvPr>
          <p:cNvPicPr>
            <a:picLocks noChangeAspect="1"/>
          </p:cNvPicPr>
          <p:nvPr/>
        </p:nvPicPr>
        <p:blipFill rotWithShape="1">
          <a:blip r:embed="rId3"/>
          <a:srcRect l="2489" t="937" r="44861" b="67516"/>
          <a:stretch/>
        </p:blipFill>
        <p:spPr>
          <a:xfrm>
            <a:off x="1505466" y="1822890"/>
            <a:ext cx="9181067" cy="3828763"/>
          </a:xfrm>
          <a:prstGeom prst="rect">
            <a:avLst/>
          </a:prstGeom>
        </p:spPr>
      </p:pic>
    </p:spTree>
    <p:extLst>
      <p:ext uri="{BB962C8B-B14F-4D97-AF65-F5344CB8AC3E}">
        <p14:creationId xmlns:p14="http://schemas.microsoft.com/office/powerpoint/2010/main" val="8031134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5CAEF-DA25-D032-3439-BAE369298FF2}"/>
              </a:ext>
            </a:extLst>
          </p:cNvPr>
          <p:cNvSpPr>
            <a:spLocks noGrp="1"/>
          </p:cNvSpPr>
          <p:nvPr>
            <p:ph type="title"/>
          </p:nvPr>
        </p:nvSpPr>
        <p:spPr/>
        <p:txBody>
          <a:bodyPr/>
          <a:lstStyle/>
          <a:p>
            <a:r>
              <a:rPr lang="en-US" dirty="0">
                <a:effectLst/>
              </a:rPr>
              <a:t>Multi-omics Integration </a:t>
            </a:r>
            <a:endParaRPr lang="en-US" dirty="0"/>
          </a:p>
        </p:txBody>
      </p:sp>
      <p:sp>
        <p:nvSpPr>
          <p:cNvPr id="4" name="Slide Number Placeholder 3">
            <a:extLst>
              <a:ext uri="{FF2B5EF4-FFF2-40B4-BE49-F238E27FC236}">
                <a16:creationId xmlns:a16="http://schemas.microsoft.com/office/drawing/2014/main" id="{7C794F3A-8F2A-BC4E-0769-7C73DD42DA53}"/>
              </a:ext>
            </a:extLst>
          </p:cNvPr>
          <p:cNvSpPr>
            <a:spLocks noGrp="1"/>
          </p:cNvSpPr>
          <p:nvPr>
            <p:ph type="sldNum" sz="quarter" idx="12"/>
          </p:nvPr>
        </p:nvSpPr>
        <p:spPr/>
        <p:txBody>
          <a:bodyPr/>
          <a:lstStyle/>
          <a:p>
            <a:fld id="{38543A31-4DFF-4CB7-B4D4-2CA7645BB8BE}" type="slidenum">
              <a:rPr lang="en-US" smtClean="0"/>
              <a:t>46</a:t>
            </a:fld>
            <a:endParaRPr lang="en-US"/>
          </a:p>
        </p:txBody>
      </p:sp>
      <p:pic>
        <p:nvPicPr>
          <p:cNvPr id="3" name="Content Placeholder 4">
            <a:extLst>
              <a:ext uri="{FF2B5EF4-FFF2-40B4-BE49-F238E27FC236}">
                <a16:creationId xmlns:a16="http://schemas.microsoft.com/office/drawing/2014/main" id="{F7AD1DC7-D090-5AB4-9FD9-20CCB5677C2A}"/>
              </a:ext>
            </a:extLst>
          </p:cNvPr>
          <p:cNvPicPr>
            <a:picLocks noGrp="1" noChangeAspect="1"/>
          </p:cNvPicPr>
          <p:nvPr>
            <p:ph idx="1"/>
          </p:nvPr>
        </p:nvPicPr>
        <p:blipFill rotWithShape="1">
          <a:blip r:embed="rId3"/>
          <a:srcRect l="724" t="2306" r="45994" b="66261"/>
          <a:stretch/>
        </p:blipFill>
        <p:spPr>
          <a:xfrm>
            <a:off x="1503583" y="1961002"/>
            <a:ext cx="8340429" cy="3778786"/>
          </a:xfrm>
          <a:prstGeom prst="rect">
            <a:avLst/>
          </a:prstGeom>
        </p:spPr>
      </p:pic>
    </p:spTree>
    <p:extLst>
      <p:ext uri="{BB962C8B-B14F-4D97-AF65-F5344CB8AC3E}">
        <p14:creationId xmlns:p14="http://schemas.microsoft.com/office/powerpoint/2010/main" val="31951089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349ED44-9408-02FD-6742-3F76F0230795}"/>
              </a:ext>
            </a:extLst>
          </p:cNvPr>
          <p:cNvSpPr/>
          <p:nvPr/>
        </p:nvSpPr>
        <p:spPr>
          <a:xfrm>
            <a:off x="838200" y="3247073"/>
            <a:ext cx="7569728" cy="259689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nSpc>
                <a:spcPct val="200000"/>
              </a:lnSpc>
              <a:buAutoNum type="arabicPeriod"/>
            </a:pPr>
            <a:r>
              <a:rPr lang="en-US" sz="2400" dirty="0">
                <a:solidFill>
                  <a:schemeClr val="tx1"/>
                </a:solidFill>
              </a:rPr>
              <a:t>Max Score</a:t>
            </a:r>
          </a:p>
          <a:p>
            <a:pPr marL="457200" indent="-457200">
              <a:lnSpc>
                <a:spcPct val="200000"/>
              </a:lnSpc>
              <a:buAutoNum type="arabicPeriod"/>
            </a:pPr>
            <a:r>
              <a:rPr lang="en-US" sz="2400" dirty="0">
                <a:solidFill>
                  <a:schemeClr val="tx1"/>
                </a:solidFill>
              </a:rPr>
              <a:t>Gini Index</a:t>
            </a:r>
          </a:p>
          <a:p>
            <a:pPr marL="457200" indent="-457200">
              <a:lnSpc>
                <a:spcPct val="200000"/>
              </a:lnSpc>
              <a:buAutoNum type="arabicPeriod"/>
            </a:pPr>
            <a:r>
              <a:rPr lang="en-US" sz="2400" dirty="0">
                <a:solidFill>
                  <a:schemeClr val="tx1"/>
                </a:solidFill>
              </a:rPr>
              <a:t>Standard Deviation</a:t>
            </a:r>
          </a:p>
          <a:p>
            <a:pPr marL="457200" indent="-457200">
              <a:lnSpc>
                <a:spcPct val="200000"/>
              </a:lnSpc>
              <a:buAutoNum type="arabicPeriod"/>
            </a:pPr>
            <a:r>
              <a:rPr lang="en-US" sz="2400" dirty="0">
                <a:solidFill>
                  <a:schemeClr val="tx1"/>
                </a:solidFill>
              </a:rPr>
              <a:t>Entropy</a:t>
            </a:r>
          </a:p>
        </p:txBody>
      </p:sp>
      <p:sp>
        <p:nvSpPr>
          <p:cNvPr id="5" name="Title 1">
            <a:extLst>
              <a:ext uri="{FF2B5EF4-FFF2-40B4-BE49-F238E27FC236}">
                <a16:creationId xmlns:a16="http://schemas.microsoft.com/office/drawing/2014/main" id="{D2ECDB22-2D28-CFEF-4680-6D1EA7006E43}"/>
              </a:ext>
            </a:extLst>
          </p:cNvPr>
          <p:cNvSpPr>
            <a:spLocks noGrp="1"/>
          </p:cNvSpPr>
          <p:nvPr>
            <p:ph type="title"/>
          </p:nvPr>
        </p:nvSpPr>
        <p:spPr>
          <a:xfrm>
            <a:off x="838200" y="365125"/>
            <a:ext cx="10515600" cy="1325563"/>
          </a:xfrm>
        </p:spPr>
        <p:txBody>
          <a:bodyPr/>
          <a:lstStyle/>
          <a:p>
            <a:r>
              <a:rPr lang="en-US" dirty="0">
                <a:effectLst/>
              </a:rPr>
              <a:t>Metrics to assess cell-type specificity</a:t>
            </a:r>
            <a:endParaRPr lang="en-US" sz="4400" dirty="0">
              <a:solidFill>
                <a:schemeClr val="tx1"/>
              </a:solidFill>
            </a:endParaRPr>
          </a:p>
        </p:txBody>
      </p:sp>
      <p:sp>
        <p:nvSpPr>
          <p:cNvPr id="6" name="Rectangle: Rounded Corners 5">
            <a:extLst>
              <a:ext uri="{FF2B5EF4-FFF2-40B4-BE49-F238E27FC236}">
                <a16:creationId xmlns:a16="http://schemas.microsoft.com/office/drawing/2014/main" id="{88317F84-F8F6-76B6-0252-623E385A9E1A}"/>
              </a:ext>
            </a:extLst>
          </p:cNvPr>
          <p:cNvSpPr/>
          <p:nvPr/>
        </p:nvSpPr>
        <p:spPr>
          <a:xfrm>
            <a:off x="956276" y="1773936"/>
            <a:ext cx="5353084" cy="79457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dirty="0">
                <a:solidFill>
                  <a:srgbClr val="FF0000"/>
                </a:solidFill>
              </a:rPr>
              <a:t>Cells</a:t>
            </a:r>
            <a:r>
              <a:rPr lang="en-US" sz="2400" dirty="0">
                <a:solidFill>
                  <a:schemeClr val="tx1"/>
                </a:solidFill>
              </a:rPr>
              <a:t> and </a:t>
            </a:r>
            <a:r>
              <a:rPr lang="en-US" altLang="zh-TW" sz="2400" dirty="0">
                <a:solidFill>
                  <a:srgbClr val="FF0000"/>
                </a:solidFill>
              </a:rPr>
              <a:t>Features</a:t>
            </a:r>
            <a:r>
              <a:rPr lang="en-US" altLang="zh-TW" sz="2400" dirty="0">
                <a:solidFill>
                  <a:schemeClr val="tx1"/>
                </a:solidFill>
              </a:rPr>
              <a:t>…</a:t>
            </a:r>
          </a:p>
          <a:p>
            <a:pPr>
              <a:lnSpc>
                <a:spcPct val="150000"/>
              </a:lnSpc>
            </a:pPr>
            <a:r>
              <a:rPr lang="en-US" sz="2400" dirty="0">
                <a:solidFill>
                  <a:schemeClr val="tx1"/>
                </a:solidFill>
              </a:rPr>
              <a:t>How to evaluate that </a:t>
            </a:r>
            <a:r>
              <a:rPr lang="en-US" sz="2400" dirty="0">
                <a:solidFill>
                  <a:srgbClr val="0070C0"/>
                </a:solidFill>
              </a:rPr>
              <a:t>they are related?</a:t>
            </a:r>
          </a:p>
        </p:txBody>
      </p:sp>
      <p:sp>
        <p:nvSpPr>
          <p:cNvPr id="7" name="Rectangle: Rounded Corners 6">
            <a:extLst>
              <a:ext uri="{FF2B5EF4-FFF2-40B4-BE49-F238E27FC236}">
                <a16:creationId xmlns:a16="http://schemas.microsoft.com/office/drawing/2014/main" id="{6ACFB94F-1A0E-0D39-7C69-A2E73903529F}"/>
              </a:ext>
            </a:extLst>
          </p:cNvPr>
          <p:cNvSpPr/>
          <p:nvPr/>
        </p:nvSpPr>
        <p:spPr>
          <a:xfrm>
            <a:off x="3299062" y="3454986"/>
            <a:ext cx="1538114" cy="384048"/>
          </a:xfrm>
          <a:prstGeom prst="roundRect">
            <a:avLst>
              <a:gd name="adj" fmla="val 16667"/>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Association</a:t>
            </a:r>
          </a:p>
        </p:txBody>
      </p:sp>
      <p:sp>
        <p:nvSpPr>
          <p:cNvPr id="9" name="Rectangle: Rounded Corners 8">
            <a:extLst>
              <a:ext uri="{FF2B5EF4-FFF2-40B4-BE49-F238E27FC236}">
                <a16:creationId xmlns:a16="http://schemas.microsoft.com/office/drawing/2014/main" id="{9DF96B50-AE74-4CF5-4274-F1B1BCFB49C7}"/>
              </a:ext>
            </a:extLst>
          </p:cNvPr>
          <p:cNvSpPr/>
          <p:nvPr/>
        </p:nvSpPr>
        <p:spPr>
          <a:xfrm>
            <a:off x="3299062" y="4165781"/>
            <a:ext cx="1538114" cy="384048"/>
          </a:xfrm>
          <a:prstGeom prst="roundRect">
            <a:avLst>
              <a:gd name="adj" fmla="val 16667"/>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Specificity</a:t>
            </a:r>
          </a:p>
        </p:txBody>
      </p:sp>
      <p:pic>
        <p:nvPicPr>
          <p:cNvPr id="15" name="Picture 14">
            <a:extLst>
              <a:ext uri="{FF2B5EF4-FFF2-40B4-BE49-F238E27FC236}">
                <a16:creationId xmlns:a16="http://schemas.microsoft.com/office/drawing/2014/main" id="{20EF17CD-1500-6500-AA63-FB1C2E99BD1C}"/>
              </a:ext>
            </a:extLst>
          </p:cNvPr>
          <p:cNvPicPr>
            <a:picLocks noChangeAspect="1"/>
          </p:cNvPicPr>
          <p:nvPr/>
        </p:nvPicPr>
        <p:blipFill>
          <a:blip r:embed="rId3"/>
          <a:stretch>
            <a:fillRect/>
          </a:stretch>
        </p:blipFill>
        <p:spPr>
          <a:xfrm>
            <a:off x="7736471" y="3099830"/>
            <a:ext cx="2644369" cy="739204"/>
          </a:xfrm>
          <a:prstGeom prst="rect">
            <a:avLst/>
          </a:prstGeom>
        </p:spPr>
      </p:pic>
      <p:pic>
        <p:nvPicPr>
          <p:cNvPr id="17" name="Picture 16">
            <a:extLst>
              <a:ext uri="{FF2B5EF4-FFF2-40B4-BE49-F238E27FC236}">
                <a16:creationId xmlns:a16="http://schemas.microsoft.com/office/drawing/2014/main" id="{1760DBA0-6A03-21AB-FB57-1D02A57895BF}"/>
              </a:ext>
            </a:extLst>
          </p:cNvPr>
          <p:cNvPicPr>
            <a:picLocks noChangeAspect="1"/>
          </p:cNvPicPr>
          <p:nvPr/>
        </p:nvPicPr>
        <p:blipFill>
          <a:blip r:embed="rId4"/>
          <a:stretch>
            <a:fillRect/>
          </a:stretch>
        </p:blipFill>
        <p:spPr>
          <a:xfrm>
            <a:off x="7907133" y="3959366"/>
            <a:ext cx="3254022" cy="708721"/>
          </a:xfrm>
          <a:prstGeom prst="rect">
            <a:avLst/>
          </a:prstGeom>
        </p:spPr>
      </p:pic>
      <p:pic>
        <p:nvPicPr>
          <p:cNvPr id="19" name="Picture 18">
            <a:extLst>
              <a:ext uri="{FF2B5EF4-FFF2-40B4-BE49-F238E27FC236}">
                <a16:creationId xmlns:a16="http://schemas.microsoft.com/office/drawing/2014/main" id="{9DD4DB81-3508-9045-AEFD-082902372EB7}"/>
              </a:ext>
            </a:extLst>
          </p:cNvPr>
          <p:cNvPicPr>
            <a:picLocks noChangeAspect="1"/>
          </p:cNvPicPr>
          <p:nvPr/>
        </p:nvPicPr>
        <p:blipFill>
          <a:blip r:embed="rId5"/>
          <a:stretch>
            <a:fillRect/>
          </a:stretch>
        </p:blipFill>
        <p:spPr>
          <a:xfrm>
            <a:off x="7846168" y="4762546"/>
            <a:ext cx="3314987" cy="701101"/>
          </a:xfrm>
          <a:prstGeom prst="rect">
            <a:avLst/>
          </a:prstGeom>
        </p:spPr>
      </p:pic>
      <p:pic>
        <p:nvPicPr>
          <p:cNvPr id="21" name="Picture 20">
            <a:extLst>
              <a:ext uri="{FF2B5EF4-FFF2-40B4-BE49-F238E27FC236}">
                <a16:creationId xmlns:a16="http://schemas.microsoft.com/office/drawing/2014/main" id="{06134831-0563-7676-6A68-73591AC865BD}"/>
              </a:ext>
            </a:extLst>
          </p:cNvPr>
          <p:cNvPicPr>
            <a:picLocks noChangeAspect="1"/>
          </p:cNvPicPr>
          <p:nvPr/>
        </p:nvPicPr>
        <p:blipFill>
          <a:blip r:embed="rId6"/>
          <a:stretch>
            <a:fillRect/>
          </a:stretch>
        </p:blipFill>
        <p:spPr>
          <a:xfrm>
            <a:off x="7907133" y="5701518"/>
            <a:ext cx="3261643" cy="701101"/>
          </a:xfrm>
          <a:prstGeom prst="rect">
            <a:avLst/>
          </a:prstGeom>
        </p:spPr>
      </p:pic>
      <p:sp>
        <p:nvSpPr>
          <p:cNvPr id="22" name="Rectangle: Rounded Corners 21">
            <a:extLst>
              <a:ext uri="{FF2B5EF4-FFF2-40B4-BE49-F238E27FC236}">
                <a16:creationId xmlns:a16="http://schemas.microsoft.com/office/drawing/2014/main" id="{961B6889-4B98-FE45-979A-7C26C4F7626D}"/>
              </a:ext>
            </a:extLst>
          </p:cNvPr>
          <p:cNvSpPr/>
          <p:nvPr/>
        </p:nvSpPr>
        <p:spPr>
          <a:xfrm>
            <a:off x="4132127" y="4861703"/>
            <a:ext cx="1538114" cy="384048"/>
          </a:xfrm>
          <a:prstGeom prst="roundRect">
            <a:avLst>
              <a:gd name="adj" fmla="val 16667"/>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Variance</a:t>
            </a:r>
          </a:p>
        </p:txBody>
      </p:sp>
      <p:sp>
        <p:nvSpPr>
          <p:cNvPr id="23" name="Rectangle: Rounded Corners 22">
            <a:extLst>
              <a:ext uri="{FF2B5EF4-FFF2-40B4-BE49-F238E27FC236}">
                <a16:creationId xmlns:a16="http://schemas.microsoft.com/office/drawing/2014/main" id="{D19F1F2B-2A94-94C1-2738-16C5B344DD75}"/>
              </a:ext>
            </a:extLst>
          </p:cNvPr>
          <p:cNvSpPr/>
          <p:nvPr/>
        </p:nvSpPr>
        <p:spPr>
          <a:xfrm>
            <a:off x="3299062" y="5614385"/>
            <a:ext cx="2543954" cy="384048"/>
          </a:xfrm>
          <a:prstGeom prst="roundRect">
            <a:avLst>
              <a:gd name="adj" fmla="val 16667"/>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Degree of Disorder</a:t>
            </a:r>
          </a:p>
        </p:txBody>
      </p:sp>
      <p:sp>
        <p:nvSpPr>
          <p:cNvPr id="24" name="Double Brace 23">
            <a:extLst>
              <a:ext uri="{FF2B5EF4-FFF2-40B4-BE49-F238E27FC236}">
                <a16:creationId xmlns:a16="http://schemas.microsoft.com/office/drawing/2014/main" id="{473812EE-2E86-4B7D-DD30-D847EE56E200}"/>
              </a:ext>
            </a:extLst>
          </p:cNvPr>
          <p:cNvSpPr/>
          <p:nvPr/>
        </p:nvSpPr>
        <p:spPr>
          <a:xfrm>
            <a:off x="416514" y="4196320"/>
            <a:ext cx="6245352" cy="1794892"/>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5" name="Title 1">
            <a:extLst>
              <a:ext uri="{FF2B5EF4-FFF2-40B4-BE49-F238E27FC236}">
                <a16:creationId xmlns:a16="http://schemas.microsoft.com/office/drawing/2014/main" id="{9F19FB6E-9A9B-8581-2BE9-B5A087F2F512}"/>
              </a:ext>
            </a:extLst>
          </p:cNvPr>
          <p:cNvSpPr txBox="1">
            <a:spLocks/>
          </p:cNvSpPr>
          <p:nvPr/>
        </p:nvSpPr>
        <p:spPr>
          <a:xfrm>
            <a:off x="1647046" y="6209672"/>
            <a:ext cx="3304032" cy="5664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altLang="zh-TW" sz="2000" dirty="0"/>
              <a:t>The evenness of Distribution</a:t>
            </a:r>
            <a:endParaRPr lang="en-US" sz="2000" dirty="0">
              <a:solidFill>
                <a:srgbClr val="0070C0"/>
              </a:solidFill>
            </a:endParaRPr>
          </a:p>
        </p:txBody>
      </p:sp>
      <p:sp>
        <p:nvSpPr>
          <p:cNvPr id="2" name="Slide Number Placeholder 1">
            <a:extLst>
              <a:ext uri="{FF2B5EF4-FFF2-40B4-BE49-F238E27FC236}">
                <a16:creationId xmlns:a16="http://schemas.microsoft.com/office/drawing/2014/main" id="{1B42C0BB-2ECE-2C14-0B51-0753DCE29361}"/>
              </a:ext>
            </a:extLst>
          </p:cNvPr>
          <p:cNvSpPr>
            <a:spLocks noGrp="1"/>
          </p:cNvSpPr>
          <p:nvPr>
            <p:ph type="sldNum" sz="quarter" idx="12"/>
          </p:nvPr>
        </p:nvSpPr>
        <p:spPr/>
        <p:txBody>
          <a:bodyPr/>
          <a:lstStyle/>
          <a:p>
            <a:fld id="{7DF2C209-72C5-4BD6-83FD-73557975086B}" type="slidenum">
              <a:rPr lang="en-US" smtClean="0"/>
              <a:t>47</a:t>
            </a:fld>
            <a:endParaRPr lang="en-US"/>
          </a:p>
        </p:txBody>
      </p:sp>
    </p:spTree>
    <p:extLst>
      <p:ext uri="{BB962C8B-B14F-4D97-AF65-F5344CB8AC3E}">
        <p14:creationId xmlns:p14="http://schemas.microsoft.com/office/powerpoint/2010/main" val="33339166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BEBE1-90F2-4A6D-5AC7-9FB9B4113CE8}"/>
              </a:ext>
            </a:extLst>
          </p:cNvPr>
          <p:cNvSpPr>
            <a:spLocks noGrp="1"/>
          </p:cNvSpPr>
          <p:nvPr>
            <p:ph type="title"/>
          </p:nvPr>
        </p:nvSpPr>
        <p:spPr>
          <a:xfrm>
            <a:off x="838200" y="495754"/>
            <a:ext cx="10515600" cy="1071789"/>
          </a:xfrm>
        </p:spPr>
        <p:txBody>
          <a:bodyPr>
            <a:normAutofit/>
          </a:bodyPr>
          <a:lstStyle/>
          <a:p>
            <a:pPr>
              <a:lnSpc>
                <a:spcPct val="100000"/>
              </a:lnSpc>
            </a:pPr>
            <a:r>
              <a:rPr lang="en-US" altLang="zh-TW" dirty="0"/>
              <a:t>Two desirable properties of generating graph </a:t>
            </a:r>
            <a:endParaRPr lang="en-US" dirty="0"/>
          </a:p>
        </p:txBody>
      </p:sp>
      <p:sp>
        <p:nvSpPr>
          <p:cNvPr id="3" name="Content Placeholder 2">
            <a:extLst>
              <a:ext uri="{FF2B5EF4-FFF2-40B4-BE49-F238E27FC236}">
                <a16:creationId xmlns:a16="http://schemas.microsoft.com/office/drawing/2014/main" id="{D031DEBC-52AE-ADBF-1AE0-4AA1CDD58951}"/>
              </a:ext>
            </a:extLst>
          </p:cNvPr>
          <p:cNvSpPr>
            <a:spLocks noGrp="1"/>
          </p:cNvSpPr>
          <p:nvPr>
            <p:ph idx="1"/>
          </p:nvPr>
        </p:nvSpPr>
        <p:spPr>
          <a:xfrm>
            <a:off x="838200" y="1807029"/>
            <a:ext cx="10515600" cy="4369934"/>
          </a:xfrm>
        </p:spPr>
        <p:txBody>
          <a:bodyPr/>
          <a:lstStyle/>
          <a:p>
            <a:r>
              <a:rPr lang="en-US" dirty="0"/>
              <a:t>First-order similarity</a:t>
            </a:r>
          </a:p>
          <a:p>
            <a:pPr lvl="1"/>
            <a:r>
              <a:rPr lang="en-US" b="0" i="0" dirty="0">
                <a:solidFill>
                  <a:srgbClr val="222222"/>
                </a:solidFill>
                <a:effectLst/>
                <a:latin typeface="Harding"/>
              </a:rPr>
              <a:t>for two entity types </a:t>
            </a:r>
            <a:r>
              <a:rPr lang="en-US" b="0" i="1" dirty="0">
                <a:solidFill>
                  <a:srgbClr val="222222"/>
                </a:solidFill>
                <a:effectLst/>
                <a:latin typeface="Harding"/>
              </a:rPr>
              <a:t>T</a:t>
            </a:r>
            <a:r>
              <a:rPr lang="en-US" b="0" i="0" baseline="-25000" dirty="0">
                <a:solidFill>
                  <a:srgbClr val="222222"/>
                </a:solidFill>
                <a:effectLst/>
                <a:latin typeface="Harding"/>
              </a:rPr>
              <a:t>1</a:t>
            </a:r>
            <a:r>
              <a:rPr lang="en-US" b="0" i="0" dirty="0">
                <a:solidFill>
                  <a:srgbClr val="222222"/>
                </a:solidFill>
                <a:effectLst/>
                <a:latin typeface="Harding"/>
              </a:rPr>
              <a:t> and </a:t>
            </a:r>
            <a:r>
              <a:rPr lang="en-US" b="0" i="1" dirty="0">
                <a:solidFill>
                  <a:srgbClr val="222222"/>
                </a:solidFill>
                <a:effectLst/>
                <a:latin typeface="Harding"/>
              </a:rPr>
              <a:t>T</a:t>
            </a:r>
            <a:r>
              <a:rPr lang="en-US" b="0" i="0" baseline="-25000" dirty="0">
                <a:solidFill>
                  <a:srgbClr val="222222"/>
                </a:solidFill>
                <a:effectLst/>
                <a:latin typeface="Harding"/>
              </a:rPr>
              <a:t>2</a:t>
            </a:r>
            <a:r>
              <a:rPr lang="en-US" b="0" i="0" dirty="0">
                <a:solidFill>
                  <a:srgbClr val="222222"/>
                </a:solidFill>
                <a:effectLst/>
                <a:latin typeface="Harding"/>
              </a:rPr>
              <a:t> with a relation between them, edges with high likelihood should have higher dot product</a:t>
            </a:r>
          </a:p>
          <a:p>
            <a:pPr marL="457200" lvl="1" indent="0">
              <a:buNone/>
            </a:pPr>
            <a:endParaRPr lang="en-US" dirty="0"/>
          </a:p>
          <a:p>
            <a:r>
              <a:rPr lang="en-US" b="0" i="0" dirty="0">
                <a:solidFill>
                  <a:srgbClr val="222222"/>
                </a:solidFill>
                <a:effectLst/>
                <a:latin typeface="Harding"/>
              </a:rPr>
              <a:t>Second-order similarity</a:t>
            </a:r>
          </a:p>
          <a:p>
            <a:pPr lvl="1"/>
            <a:r>
              <a:rPr lang="en-US" b="0" i="0" dirty="0">
                <a:solidFill>
                  <a:srgbClr val="222222"/>
                </a:solidFill>
                <a:effectLst/>
                <a:latin typeface="Harding"/>
              </a:rPr>
              <a:t>within a single entity type, entities that have ‘similar contexts,’ that is, a similar distribution of edge probabilities, should have similar embeddings.</a:t>
            </a:r>
            <a:endParaRPr lang="en-US" dirty="0"/>
          </a:p>
        </p:txBody>
      </p:sp>
      <p:sp>
        <p:nvSpPr>
          <p:cNvPr id="4" name="Slide Number Placeholder 3">
            <a:extLst>
              <a:ext uri="{FF2B5EF4-FFF2-40B4-BE49-F238E27FC236}">
                <a16:creationId xmlns:a16="http://schemas.microsoft.com/office/drawing/2014/main" id="{CCC81D98-486C-A89D-8952-90CA41B5CD8B}"/>
              </a:ext>
            </a:extLst>
          </p:cNvPr>
          <p:cNvSpPr>
            <a:spLocks noGrp="1"/>
          </p:cNvSpPr>
          <p:nvPr>
            <p:ph type="sldNum" sz="quarter" idx="12"/>
          </p:nvPr>
        </p:nvSpPr>
        <p:spPr/>
        <p:txBody>
          <a:bodyPr/>
          <a:lstStyle/>
          <a:p>
            <a:fld id="{38543A31-4DFF-4CB7-B4D4-2CA7645BB8BE}" type="slidenum">
              <a:rPr lang="en-US" smtClean="0"/>
              <a:t>48</a:t>
            </a:fld>
            <a:endParaRPr lang="en-US"/>
          </a:p>
        </p:txBody>
      </p:sp>
    </p:spTree>
    <p:extLst>
      <p:ext uri="{BB962C8B-B14F-4D97-AF65-F5344CB8AC3E}">
        <p14:creationId xmlns:p14="http://schemas.microsoft.com/office/powerpoint/2010/main" val="31309951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1683B3-B2B7-69FC-3DAD-29CD8D8A4C51}"/>
              </a:ext>
            </a:extLst>
          </p:cNvPr>
          <p:cNvSpPr>
            <a:spLocks noGrp="1"/>
          </p:cNvSpPr>
          <p:nvPr>
            <p:ph type="sldNum" sz="quarter" idx="12"/>
          </p:nvPr>
        </p:nvSpPr>
        <p:spPr/>
        <p:txBody>
          <a:bodyPr/>
          <a:lstStyle/>
          <a:p>
            <a:fld id="{38543A31-4DFF-4CB7-B4D4-2CA7645BB8BE}" type="slidenum">
              <a:rPr lang="en-US" smtClean="0"/>
              <a:t>49</a:t>
            </a:fld>
            <a:endParaRPr lang="en-US"/>
          </a:p>
        </p:txBody>
      </p:sp>
      <p:pic>
        <p:nvPicPr>
          <p:cNvPr id="6" name="Picture 5">
            <a:extLst>
              <a:ext uri="{FF2B5EF4-FFF2-40B4-BE49-F238E27FC236}">
                <a16:creationId xmlns:a16="http://schemas.microsoft.com/office/drawing/2014/main" id="{841D4984-9E55-747F-4A9D-4342A06CE3DC}"/>
              </a:ext>
            </a:extLst>
          </p:cNvPr>
          <p:cNvPicPr>
            <a:picLocks noChangeAspect="1"/>
          </p:cNvPicPr>
          <p:nvPr/>
        </p:nvPicPr>
        <p:blipFill>
          <a:blip r:embed="rId2"/>
          <a:stretch>
            <a:fillRect/>
          </a:stretch>
        </p:blipFill>
        <p:spPr>
          <a:xfrm>
            <a:off x="2532708" y="883792"/>
            <a:ext cx="7126583" cy="5090416"/>
          </a:xfrm>
          <a:prstGeom prst="rect">
            <a:avLst/>
          </a:prstGeom>
        </p:spPr>
      </p:pic>
    </p:spTree>
    <p:extLst>
      <p:ext uri="{BB962C8B-B14F-4D97-AF65-F5344CB8AC3E}">
        <p14:creationId xmlns:p14="http://schemas.microsoft.com/office/powerpoint/2010/main" val="23681675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9917052-7AD8-CCE0-1EE5-1E35F6F84647}"/>
              </a:ext>
            </a:extLst>
          </p:cNvPr>
          <p:cNvSpPr>
            <a:spLocks noGrp="1"/>
          </p:cNvSpPr>
          <p:nvPr>
            <p:ph type="sldNum" sz="quarter" idx="12"/>
          </p:nvPr>
        </p:nvSpPr>
        <p:spPr/>
        <p:txBody>
          <a:bodyPr/>
          <a:lstStyle/>
          <a:p>
            <a:fld id="{38543A31-4DFF-4CB7-B4D4-2CA7645BB8BE}" type="slidenum">
              <a:rPr lang="en-US" smtClean="0"/>
              <a:t>50</a:t>
            </a:fld>
            <a:endParaRPr lang="en-US"/>
          </a:p>
        </p:txBody>
      </p:sp>
      <p:pic>
        <p:nvPicPr>
          <p:cNvPr id="6" name="Picture 5">
            <a:extLst>
              <a:ext uri="{FF2B5EF4-FFF2-40B4-BE49-F238E27FC236}">
                <a16:creationId xmlns:a16="http://schemas.microsoft.com/office/drawing/2014/main" id="{4636B190-5ABE-D71E-15D6-32BBAE1D5653}"/>
              </a:ext>
            </a:extLst>
          </p:cNvPr>
          <p:cNvPicPr>
            <a:picLocks noChangeAspect="1"/>
          </p:cNvPicPr>
          <p:nvPr/>
        </p:nvPicPr>
        <p:blipFill>
          <a:blip r:embed="rId2"/>
          <a:stretch>
            <a:fillRect/>
          </a:stretch>
        </p:blipFill>
        <p:spPr>
          <a:xfrm>
            <a:off x="501192" y="1694687"/>
            <a:ext cx="11189616" cy="3468626"/>
          </a:xfrm>
          <a:prstGeom prst="rect">
            <a:avLst/>
          </a:prstGeom>
        </p:spPr>
      </p:pic>
    </p:spTree>
    <p:extLst>
      <p:ext uri="{BB962C8B-B14F-4D97-AF65-F5344CB8AC3E}">
        <p14:creationId xmlns:p14="http://schemas.microsoft.com/office/powerpoint/2010/main" val="20933334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3CED96-1885-FBA5-407F-3A251C133121}"/>
              </a:ext>
            </a:extLst>
          </p:cNvPr>
          <p:cNvSpPr>
            <a:spLocks noGrp="1"/>
          </p:cNvSpPr>
          <p:nvPr>
            <p:ph type="sldNum" sz="quarter" idx="12"/>
          </p:nvPr>
        </p:nvSpPr>
        <p:spPr/>
        <p:txBody>
          <a:bodyPr/>
          <a:lstStyle/>
          <a:p>
            <a:fld id="{38543A31-4DFF-4CB7-B4D4-2CA7645BB8BE}" type="slidenum">
              <a:rPr lang="en-US" smtClean="0"/>
              <a:t>51</a:t>
            </a:fld>
            <a:endParaRPr lang="en-US"/>
          </a:p>
        </p:txBody>
      </p:sp>
      <p:pic>
        <p:nvPicPr>
          <p:cNvPr id="6" name="Picture 5">
            <a:extLst>
              <a:ext uri="{FF2B5EF4-FFF2-40B4-BE49-F238E27FC236}">
                <a16:creationId xmlns:a16="http://schemas.microsoft.com/office/drawing/2014/main" id="{5D4D48AB-AEC8-B171-C414-2469E65FE3A6}"/>
              </a:ext>
            </a:extLst>
          </p:cNvPr>
          <p:cNvPicPr>
            <a:picLocks noChangeAspect="1"/>
          </p:cNvPicPr>
          <p:nvPr/>
        </p:nvPicPr>
        <p:blipFill>
          <a:blip r:embed="rId2"/>
          <a:stretch>
            <a:fillRect/>
          </a:stretch>
        </p:blipFill>
        <p:spPr>
          <a:xfrm>
            <a:off x="1874083" y="1088791"/>
            <a:ext cx="8443833" cy="4640186"/>
          </a:xfrm>
          <a:prstGeom prst="rect">
            <a:avLst/>
          </a:prstGeom>
        </p:spPr>
      </p:pic>
    </p:spTree>
    <p:extLst>
      <p:ext uri="{BB962C8B-B14F-4D97-AF65-F5344CB8AC3E}">
        <p14:creationId xmlns:p14="http://schemas.microsoft.com/office/powerpoint/2010/main" val="29177585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1683B3-B2B7-69FC-3DAD-29CD8D8A4C51}"/>
              </a:ext>
            </a:extLst>
          </p:cNvPr>
          <p:cNvSpPr>
            <a:spLocks noGrp="1"/>
          </p:cNvSpPr>
          <p:nvPr>
            <p:ph type="sldNum" sz="quarter" idx="12"/>
          </p:nvPr>
        </p:nvSpPr>
        <p:spPr/>
        <p:txBody>
          <a:bodyPr/>
          <a:lstStyle/>
          <a:p>
            <a:fld id="{38543A31-4DFF-4CB7-B4D4-2CA7645BB8BE}" type="slidenum">
              <a:rPr lang="en-US" smtClean="0"/>
              <a:t>52</a:t>
            </a:fld>
            <a:endParaRPr lang="en-US"/>
          </a:p>
        </p:txBody>
      </p:sp>
      <p:pic>
        <p:nvPicPr>
          <p:cNvPr id="6" name="Picture 5">
            <a:extLst>
              <a:ext uri="{FF2B5EF4-FFF2-40B4-BE49-F238E27FC236}">
                <a16:creationId xmlns:a16="http://schemas.microsoft.com/office/drawing/2014/main" id="{841D4984-9E55-747F-4A9D-4342A06CE3DC}"/>
              </a:ext>
            </a:extLst>
          </p:cNvPr>
          <p:cNvPicPr>
            <a:picLocks noChangeAspect="1"/>
          </p:cNvPicPr>
          <p:nvPr/>
        </p:nvPicPr>
        <p:blipFill>
          <a:blip r:embed="rId2"/>
          <a:stretch>
            <a:fillRect/>
          </a:stretch>
        </p:blipFill>
        <p:spPr>
          <a:xfrm>
            <a:off x="250065" y="461913"/>
            <a:ext cx="6493183" cy="4637987"/>
          </a:xfrm>
          <a:prstGeom prst="rect">
            <a:avLst/>
          </a:prstGeom>
        </p:spPr>
      </p:pic>
      <p:pic>
        <p:nvPicPr>
          <p:cNvPr id="3" name="Picture 2">
            <a:extLst>
              <a:ext uri="{FF2B5EF4-FFF2-40B4-BE49-F238E27FC236}">
                <a16:creationId xmlns:a16="http://schemas.microsoft.com/office/drawing/2014/main" id="{C88DBF2D-2F0E-EE53-8B68-EC1E62CAF07E}"/>
              </a:ext>
            </a:extLst>
          </p:cNvPr>
          <p:cNvPicPr>
            <a:picLocks noChangeAspect="1"/>
          </p:cNvPicPr>
          <p:nvPr/>
        </p:nvPicPr>
        <p:blipFill>
          <a:blip r:embed="rId3"/>
          <a:stretch>
            <a:fillRect/>
          </a:stretch>
        </p:blipFill>
        <p:spPr>
          <a:xfrm>
            <a:off x="6417331" y="3329432"/>
            <a:ext cx="5774669" cy="2552894"/>
          </a:xfrm>
          <a:prstGeom prst="rect">
            <a:avLst/>
          </a:prstGeom>
        </p:spPr>
      </p:pic>
    </p:spTree>
    <p:extLst>
      <p:ext uri="{BB962C8B-B14F-4D97-AF65-F5344CB8AC3E}">
        <p14:creationId xmlns:p14="http://schemas.microsoft.com/office/powerpoint/2010/main" val="13912230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90F4668-F027-448C-1B9B-55DDE1A8A22A}"/>
              </a:ext>
            </a:extLst>
          </p:cNvPr>
          <p:cNvSpPr txBox="1">
            <a:spLocks/>
          </p:cNvSpPr>
          <p:nvPr/>
        </p:nvSpPr>
        <p:spPr>
          <a:xfrm>
            <a:off x="636037" y="39622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Algorithm Novelty in PBG – Training at Scale</a:t>
            </a:r>
          </a:p>
        </p:txBody>
      </p:sp>
      <p:sp>
        <p:nvSpPr>
          <p:cNvPr id="7" name="Slide Number Placeholder 6">
            <a:extLst>
              <a:ext uri="{FF2B5EF4-FFF2-40B4-BE49-F238E27FC236}">
                <a16:creationId xmlns:a16="http://schemas.microsoft.com/office/drawing/2014/main" id="{E8C3A901-F151-49F7-83FC-6B5763A12EE9}"/>
              </a:ext>
            </a:extLst>
          </p:cNvPr>
          <p:cNvSpPr>
            <a:spLocks noGrp="1"/>
          </p:cNvSpPr>
          <p:nvPr>
            <p:ph type="sldNum" sz="quarter" idx="12"/>
          </p:nvPr>
        </p:nvSpPr>
        <p:spPr/>
        <p:txBody>
          <a:bodyPr/>
          <a:lstStyle/>
          <a:p>
            <a:fld id="{38543A31-4DFF-4CB7-B4D4-2CA7645BB8BE}" type="slidenum">
              <a:rPr lang="en-US" smtClean="0"/>
              <a:t>53</a:t>
            </a:fld>
            <a:endParaRPr lang="en-US"/>
          </a:p>
        </p:txBody>
      </p:sp>
      <p:sp>
        <p:nvSpPr>
          <p:cNvPr id="12" name="Content Placeholder 2">
            <a:extLst>
              <a:ext uri="{FF2B5EF4-FFF2-40B4-BE49-F238E27FC236}">
                <a16:creationId xmlns:a16="http://schemas.microsoft.com/office/drawing/2014/main" id="{9C3E0434-0F03-686E-51F1-0B76AF063B75}"/>
              </a:ext>
            </a:extLst>
          </p:cNvPr>
          <p:cNvSpPr>
            <a:spLocks noGrp="1"/>
          </p:cNvSpPr>
          <p:nvPr>
            <p:ph idx="1"/>
          </p:nvPr>
        </p:nvSpPr>
        <p:spPr>
          <a:xfrm>
            <a:off x="838200" y="1825624"/>
            <a:ext cx="10515600" cy="4784725"/>
          </a:xfrm>
        </p:spPr>
        <p:txBody>
          <a:bodyPr>
            <a:normAutofit/>
          </a:bodyPr>
          <a:lstStyle/>
          <a:p>
            <a:pPr>
              <a:lnSpc>
                <a:spcPct val="150000"/>
              </a:lnSpc>
            </a:pPr>
            <a:r>
              <a:rPr lang="en-US" dirty="0"/>
              <a:t>Block Decomposition of the Adjacency Matrix</a:t>
            </a:r>
          </a:p>
          <a:p>
            <a:pPr>
              <a:lnSpc>
                <a:spcPct val="150000"/>
              </a:lnSpc>
            </a:pPr>
            <a:r>
              <a:rPr lang="en-US" dirty="0"/>
              <a:t>Distributed Execution Model</a:t>
            </a:r>
          </a:p>
          <a:p>
            <a:pPr>
              <a:lnSpc>
                <a:spcPct val="150000"/>
              </a:lnSpc>
            </a:pPr>
            <a:r>
              <a:rPr lang="en-US" dirty="0"/>
              <a:t>Efficient Negative Sampling</a:t>
            </a:r>
          </a:p>
          <a:p>
            <a:pPr>
              <a:lnSpc>
                <a:spcPct val="150000"/>
              </a:lnSpc>
            </a:pPr>
            <a:r>
              <a:rPr lang="en-US" dirty="0"/>
              <a:t>Per-Relation Configuration Operations</a:t>
            </a:r>
          </a:p>
        </p:txBody>
      </p:sp>
    </p:spTree>
    <p:extLst>
      <p:ext uri="{BB962C8B-B14F-4D97-AF65-F5344CB8AC3E}">
        <p14:creationId xmlns:p14="http://schemas.microsoft.com/office/powerpoint/2010/main" val="22284921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A1369-9124-3FE1-6047-E3F62EA085AF}"/>
              </a:ext>
            </a:extLst>
          </p:cNvPr>
          <p:cNvSpPr>
            <a:spLocks noGrp="1"/>
          </p:cNvSpPr>
          <p:nvPr>
            <p:ph type="title"/>
          </p:nvPr>
        </p:nvSpPr>
        <p:spPr/>
        <p:txBody>
          <a:bodyPr/>
          <a:lstStyle/>
          <a:p>
            <a:r>
              <a:rPr lang="en-US" dirty="0"/>
              <a:t>Block Partitioning</a:t>
            </a:r>
          </a:p>
        </p:txBody>
      </p:sp>
      <p:sp>
        <p:nvSpPr>
          <p:cNvPr id="4" name="Slide Number Placeholder 3">
            <a:extLst>
              <a:ext uri="{FF2B5EF4-FFF2-40B4-BE49-F238E27FC236}">
                <a16:creationId xmlns:a16="http://schemas.microsoft.com/office/drawing/2014/main" id="{9240F197-09E2-10E6-4650-288359692B20}"/>
              </a:ext>
            </a:extLst>
          </p:cNvPr>
          <p:cNvSpPr>
            <a:spLocks noGrp="1"/>
          </p:cNvSpPr>
          <p:nvPr>
            <p:ph type="sldNum" sz="quarter" idx="12"/>
          </p:nvPr>
        </p:nvSpPr>
        <p:spPr/>
        <p:txBody>
          <a:bodyPr/>
          <a:lstStyle/>
          <a:p>
            <a:fld id="{38543A31-4DFF-4CB7-B4D4-2CA7645BB8BE}" type="slidenum">
              <a:rPr lang="en-US" smtClean="0"/>
              <a:t>54</a:t>
            </a:fld>
            <a:endParaRPr lang="en-US"/>
          </a:p>
        </p:txBody>
      </p:sp>
      <p:pic>
        <p:nvPicPr>
          <p:cNvPr id="6" name="Picture 5">
            <a:extLst>
              <a:ext uri="{FF2B5EF4-FFF2-40B4-BE49-F238E27FC236}">
                <a16:creationId xmlns:a16="http://schemas.microsoft.com/office/drawing/2014/main" id="{AE76792F-A982-2199-B266-2599792F5061}"/>
              </a:ext>
            </a:extLst>
          </p:cNvPr>
          <p:cNvPicPr>
            <a:picLocks noChangeAspect="1"/>
          </p:cNvPicPr>
          <p:nvPr/>
        </p:nvPicPr>
        <p:blipFill>
          <a:blip r:embed="rId3"/>
          <a:stretch>
            <a:fillRect/>
          </a:stretch>
        </p:blipFill>
        <p:spPr>
          <a:xfrm>
            <a:off x="511629" y="2008139"/>
            <a:ext cx="10842171" cy="3449205"/>
          </a:xfrm>
          <a:prstGeom prst="rect">
            <a:avLst/>
          </a:prstGeom>
        </p:spPr>
      </p:pic>
    </p:spTree>
    <p:extLst>
      <p:ext uri="{BB962C8B-B14F-4D97-AF65-F5344CB8AC3E}">
        <p14:creationId xmlns:p14="http://schemas.microsoft.com/office/powerpoint/2010/main" val="1496663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1112</TotalTime>
  <Words>11229</Words>
  <Application>Microsoft Office PowerPoint</Application>
  <PresentationFormat>Widescreen</PresentationFormat>
  <Paragraphs>562</Paragraphs>
  <Slides>54</Slides>
  <Notes>47</Notes>
  <HiddenSlides>9</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54</vt:i4>
      </vt:variant>
    </vt:vector>
  </HeadingPairs>
  <TitlesOfParts>
    <vt:vector size="65" baseType="lpstr">
      <vt:lpstr>-apple-system</vt:lpstr>
      <vt:lpstr>Harding</vt:lpstr>
      <vt:lpstr>KaTeX_Caligraphic</vt:lpstr>
      <vt:lpstr>KaTeX_Main</vt:lpstr>
      <vt:lpstr>KaTeX_Math</vt:lpstr>
      <vt:lpstr>KaTeX_Size1</vt:lpstr>
      <vt:lpstr>Söhne</vt:lpstr>
      <vt:lpstr>Arial</vt:lpstr>
      <vt:lpstr>Calibri</vt:lpstr>
      <vt:lpstr>Calibri Light</vt:lpstr>
      <vt:lpstr>Office Theme</vt:lpstr>
      <vt:lpstr>SIMBA: single-cell embedding along with features</vt:lpstr>
      <vt:lpstr>PowerPoint Presentation</vt:lpstr>
      <vt:lpstr>Outline</vt:lpstr>
      <vt:lpstr>Background</vt:lpstr>
      <vt:lpstr>PowerPoint Presentation</vt:lpstr>
      <vt:lpstr>This is what SIMBA want to ACHIEVE</vt:lpstr>
      <vt:lpstr>A Graph Embedding Method</vt:lpstr>
      <vt:lpstr>PowerPoint Presentation</vt:lpstr>
      <vt:lpstr>Methods</vt:lpstr>
      <vt:lpstr>PowerPoint Presentation</vt:lpstr>
      <vt:lpstr>PowerPoint Presentation</vt:lpstr>
      <vt:lpstr>Single cell RNA </vt:lpstr>
      <vt:lpstr>Single cell ATAC</vt:lpstr>
      <vt:lpstr>PowerPoint Presentation</vt:lpstr>
      <vt:lpstr>PowerPoint Presentation</vt:lpstr>
      <vt:lpstr>Single cell RNA Analysis</vt:lpstr>
      <vt:lpstr>Single cell ATAC Analysis</vt:lpstr>
      <vt:lpstr>Multimodal Analysis</vt:lpstr>
      <vt:lpstr>PowerPoint Presentation</vt:lpstr>
      <vt:lpstr>Vector</vt:lpstr>
      <vt:lpstr>What is theta?</vt:lpstr>
      <vt:lpstr>Loss Function</vt:lpstr>
      <vt:lpstr>Negative Sampling</vt:lpstr>
      <vt:lpstr>Negative Sampling</vt:lpstr>
      <vt:lpstr>Evaluation</vt:lpstr>
      <vt:lpstr>Can our model predict precisely?</vt:lpstr>
      <vt:lpstr>Results</vt:lpstr>
      <vt:lpstr>PowerPoint Presentation</vt:lpstr>
      <vt:lpstr>PowerPoint Presentation</vt:lpstr>
      <vt:lpstr>PowerPoint Presentation</vt:lpstr>
      <vt:lpstr>PowerPoint Presentation</vt:lpstr>
      <vt:lpstr>PowerPoint Presentation</vt:lpstr>
      <vt:lpstr>Discussion</vt:lpstr>
      <vt:lpstr>SIMBA！To do more？</vt:lpstr>
      <vt:lpstr>Thanks for your attention  Q&amp;A Time</vt:lpstr>
      <vt:lpstr>Supplementary</vt:lpstr>
      <vt:lpstr>Dataset</vt:lpstr>
      <vt:lpstr>SIMBA’s Innovation</vt:lpstr>
      <vt:lpstr>SIMBA and Scanpy</vt:lpstr>
      <vt:lpstr>Benchmarking scATAC-seq computational methods </vt:lpstr>
      <vt:lpstr>Benchmarking single-cell batch correction methods</vt:lpstr>
      <vt:lpstr>Benchmarking single cell multi-omics integration methods</vt:lpstr>
      <vt:lpstr>Single-cell RNA seq Analysis</vt:lpstr>
      <vt:lpstr>Single-cell ATAC-seq Analysis</vt:lpstr>
      <vt:lpstr>Batch Correction</vt:lpstr>
      <vt:lpstr>Multi-omics Integration </vt:lpstr>
      <vt:lpstr>Metrics to assess cell-type specificity</vt:lpstr>
      <vt:lpstr>Two desirable properties of generating graph </vt:lpstr>
      <vt:lpstr>PowerPoint Presentation</vt:lpstr>
      <vt:lpstr>PowerPoint Presentation</vt:lpstr>
      <vt:lpstr>PowerPoint Presentation</vt:lpstr>
      <vt:lpstr>PowerPoint Presentation</vt:lpstr>
      <vt:lpstr>PowerPoint Presentation</vt:lpstr>
      <vt:lpstr>Block Partitioning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SIMBA: single-cell embedding along with features</dc:title>
  <dc:creator>Yi Jie Chen</dc:creator>
  <cp:lastModifiedBy>Yi Jie Chen</cp:lastModifiedBy>
  <cp:revision>115</cp:revision>
  <dcterms:created xsi:type="dcterms:W3CDTF">2023-11-13T11:42:40Z</dcterms:created>
  <dcterms:modified xsi:type="dcterms:W3CDTF">2023-11-22T08:29:25Z</dcterms:modified>
</cp:coreProperties>
</file>