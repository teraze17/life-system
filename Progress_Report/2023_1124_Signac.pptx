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2"/>
  </p:notesMasterIdLst>
  <p:sldIdLst>
    <p:sldId id="257" r:id="rId2"/>
    <p:sldId id="262" r:id="rId3"/>
    <p:sldId id="258" r:id="rId4"/>
    <p:sldId id="289" r:id="rId5"/>
    <p:sldId id="259" r:id="rId6"/>
    <p:sldId id="261" r:id="rId7"/>
    <p:sldId id="263" r:id="rId8"/>
    <p:sldId id="264" r:id="rId9"/>
    <p:sldId id="265" r:id="rId10"/>
    <p:sldId id="267" r:id="rId11"/>
    <p:sldId id="268" r:id="rId12"/>
    <p:sldId id="271" r:id="rId13"/>
    <p:sldId id="269" r:id="rId14"/>
    <p:sldId id="270"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6" r:id="rId29"/>
    <p:sldId id="287" r:id="rId30"/>
    <p:sldId id="290" r:id="rId31"/>
    <p:sldId id="291" r:id="rId32"/>
    <p:sldId id="292" r:id="rId33"/>
    <p:sldId id="293" r:id="rId34"/>
    <p:sldId id="294" r:id="rId35"/>
    <p:sldId id="295" r:id="rId36"/>
    <p:sldId id="296" r:id="rId37"/>
    <p:sldId id="297" r:id="rId38"/>
    <p:sldId id="298" r:id="rId39"/>
    <p:sldId id="299" r:id="rId40"/>
    <p:sldId id="300" r:id="rId41"/>
    <p:sldId id="301" r:id="rId42"/>
    <p:sldId id="302" r:id="rId43"/>
    <p:sldId id="303" r:id="rId44"/>
    <p:sldId id="304" r:id="rId45"/>
    <p:sldId id="306" r:id="rId46"/>
    <p:sldId id="305" r:id="rId47"/>
    <p:sldId id="307" r:id="rId48"/>
    <p:sldId id="314" r:id="rId49"/>
    <p:sldId id="315" r:id="rId50"/>
    <p:sldId id="308" r:id="rId51"/>
    <p:sldId id="326" r:id="rId52"/>
    <p:sldId id="309" r:id="rId53"/>
    <p:sldId id="310" r:id="rId54"/>
    <p:sldId id="327" r:id="rId55"/>
    <p:sldId id="311" r:id="rId56"/>
    <p:sldId id="312" r:id="rId57"/>
    <p:sldId id="313" r:id="rId58"/>
    <p:sldId id="316" r:id="rId59"/>
    <p:sldId id="317" r:id="rId60"/>
    <p:sldId id="328" r:id="rId61"/>
    <p:sldId id="318" r:id="rId62"/>
    <p:sldId id="319" r:id="rId63"/>
    <p:sldId id="320" r:id="rId64"/>
    <p:sldId id="325" r:id="rId65"/>
    <p:sldId id="321" r:id="rId66"/>
    <p:sldId id="322" r:id="rId67"/>
    <p:sldId id="323" r:id="rId68"/>
    <p:sldId id="324" r:id="rId69"/>
    <p:sldId id="285" r:id="rId70"/>
    <p:sldId id="288" r:id="rId7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82337" autoAdjust="0"/>
  </p:normalViewPr>
  <p:slideViewPr>
    <p:cSldViewPr snapToGrid="0">
      <p:cViewPr varScale="1">
        <p:scale>
          <a:sx n="81" d="100"/>
          <a:sy n="81" d="100"/>
        </p:scale>
        <p:origin x="725"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E23BC-4EB5-4EF8-9DF4-7C22D0EB668B}" type="datetimeFigureOut">
              <a:rPr lang="en-US" smtClean="0"/>
              <a:t>11/24/2023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D3149A-5CEE-485E-B722-2D0A63FFEAF0}" type="slidenum">
              <a:rPr lang="en-US" smtClean="0"/>
              <a:t>‹#›</a:t>
            </a:fld>
            <a:endParaRPr lang="en-US"/>
          </a:p>
        </p:txBody>
      </p:sp>
    </p:spTree>
    <p:extLst>
      <p:ext uri="{BB962C8B-B14F-4D97-AF65-F5344CB8AC3E}">
        <p14:creationId xmlns:p14="http://schemas.microsoft.com/office/powerpoint/2010/main" val="13798304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https://blog.sciencenet.cn/home.php?mod=space&amp;uid=118204&amp;do=blog&amp;id=1234929</a:t>
            </a:r>
          </a:p>
        </p:txBody>
      </p:sp>
      <p:sp>
        <p:nvSpPr>
          <p:cNvPr id="4" name="Slide Number Placeholder 3"/>
          <p:cNvSpPr>
            <a:spLocks noGrp="1"/>
          </p:cNvSpPr>
          <p:nvPr>
            <p:ph type="sldNum" sz="quarter" idx="5"/>
          </p:nvPr>
        </p:nvSpPr>
        <p:spPr/>
        <p:txBody>
          <a:bodyPr/>
          <a:lstStyle/>
          <a:p>
            <a:fld id="{A0D3149A-5CEE-485E-B722-2D0A63FFEAF0}" type="slidenum">
              <a:rPr lang="en-US" smtClean="0"/>
              <a:t>2</a:t>
            </a:fld>
            <a:endParaRPr lang="en-US"/>
          </a:p>
        </p:txBody>
      </p:sp>
    </p:spTree>
    <p:extLst>
      <p:ext uri="{BB962C8B-B14F-4D97-AF65-F5344CB8AC3E}">
        <p14:creationId xmlns:p14="http://schemas.microsoft.com/office/powerpoint/2010/main" val="19607900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Monlcle3 </a:t>
            </a:r>
            <a:r>
              <a:rPr lang="zh-TW" altLang="en-US" dirty="0"/>
              <a:t>和 </a:t>
            </a:r>
            <a:r>
              <a:rPr lang="en-US" altLang="zh-TW" dirty="0"/>
              <a:t>Monocle2 </a:t>
            </a:r>
            <a:r>
              <a:rPr lang="zh-TW" altLang="en-US" dirty="0"/>
              <a:t>可以視為兩個不同的工具</a:t>
            </a:r>
            <a:endParaRPr lang="en-US" dirty="0"/>
          </a:p>
        </p:txBody>
      </p:sp>
      <p:sp>
        <p:nvSpPr>
          <p:cNvPr id="4" name="Slide Number Placeholder 3"/>
          <p:cNvSpPr>
            <a:spLocks noGrp="1"/>
          </p:cNvSpPr>
          <p:nvPr>
            <p:ph type="sldNum" sz="quarter" idx="5"/>
          </p:nvPr>
        </p:nvSpPr>
        <p:spPr/>
        <p:txBody>
          <a:bodyPr/>
          <a:lstStyle/>
          <a:p>
            <a:fld id="{A0D3149A-5CEE-485E-B722-2D0A63FFEAF0}" type="slidenum">
              <a:rPr lang="en-US" smtClean="0"/>
              <a:t>3</a:t>
            </a:fld>
            <a:endParaRPr lang="en-US"/>
          </a:p>
        </p:txBody>
      </p:sp>
    </p:spTree>
    <p:extLst>
      <p:ext uri="{BB962C8B-B14F-4D97-AF65-F5344CB8AC3E}">
        <p14:creationId xmlns:p14="http://schemas.microsoft.com/office/powerpoint/2010/main" val="6411157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dirty="0"/>
              <a:t>原本是自己在 </a:t>
            </a:r>
            <a:r>
              <a:rPr lang="en-US" altLang="zh-TW" dirty="0"/>
              <a:t>Monocle</a:t>
            </a:r>
            <a:r>
              <a:rPr lang="zh-TW" altLang="en-US" dirty="0"/>
              <a:t>裡面做 </a:t>
            </a:r>
            <a:r>
              <a:rPr lang="en-US" altLang="zh-TW" dirty="0"/>
              <a:t>Annotation</a:t>
            </a:r>
            <a:r>
              <a:rPr lang="zh-TW" altLang="en-US" dirty="0"/>
              <a:t>，後來發現可以直接引用從 </a:t>
            </a:r>
            <a:r>
              <a:rPr lang="en-US" altLang="zh-TW" dirty="0"/>
              <a:t>Seurat Annotation</a:t>
            </a:r>
            <a:r>
              <a:rPr lang="zh-TW" altLang="en-US" dirty="0"/>
              <a:t> 來的結果</a:t>
            </a:r>
            <a:endParaRPr lang="en-US" altLang="zh-TW" dirty="0"/>
          </a:p>
        </p:txBody>
      </p:sp>
      <p:sp>
        <p:nvSpPr>
          <p:cNvPr id="4" name="Slide Number Placeholder 3"/>
          <p:cNvSpPr>
            <a:spLocks noGrp="1"/>
          </p:cNvSpPr>
          <p:nvPr>
            <p:ph type="sldNum" sz="quarter" idx="5"/>
          </p:nvPr>
        </p:nvSpPr>
        <p:spPr/>
        <p:txBody>
          <a:bodyPr/>
          <a:lstStyle/>
          <a:p>
            <a:fld id="{A0D3149A-5CEE-485E-B722-2D0A63FFEAF0}" type="slidenum">
              <a:rPr lang="en-US" smtClean="0"/>
              <a:t>5</a:t>
            </a:fld>
            <a:endParaRPr lang="en-US"/>
          </a:p>
        </p:txBody>
      </p:sp>
    </p:spTree>
    <p:extLst>
      <p:ext uri="{BB962C8B-B14F-4D97-AF65-F5344CB8AC3E}">
        <p14:creationId xmlns:p14="http://schemas.microsoft.com/office/powerpoint/2010/main" val="14571535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dirty="0"/>
              <a:t>左邊 </a:t>
            </a:r>
            <a:r>
              <a:rPr lang="en-US" altLang="zh-TW" dirty="0"/>
              <a:t>monocle </a:t>
            </a:r>
            <a:r>
              <a:rPr lang="zh-TW" altLang="en-US" dirty="0"/>
              <a:t>右邊 </a:t>
            </a:r>
            <a:r>
              <a:rPr lang="en-US" altLang="zh-TW" dirty="0"/>
              <a:t>Seurat</a:t>
            </a:r>
            <a:endParaRPr lang="en-US" dirty="0"/>
          </a:p>
          <a:p>
            <a:r>
              <a:rPr lang="en-US" dirty="0"/>
              <a:t>Seurat</a:t>
            </a:r>
            <a:r>
              <a:rPr lang="zh-TW" altLang="en-US" dirty="0"/>
              <a:t> 好像分的比較好</a:t>
            </a:r>
            <a:endParaRPr lang="en-US" dirty="0"/>
          </a:p>
        </p:txBody>
      </p:sp>
      <p:sp>
        <p:nvSpPr>
          <p:cNvPr id="4" name="Slide Number Placeholder 3"/>
          <p:cNvSpPr>
            <a:spLocks noGrp="1"/>
          </p:cNvSpPr>
          <p:nvPr>
            <p:ph type="sldNum" sz="quarter" idx="5"/>
          </p:nvPr>
        </p:nvSpPr>
        <p:spPr/>
        <p:txBody>
          <a:bodyPr/>
          <a:lstStyle/>
          <a:p>
            <a:fld id="{A0D3149A-5CEE-485E-B722-2D0A63FFEAF0}" type="slidenum">
              <a:rPr lang="en-US" smtClean="0"/>
              <a:t>7</a:t>
            </a:fld>
            <a:endParaRPr lang="en-US"/>
          </a:p>
        </p:txBody>
      </p:sp>
    </p:spTree>
    <p:extLst>
      <p:ext uri="{BB962C8B-B14F-4D97-AF65-F5344CB8AC3E}">
        <p14:creationId xmlns:p14="http://schemas.microsoft.com/office/powerpoint/2010/main" val="13422169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dirty="0"/>
              <a:t>在</a:t>
            </a:r>
            <a:r>
              <a:rPr lang="en-US" altLang="zh-TW" dirty="0"/>
              <a:t>Monocle</a:t>
            </a:r>
            <a:r>
              <a:rPr lang="zh-TW" altLang="en-US" dirty="0"/>
              <a:t>中，也有分群展示的功能 </a:t>
            </a:r>
            <a:r>
              <a:rPr lang="en-US" altLang="zh-TW" dirty="0"/>
              <a:t>(</a:t>
            </a:r>
            <a:r>
              <a:rPr lang="zh-TW" altLang="en-US" dirty="0"/>
              <a:t>不過我不確定這個功能何時會用上？</a:t>
            </a:r>
            <a:r>
              <a:rPr lang="en-US" altLang="zh-TW" dirty="0"/>
              <a:t>)</a:t>
            </a:r>
            <a:endParaRPr lang="en-US" dirty="0"/>
          </a:p>
        </p:txBody>
      </p:sp>
      <p:sp>
        <p:nvSpPr>
          <p:cNvPr id="4" name="Slide Number Placeholder 3"/>
          <p:cNvSpPr>
            <a:spLocks noGrp="1"/>
          </p:cNvSpPr>
          <p:nvPr>
            <p:ph type="sldNum" sz="quarter" idx="5"/>
          </p:nvPr>
        </p:nvSpPr>
        <p:spPr/>
        <p:txBody>
          <a:bodyPr/>
          <a:lstStyle/>
          <a:p>
            <a:fld id="{A0D3149A-5CEE-485E-B722-2D0A63FFEAF0}" type="slidenum">
              <a:rPr lang="en-US" smtClean="0"/>
              <a:t>8</a:t>
            </a:fld>
            <a:endParaRPr lang="en-US"/>
          </a:p>
        </p:txBody>
      </p:sp>
    </p:spTree>
    <p:extLst>
      <p:ext uri="{BB962C8B-B14F-4D97-AF65-F5344CB8AC3E}">
        <p14:creationId xmlns:p14="http://schemas.microsoft.com/office/powerpoint/2010/main" val="15731423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dirty="0"/>
              <a:t>橫軸：</a:t>
            </a:r>
            <a:r>
              <a:rPr lang="en-US" altLang="zh-TW" dirty="0"/>
              <a:t>mean expression</a:t>
            </a:r>
          </a:p>
          <a:p>
            <a:r>
              <a:rPr lang="zh-TW" altLang="en-US" dirty="0"/>
              <a:t>縱軸：</a:t>
            </a:r>
            <a:r>
              <a:rPr lang="en-US" altLang="zh-TW" dirty="0" err="1"/>
              <a:t>dispersion_empirical</a:t>
            </a:r>
            <a:r>
              <a:rPr lang="zh-TW" altLang="en-US" dirty="0"/>
              <a:t>：</a:t>
            </a:r>
            <a:r>
              <a:rPr lang="zh-TW" altLang="en-US" b="0" i="0" dirty="0">
                <a:solidFill>
                  <a:srgbClr val="0F0F0F"/>
                </a:solidFill>
                <a:effectLst/>
                <a:latin typeface="Söhne"/>
              </a:rPr>
              <a:t>觀測到的數據點的分散程度或變異性</a:t>
            </a:r>
            <a:endParaRPr lang="en-US" altLang="zh-TW" b="0" i="0" dirty="0">
              <a:solidFill>
                <a:srgbClr val="0F0F0F"/>
              </a:solidFill>
              <a:effectLst/>
              <a:latin typeface="Söhne"/>
            </a:endParaRPr>
          </a:p>
          <a:p>
            <a:r>
              <a:rPr lang="zh-TW" altLang="en-US" b="0" i="0" dirty="0">
                <a:solidFill>
                  <a:srgbClr val="0F0F0F"/>
                </a:solidFill>
                <a:effectLst/>
                <a:latin typeface="Söhne"/>
              </a:rPr>
              <a:t>黑色點代表的基因由於其表達變異性與平均表達量的關係符合 </a:t>
            </a:r>
            <a:r>
              <a:rPr lang="en-US" altLang="zh-TW" b="0" i="0" dirty="0">
                <a:solidFill>
                  <a:srgbClr val="0F0F0F"/>
                </a:solidFill>
                <a:effectLst/>
                <a:latin typeface="Söhne"/>
              </a:rPr>
              <a:t>Monocle </a:t>
            </a:r>
            <a:r>
              <a:rPr lang="zh-TW" altLang="en-US" b="0" i="0" dirty="0">
                <a:solidFill>
                  <a:srgbClr val="0F0F0F"/>
                </a:solidFill>
                <a:effectLst/>
                <a:latin typeface="Söhne"/>
              </a:rPr>
              <a:t>的預期模型，因此被認為是進行細胞聚類時的關鍵基因。</a:t>
            </a:r>
            <a:endParaRPr lang="en-US" altLang="zh-TW" b="0" i="0" dirty="0">
              <a:solidFill>
                <a:srgbClr val="0F0F0F"/>
              </a:solidFill>
              <a:effectLst/>
              <a:latin typeface="Söhne"/>
            </a:endParaRPr>
          </a:p>
          <a:p>
            <a:r>
              <a:rPr lang="zh-TW" altLang="en-US" b="0" i="0" dirty="0">
                <a:solidFill>
                  <a:srgbClr val="0F0F0F"/>
                </a:solidFill>
                <a:effectLst/>
                <a:latin typeface="Söhne"/>
              </a:rPr>
              <a:t>而灰色點則可能代表那些變異性較低或與平均表達量的關係不符合預期的基因，因此它們在聚類分析中不被優先考慮</a:t>
            </a:r>
            <a:endParaRPr lang="en-US" dirty="0"/>
          </a:p>
        </p:txBody>
      </p:sp>
      <p:sp>
        <p:nvSpPr>
          <p:cNvPr id="4" name="Slide Number Placeholder 3"/>
          <p:cNvSpPr>
            <a:spLocks noGrp="1"/>
          </p:cNvSpPr>
          <p:nvPr>
            <p:ph type="sldNum" sz="quarter" idx="5"/>
          </p:nvPr>
        </p:nvSpPr>
        <p:spPr/>
        <p:txBody>
          <a:bodyPr/>
          <a:lstStyle/>
          <a:p>
            <a:fld id="{A0D3149A-5CEE-485E-B722-2D0A63FFEAF0}" type="slidenum">
              <a:rPr lang="en-US" smtClean="0"/>
              <a:t>9</a:t>
            </a:fld>
            <a:endParaRPr lang="en-US"/>
          </a:p>
        </p:txBody>
      </p:sp>
    </p:spTree>
    <p:extLst>
      <p:ext uri="{BB962C8B-B14F-4D97-AF65-F5344CB8AC3E}">
        <p14:creationId xmlns:p14="http://schemas.microsoft.com/office/powerpoint/2010/main" val="30111130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dirty="0"/>
              <a:t>根據 </a:t>
            </a:r>
            <a:r>
              <a:rPr lang="en-US" altLang="zh-TW" dirty="0"/>
              <a:t>Seurat </a:t>
            </a:r>
            <a:r>
              <a:rPr lang="zh-TW" altLang="en-US" dirty="0"/>
              <a:t>分群的結果，進行的 </a:t>
            </a:r>
            <a:r>
              <a:rPr lang="en-US" altLang="zh-TW" dirty="0"/>
              <a:t>trajectory analysis</a:t>
            </a:r>
            <a:endParaRPr lang="en-US" dirty="0"/>
          </a:p>
        </p:txBody>
      </p:sp>
      <p:sp>
        <p:nvSpPr>
          <p:cNvPr id="4" name="Slide Number Placeholder 3"/>
          <p:cNvSpPr>
            <a:spLocks noGrp="1"/>
          </p:cNvSpPr>
          <p:nvPr>
            <p:ph type="sldNum" sz="quarter" idx="5"/>
          </p:nvPr>
        </p:nvSpPr>
        <p:spPr/>
        <p:txBody>
          <a:bodyPr/>
          <a:lstStyle/>
          <a:p>
            <a:fld id="{A0D3149A-5CEE-485E-B722-2D0A63FFEAF0}" type="slidenum">
              <a:rPr lang="en-US" smtClean="0"/>
              <a:t>10</a:t>
            </a:fld>
            <a:endParaRPr lang="en-US"/>
          </a:p>
        </p:txBody>
      </p:sp>
    </p:spTree>
    <p:extLst>
      <p:ext uri="{BB962C8B-B14F-4D97-AF65-F5344CB8AC3E}">
        <p14:creationId xmlns:p14="http://schemas.microsoft.com/office/powerpoint/2010/main" val="11899817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TW" dirty="0"/>
              <a:t>State</a:t>
            </a:r>
            <a:r>
              <a:rPr lang="zh-TW" altLang="en-US" b="0" i="0" dirty="0">
                <a:solidFill>
                  <a:srgbClr val="0F0F0F"/>
                </a:solidFill>
                <a:effectLst/>
                <a:latin typeface="Söhne"/>
              </a:rPr>
              <a:t>將細胞分為不同的狀態，代表其在分化過程中的位置</a:t>
            </a:r>
            <a:endParaRPr lang="en-US" dirty="0"/>
          </a:p>
        </p:txBody>
      </p:sp>
      <p:sp>
        <p:nvSpPr>
          <p:cNvPr id="4" name="Slide Number Placeholder 3"/>
          <p:cNvSpPr>
            <a:spLocks noGrp="1"/>
          </p:cNvSpPr>
          <p:nvPr>
            <p:ph type="sldNum" sz="quarter" idx="5"/>
          </p:nvPr>
        </p:nvSpPr>
        <p:spPr/>
        <p:txBody>
          <a:bodyPr/>
          <a:lstStyle/>
          <a:p>
            <a:fld id="{A0D3149A-5CEE-485E-B722-2D0A63FFEAF0}" type="slidenum">
              <a:rPr lang="en-US" smtClean="0"/>
              <a:t>11</a:t>
            </a:fld>
            <a:endParaRPr lang="en-US"/>
          </a:p>
        </p:txBody>
      </p:sp>
    </p:spTree>
    <p:extLst>
      <p:ext uri="{BB962C8B-B14F-4D97-AF65-F5344CB8AC3E}">
        <p14:creationId xmlns:p14="http://schemas.microsoft.com/office/powerpoint/2010/main" val="26137432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a:t>
            </a:r>
            <a:r>
              <a:rPr lang="zh-TW" altLang="en-US" dirty="0"/>
              <a:t>分開看</a:t>
            </a:r>
            <a:endParaRPr lang="en-US" altLang="zh-TW" dirty="0"/>
          </a:p>
          <a:p>
            <a:endParaRPr lang="en-US" dirty="0"/>
          </a:p>
          <a:p>
            <a:r>
              <a:rPr lang="en-US" dirty="0" err="1"/>
              <a:t>plot_cell_trajectory</a:t>
            </a:r>
            <a:r>
              <a:rPr lang="en-US" dirty="0"/>
              <a:t>(</a:t>
            </a:r>
            <a:r>
              <a:rPr lang="en-US" dirty="0" err="1"/>
              <a:t>sce_traj</a:t>
            </a:r>
            <a:r>
              <a:rPr lang="en-US" dirty="0"/>
              <a:t>, </a:t>
            </a:r>
            <a:r>
              <a:rPr lang="en-US" dirty="0" err="1"/>
              <a:t>color_by</a:t>
            </a:r>
            <a:r>
              <a:rPr lang="en-US" dirty="0"/>
              <a:t> = "State") +  </a:t>
            </a:r>
            <a:r>
              <a:rPr lang="en-US" dirty="0" err="1"/>
              <a:t>facet_wrap</a:t>
            </a:r>
            <a:r>
              <a:rPr lang="en-US" dirty="0"/>
              <a:t>(~State, </a:t>
            </a:r>
            <a:r>
              <a:rPr lang="en-US" dirty="0" err="1"/>
              <a:t>nrow</a:t>
            </a:r>
            <a:r>
              <a:rPr lang="en-US" dirty="0"/>
              <a:t> = 1)</a:t>
            </a:r>
          </a:p>
        </p:txBody>
      </p:sp>
      <p:sp>
        <p:nvSpPr>
          <p:cNvPr id="4" name="Slide Number Placeholder 3"/>
          <p:cNvSpPr>
            <a:spLocks noGrp="1"/>
          </p:cNvSpPr>
          <p:nvPr>
            <p:ph type="sldNum" sz="quarter" idx="5"/>
          </p:nvPr>
        </p:nvSpPr>
        <p:spPr/>
        <p:txBody>
          <a:bodyPr/>
          <a:lstStyle/>
          <a:p>
            <a:fld id="{A0D3149A-5CEE-485E-B722-2D0A63FFEAF0}" type="slidenum">
              <a:rPr lang="en-US" smtClean="0"/>
              <a:t>12</a:t>
            </a:fld>
            <a:endParaRPr lang="en-US"/>
          </a:p>
        </p:txBody>
      </p:sp>
    </p:spTree>
    <p:extLst>
      <p:ext uri="{BB962C8B-B14F-4D97-AF65-F5344CB8AC3E}">
        <p14:creationId xmlns:p14="http://schemas.microsoft.com/office/powerpoint/2010/main" val="33106789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dirty="0"/>
              <a:t>根據擬時間順序，可以將細胞分為不同的</a:t>
            </a:r>
            <a:r>
              <a:rPr lang="en-US" altLang="zh-TW" dirty="0"/>
              <a:t>state</a:t>
            </a:r>
          </a:p>
          <a:p>
            <a:r>
              <a:rPr lang="zh-TW" altLang="en-US" b="0" i="0" dirty="0">
                <a:solidFill>
                  <a:srgbClr val="0F0F0F"/>
                </a:solidFill>
                <a:effectLst/>
                <a:latin typeface="Söhne"/>
              </a:rPr>
              <a:t>偽時間是一個計算概念，它被用於預測細胞分化或發展途徑上的時間順序，只是一種輔助，不代表真實情形</a:t>
            </a:r>
            <a:endParaRPr lang="en-US" dirty="0"/>
          </a:p>
        </p:txBody>
      </p:sp>
      <p:sp>
        <p:nvSpPr>
          <p:cNvPr id="4" name="Slide Number Placeholder 3"/>
          <p:cNvSpPr>
            <a:spLocks noGrp="1"/>
          </p:cNvSpPr>
          <p:nvPr>
            <p:ph type="sldNum" sz="quarter" idx="5"/>
          </p:nvPr>
        </p:nvSpPr>
        <p:spPr/>
        <p:txBody>
          <a:bodyPr/>
          <a:lstStyle/>
          <a:p>
            <a:fld id="{A0D3149A-5CEE-485E-B722-2D0A63FFEAF0}" type="slidenum">
              <a:rPr lang="en-US" smtClean="0"/>
              <a:t>13</a:t>
            </a:fld>
            <a:endParaRPr lang="en-US"/>
          </a:p>
        </p:txBody>
      </p:sp>
    </p:spTree>
    <p:extLst>
      <p:ext uri="{BB962C8B-B14F-4D97-AF65-F5344CB8AC3E}">
        <p14:creationId xmlns:p14="http://schemas.microsoft.com/office/powerpoint/2010/main" val="7910784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dirty="0"/>
              <a:t>把前面三張做個簡單的總結</a:t>
            </a:r>
            <a:endParaRPr lang="en-US" altLang="zh-TW" dirty="0"/>
          </a:p>
          <a:p>
            <a:r>
              <a:rPr lang="zh-TW" altLang="en-US" dirty="0"/>
              <a:t>根據擬時間順序，可以將細胞分為不同的</a:t>
            </a:r>
            <a:r>
              <a:rPr lang="en-US" altLang="zh-TW" dirty="0"/>
              <a:t>state</a:t>
            </a:r>
            <a:endParaRPr lang="en-US" dirty="0"/>
          </a:p>
        </p:txBody>
      </p:sp>
      <p:sp>
        <p:nvSpPr>
          <p:cNvPr id="4" name="Slide Number Placeholder 3"/>
          <p:cNvSpPr>
            <a:spLocks noGrp="1"/>
          </p:cNvSpPr>
          <p:nvPr>
            <p:ph type="sldNum" sz="quarter" idx="5"/>
          </p:nvPr>
        </p:nvSpPr>
        <p:spPr/>
        <p:txBody>
          <a:bodyPr/>
          <a:lstStyle/>
          <a:p>
            <a:fld id="{A0D3149A-5CEE-485E-B722-2D0A63FFEAF0}" type="slidenum">
              <a:rPr lang="en-US" smtClean="0"/>
              <a:t>14</a:t>
            </a:fld>
            <a:endParaRPr lang="en-US"/>
          </a:p>
        </p:txBody>
      </p:sp>
    </p:spTree>
    <p:extLst>
      <p:ext uri="{BB962C8B-B14F-4D97-AF65-F5344CB8AC3E}">
        <p14:creationId xmlns:p14="http://schemas.microsoft.com/office/powerpoint/2010/main" val="14862548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TW" dirty="0"/>
              <a:t>Cell type </a:t>
            </a:r>
            <a:r>
              <a:rPr lang="zh-TW" altLang="en-US" dirty="0"/>
              <a:t>分開看</a:t>
            </a:r>
            <a:endParaRPr lang="en-US" altLang="zh-TW" dirty="0"/>
          </a:p>
          <a:p>
            <a:endParaRPr lang="en-US" dirty="0"/>
          </a:p>
          <a:p>
            <a:r>
              <a:rPr lang="en-US" dirty="0" err="1"/>
              <a:t>plot_cell_trajectory</a:t>
            </a:r>
            <a:r>
              <a:rPr lang="en-US" dirty="0"/>
              <a:t>(</a:t>
            </a:r>
            <a:r>
              <a:rPr lang="en-US" dirty="0" err="1"/>
              <a:t>sce_traj</a:t>
            </a:r>
            <a:r>
              <a:rPr lang="en-US" dirty="0"/>
              <a:t>, </a:t>
            </a:r>
            <a:r>
              <a:rPr lang="en-US" dirty="0" err="1"/>
              <a:t>color_by</a:t>
            </a:r>
            <a:r>
              <a:rPr lang="en-US" dirty="0"/>
              <a:t> = "State") +  </a:t>
            </a:r>
            <a:r>
              <a:rPr lang="en-US" dirty="0" err="1"/>
              <a:t>facet_wrap</a:t>
            </a:r>
            <a:r>
              <a:rPr lang="en-US" dirty="0"/>
              <a:t>(~</a:t>
            </a:r>
            <a:r>
              <a:rPr lang="en-US" dirty="0" err="1"/>
              <a:t>seurat_clusters</a:t>
            </a:r>
            <a:r>
              <a:rPr lang="en-US" dirty="0"/>
              <a:t>, </a:t>
            </a:r>
            <a:r>
              <a:rPr lang="en-US" dirty="0" err="1"/>
              <a:t>nrow</a:t>
            </a:r>
            <a:r>
              <a:rPr lang="en-US" dirty="0"/>
              <a:t> = 1)</a:t>
            </a:r>
          </a:p>
        </p:txBody>
      </p:sp>
      <p:sp>
        <p:nvSpPr>
          <p:cNvPr id="4" name="Slide Number Placeholder 3"/>
          <p:cNvSpPr>
            <a:spLocks noGrp="1"/>
          </p:cNvSpPr>
          <p:nvPr>
            <p:ph type="sldNum" sz="quarter" idx="5"/>
          </p:nvPr>
        </p:nvSpPr>
        <p:spPr/>
        <p:txBody>
          <a:bodyPr/>
          <a:lstStyle/>
          <a:p>
            <a:fld id="{A0D3149A-5CEE-485E-B722-2D0A63FFEAF0}" type="slidenum">
              <a:rPr lang="en-US" smtClean="0"/>
              <a:t>15</a:t>
            </a:fld>
            <a:endParaRPr lang="en-US"/>
          </a:p>
        </p:txBody>
      </p:sp>
    </p:spTree>
    <p:extLst>
      <p:ext uri="{BB962C8B-B14F-4D97-AF65-F5344CB8AC3E}">
        <p14:creationId xmlns:p14="http://schemas.microsoft.com/office/powerpoint/2010/main" val="13321967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TW" b="0" i="0" dirty="0">
                <a:solidFill>
                  <a:srgbClr val="0F0F0F"/>
                </a:solidFill>
                <a:effectLst/>
                <a:latin typeface="Söhne"/>
              </a:rPr>
              <a:t>jitter plot </a:t>
            </a:r>
            <a:r>
              <a:rPr lang="zh-TW" altLang="en-US" b="0" i="0" dirty="0">
                <a:solidFill>
                  <a:srgbClr val="0F0F0F"/>
                </a:solidFill>
                <a:effectLst/>
                <a:latin typeface="Söhne"/>
              </a:rPr>
              <a:t>是一種用於展示類別數據的散點圖，它可以顯示出每個類別（在這裡是“</a:t>
            </a:r>
            <a:r>
              <a:rPr lang="en-US" altLang="zh-TW" b="0" i="0" dirty="0">
                <a:solidFill>
                  <a:srgbClr val="0F0F0F"/>
                </a:solidFill>
                <a:effectLst/>
                <a:latin typeface="Söhne"/>
              </a:rPr>
              <a:t>State”</a:t>
            </a:r>
            <a:r>
              <a:rPr lang="zh-TW" altLang="en-US" b="0" i="0" dirty="0">
                <a:solidFill>
                  <a:srgbClr val="0F0F0F"/>
                </a:solidFill>
                <a:effectLst/>
                <a:latin typeface="Söhne"/>
              </a:rPr>
              <a:t>或細胞狀態）內的個體差異</a:t>
            </a:r>
            <a:endParaRPr lang="en-US" altLang="zh-TW" b="0" i="0" dirty="0">
              <a:solidFill>
                <a:srgbClr val="0F0F0F"/>
              </a:solidFill>
              <a:effectLst/>
              <a:latin typeface="Söhne"/>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b="0" i="0" dirty="0">
                <a:solidFill>
                  <a:srgbClr val="0F0F0F"/>
                </a:solidFill>
                <a:effectLst/>
                <a:latin typeface="Söhne"/>
              </a:rPr>
              <a:t>這樣的圖表可以幫助研究者確定哪些細胞狀態最有可能代表增殖的祖細胞，從而設定軌跡分析中的起點</a:t>
            </a:r>
            <a:endParaRPr lang="en-US" altLang="zh-TW" b="0" i="0" dirty="0">
              <a:solidFill>
                <a:srgbClr val="0F0F0F"/>
              </a:solidFill>
              <a:effectLst/>
              <a:latin typeface="Söhne"/>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i="0" dirty="0">
                <a:solidFill>
                  <a:srgbClr val="0F0F0F"/>
                </a:solidFill>
                <a:effectLst/>
                <a:latin typeface="Söhne"/>
              </a:rPr>
              <a:t>(</a:t>
            </a:r>
            <a:r>
              <a:rPr lang="en-US" altLang="zh-TW" dirty="0"/>
              <a:t>Cell type </a:t>
            </a:r>
            <a:r>
              <a:rPr lang="zh-TW" altLang="en-US" dirty="0"/>
              <a:t>分開看</a:t>
            </a:r>
            <a:r>
              <a:rPr lang="en-US" altLang="zh-TW" dirty="0"/>
              <a:t>)</a:t>
            </a:r>
          </a:p>
        </p:txBody>
      </p:sp>
      <p:sp>
        <p:nvSpPr>
          <p:cNvPr id="4" name="Slide Number Placeholder 3"/>
          <p:cNvSpPr>
            <a:spLocks noGrp="1"/>
          </p:cNvSpPr>
          <p:nvPr>
            <p:ph type="sldNum" sz="quarter" idx="5"/>
          </p:nvPr>
        </p:nvSpPr>
        <p:spPr/>
        <p:txBody>
          <a:bodyPr/>
          <a:lstStyle/>
          <a:p>
            <a:fld id="{A0D3149A-5CEE-485E-B722-2D0A63FFEAF0}" type="slidenum">
              <a:rPr lang="en-US" smtClean="0"/>
              <a:t>16</a:t>
            </a:fld>
            <a:endParaRPr lang="en-US"/>
          </a:p>
        </p:txBody>
      </p:sp>
    </p:spTree>
    <p:extLst>
      <p:ext uri="{BB962C8B-B14F-4D97-AF65-F5344CB8AC3E}">
        <p14:creationId xmlns:p14="http://schemas.microsoft.com/office/powerpoint/2010/main" val="39395611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plot_genes_jitter</a:t>
            </a:r>
            <a:r>
              <a:rPr lang="en-US" dirty="0"/>
              <a:t>(</a:t>
            </a:r>
            <a:r>
              <a:rPr lang="en-US" dirty="0" err="1"/>
              <a:t>sce_traj</a:t>
            </a:r>
            <a:r>
              <a:rPr lang="en-US" dirty="0"/>
              <a:t>[</a:t>
            </a:r>
            <a:r>
              <a:rPr lang="en-US" dirty="0" err="1"/>
              <a:t>blast_gene</a:t>
            </a:r>
            <a:r>
              <a:rPr lang="en-US" dirty="0"/>
              <a:t>,][1:2],  grouping = "State", </a:t>
            </a:r>
            <a:r>
              <a:rPr lang="en-US" dirty="0" err="1"/>
              <a:t>min_expr</a:t>
            </a:r>
            <a:r>
              <a:rPr lang="en-US" dirty="0"/>
              <a:t> = 0.1)</a:t>
            </a:r>
          </a:p>
        </p:txBody>
      </p:sp>
      <p:sp>
        <p:nvSpPr>
          <p:cNvPr id="4" name="Slide Number Placeholder 3"/>
          <p:cNvSpPr>
            <a:spLocks noGrp="1"/>
          </p:cNvSpPr>
          <p:nvPr>
            <p:ph type="sldNum" sz="quarter" idx="5"/>
          </p:nvPr>
        </p:nvSpPr>
        <p:spPr/>
        <p:txBody>
          <a:bodyPr/>
          <a:lstStyle/>
          <a:p>
            <a:fld id="{A0D3149A-5CEE-485E-B722-2D0A63FFEAF0}" type="slidenum">
              <a:rPr lang="en-US" smtClean="0"/>
              <a:t>17</a:t>
            </a:fld>
            <a:endParaRPr lang="en-US"/>
          </a:p>
        </p:txBody>
      </p:sp>
    </p:spTree>
    <p:extLst>
      <p:ext uri="{BB962C8B-B14F-4D97-AF65-F5344CB8AC3E}">
        <p14:creationId xmlns:p14="http://schemas.microsoft.com/office/powerpoint/2010/main" val="9813695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dirty="0"/>
              <a:t>這三個基因在偽時間序列中，都是到了中期表達量開始上升，</a:t>
            </a:r>
            <a:r>
              <a:rPr lang="en-US" altLang="zh-TW" dirty="0"/>
              <a:t>FMO5</a:t>
            </a:r>
            <a:r>
              <a:rPr lang="zh-TW" altLang="en-US" dirty="0"/>
              <a:t>後期表達量下降地比 </a:t>
            </a:r>
            <a:r>
              <a:rPr lang="en-US" altLang="zh-TW" dirty="0"/>
              <a:t>SGSM2</a:t>
            </a:r>
            <a:r>
              <a:rPr lang="zh-TW" altLang="en-US" dirty="0"/>
              <a:t>和</a:t>
            </a:r>
            <a:r>
              <a:rPr lang="en-US" altLang="zh-TW" dirty="0"/>
              <a:t>ZFAND5</a:t>
            </a:r>
            <a:r>
              <a:rPr lang="zh-TW" altLang="en-US" dirty="0"/>
              <a:t>都要快</a:t>
            </a:r>
            <a:endParaRPr lang="en-US" dirty="0"/>
          </a:p>
          <a:p>
            <a:endParaRPr lang="en-US" dirty="0"/>
          </a:p>
          <a:p>
            <a:r>
              <a:rPr lang="en-US" dirty="0" err="1"/>
              <a:t>sce_subset</a:t>
            </a:r>
            <a:r>
              <a:rPr lang="en-US" dirty="0"/>
              <a:t> &lt;- </a:t>
            </a:r>
            <a:r>
              <a:rPr lang="en-US" dirty="0" err="1"/>
              <a:t>sce_traj_filtered</a:t>
            </a:r>
            <a:r>
              <a:rPr lang="en-US" dirty="0"/>
              <a:t>[c("SGSM2","ZFAND5","FMO5"),]</a:t>
            </a:r>
          </a:p>
          <a:p>
            <a:r>
              <a:rPr lang="en-US" dirty="0" err="1"/>
              <a:t>plot_genes_in_pseudotime</a:t>
            </a:r>
            <a:r>
              <a:rPr lang="en-US" dirty="0"/>
              <a:t>(</a:t>
            </a:r>
            <a:r>
              <a:rPr lang="en-US" dirty="0" err="1"/>
              <a:t>sce_subset</a:t>
            </a:r>
            <a:r>
              <a:rPr lang="en-US" dirty="0"/>
              <a:t>, </a:t>
            </a:r>
            <a:r>
              <a:rPr lang="en-US" dirty="0" err="1"/>
              <a:t>color_by</a:t>
            </a:r>
            <a:r>
              <a:rPr lang="en-US" dirty="0"/>
              <a:t> = "</a:t>
            </a:r>
            <a:r>
              <a:rPr lang="en-US" dirty="0" err="1"/>
              <a:t>seurat_clusters</a:t>
            </a:r>
            <a:r>
              <a:rPr lang="en-US" dirty="0"/>
              <a:t>")</a:t>
            </a:r>
          </a:p>
        </p:txBody>
      </p:sp>
      <p:sp>
        <p:nvSpPr>
          <p:cNvPr id="4" name="Slide Number Placeholder 3"/>
          <p:cNvSpPr>
            <a:spLocks noGrp="1"/>
          </p:cNvSpPr>
          <p:nvPr>
            <p:ph type="sldNum" sz="quarter" idx="5"/>
          </p:nvPr>
        </p:nvSpPr>
        <p:spPr/>
        <p:txBody>
          <a:bodyPr/>
          <a:lstStyle/>
          <a:p>
            <a:fld id="{A0D3149A-5CEE-485E-B722-2D0A63FFEAF0}" type="slidenum">
              <a:rPr lang="en-US" smtClean="0"/>
              <a:t>18</a:t>
            </a:fld>
            <a:endParaRPr lang="en-US"/>
          </a:p>
        </p:txBody>
      </p:sp>
    </p:spTree>
    <p:extLst>
      <p:ext uri="{BB962C8B-B14F-4D97-AF65-F5344CB8AC3E}">
        <p14:creationId xmlns:p14="http://schemas.microsoft.com/office/powerpoint/2010/main" val="39886251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plot_pc_variance_explained</a:t>
            </a:r>
            <a:r>
              <a:rPr lang="en-US" dirty="0"/>
              <a:t>(sce2, </a:t>
            </a:r>
            <a:r>
              <a:rPr lang="en-US" dirty="0" err="1"/>
              <a:t>return_all</a:t>
            </a:r>
            <a:r>
              <a:rPr lang="en-US" dirty="0"/>
              <a:t> = F)</a:t>
            </a:r>
          </a:p>
        </p:txBody>
      </p:sp>
      <p:sp>
        <p:nvSpPr>
          <p:cNvPr id="4" name="Slide Number Placeholder 3"/>
          <p:cNvSpPr>
            <a:spLocks noGrp="1"/>
          </p:cNvSpPr>
          <p:nvPr>
            <p:ph type="sldNum" sz="quarter" idx="5"/>
          </p:nvPr>
        </p:nvSpPr>
        <p:spPr/>
        <p:txBody>
          <a:bodyPr/>
          <a:lstStyle/>
          <a:p>
            <a:fld id="{A0D3149A-5CEE-485E-B722-2D0A63FFEAF0}" type="slidenum">
              <a:rPr lang="en-US" smtClean="0"/>
              <a:t>20</a:t>
            </a:fld>
            <a:endParaRPr lang="en-US"/>
          </a:p>
        </p:txBody>
      </p:sp>
    </p:spTree>
    <p:extLst>
      <p:ext uri="{BB962C8B-B14F-4D97-AF65-F5344CB8AC3E}">
        <p14:creationId xmlns:p14="http://schemas.microsoft.com/office/powerpoint/2010/main" val="19814946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dirty="0"/>
              <a:t>如果不指定降維數量，</a:t>
            </a:r>
            <a:r>
              <a:rPr lang="en-US" altLang="zh-TW" dirty="0"/>
              <a:t>monocle</a:t>
            </a:r>
            <a:r>
              <a:rPr lang="zh-TW" altLang="en-US" dirty="0"/>
              <a:t>的分群數量就會多出很多</a:t>
            </a:r>
            <a:endParaRPr lang="en-US" altLang="zh-TW" dirty="0"/>
          </a:p>
          <a:p>
            <a:r>
              <a:rPr lang="en-US" dirty="0" err="1"/>
              <a:t>plot_cell_clusters</a:t>
            </a:r>
            <a:r>
              <a:rPr lang="en-US" dirty="0"/>
              <a:t>(sce2, </a:t>
            </a:r>
            <a:r>
              <a:rPr lang="en-US" dirty="0" err="1"/>
              <a:t>color_by</a:t>
            </a:r>
            <a:r>
              <a:rPr lang="en-US" dirty="0"/>
              <a:t> = "</a:t>
            </a:r>
            <a:r>
              <a:rPr lang="en-US" dirty="0" err="1"/>
              <a:t>as.factor</a:t>
            </a:r>
            <a:r>
              <a:rPr lang="en-US" dirty="0"/>
              <a:t>(Cluster)")|  </a:t>
            </a:r>
            <a:r>
              <a:rPr lang="en-US" dirty="0" err="1"/>
              <a:t>plot_cell_clusters</a:t>
            </a:r>
            <a:r>
              <a:rPr lang="en-US" dirty="0"/>
              <a:t>(sce2, </a:t>
            </a:r>
            <a:r>
              <a:rPr lang="en-US" dirty="0" err="1"/>
              <a:t>color_by</a:t>
            </a:r>
            <a:r>
              <a:rPr lang="en-US" dirty="0"/>
              <a:t> = "</a:t>
            </a:r>
            <a:r>
              <a:rPr lang="en-US" dirty="0" err="1"/>
              <a:t>as.factor</a:t>
            </a:r>
            <a:r>
              <a:rPr lang="en-US" dirty="0"/>
              <a:t>(</a:t>
            </a:r>
            <a:r>
              <a:rPr lang="en-US" dirty="0" err="1"/>
              <a:t>seurat_clusters</a:t>
            </a:r>
            <a:r>
              <a:rPr lang="en-US" dirty="0"/>
              <a:t>)")</a:t>
            </a:r>
          </a:p>
        </p:txBody>
      </p:sp>
      <p:sp>
        <p:nvSpPr>
          <p:cNvPr id="4" name="Slide Number Placeholder 3"/>
          <p:cNvSpPr>
            <a:spLocks noGrp="1"/>
          </p:cNvSpPr>
          <p:nvPr>
            <p:ph type="sldNum" sz="quarter" idx="5"/>
          </p:nvPr>
        </p:nvSpPr>
        <p:spPr/>
        <p:txBody>
          <a:bodyPr/>
          <a:lstStyle/>
          <a:p>
            <a:fld id="{A0D3149A-5CEE-485E-B722-2D0A63FFEAF0}" type="slidenum">
              <a:rPr lang="en-US" smtClean="0"/>
              <a:t>21</a:t>
            </a:fld>
            <a:endParaRPr lang="en-US"/>
          </a:p>
        </p:txBody>
      </p:sp>
    </p:spTree>
    <p:extLst>
      <p:ext uri="{BB962C8B-B14F-4D97-AF65-F5344CB8AC3E}">
        <p14:creationId xmlns:p14="http://schemas.microsoft.com/office/powerpoint/2010/main" val="41889634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plot_cell_trajectory</a:t>
            </a:r>
            <a:r>
              <a:rPr lang="en-US" dirty="0"/>
              <a:t>(sce2, </a:t>
            </a:r>
            <a:r>
              <a:rPr lang="en-US" dirty="0" err="1"/>
              <a:t>color_by</a:t>
            </a:r>
            <a:r>
              <a:rPr lang="en-US" dirty="0"/>
              <a:t> = "</a:t>
            </a:r>
            <a:r>
              <a:rPr lang="en-US" dirty="0" err="1"/>
              <a:t>seurat_clusters</a:t>
            </a:r>
            <a:r>
              <a:rPr lang="en-US" dirty="0"/>
              <a:t>")|  </a:t>
            </a:r>
            <a:r>
              <a:rPr lang="en-US" dirty="0" err="1"/>
              <a:t>plot_cell_trajectory</a:t>
            </a:r>
            <a:r>
              <a:rPr lang="en-US" dirty="0"/>
              <a:t>(sce2, </a:t>
            </a:r>
            <a:r>
              <a:rPr lang="en-US" dirty="0" err="1"/>
              <a:t>color_by</a:t>
            </a:r>
            <a:r>
              <a:rPr lang="en-US" dirty="0"/>
              <a:t> = "</a:t>
            </a:r>
            <a:r>
              <a:rPr lang="en-US" dirty="0" err="1"/>
              <a:t>Pseudotime</a:t>
            </a:r>
            <a:r>
              <a:rPr lang="en-US" dirty="0"/>
              <a:t>")</a:t>
            </a:r>
          </a:p>
        </p:txBody>
      </p:sp>
      <p:sp>
        <p:nvSpPr>
          <p:cNvPr id="4" name="Slide Number Placeholder 3"/>
          <p:cNvSpPr>
            <a:spLocks noGrp="1"/>
          </p:cNvSpPr>
          <p:nvPr>
            <p:ph type="sldNum" sz="quarter" idx="5"/>
          </p:nvPr>
        </p:nvSpPr>
        <p:spPr/>
        <p:txBody>
          <a:bodyPr/>
          <a:lstStyle/>
          <a:p>
            <a:fld id="{A0D3149A-5CEE-485E-B722-2D0A63FFEAF0}" type="slidenum">
              <a:rPr lang="en-US" smtClean="0"/>
              <a:t>22</a:t>
            </a:fld>
            <a:endParaRPr lang="en-US"/>
          </a:p>
        </p:txBody>
      </p:sp>
    </p:spTree>
    <p:extLst>
      <p:ext uri="{BB962C8B-B14F-4D97-AF65-F5344CB8AC3E}">
        <p14:creationId xmlns:p14="http://schemas.microsoft.com/office/powerpoint/2010/main" val="3309515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plot_genes_in_pseudotime</a:t>
            </a:r>
            <a:r>
              <a:rPr lang="en-US" dirty="0"/>
              <a:t>(sce2_subset[</a:t>
            </a:r>
            <a:r>
              <a:rPr lang="en-US" dirty="0" err="1"/>
              <a:t>sig.gene</a:t>
            </a:r>
            <a:r>
              <a:rPr lang="en-US" dirty="0"/>
              <a:t>[1:10]], </a:t>
            </a:r>
            <a:r>
              <a:rPr lang="zh-TW" altLang="en-US" dirty="0"/>
              <a:t> </a:t>
            </a:r>
            <a:r>
              <a:rPr lang="en-US" dirty="0" err="1"/>
              <a:t>color_by</a:t>
            </a:r>
            <a:r>
              <a:rPr lang="en-US" dirty="0"/>
              <a:t> = "</a:t>
            </a:r>
            <a:r>
              <a:rPr lang="en-US" dirty="0" err="1"/>
              <a:t>seurat_clusters</a:t>
            </a:r>
            <a:r>
              <a:rPr lang="en-US" dirty="0"/>
              <a:t>", </a:t>
            </a:r>
            <a:r>
              <a:rPr lang="en-US" dirty="0" err="1"/>
              <a:t>ncol</a:t>
            </a:r>
            <a:r>
              <a:rPr lang="en-US" dirty="0"/>
              <a:t> = 5)</a:t>
            </a:r>
          </a:p>
        </p:txBody>
      </p:sp>
      <p:sp>
        <p:nvSpPr>
          <p:cNvPr id="4" name="Slide Number Placeholder 3"/>
          <p:cNvSpPr>
            <a:spLocks noGrp="1"/>
          </p:cNvSpPr>
          <p:nvPr>
            <p:ph type="sldNum" sz="quarter" idx="5"/>
          </p:nvPr>
        </p:nvSpPr>
        <p:spPr/>
        <p:txBody>
          <a:bodyPr/>
          <a:lstStyle/>
          <a:p>
            <a:fld id="{A0D3149A-5CEE-485E-B722-2D0A63FFEAF0}" type="slidenum">
              <a:rPr lang="en-US" smtClean="0"/>
              <a:t>23</a:t>
            </a:fld>
            <a:endParaRPr lang="en-US"/>
          </a:p>
        </p:txBody>
      </p:sp>
    </p:spTree>
    <p:extLst>
      <p:ext uri="{BB962C8B-B14F-4D97-AF65-F5344CB8AC3E}">
        <p14:creationId xmlns:p14="http://schemas.microsoft.com/office/powerpoint/2010/main" val="16426431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b="1" i="0" dirty="0">
                <a:effectLst/>
                <a:latin typeface="Söhne"/>
              </a:rPr>
              <a:t>垂直樹狀圖</a:t>
            </a:r>
            <a:r>
              <a:rPr lang="zh-TW" altLang="en-US" b="0" i="0" dirty="0">
                <a:solidFill>
                  <a:srgbClr val="0F0F0F"/>
                </a:solidFill>
                <a:effectLst/>
                <a:latin typeface="Söhne"/>
              </a:rPr>
              <a:t>（左側）展示了基於它們在樣本中的表達模式相似度的基因聚類</a:t>
            </a:r>
            <a:endParaRPr lang="en-US" dirty="0"/>
          </a:p>
          <a:p>
            <a:endParaRPr lang="en-US" dirty="0"/>
          </a:p>
          <a:p>
            <a:r>
              <a:rPr lang="en-US" dirty="0" err="1"/>
              <a:t>plot_pseudotime_heatmap</a:t>
            </a:r>
            <a:r>
              <a:rPr lang="en-US" dirty="0"/>
              <a:t>(sce2_subset[</a:t>
            </a:r>
            <a:r>
              <a:rPr lang="en-US" dirty="0" err="1"/>
              <a:t>sig.gene</a:t>
            </a:r>
            <a:r>
              <a:rPr lang="en-US" dirty="0"/>
              <a:t>[1:10],], </a:t>
            </a:r>
            <a:r>
              <a:rPr lang="en-US" dirty="0" err="1"/>
              <a:t>num_clusters</a:t>
            </a:r>
            <a:r>
              <a:rPr lang="en-US" dirty="0"/>
              <a:t> = 3, cores = 1, </a:t>
            </a:r>
            <a:r>
              <a:rPr lang="en-US" dirty="0" err="1"/>
              <a:t>show_rownames</a:t>
            </a:r>
            <a:r>
              <a:rPr lang="en-US" dirty="0"/>
              <a:t> = T)</a:t>
            </a:r>
          </a:p>
        </p:txBody>
      </p:sp>
      <p:sp>
        <p:nvSpPr>
          <p:cNvPr id="4" name="Slide Number Placeholder 3"/>
          <p:cNvSpPr>
            <a:spLocks noGrp="1"/>
          </p:cNvSpPr>
          <p:nvPr>
            <p:ph type="sldNum" sz="quarter" idx="5"/>
          </p:nvPr>
        </p:nvSpPr>
        <p:spPr/>
        <p:txBody>
          <a:bodyPr/>
          <a:lstStyle/>
          <a:p>
            <a:fld id="{A0D3149A-5CEE-485E-B722-2D0A63FFEAF0}" type="slidenum">
              <a:rPr lang="en-US" smtClean="0"/>
              <a:t>24</a:t>
            </a:fld>
            <a:endParaRPr lang="en-US"/>
          </a:p>
        </p:txBody>
      </p:sp>
    </p:spTree>
    <p:extLst>
      <p:ext uri="{BB962C8B-B14F-4D97-AF65-F5344CB8AC3E}">
        <p14:creationId xmlns:p14="http://schemas.microsoft.com/office/powerpoint/2010/main" val="22007550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plot_pseudotime_heatmap</a:t>
            </a:r>
            <a:r>
              <a:rPr lang="en-US" dirty="0"/>
              <a:t>(sce2_subset[</a:t>
            </a:r>
            <a:r>
              <a:rPr lang="en-US" dirty="0" err="1"/>
              <a:t>sig.gene</a:t>
            </a:r>
            <a:r>
              <a:rPr lang="en-US" dirty="0"/>
              <a:t>[1:10],], </a:t>
            </a:r>
            <a:r>
              <a:rPr lang="en-US" dirty="0" err="1"/>
              <a:t>num_clusters</a:t>
            </a:r>
            <a:r>
              <a:rPr lang="en-US" dirty="0"/>
              <a:t> = 6, cores = 1, </a:t>
            </a:r>
            <a:r>
              <a:rPr lang="en-US" dirty="0" err="1"/>
              <a:t>show_rownames</a:t>
            </a:r>
            <a:r>
              <a:rPr lang="en-US" dirty="0"/>
              <a:t> = T)</a:t>
            </a:r>
          </a:p>
          <a:p>
            <a:endParaRPr lang="en-US" dirty="0"/>
          </a:p>
        </p:txBody>
      </p:sp>
      <p:sp>
        <p:nvSpPr>
          <p:cNvPr id="4" name="Slide Number Placeholder 3"/>
          <p:cNvSpPr>
            <a:spLocks noGrp="1"/>
          </p:cNvSpPr>
          <p:nvPr>
            <p:ph type="sldNum" sz="quarter" idx="5"/>
          </p:nvPr>
        </p:nvSpPr>
        <p:spPr/>
        <p:txBody>
          <a:bodyPr/>
          <a:lstStyle/>
          <a:p>
            <a:fld id="{A0D3149A-5CEE-485E-B722-2D0A63FFEAF0}" type="slidenum">
              <a:rPr lang="en-US" smtClean="0"/>
              <a:t>25</a:t>
            </a:fld>
            <a:endParaRPr lang="en-US"/>
          </a:p>
        </p:txBody>
      </p:sp>
    </p:spTree>
    <p:extLst>
      <p:ext uri="{BB962C8B-B14F-4D97-AF65-F5344CB8AC3E}">
        <p14:creationId xmlns:p14="http://schemas.microsoft.com/office/powerpoint/2010/main" val="8315283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plot_pseudotime_heatmap</a:t>
            </a:r>
            <a:r>
              <a:rPr lang="en-US" dirty="0"/>
              <a:t>(sce2_subset[</a:t>
            </a:r>
            <a:r>
              <a:rPr lang="en-US" dirty="0" err="1"/>
              <a:t>sig.gene</a:t>
            </a:r>
            <a:r>
              <a:rPr lang="en-US" dirty="0"/>
              <a:t>[1:10],], </a:t>
            </a:r>
            <a:r>
              <a:rPr lang="en-US" dirty="0" err="1"/>
              <a:t>num_clusters</a:t>
            </a:r>
            <a:r>
              <a:rPr lang="en-US" dirty="0"/>
              <a:t> = 5, cores = 1, </a:t>
            </a:r>
            <a:r>
              <a:rPr lang="en-US" dirty="0" err="1"/>
              <a:t>show_rownames</a:t>
            </a:r>
            <a:r>
              <a:rPr lang="en-US" dirty="0"/>
              <a:t> = T)</a:t>
            </a:r>
          </a:p>
          <a:p>
            <a:endParaRPr lang="en-US" dirty="0"/>
          </a:p>
          <a:p>
            <a:endParaRPr lang="en-US" dirty="0"/>
          </a:p>
        </p:txBody>
      </p:sp>
      <p:sp>
        <p:nvSpPr>
          <p:cNvPr id="4" name="Slide Number Placeholder 3"/>
          <p:cNvSpPr>
            <a:spLocks noGrp="1"/>
          </p:cNvSpPr>
          <p:nvPr>
            <p:ph type="sldNum" sz="quarter" idx="5"/>
          </p:nvPr>
        </p:nvSpPr>
        <p:spPr/>
        <p:txBody>
          <a:bodyPr/>
          <a:lstStyle/>
          <a:p>
            <a:fld id="{A0D3149A-5CEE-485E-B722-2D0A63FFEAF0}" type="slidenum">
              <a:rPr lang="en-US" smtClean="0"/>
              <a:t>26</a:t>
            </a:fld>
            <a:endParaRPr lang="en-US"/>
          </a:p>
        </p:txBody>
      </p:sp>
    </p:spTree>
    <p:extLst>
      <p:ext uri="{BB962C8B-B14F-4D97-AF65-F5344CB8AC3E}">
        <p14:creationId xmlns:p14="http://schemas.microsoft.com/office/powerpoint/2010/main" val="27022594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solidFill>
                  <a:srgbClr val="C397D8"/>
                </a:solidFill>
                <a:effectLst/>
              </a:rPr>
              <a:t>plot_cell_trajectory</a:t>
            </a:r>
            <a:r>
              <a:rPr lang="en-US" dirty="0">
                <a:solidFill>
                  <a:srgbClr val="C397D8"/>
                </a:solidFill>
                <a:effectLst/>
              </a:rPr>
              <a:t>(sce2, </a:t>
            </a:r>
            <a:r>
              <a:rPr lang="en-US" dirty="0" err="1">
                <a:solidFill>
                  <a:srgbClr val="C397D8"/>
                </a:solidFill>
                <a:effectLst/>
              </a:rPr>
              <a:t>color_by</a:t>
            </a:r>
            <a:r>
              <a:rPr lang="en-US" dirty="0">
                <a:solidFill>
                  <a:srgbClr val="C397D8"/>
                </a:solidFill>
                <a:effectLst/>
              </a:rPr>
              <a:t> = "</a:t>
            </a:r>
            <a:r>
              <a:rPr lang="en-US" dirty="0" err="1">
                <a:solidFill>
                  <a:srgbClr val="C397D8"/>
                </a:solidFill>
                <a:effectLst/>
              </a:rPr>
              <a:t>Pseudotime</a:t>
            </a:r>
            <a:r>
              <a:rPr lang="en-US" dirty="0">
                <a:solidFill>
                  <a:srgbClr val="C397D8"/>
                </a:solidFill>
                <a:effectLst/>
              </a:rPr>
              <a:t>")</a:t>
            </a:r>
            <a:endParaRPr lang="en-US" dirty="0"/>
          </a:p>
        </p:txBody>
      </p:sp>
      <p:sp>
        <p:nvSpPr>
          <p:cNvPr id="4" name="Slide Number Placeholder 3"/>
          <p:cNvSpPr>
            <a:spLocks noGrp="1"/>
          </p:cNvSpPr>
          <p:nvPr>
            <p:ph type="sldNum" sz="quarter" idx="5"/>
          </p:nvPr>
        </p:nvSpPr>
        <p:spPr/>
        <p:txBody>
          <a:bodyPr/>
          <a:lstStyle/>
          <a:p>
            <a:fld id="{A0D3149A-5CEE-485E-B722-2D0A63FFEAF0}" type="slidenum">
              <a:rPr lang="en-US" smtClean="0"/>
              <a:t>27</a:t>
            </a:fld>
            <a:endParaRPr lang="en-US"/>
          </a:p>
        </p:txBody>
      </p:sp>
    </p:spTree>
    <p:extLst>
      <p:ext uri="{BB962C8B-B14F-4D97-AF65-F5344CB8AC3E}">
        <p14:creationId xmlns:p14="http://schemas.microsoft.com/office/powerpoint/2010/main" val="9603283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solidFill>
                  <a:srgbClr val="C397D8"/>
                </a:solidFill>
                <a:effectLst/>
              </a:rPr>
              <a:t>plot_genes_branched_heatmap</a:t>
            </a:r>
            <a:r>
              <a:rPr lang="en-US" dirty="0">
                <a:solidFill>
                  <a:srgbClr val="C397D8"/>
                </a:solidFill>
                <a:effectLst/>
              </a:rPr>
              <a:t>(sce2[</a:t>
            </a:r>
            <a:r>
              <a:rPr lang="en-US" dirty="0" err="1">
                <a:solidFill>
                  <a:srgbClr val="C397D8"/>
                </a:solidFill>
                <a:effectLst/>
              </a:rPr>
              <a:t>BEAM_gene</a:t>
            </a:r>
            <a:r>
              <a:rPr lang="en-US" dirty="0">
                <a:solidFill>
                  <a:srgbClr val="C397D8"/>
                </a:solidFill>
                <a:effectLst/>
              </a:rPr>
              <a:t>[1:50],],  </a:t>
            </a:r>
            <a:r>
              <a:rPr lang="en-US" dirty="0" err="1">
                <a:solidFill>
                  <a:srgbClr val="C397D8"/>
                </a:solidFill>
                <a:effectLst/>
              </a:rPr>
              <a:t>branch_point</a:t>
            </a:r>
            <a:r>
              <a:rPr lang="en-US" dirty="0">
                <a:solidFill>
                  <a:srgbClr val="C397D8"/>
                </a:solidFill>
                <a:effectLst/>
              </a:rPr>
              <a:t> = 1,  </a:t>
            </a:r>
            <a:r>
              <a:rPr lang="en-US" dirty="0" err="1">
                <a:solidFill>
                  <a:srgbClr val="C397D8"/>
                </a:solidFill>
                <a:effectLst/>
              </a:rPr>
              <a:t>num_clusters</a:t>
            </a:r>
            <a:r>
              <a:rPr lang="en-US" dirty="0">
                <a:solidFill>
                  <a:srgbClr val="C397D8"/>
                </a:solidFill>
                <a:effectLst/>
              </a:rPr>
              <a:t> = 4,  cores = 1,  </a:t>
            </a:r>
            <a:r>
              <a:rPr lang="en-US" dirty="0" err="1">
                <a:solidFill>
                  <a:srgbClr val="C397D8"/>
                </a:solidFill>
                <a:effectLst/>
              </a:rPr>
              <a:t>use_gene_short_name</a:t>
            </a:r>
            <a:r>
              <a:rPr lang="en-US" dirty="0">
                <a:solidFill>
                  <a:srgbClr val="C397D8"/>
                </a:solidFill>
                <a:effectLst/>
              </a:rPr>
              <a:t> = T)</a:t>
            </a:r>
            <a:endParaRPr lang="en-US" dirty="0"/>
          </a:p>
        </p:txBody>
      </p:sp>
      <p:sp>
        <p:nvSpPr>
          <p:cNvPr id="4" name="Slide Number Placeholder 3"/>
          <p:cNvSpPr>
            <a:spLocks noGrp="1"/>
          </p:cNvSpPr>
          <p:nvPr>
            <p:ph type="sldNum" sz="quarter" idx="5"/>
          </p:nvPr>
        </p:nvSpPr>
        <p:spPr/>
        <p:txBody>
          <a:bodyPr/>
          <a:lstStyle/>
          <a:p>
            <a:fld id="{A0D3149A-5CEE-485E-B722-2D0A63FFEAF0}" type="slidenum">
              <a:rPr lang="en-US" smtClean="0"/>
              <a:t>28</a:t>
            </a:fld>
            <a:endParaRPr lang="en-US"/>
          </a:p>
        </p:txBody>
      </p:sp>
    </p:spTree>
    <p:extLst>
      <p:ext uri="{BB962C8B-B14F-4D97-AF65-F5344CB8AC3E}">
        <p14:creationId xmlns:p14="http://schemas.microsoft.com/office/powerpoint/2010/main" val="27673981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solidFill>
                  <a:srgbClr val="C397D8"/>
                </a:solidFill>
                <a:effectLst/>
              </a:rPr>
              <a:t>plot_genes_branched_heatmap</a:t>
            </a:r>
            <a:r>
              <a:rPr lang="en-US" dirty="0">
                <a:solidFill>
                  <a:srgbClr val="C397D8"/>
                </a:solidFill>
                <a:effectLst/>
              </a:rPr>
              <a:t>(sce2[</a:t>
            </a:r>
            <a:r>
              <a:rPr lang="en-US" dirty="0" err="1">
                <a:solidFill>
                  <a:srgbClr val="C397D8"/>
                </a:solidFill>
                <a:effectLst/>
              </a:rPr>
              <a:t>BEAM_gene</a:t>
            </a:r>
            <a:r>
              <a:rPr lang="en-US" dirty="0">
                <a:solidFill>
                  <a:srgbClr val="C397D8"/>
                </a:solidFill>
                <a:effectLst/>
              </a:rPr>
              <a:t>[1:50],],  </a:t>
            </a:r>
            <a:r>
              <a:rPr lang="en-US" dirty="0" err="1">
                <a:solidFill>
                  <a:srgbClr val="C397D8"/>
                </a:solidFill>
                <a:effectLst/>
              </a:rPr>
              <a:t>branch_point</a:t>
            </a:r>
            <a:r>
              <a:rPr lang="en-US" dirty="0">
                <a:solidFill>
                  <a:srgbClr val="C397D8"/>
                </a:solidFill>
                <a:effectLst/>
              </a:rPr>
              <a:t> = 1,  </a:t>
            </a:r>
            <a:r>
              <a:rPr lang="en-US" dirty="0" err="1">
                <a:solidFill>
                  <a:srgbClr val="C397D8"/>
                </a:solidFill>
                <a:effectLst/>
              </a:rPr>
              <a:t>num_clusters</a:t>
            </a:r>
            <a:r>
              <a:rPr lang="en-US" dirty="0">
                <a:solidFill>
                  <a:srgbClr val="C397D8"/>
                </a:solidFill>
                <a:effectLst/>
              </a:rPr>
              <a:t> = 4,  cores = 1,  </a:t>
            </a:r>
            <a:r>
              <a:rPr lang="en-US" dirty="0" err="1">
                <a:solidFill>
                  <a:srgbClr val="C397D8"/>
                </a:solidFill>
                <a:effectLst/>
              </a:rPr>
              <a:t>use_gene_short_name</a:t>
            </a:r>
            <a:r>
              <a:rPr lang="en-US" dirty="0">
                <a:solidFill>
                  <a:srgbClr val="C397D8"/>
                </a:solidFill>
                <a:effectLst/>
              </a:rPr>
              <a:t> = T,  </a:t>
            </a:r>
            <a:r>
              <a:rPr lang="en-US" dirty="0" err="1">
                <a:solidFill>
                  <a:srgbClr val="C397D8"/>
                </a:solidFill>
                <a:effectLst/>
              </a:rPr>
              <a:t>show_rownames</a:t>
            </a:r>
            <a:r>
              <a:rPr lang="en-US" dirty="0">
                <a:solidFill>
                  <a:srgbClr val="C397D8"/>
                </a:solidFill>
                <a:effectLst/>
              </a:rPr>
              <a:t> = T)</a:t>
            </a:r>
            <a:endParaRPr lang="en-US" dirty="0"/>
          </a:p>
        </p:txBody>
      </p:sp>
      <p:sp>
        <p:nvSpPr>
          <p:cNvPr id="4" name="Slide Number Placeholder 3"/>
          <p:cNvSpPr>
            <a:spLocks noGrp="1"/>
          </p:cNvSpPr>
          <p:nvPr>
            <p:ph type="sldNum" sz="quarter" idx="5"/>
          </p:nvPr>
        </p:nvSpPr>
        <p:spPr/>
        <p:txBody>
          <a:bodyPr/>
          <a:lstStyle/>
          <a:p>
            <a:fld id="{A0D3149A-5CEE-485E-B722-2D0A63FFEAF0}" type="slidenum">
              <a:rPr lang="en-US" smtClean="0"/>
              <a:t>29</a:t>
            </a:fld>
            <a:endParaRPr lang="en-US"/>
          </a:p>
        </p:txBody>
      </p:sp>
    </p:spTree>
    <p:extLst>
      <p:ext uri="{BB962C8B-B14F-4D97-AF65-F5344CB8AC3E}">
        <p14:creationId xmlns:p14="http://schemas.microsoft.com/office/powerpoint/2010/main" val="19189392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zh-TW" altLang="en-US" b="0" i="0" dirty="0">
                <a:solidFill>
                  <a:srgbClr val="374151"/>
                </a:solidFill>
                <a:effectLst/>
                <a:latin typeface="Söhne"/>
              </a:rPr>
              <a:t>另一個編譯錯誤，但這次的錯誤與 </a:t>
            </a:r>
            <a:r>
              <a:rPr lang="en-US" altLang="zh-TW" b="0" i="0" dirty="0">
                <a:solidFill>
                  <a:srgbClr val="374151"/>
                </a:solidFill>
                <a:effectLst/>
                <a:latin typeface="Söhne"/>
              </a:rPr>
              <a:t>-o </a:t>
            </a:r>
            <a:r>
              <a:rPr lang="zh-TW" altLang="en-US" b="0" i="0" dirty="0">
                <a:solidFill>
                  <a:srgbClr val="374151"/>
                </a:solidFill>
                <a:effectLst/>
                <a:latin typeface="Söhne"/>
              </a:rPr>
              <a:t>選項有關，該選項用於指定輸出文件名。當使用 </a:t>
            </a:r>
            <a:r>
              <a:rPr lang="en-US" altLang="zh-TW" b="0" i="0" dirty="0">
                <a:solidFill>
                  <a:srgbClr val="374151"/>
                </a:solidFill>
                <a:effectLst/>
                <a:latin typeface="Söhne"/>
              </a:rPr>
              <a:t>-c </a:t>
            </a:r>
            <a:r>
              <a:rPr lang="zh-TW" altLang="en-US" b="0" i="0" dirty="0">
                <a:solidFill>
                  <a:srgbClr val="374151"/>
                </a:solidFill>
                <a:effectLst/>
                <a:latin typeface="Söhne"/>
              </a:rPr>
              <a:t>選項（表示僅編譯而不鏈接）時，你不能同時指定多個輸入文件。從錯誤訊息來看，</a:t>
            </a:r>
            <a:r>
              <a:rPr lang="en-US" altLang="zh-TW" b="0" i="0" dirty="0">
                <a:solidFill>
                  <a:srgbClr val="374151"/>
                </a:solidFill>
                <a:effectLst/>
                <a:latin typeface="Söhne"/>
              </a:rPr>
              <a:t>g++.exe </a:t>
            </a:r>
            <a:r>
              <a:rPr lang="zh-TW" altLang="en-US" b="0" i="0" dirty="0">
                <a:solidFill>
                  <a:srgbClr val="374151"/>
                </a:solidFill>
                <a:effectLst/>
                <a:latin typeface="Söhne"/>
              </a:rPr>
              <a:t>似乎被誤認為你提供了多個源文件，而實際上你只有一個。</a:t>
            </a:r>
          </a:p>
          <a:p>
            <a:pPr algn="l"/>
            <a:r>
              <a:rPr lang="zh-TW" altLang="en-US" b="0" i="0" dirty="0">
                <a:solidFill>
                  <a:srgbClr val="374151"/>
                </a:solidFill>
                <a:effectLst/>
                <a:latin typeface="Söhne"/>
              </a:rPr>
              <a:t>問題似乎是你將 </a:t>
            </a:r>
            <a:r>
              <a:rPr lang="en-US" altLang="zh-TW" b="0" i="0" dirty="0" err="1">
                <a:solidFill>
                  <a:srgbClr val="374151"/>
                </a:solidFill>
                <a:effectLst/>
                <a:latin typeface="Söhne"/>
              </a:rPr>
              <a:t>Rcpp.h</a:t>
            </a:r>
            <a:r>
              <a:rPr lang="en-US" altLang="zh-TW" b="0" i="0" dirty="0">
                <a:solidFill>
                  <a:srgbClr val="374151"/>
                </a:solidFill>
                <a:effectLst/>
                <a:latin typeface="Söhne"/>
              </a:rPr>
              <a:t> </a:t>
            </a:r>
            <a:r>
              <a:rPr lang="zh-TW" altLang="en-US" b="0" i="0" dirty="0">
                <a:solidFill>
                  <a:srgbClr val="374151"/>
                </a:solidFill>
                <a:effectLst/>
                <a:latin typeface="Söhne"/>
              </a:rPr>
              <a:t>的路徑放入了編譯命令中。你應該只提供 </a:t>
            </a:r>
            <a:r>
              <a:rPr lang="en-US" altLang="zh-TW" b="0" i="0" dirty="0">
                <a:solidFill>
                  <a:srgbClr val="374151"/>
                </a:solidFill>
                <a:effectLst/>
                <a:latin typeface="Söhne"/>
              </a:rPr>
              <a:t>-I </a:t>
            </a:r>
            <a:r>
              <a:rPr lang="zh-TW" altLang="en-US" b="0" i="0" dirty="0">
                <a:solidFill>
                  <a:srgbClr val="374151"/>
                </a:solidFill>
                <a:effectLst/>
                <a:latin typeface="Söhne"/>
              </a:rPr>
              <a:t>選項來指定包含（</a:t>
            </a:r>
            <a:r>
              <a:rPr lang="en-US" altLang="zh-TW" b="0" i="0" dirty="0">
                <a:solidFill>
                  <a:srgbClr val="374151"/>
                </a:solidFill>
                <a:effectLst/>
                <a:latin typeface="Söhne"/>
              </a:rPr>
              <a:t>header</a:t>
            </a:r>
            <a:r>
              <a:rPr lang="zh-TW" altLang="en-US" b="0" i="0" dirty="0">
                <a:solidFill>
                  <a:srgbClr val="374151"/>
                </a:solidFill>
                <a:effectLst/>
                <a:latin typeface="Söhne"/>
              </a:rPr>
              <a:t>）文件夾的路徑，而不是具體的文件名</a:t>
            </a:r>
          </a:p>
          <a:p>
            <a:endParaRPr lang="en-US" dirty="0"/>
          </a:p>
        </p:txBody>
      </p:sp>
      <p:sp>
        <p:nvSpPr>
          <p:cNvPr id="4" name="Slide Number Placeholder 3"/>
          <p:cNvSpPr>
            <a:spLocks noGrp="1"/>
          </p:cNvSpPr>
          <p:nvPr>
            <p:ph type="sldNum" sz="quarter" idx="5"/>
          </p:nvPr>
        </p:nvSpPr>
        <p:spPr/>
        <p:txBody>
          <a:bodyPr/>
          <a:lstStyle/>
          <a:p>
            <a:fld id="{A0D3149A-5CEE-485E-B722-2D0A63FFEAF0}" type="slidenum">
              <a:rPr lang="en-US" smtClean="0"/>
              <a:t>34</a:t>
            </a:fld>
            <a:endParaRPr lang="en-US"/>
          </a:p>
        </p:txBody>
      </p:sp>
    </p:spTree>
    <p:extLst>
      <p:ext uri="{BB962C8B-B14F-4D97-AF65-F5344CB8AC3E}">
        <p14:creationId xmlns:p14="http://schemas.microsoft.com/office/powerpoint/2010/main" val="33939181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0D3149A-5CEE-485E-B722-2D0A63FFEAF0}" type="slidenum">
              <a:rPr lang="en-US" smtClean="0"/>
              <a:t>35</a:t>
            </a:fld>
            <a:endParaRPr lang="en-US"/>
          </a:p>
        </p:txBody>
      </p:sp>
    </p:spTree>
    <p:extLst>
      <p:ext uri="{BB962C8B-B14F-4D97-AF65-F5344CB8AC3E}">
        <p14:creationId xmlns:p14="http://schemas.microsoft.com/office/powerpoint/2010/main" val="41177223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0D3149A-5CEE-485E-B722-2D0A63FFEAF0}" type="slidenum">
              <a:rPr lang="en-US" smtClean="0"/>
              <a:t>36</a:t>
            </a:fld>
            <a:endParaRPr lang="en-US"/>
          </a:p>
        </p:txBody>
      </p:sp>
    </p:spTree>
    <p:extLst>
      <p:ext uri="{BB962C8B-B14F-4D97-AF65-F5344CB8AC3E}">
        <p14:creationId xmlns:p14="http://schemas.microsoft.com/office/powerpoint/2010/main" val="114716770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Signac</a:t>
            </a:r>
            <a:r>
              <a:rPr lang="zh-CN" altLang="en-US" b="0" i="0" dirty="0">
                <a:solidFill>
                  <a:srgbClr val="374151"/>
                </a:solidFill>
                <a:effectLst/>
                <a:latin typeface="Söhne"/>
              </a:rPr>
              <a:t> 包的</a:t>
            </a:r>
            <a:r>
              <a:rPr lang="en-US" altLang="zh-CN" b="0" i="0" dirty="0">
                <a:solidFill>
                  <a:srgbClr val="374151"/>
                </a:solidFill>
                <a:effectLst/>
                <a:latin typeface="Söhne"/>
              </a:rPr>
              <a:t>C++</a:t>
            </a:r>
            <a:r>
              <a:rPr lang="zh-CN" altLang="en-US" b="0" i="0" dirty="0">
                <a:solidFill>
                  <a:srgbClr val="374151"/>
                </a:solidFill>
                <a:effectLst/>
                <a:latin typeface="Söhne"/>
              </a:rPr>
              <a:t>代码已经成功地编译了，但在后续的 </a:t>
            </a:r>
            <a:r>
              <a:rPr lang="en-US" altLang="zh-CN" b="0" i="0" dirty="0">
                <a:solidFill>
                  <a:srgbClr val="374151"/>
                </a:solidFill>
                <a:effectLst/>
                <a:latin typeface="Söhne"/>
              </a:rPr>
              <a:t>"lazy loading" </a:t>
            </a:r>
            <a:r>
              <a:rPr lang="zh-CN" altLang="en-US" b="0" i="0" dirty="0">
                <a:solidFill>
                  <a:srgbClr val="374151"/>
                </a:solidFill>
                <a:effectLst/>
                <a:latin typeface="Söhne"/>
              </a:rPr>
              <a:t>阶段出现了问题</a:t>
            </a:r>
            <a:endParaRPr lang="en-US" altLang="zh-CN" b="0" i="0" dirty="0">
              <a:solidFill>
                <a:srgbClr val="374151"/>
              </a:solidFill>
              <a:effectLst/>
              <a:latin typeface="Söhne"/>
            </a:endParaRPr>
          </a:p>
          <a:p>
            <a:r>
              <a:rPr lang="zh-TW" altLang="en-US" b="0" i="0" dirty="0">
                <a:solidFill>
                  <a:srgbClr val="374151"/>
                </a:solidFill>
                <a:effectLst/>
                <a:latin typeface="Söhne"/>
              </a:rPr>
              <a:t>这意味着已经加载的 </a:t>
            </a:r>
            <a:r>
              <a:rPr lang="en-US" dirty="0"/>
              <a:t>Matrix</a:t>
            </a:r>
            <a:r>
              <a:rPr lang="en-US" b="0" i="0" dirty="0">
                <a:solidFill>
                  <a:srgbClr val="374151"/>
                </a:solidFill>
                <a:effectLst/>
                <a:latin typeface="Söhne"/>
              </a:rPr>
              <a:t> </a:t>
            </a:r>
            <a:r>
              <a:rPr lang="zh-TW" altLang="en-US" b="0" i="0" dirty="0">
                <a:solidFill>
                  <a:srgbClr val="374151"/>
                </a:solidFill>
                <a:effectLst/>
                <a:latin typeface="Söhne"/>
              </a:rPr>
              <a:t>包的版本为</a:t>
            </a:r>
            <a:r>
              <a:rPr lang="en-US" altLang="zh-TW" b="0" i="0" dirty="0">
                <a:solidFill>
                  <a:srgbClr val="374151"/>
                </a:solidFill>
                <a:effectLst/>
                <a:latin typeface="Söhne"/>
              </a:rPr>
              <a:t>1.5-4.1</a:t>
            </a:r>
            <a:r>
              <a:rPr lang="zh-TW" altLang="en-US" b="0" i="0" dirty="0">
                <a:solidFill>
                  <a:srgbClr val="374151"/>
                </a:solidFill>
                <a:effectLst/>
                <a:latin typeface="Söhne"/>
              </a:rPr>
              <a:t>，但 </a:t>
            </a:r>
            <a:r>
              <a:rPr lang="en-US" dirty="0"/>
              <a:t>Signac</a:t>
            </a:r>
            <a:r>
              <a:rPr lang="en-US" b="0" i="0" dirty="0">
                <a:solidFill>
                  <a:srgbClr val="374151"/>
                </a:solidFill>
                <a:effectLst/>
                <a:latin typeface="Söhne"/>
              </a:rPr>
              <a:t> </a:t>
            </a:r>
            <a:r>
              <a:rPr lang="zh-TW" altLang="en-US" b="0" i="0" dirty="0">
                <a:solidFill>
                  <a:srgbClr val="374151"/>
                </a:solidFill>
                <a:effectLst/>
                <a:latin typeface="Söhne"/>
              </a:rPr>
              <a:t>需要的 </a:t>
            </a:r>
            <a:r>
              <a:rPr lang="en-US" dirty="0"/>
              <a:t>Matrix</a:t>
            </a:r>
            <a:r>
              <a:rPr lang="en-US" b="0" i="0" dirty="0">
                <a:solidFill>
                  <a:srgbClr val="374151"/>
                </a:solidFill>
                <a:effectLst/>
                <a:latin typeface="Söhne"/>
              </a:rPr>
              <a:t> </a:t>
            </a:r>
            <a:r>
              <a:rPr lang="zh-TW" altLang="en-US" b="0" i="0" dirty="0">
                <a:solidFill>
                  <a:srgbClr val="374151"/>
                </a:solidFill>
                <a:effectLst/>
                <a:latin typeface="Söhne"/>
              </a:rPr>
              <a:t>包的版本至少为</a:t>
            </a:r>
            <a:r>
              <a:rPr lang="en-US" altLang="zh-TW" b="0" i="0" dirty="0">
                <a:solidFill>
                  <a:srgbClr val="374151"/>
                </a:solidFill>
                <a:effectLst/>
                <a:latin typeface="Söhne"/>
              </a:rPr>
              <a:t>1.6.1</a:t>
            </a:r>
            <a:endParaRPr lang="en-US" dirty="0"/>
          </a:p>
        </p:txBody>
      </p:sp>
      <p:sp>
        <p:nvSpPr>
          <p:cNvPr id="4" name="Slide Number Placeholder 3"/>
          <p:cNvSpPr>
            <a:spLocks noGrp="1"/>
          </p:cNvSpPr>
          <p:nvPr>
            <p:ph type="sldNum" sz="quarter" idx="5"/>
          </p:nvPr>
        </p:nvSpPr>
        <p:spPr/>
        <p:txBody>
          <a:bodyPr/>
          <a:lstStyle/>
          <a:p>
            <a:fld id="{A0D3149A-5CEE-485E-B722-2D0A63FFEAF0}" type="slidenum">
              <a:rPr lang="en-US" smtClean="0"/>
              <a:t>37</a:t>
            </a:fld>
            <a:endParaRPr lang="en-US"/>
          </a:p>
        </p:txBody>
      </p:sp>
    </p:spTree>
    <p:extLst>
      <p:ext uri="{BB962C8B-B14F-4D97-AF65-F5344CB8AC3E}">
        <p14:creationId xmlns:p14="http://schemas.microsoft.com/office/powerpoint/2010/main" val="31221611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Signac</a:t>
            </a:r>
            <a:r>
              <a:rPr lang="zh-CN" altLang="en-US" b="0" i="0" dirty="0">
                <a:solidFill>
                  <a:srgbClr val="374151"/>
                </a:solidFill>
                <a:effectLst/>
                <a:latin typeface="Söhne"/>
              </a:rPr>
              <a:t> 包的</a:t>
            </a:r>
            <a:r>
              <a:rPr lang="en-US" altLang="zh-CN" b="0" i="0" dirty="0">
                <a:solidFill>
                  <a:srgbClr val="374151"/>
                </a:solidFill>
                <a:effectLst/>
                <a:latin typeface="Söhne"/>
              </a:rPr>
              <a:t>C++</a:t>
            </a:r>
            <a:r>
              <a:rPr lang="zh-CN" altLang="en-US" b="0" i="0" dirty="0">
                <a:solidFill>
                  <a:srgbClr val="374151"/>
                </a:solidFill>
                <a:effectLst/>
                <a:latin typeface="Söhne"/>
              </a:rPr>
              <a:t>代码已经成功地编译了，但在后续的 </a:t>
            </a:r>
            <a:r>
              <a:rPr lang="en-US" altLang="zh-CN" b="0" i="0" dirty="0">
                <a:solidFill>
                  <a:srgbClr val="374151"/>
                </a:solidFill>
                <a:effectLst/>
                <a:latin typeface="Söhne"/>
              </a:rPr>
              <a:t>"lazy loading" </a:t>
            </a:r>
            <a:r>
              <a:rPr lang="zh-CN" altLang="en-US" b="0" i="0" dirty="0">
                <a:solidFill>
                  <a:srgbClr val="374151"/>
                </a:solidFill>
                <a:effectLst/>
                <a:latin typeface="Söhne"/>
              </a:rPr>
              <a:t>阶段出现了问题</a:t>
            </a:r>
            <a:endParaRPr lang="en-US" altLang="zh-CN" b="0" i="0" dirty="0">
              <a:solidFill>
                <a:srgbClr val="374151"/>
              </a:solidFill>
              <a:effectLst/>
              <a:latin typeface="Söhne"/>
            </a:endParaRPr>
          </a:p>
          <a:p>
            <a:r>
              <a:rPr lang="zh-TW" altLang="en-US" b="0" i="0" dirty="0">
                <a:solidFill>
                  <a:srgbClr val="374151"/>
                </a:solidFill>
                <a:effectLst/>
                <a:latin typeface="Söhne"/>
              </a:rPr>
              <a:t>这意味着已经加载的 </a:t>
            </a:r>
            <a:r>
              <a:rPr lang="en-US" dirty="0"/>
              <a:t>Matrix</a:t>
            </a:r>
            <a:r>
              <a:rPr lang="en-US" b="0" i="0" dirty="0">
                <a:solidFill>
                  <a:srgbClr val="374151"/>
                </a:solidFill>
                <a:effectLst/>
                <a:latin typeface="Söhne"/>
              </a:rPr>
              <a:t> </a:t>
            </a:r>
            <a:r>
              <a:rPr lang="zh-TW" altLang="en-US" b="0" i="0" dirty="0">
                <a:solidFill>
                  <a:srgbClr val="374151"/>
                </a:solidFill>
                <a:effectLst/>
                <a:latin typeface="Söhne"/>
              </a:rPr>
              <a:t>包的版本为</a:t>
            </a:r>
            <a:r>
              <a:rPr lang="en-US" altLang="zh-TW" b="0" i="0" dirty="0">
                <a:solidFill>
                  <a:srgbClr val="374151"/>
                </a:solidFill>
                <a:effectLst/>
                <a:latin typeface="Söhne"/>
              </a:rPr>
              <a:t>1.5-4.1</a:t>
            </a:r>
            <a:r>
              <a:rPr lang="zh-TW" altLang="en-US" b="0" i="0" dirty="0">
                <a:solidFill>
                  <a:srgbClr val="374151"/>
                </a:solidFill>
                <a:effectLst/>
                <a:latin typeface="Söhne"/>
              </a:rPr>
              <a:t>，但 </a:t>
            </a:r>
            <a:r>
              <a:rPr lang="en-US" dirty="0"/>
              <a:t>Signac</a:t>
            </a:r>
            <a:r>
              <a:rPr lang="en-US" b="0" i="0" dirty="0">
                <a:solidFill>
                  <a:srgbClr val="374151"/>
                </a:solidFill>
                <a:effectLst/>
                <a:latin typeface="Söhne"/>
              </a:rPr>
              <a:t> </a:t>
            </a:r>
            <a:r>
              <a:rPr lang="zh-TW" altLang="en-US" b="0" i="0" dirty="0">
                <a:solidFill>
                  <a:srgbClr val="374151"/>
                </a:solidFill>
                <a:effectLst/>
                <a:latin typeface="Söhne"/>
              </a:rPr>
              <a:t>需要的 </a:t>
            </a:r>
            <a:r>
              <a:rPr lang="en-US" dirty="0"/>
              <a:t>Matrix</a:t>
            </a:r>
            <a:r>
              <a:rPr lang="en-US" b="0" i="0" dirty="0">
                <a:solidFill>
                  <a:srgbClr val="374151"/>
                </a:solidFill>
                <a:effectLst/>
                <a:latin typeface="Söhne"/>
              </a:rPr>
              <a:t> </a:t>
            </a:r>
            <a:r>
              <a:rPr lang="zh-TW" altLang="en-US" b="0" i="0" dirty="0">
                <a:solidFill>
                  <a:srgbClr val="374151"/>
                </a:solidFill>
                <a:effectLst/>
                <a:latin typeface="Söhne"/>
              </a:rPr>
              <a:t>包的版本至少为</a:t>
            </a:r>
            <a:r>
              <a:rPr lang="en-US" altLang="zh-TW" b="0" i="0" dirty="0">
                <a:solidFill>
                  <a:srgbClr val="374151"/>
                </a:solidFill>
                <a:effectLst/>
                <a:latin typeface="Söhne"/>
              </a:rPr>
              <a:t>1.6.1</a:t>
            </a:r>
            <a:endParaRPr lang="en-US" dirty="0"/>
          </a:p>
        </p:txBody>
      </p:sp>
      <p:sp>
        <p:nvSpPr>
          <p:cNvPr id="4" name="Slide Number Placeholder 3"/>
          <p:cNvSpPr>
            <a:spLocks noGrp="1"/>
          </p:cNvSpPr>
          <p:nvPr>
            <p:ph type="sldNum" sz="quarter" idx="5"/>
          </p:nvPr>
        </p:nvSpPr>
        <p:spPr/>
        <p:txBody>
          <a:bodyPr/>
          <a:lstStyle/>
          <a:p>
            <a:fld id="{A0D3149A-5CEE-485E-B722-2D0A63FFEAF0}" type="slidenum">
              <a:rPr lang="en-US" smtClean="0"/>
              <a:t>38</a:t>
            </a:fld>
            <a:endParaRPr lang="en-US"/>
          </a:p>
        </p:txBody>
      </p:sp>
    </p:spTree>
    <p:extLst>
      <p:ext uri="{BB962C8B-B14F-4D97-AF65-F5344CB8AC3E}">
        <p14:creationId xmlns:p14="http://schemas.microsoft.com/office/powerpoint/2010/main" val="345401882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0D3149A-5CEE-485E-B722-2D0A63FFEAF0}" type="slidenum">
              <a:rPr lang="en-US" smtClean="0"/>
              <a:t>39</a:t>
            </a:fld>
            <a:endParaRPr lang="en-US"/>
          </a:p>
        </p:txBody>
      </p:sp>
    </p:spTree>
    <p:extLst>
      <p:ext uri="{BB962C8B-B14F-4D97-AF65-F5344CB8AC3E}">
        <p14:creationId xmlns:p14="http://schemas.microsoft.com/office/powerpoint/2010/main" val="372763425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dirty="0"/>
              <a:t>推薦實戰跟操文檔：</a:t>
            </a:r>
            <a:r>
              <a:rPr lang="en-US" altLang="zh-TW" dirty="0"/>
              <a:t>https://blog.csdn.net/ZIGRA/article/details/132312220?spm=1001.2014.3001.5501</a:t>
            </a:r>
            <a:endParaRPr lang="en-US" dirty="0"/>
          </a:p>
        </p:txBody>
      </p:sp>
      <p:sp>
        <p:nvSpPr>
          <p:cNvPr id="4" name="Slide Number Placeholder 3"/>
          <p:cNvSpPr>
            <a:spLocks noGrp="1"/>
          </p:cNvSpPr>
          <p:nvPr>
            <p:ph type="sldNum" sz="quarter" idx="5"/>
          </p:nvPr>
        </p:nvSpPr>
        <p:spPr/>
        <p:txBody>
          <a:bodyPr/>
          <a:lstStyle/>
          <a:p>
            <a:fld id="{A0D3149A-5CEE-485E-B722-2D0A63FFEAF0}" type="slidenum">
              <a:rPr lang="en-US" smtClean="0"/>
              <a:t>40</a:t>
            </a:fld>
            <a:endParaRPr lang="en-US"/>
          </a:p>
        </p:txBody>
      </p:sp>
    </p:spTree>
    <p:extLst>
      <p:ext uri="{BB962C8B-B14F-4D97-AF65-F5344CB8AC3E}">
        <p14:creationId xmlns:p14="http://schemas.microsoft.com/office/powerpoint/2010/main" val="241720735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TW" dirty="0"/>
              <a:t>Ref: https://blog.csdn.net/ZIGRA/article/details/132312220?spm=1001.2014.3001.5501</a:t>
            </a:r>
          </a:p>
          <a:p>
            <a:r>
              <a:rPr lang="en-US" dirty="0"/>
              <a:t>Ref:</a:t>
            </a:r>
            <a:r>
              <a:rPr lang="zh-TW" altLang="en-US" dirty="0"/>
              <a:t> </a:t>
            </a:r>
            <a:r>
              <a:rPr lang="en-US" dirty="0"/>
              <a:t>https://stuartlab.org/signac/articles/pbmc_vignette</a:t>
            </a:r>
          </a:p>
        </p:txBody>
      </p:sp>
      <p:sp>
        <p:nvSpPr>
          <p:cNvPr id="4" name="Slide Number Placeholder 3"/>
          <p:cNvSpPr>
            <a:spLocks noGrp="1"/>
          </p:cNvSpPr>
          <p:nvPr>
            <p:ph type="sldNum" sz="quarter" idx="5"/>
          </p:nvPr>
        </p:nvSpPr>
        <p:spPr/>
        <p:txBody>
          <a:bodyPr/>
          <a:lstStyle/>
          <a:p>
            <a:fld id="{A0D3149A-5CEE-485E-B722-2D0A63FFEAF0}" type="slidenum">
              <a:rPr lang="en-US" smtClean="0"/>
              <a:t>41</a:t>
            </a:fld>
            <a:endParaRPr lang="en-US"/>
          </a:p>
        </p:txBody>
      </p:sp>
    </p:spTree>
    <p:extLst>
      <p:ext uri="{BB962C8B-B14F-4D97-AF65-F5344CB8AC3E}">
        <p14:creationId xmlns:p14="http://schemas.microsoft.com/office/powerpoint/2010/main" val="368635593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0D3149A-5CEE-485E-B722-2D0A63FFEAF0}" type="slidenum">
              <a:rPr lang="en-US" smtClean="0"/>
              <a:t>42</a:t>
            </a:fld>
            <a:endParaRPr lang="en-US"/>
          </a:p>
        </p:txBody>
      </p:sp>
    </p:spTree>
    <p:extLst>
      <p:ext uri="{BB962C8B-B14F-4D97-AF65-F5344CB8AC3E}">
        <p14:creationId xmlns:p14="http://schemas.microsoft.com/office/powerpoint/2010/main" val="133873246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 https://cf.10xgenomics.com/samples/cell-atac/1.0.1/atac_v1_pbmc_10k/atac_v1_pbmc_10k_web_summary.html</a:t>
            </a:r>
          </a:p>
        </p:txBody>
      </p:sp>
      <p:sp>
        <p:nvSpPr>
          <p:cNvPr id="4" name="Slide Number Placeholder 3"/>
          <p:cNvSpPr>
            <a:spLocks noGrp="1"/>
          </p:cNvSpPr>
          <p:nvPr>
            <p:ph type="sldNum" sz="quarter" idx="5"/>
          </p:nvPr>
        </p:nvSpPr>
        <p:spPr/>
        <p:txBody>
          <a:bodyPr/>
          <a:lstStyle/>
          <a:p>
            <a:fld id="{A0D3149A-5CEE-485E-B722-2D0A63FFEAF0}" type="slidenum">
              <a:rPr lang="en-US" smtClean="0"/>
              <a:t>43</a:t>
            </a:fld>
            <a:endParaRPr lang="en-US"/>
          </a:p>
        </p:txBody>
      </p:sp>
    </p:spTree>
    <p:extLst>
      <p:ext uri="{BB962C8B-B14F-4D97-AF65-F5344CB8AC3E}">
        <p14:creationId xmlns:p14="http://schemas.microsoft.com/office/powerpoint/2010/main" val="301499739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Ref: https://cf.10xgenomics.com/samples/cell-atac/1.0.1/atac_v1_pbmc_10k/atac_v1_pbmc_10k_web_summary.html</a:t>
            </a:r>
          </a:p>
          <a:p>
            <a:endParaRPr lang="en-US" dirty="0"/>
          </a:p>
        </p:txBody>
      </p:sp>
      <p:sp>
        <p:nvSpPr>
          <p:cNvPr id="4" name="Slide Number Placeholder 3"/>
          <p:cNvSpPr>
            <a:spLocks noGrp="1"/>
          </p:cNvSpPr>
          <p:nvPr>
            <p:ph type="sldNum" sz="quarter" idx="5"/>
          </p:nvPr>
        </p:nvSpPr>
        <p:spPr/>
        <p:txBody>
          <a:bodyPr/>
          <a:lstStyle/>
          <a:p>
            <a:fld id="{A0D3149A-5CEE-485E-B722-2D0A63FFEAF0}" type="slidenum">
              <a:rPr lang="en-US" smtClean="0"/>
              <a:t>44</a:t>
            </a:fld>
            <a:endParaRPr lang="en-US"/>
          </a:p>
        </p:txBody>
      </p:sp>
    </p:spTree>
    <p:extLst>
      <p:ext uri="{BB962C8B-B14F-4D97-AF65-F5344CB8AC3E}">
        <p14:creationId xmlns:p14="http://schemas.microsoft.com/office/powerpoint/2010/main" val="321963076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Ref: https://cf.10xgenomics.com/samples/cell-atac/1.0.1/atac_v1_pbmc_10k/atac_v1_pbmc_10k_web_summary.html</a:t>
            </a:r>
          </a:p>
          <a:p>
            <a:endParaRPr lang="en-US" dirty="0"/>
          </a:p>
        </p:txBody>
      </p:sp>
      <p:sp>
        <p:nvSpPr>
          <p:cNvPr id="4" name="Slide Number Placeholder 3"/>
          <p:cNvSpPr>
            <a:spLocks noGrp="1"/>
          </p:cNvSpPr>
          <p:nvPr>
            <p:ph type="sldNum" sz="quarter" idx="5"/>
          </p:nvPr>
        </p:nvSpPr>
        <p:spPr/>
        <p:txBody>
          <a:bodyPr/>
          <a:lstStyle/>
          <a:p>
            <a:fld id="{A0D3149A-5CEE-485E-B722-2D0A63FFEAF0}" type="slidenum">
              <a:rPr lang="en-US" smtClean="0"/>
              <a:t>45</a:t>
            </a:fld>
            <a:endParaRPr lang="en-US"/>
          </a:p>
        </p:txBody>
      </p:sp>
    </p:spTree>
    <p:extLst>
      <p:ext uri="{BB962C8B-B14F-4D97-AF65-F5344CB8AC3E}">
        <p14:creationId xmlns:p14="http://schemas.microsoft.com/office/powerpoint/2010/main" val="52413625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Ref: https://cf.10xgenomics.com/samples/cell-atac/1.0.1/atac_v1_pbmc_10k/atac_v1_pbmc_10k_web_summary.html</a:t>
            </a:r>
          </a:p>
          <a:p>
            <a:endParaRPr lang="en-US" dirty="0"/>
          </a:p>
        </p:txBody>
      </p:sp>
      <p:sp>
        <p:nvSpPr>
          <p:cNvPr id="4" name="Slide Number Placeholder 3"/>
          <p:cNvSpPr>
            <a:spLocks noGrp="1"/>
          </p:cNvSpPr>
          <p:nvPr>
            <p:ph type="sldNum" sz="quarter" idx="5"/>
          </p:nvPr>
        </p:nvSpPr>
        <p:spPr/>
        <p:txBody>
          <a:bodyPr/>
          <a:lstStyle/>
          <a:p>
            <a:fld id="{A0D3149A-5CEE-485E-B722-2D0A63FFEAF0}" type="slidenum">
              <a:rPr lang="en-US" smtClean="0"/>
              <a:t>46</a:t>
            </a:fld>
            <a:endParaRPr lang="en-US"/>
          </a:p>
        </p:txBody>
      </p:sp>
    </p:spTree>
    <p:extLst>
      <p:ext uri="{BB962C8B-B14F-4D97-AF65-F5344CB8AC3E}">
        <p14:creationId xmlns:p14="http://schemas.microsoft.com/office/powerpoint/2010/main" val="183957653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Download all data</a:t>
            </a:r>
            <a:r>
              <a:rPr lang="zh-TW" altLang="en-US" dirty="0"/>
              <a:t> </a:t>
            </a:r>
            <a:r>
              <a:rPr lang="en-US" altLang="zh-TW" dirty="0"/>
              <a:t>/ </a:t>
            </a:r>
            <a:r>
              <a:rPr lang="zh-TW" altLang="en-US" dirty="0"/>
              <a:t>對照文件來源 </a:t>
            </a:r>
            <a:r>
              <a:rPr lang="en-US" dirty="0"/>
              <a:t>: https://support.10xgenomics.com/single-cell-atac/software/pipelines/latest/output/overview</a:t>
            </a:r>
          </a:p>
        </p:txBody>
      </p:sp>
      <p:sp>
        <p:nvSpPr>
          <p:cNvPr id="4" name="Slide Number Placeholder 3"/>
          <p:cNvSpPr>
            <a:spLocks noGrp="1"/>
          </p:cNvSpPr>
          <p:nvPr>
            <p:ph type="sldNum" sz="quarter" idx="5"/>
          </p:nvPr>
        </p:nvSpPr>
        <p:spPr/>
        <p:txBody>
          <a:bodyPr/>
          <a:lstStyle/>
          <a:p>
            <a:fld id="{A0D3149A-5CEE-485E-B722-2D0A63FFEAF0}" type="slidenum">
              <a:rPr lang="en-US" smtClean="0"/>
              <a:t>47</a:t>
            </a:fld>
            <a:endParaRPr lang="en-US"/>
          </a:p>
        </p:txBody>
      </p:sp>
    </p:spTree>
    <p:extLst>
      <p:ext uri="{BB962C8B-B14F-4D97-AF65-F5344CB8AC3E}">
        <p14:creationId xmlns:p14="http://schemas.microsoft.com/office/powerpoint/2010/main" val="415870891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dirty="0"/>
              <a:t>可以理解一些 </a:t>
            </a:r>
            <a:r>
              <a:rPr lang="en-US" altLang="zh-TW" dirty="0"/>
              <a:t>output </a:t>
            </a:r>
            <a:r>
              <a:rPr lang="zh-TW" altLang="en-US" dirty="0"/>
              <a:t>文件的意義和資料內容</a:t>
            </a:r>
            <a:endParaRPr lang="en-US" dirty="0"/>
          </a:p>
        </p:txBody>
      </p:sp>
      <p:sp>
        <p:nvSpPr>
          <p:cNvPr id="4" name="Slide Number Placeholder 3"/>
          <p:cNvSpPr>
            <a:spLocks noGrp="1"/>
          </p:cNvSpPr>
          <p:nvPr>
            <p:ph type="sldNum" sz="quarter" idx="5"/>
          </p:nvPr>
        </p:nvSpPr>
        <p:spPr/>
        <p:txBody>
          <a:bodyPr/>
          <a:lstStyle/>
          <a:p>
            <a:fld id="{A0D3149A-5CEE-485E-B722-2D0A63FFEAF0}" type="slidenum">
              <a:rPr lang="en-US" smtClean="0"/>
              <a:t>48</a:t>
            </a:fld>
            <a:endParaRPr lang="en-US"/>
          </a:p>
        </p:txBody>
      </p:sp>
    </p:spTree>
    <p:extLst>
      <p:ext uri="{BB962C8B-B14F-4D97-AF65-F5344CB8AC3E}">
        <p14:creationId xmlns:p14="http://schemas.microsoft.com/office/powerpoint/2010/main" val="241361172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dirty="0"/>
              <a:t>可以理解一些 </a:t>
            </a:r>
            <a:r>
              <a:rPr lang="en-US" altLang="zh-TW" dirty="0"/>
              <a:t>output </a:t>
            </a:r>
            <a:r>
              <a:rPr lang="zh-TW" altLang="en-US" dirty="0"/>
              <a:t>文件的意義和資料內容</a:t>
            </a:r>
            <a:endParaRPr lang="en-US" dirty="0"/>
          </a:p>
        </p:txBody>
      </p:sp>
      <p:sp>
        <p:nvSpPr>
          <p:cNvPr id="4" name="Slide Number Placeholder 3"/>
          <p:cNvSpPr>
            <a:spLocks noGrp="1"/>
          </p:cNvSpPr>
          <p:nvPr>
            <p:ph type="sldNum" sz="quarter" idx="5"/>
          </p:nvPr>
        </p:nvSpPr>
        <p:spPr/>
        <p:txBody>
          <a:bodyPr/>
          <a:lstStyle/>
          <a:p>
            <a:fld id="{A0D3149A-5CEE-485E-B722-2D0A63FFEAF0}" type="slidenum">
              <a:rPr lang="en-US" smtClean="0"/>
              <a:t>49</a:t>
            </a:fld>
            <a:endParaRPr lang="en-US"/>
          </a:p>
        </p:txBody>
      </p:sp>
    </p:spTree>
    <p:extLst>
      <p:ext uri="{BB962C8B-B14F-4D97-AF65-F5344CB8AC3E}">
        <p14:creationId xmlns:p14="http://schemas.microsoft.com/office/powerpoint/2010/main" val="296233777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b="0" i="0" dirty="0">
                <a:solidFill>
                  <a:srgbClr val="1D1F25"/>
                </a:solidFill>
                <a:effectLst/>
                <a:latin typeface="Atkinson Hyperlegible"/>
              </a:rPr>
              <a:t>行名为</a:t>
            </a:r>
            <a:r>
              <a:rPr lang="en-US" altLang="zh-CN" b="0" i="0" dirty="0">
                <a:solidFill>
                  <a:srgbClr val="1D1F25"/>
                </a:solidFill>
                <a:effectLst/>
                <a:latin typeface="Atkinson Hyperlegible"/>
              </a:rPr>
              <a:t>Peak</a:t>
            </a:r>
            <a:r>
              <a:rPr lang="zh-CN" altLang="en-US" b="0" i="0" dirty="0">
                <a:solidFill>
                  <a:srgbClr val="1D1F25"/>
                </a:solidFill>
                <a:effectLst/>
                <a:latin typeface="Atkinson Hyperlegible"/>
              </a:rPr>
              <a:t>区域（指染色质上的高信号区域，对应于基因组中的开放区域），列名为</a:t>
            </a:r>
            <a:r>
              <a:rPr lang="en-US" altLang="zh-CN" b="0" i="0" dirty="0">
                <a:solidFill>
                  <a:srgbClr val="1D1F25"/>
                </a:solidFill>
                <a:effectLst/>
                <a:latin typeface="Atkinson Hyperlegible"/>
              </a:rPr>
              <a:t>Barcode</a:t>
            </a:r>
            <a:r>
              <a:rPr lang="zh-CN" altLang="en-US" b="0" i="0" dirty="0">
                <a:solidFill>
                  <a:srgbClr val="1D1F25"/>
                </a:solidFill>
                <a:effectLst/>
                <a:latin typeface="Atkinson Hyperlegible"/>
              </a:rPr>
              <a:t>（细胞），矩阵内的数字代表在此</a:t>
            </a:r>
            <a:r>
              <a:rPr lang="en-US" altLang="zh-CN" b="0" i="0" dirty="0">
                <a:solidFill>
                  <a:srgbClr val="1D1F25"/>
                </a:solidFill>
                <a:effectLst/>
                <a:latin typeface="Atkinson Hyperlegible"/>
              </a:rPr>
              <a:t>Peak</a:t>
            </a:r>
            <a:r>
              <a:rPr lang="zh-CN" altLang="en-US" b="0" i="0" dirty="0">
                <a:solidFill>
                  <a:srgbClr val="1D1F25"/>
                </a:solidFill>
                <a:effectLst/>
                <a:latin typeface="Atkinson Hyperlegible"/>
              </a:rPr>
              <a:t>中</a:t>
            </a:r>
            <a:r>
              <a:rPr lang="en-US" altLang="zh-CN" b="0" i="0" dirty="0">
                <a:solidFill>
                  <a:srgbClr val="1D1F25"/>
                </a:solidFill>
                <a:effectLst/>
                <a:latin typeface="Atkinson Hyperlegible"/>
              </a:rPr>
              <a:t>Tn5</a:t>
            </a:r>
            <a:r>
              <a:rPr lang="zh-CN" altLang="en-US" b="0" i="0" dirty="0">
                <a:solidFill>
                  <a:srgbClr val="1D1F25"/>
                </a:solidFill>
                <a:effectLst/>
                <a:latin typeface="Atkinson Hyperlegible"/>
              </a:rPr>
              <a:t>酶的结合数</a:t>
            </a:r>
            <a:endParaRPr lang="en-US" altLang="zh-CN" b="0" i="0" dirty="0">
              <a:solidFill>
                <a:srgbClr val="1D1F25"/>
              </a:solidFill>
              <a:effectLst/>
              <a:latin typeface="Atkinson Hyperlegible"/>
            </a:endParaRPr>
          </a:p>
          <a:p>
            <a:endParaRPr lang="en-US" dirty="0"/>
          </a:p>
        </p:txBody>
      </p:sp>
      <p:sp>
        <p:nvSpPr>
          <p:cNvPr id="4" name="Slide Number Placeholder 3"/>
          <p:cNvSpPr>
            <a:spLocks noGrp="1"/>
          </p:cNvSpPr>
          <p:nvPr>
            <p:ph type="sldNum" sz="quarter" idx="5"/>
          </p:nvPr>
        </p:nvSpPr>
        <p:spPr/>
        <p:txBody>
          <a:bodyPr/>
          <a:lstStyle/>
          <a:p>
            <a:fld id="{A0D3149A-5CEE-485E-B722-2D0A63FFEAF0}" type="slidenum">
              <a:rPr lang="en-US" smtClean="0"/>
              <a:t>51</a:t>
            </a:fld>
            <a:endParaRPr lang="en-US"/>
          </a:p>
        </p:txBody>
      </p:sp>
    </p:spTree>
    <p:extLst>
      <p:ext uri="{BB962C8B-B14F-4D97-AF65-F5344CB8AC3E}">
        <p14:creationId xmlns:p14="http://schemas.microsoft.com/office/powerpoint/2010/main" val="407797751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b="0" i="0" dirty="0">
                <a:solidFill>
                  <a:srgbClr val="1D1F25"/>
                </a:solidFill>
                <a:effectLst/>
                <a:latin typeface="Atkinson Hyperlegible"/>
              </a:rPr>
              <a:t>一</a:t>
            </a:r>
            <a:r>
              <a:rPr lang="zh-CN" altLang="en-US" b="0" i="0" dirty="0">
                <a:solidFill>
                  <a:srgbClr val="1D1F25"/>
                </a:solidFill>
                <a:effectLst/>
                <a:latin typeface="Atkinson Hyperlegible"/>
              </a:rPr>
              <a:t>个包含染色质测序数据的元数据表格，其中记录了每个细胞的各种统计信息。这些信息来自于染色质测序数据的处理和分析，用于描述每个细胞的质量和属性</a:t>
            </a:r>
            <a:endParaRPr lang="en-US" altLang="zh-CN" b="0" i="0" dirty="0">
              <a:solidFill>
                <a:srgbClr val="1D1F25"/>
              </a:solidFill>
              <a:effectLst/>
              <a:latin typeface="Atkinson Hyperlegible"/>
            </a:endParaRPr>
          </a:p>
          <a:p>
            <a:endParaRPr lang="en-US" b="0" i="0" dirty="0">
              <a:solidFill>
                <a:srgbClr val="1D1F25"/>
              </a:solidFill>
              <a:effectLst/>
              <a:latin typeface="Atkinson Hyperlegible"/>
            </a:endParaRPr>
          </a:p>
          <a:p>
            <a:pPr algn="l">
              <a:buFont typeface="Arial" panose="020B0604020202020204" pitchFamily="34" charset="0"/>
              <a:buChar char="•"/>
            </a:pPr>
            <a:r>
              <a:rPr lang="en-US" b="0" i="0" dirty="0">
                <a:solidFill>
                  <a:srgbClr val="1D1F25"/>
                </a:solidFill>
                <a:effectLst/>
                <a:latin typeface="Atkinson Hyperlegible"/>
              </a:rPr>
              <a:t>barcode：</a:t>
            </a:r>
            <a:r>
              <a:rPr lang="zh-TW" altLang="en-US" b="0" i="0" dirty="0">
                <a:solidFill>
                  <a:srgbClr val="1D1F25"/>
                </a:solidFill>
                <a:effectLst/>
                <a:latin typeface="Atkinson Hyperlegible"/>
              </a:rPr>
              <a:t>细胞条码，用于标识每个细胞</a:t>
            </a:r>
          </a:p>
          <a:p>
            <a:pPr algn="l">
              <a:buFont typeface="Arial" panose="020B0604020202020204" pitchFamily="34" charset="0"/>
              <a:buChar char="•"/>
            </a:pPr>
            <a:r>
              <a:rPr lang="en-US" b="0" i="0" dirty="0">
                <a:solidFill>
                  <a:srgbClr val="1D1F25"/>
                </a:solidFill>
                <a:effectLst/>
                <a:latin typeface="Atkinson Hyperlegible"/>
              </a:rPr>
              <a:t>total：</a:t>
            </a:r>
            <a:r>
              <a:rPr lang="zh-TW" altLang="en-US" b="0" i="0" dirty="0">
                <a:solidFill>
                  <a:srgbClr val="1D1F25"/>
                </a:solidFill>
                <a:effectLst/>
                <a:latin typeface="Atkinson Hyperlegible"/>
              </a:rPr>
              <a:t>总的片段数目</a:t>
            </a:r>
          </a:p>
          <a:p>
            <a:pPr algn="l">
              <a:buFont typeface="Arial" panose="020B0604020202020204" pitchFamily="34" charset="0"/>
              <a:buChar char="•"/>
            </a:pPr>
            <a:r>
              <a:rPr lang="en-US" b="0" i="0" dirty="0">
                <a:solidFill>
                  <a:srgbClr val="1D1F25"/>
                </a:solidFill>
                <a:effectLst/>
                <a:latin typeface="Atkinson Hyperlegible"/>
              </a:rPr>
              <a:t>duplicate：</a:t>
            </a:r>
            <a:r>
              <a:rPr lang="zh-TW" altLang="en-US" b="0" i="0" dirty="0">
                <a:solidFill>
                  <a:srgbClr val="1D1F25"/>
                </a:solidFill>
                <a:effectLst/>
                <a:latin typeface="Atkinson Hyperlegible"/>
              </a:rPr>
              <a:t>重复的片段数目</a:t>
            </a:r>
          </a:p>
          <a:p>
            <a:pPr algn="l">
              <a:buFont typeface="Arial" panose="020B0604020202020204" pitchFamily="34" charset="0"/>
              <a:buChar char="•"/>
            </a:pPr>
            <a:r>
              <a:rPr lang="en-US" b="0" i="0" dirty="0">
                <a:solidFill>
                  <a:srgbClr val="1D1F25"/>
                </a:solidFill>
                <a:effectLst/>
                <a:latin typeface="Atkinson Hyperlegible"/>
              </a:rPr>
              <a:t>chimeric：</a:t>
            </a:r>
            <a:r>
              <a:rPr lang="zh-TW" altLang="en-US" b="0" i="0" dirty="0">
                <a:solidFill>
                  <a:srgbClr val="1D1F25"/>
                </a:solidFill>
                <a:effectLst/>
                <a:latin typeface="Atkinson Hyperlegible"/>
              </a:rPr>
              <a:t>融合的片段数目</a:t>
            </a:r>
          </a:p>
          <a:p>
            <a:pPr algn="l">
              <a:buFont typeface="Arial" panose="020B0604020202020204" pitchFamily="34" charset="0"/>
              <a:buChar char="•"/>
            </a:pPr>
            <a:r>
              <a:rPr lang="en-US" b="0" i="0" dirty="0">
                <a:solidFill>
                  <a:srgbClr val="1D1F25"/>
                </a:solidFill>
                <a:effectLst/>
                <a:latin typeface="Atkinson Hyperlegible"/>
              </a:rPr>
              <a:t>unmapped：</a:t>
            </a:r>
            <a:r>
              <a:rPr lang="zh-TW" altLang="en-US" b="0" i="0" dirty="0">
                <a:solidFill>
                  <a:srgbClr val="1D1F25"/>
                </a:solidFill>
                <a:effectLst/>
                <a:latin typeface="Atkinson Hyperlegible"/>
              </a:rPr>
              <a:t>未映射的片段数目</a:t>
            </a:r>
          </a:p>
          <a:p>
            <a:pPr algn="l">
              <a:buFont typeface="Arial" panose="020B0604020202020204" pitchFamily="34" charset="0"/>
              <a:buChar char="•"/>
            </a:pPr>
            <a:r>
              <a:rPr lang="en-US" b="0" i="0" dirty="0" err="1">
                <a:solidFill>
                  <a:srgbClr val="1D1F25"/>
                </a:solidFill>
                <a:effectLst/>
                <a:latin typeface="Atkinson Hyperlegible"/>
              </a:rPr>
              <a:t>lowmapq</a:t>
            </a:r>
            <a:r>
              <a:rPr lang="en-US" b="0" i="0" dirty="0">
                <a:solidFill>
                  <a:srgbClr val="1D1F25"/>
                </a:solidFill>
                <a:effectLst/>
                <a:latin typeface="Atkinson Hyperlegible"/>
              </a:rPr>
              <a:t>：</a:t>
            </a:r>
            <a:r>
              <a:rPr lang="zh-TW" altLang="en-US" b="0" i="0" dirty="0">
                <a:solidFill>
                  <a:srgbClr val="1D1F25"/>
                </a:solidFill>
                <a:effectLst/>
                <a:latin typeface="Atkinson Hyperlegible"/>
              </a:rPr>
              <a:t>映射质量低的片段数目</a:t>
            </a:r>
          </a:p>
          <a:p>
            <a:pPr algn="l">
              <a:buFont typeface="Arial" panose="020B0604020202020204" pitchFamily="34" charset="0"/>
              <a:buChar char="•"/>
            </a:pPr>
            <a:r>
              <a:rPr lang="en-US" b="0" i="0" dirty="0">
                <a:solidFill>
                  <a:srgbClr val="1D1F25"/>
                </a:solidFill>
                <a:effectLst/>
                <a:latin typeface="Atkinson Hyperlegible"/>
              </a:rPr>
              <a:t>mitochondrial：</a:t>
            </a:r>
            <a:r>
              <a:rPr lang="zh-TW" altLang="en-US" b="0" i="0" dirty="0">
                <a:solidFill>
                  <a:srgbClr val="1D1F25"/>
                </a:solidFill>
                <a:effectLst/>
                <a:latin typeface="Atkinson Hyperlegible"/>
              </a:rPr>
              <a:t>位于线粒体的片段数目</a:t>
            </a:r>
          </a:p>
          <a:p>
            <a:pPr algn="l">
              <a:buFont typeface="Arial" panose="020B0604020202020204" pitchFamily="34" charset="0"/>
              <a:buChar char="•"/>
            </a:pPr>
            <a:r>
              <a:rPr lang="en-US" b="0" i="0" dirty="0" err="1">
                <a:solidFill>
                  <a:srgbClr val="1D1F25"/>
                </a:solidFill>
                <a:effectLst/>
                <a:latin typeface="Atkinson Hyperlegible"/>
              </a:rPr>
              <a:t>passed_filters</a:t>
            </a:r>
            <a:r>
              <a:rPr lang="en-US" b="0" i="0" dirty="0">
                <a:solidFill>
                  <a:srgbClr val="1D1F25"/>
                </a:solidFill>
                <a:effectLst/>
                <a:latin typeface="Atkinson Hyperlegible"/>
              </a:rPr>
              <a:t>：</a:t>
            </a:r>
            <a:r>
              <a:rPr lang="zh-TW" altLang="en-US" b="0" i="0" dirty="0">
                <a:solidFill>
                  <a:srgbClr val="1D1F25"/>
                </a:solidFill>
                <a:effectLst/>
                <a:latin typeface="Atkinson Hyperlegible"/>
              </a:rPr>
              <a:t>通过筛选的片段数目</a:t>
            </a:r>
          </a:p>
          <a:p>
            <a:pPr algn="l">
              <a:buFont typeface="Arial" panose="020B0604020202020204" pitchFamily="34" charset="0"/>
              <a:buChar char="•"/>
            </a:pPr>
            <a:r>
              <a:rPr lang="en-US" b="0" i="0" dirty="0" err="1">
                <a:solidFill>
                  <a:srgbClr val="1D1F25"/>
                </a:solidFill>
                <a:effectLst/>
                <a:latin typeface="Atkinson Hyperlegible"/>
              </a:rPr>
              <a:t>cell_id</a:t>
            </a:r>
            <a:r>
              <a:rPr lang="en-US" b="0" i="0" dirty="0">
                <a:solidFill>
                  <a:srgbClr val="1D1F25"/>
                </a:solidFill>
                <a:effectLst/>
                <a:latin typeface="Atkinson Hyperlegible"/>
              </a:rPr>
              <a:t>：</a:t>
            </a:r>
            <a:r>
              <a:rPr lang="zh-TW" altLang="en-US" b="0" i="0" dirty="0">
                <a:solidFill>
                  <a:srgbClr val="1D1F25"/>
                </a:solidFill>
                <a:effectLst/>
                <a:latin typeface="Atkinson Hyperlegible"/>
              </a:rPr>
              <a:t>细胞的唯一标识符</a:t>
            </a:r>
          </a:p>
          <a:p>
            <a:pPr algn="l">
              <a:buFont typeface="Arial" panose="020B0604020202020204" pitchFamily="34" charset="0"/>
              <a:buChar char="•"/>
            </a:pPr>
            <a:r>
              <a:rPr lang="en-US" b="0" i="0" dirty="0">
                <a:solidFill>
                  <a:srgbClr val="1D1F25"/>
                </a:solidFill>
                <a:effectLst/>
                <a:latin typeface="Atkinson Hyperlegible"/>
              </a:rPr>
              <a:t>is__</a:t>
            </a:r>
            <a:r>
              <a:rPr lang="en-US" b="0" i="0" dirty="0" err="1">
                <a:solidFill>
                  <a:srgbClr val="1D1F25"/>
                </a:solidFill>
                <a:effectLst/>
                <a:latin typeface="Atkinson Hyperlegible"/>
              </a:rPr>
              <a:t>cell_barcode</a:t>
            </a:r>
            <a:r>
              <a:rPr lang="en-US" b="0" i="0" dirty="0">
                <a:solidFill>
                  <a:srgbClr val="1D1F25"/>
                </a:solidFill>
                <a:effectLst/>
                <a:latin typeface="Atkinson Hyperlegible"/>
              </a:rPr>
              <a:t>：</a:t>
            </a:r>
            <a:r>
              <a:rPr lang="zh-TW" altLang="en-US" b="0" i="0" dirty="0">
                <a:solidFill>
                  <a:srgbClr val="1D1F25"/>
                </a:solidFill>
                <a:effectLst/>
                <a:latin typeface="Atkinson Hyperlegible"/>
              </a:rPr>
              <a:t>是否是细胞条码</a:t>
            </a:r>
          </a:p>
          <a:p>
            <a:pPr algn="l">
              <a:buFont typeface="Arial" panose="020B0604020202020204" pitchFamily="34" charset="0"/>
              <a:buChar char="•"/>
            </a:pPr>
            <a:r>
              <a:rPr lang="en-US" b="0" i="0" dirty="0" err="1">
                <a:solidFill>
                  <a:srgbClr val="1D1F25"/>
                </a:solidFill>
                <a:effectLst/>
                <a:latin typeface="Atkinson Hyperlegible"/>
              </a:rPr>
              <a:t>TSS_fragments</a:t>
            </a:r>
            <a:r>
              <a:rPr lang="en-US" b="0" i="0" dirty="0">
                <a:solidFill>
                  <a:srgbClr val="1D1F25"/>
                </a:solidFill>
                <a:effectLst/>
                <a:latin typeface="Atkinson Hyperlegible"/>
              </a:rPr>
              <a:t>：</a:t>
            </a:r>
            <a:r>
              <a:rPr lang="zh-TW" altLang="en-US" b="0" i="0" dirty="0">
                <a:solidFill>
                  <a:srgbClr val="1D1F25"/>
                </a:solidFill>
                <a:effectLst/>
                <a:latin typeface="Atkinson Hyperlegible"/>
              </a:rPr>
              <a:t>与转录起始位点相关的片段数目</a:t>
            </a:r>
          </a:p>
          <a:p>
            <a:pPr algn="l">
              <a:buFont typeface="Arial" panose="020B0604020202020204" pitchFamily="34" charset="0"/>
              <a:buChar char="•"/>
            </a:pPr>
            <a:r>
              <a:rPr lang="en-US" b="0" i="0" dirty="0" err="1">
                <a:solidFill>
                  <a:srgbClr val="1D1F25"/>
                </a:solidFill>
                <a:effectLst/>
                <a:latin typeface="Atkinson Hyperlegible"/>
              </a:rPr>
              <a:t>DNase_sensitive_region_fragments</a:t>
            </a:r>
            <a:r>
              <a:rPr lang="en-US" b="0" i="0" dirty="0">
                <a:solidFill>
                  <a:srgbClr val="1D1F25"/>
                </a:solidFill>
                <a:effectLst/>
                <a:latin typeface="Atkinson Hyperlegible"/>
              </a:rPr>
              <a:t>：</a:t>
            </a:r>
            <a:r>
              <a:rPr lang="zh-TW" altLang="en-US" b="0" i="0" dirty="0">
                <a:solidFill>
                  <a:srgbClr val="1D1F25"/>
                </a:solidFill>
                <a:effectLst/>
                <a:latin typeface="Atkinson Hyperlegible"/>
              </a:rPr>
              <a:t>与</a:t>
            </a:r>
            <a:r>
              <a:rPr lang="en-US" b="0" i="0" dirty="0">
                <a:solidFill>
                  <a:srgbClr val="1D1F25"/>
                </a:solidFill>
                <a:effectLst/>
                <a:latin typeface="Atkinson Hyperlegible"/>
              </a:rPr>
              <a:t>DNase</a:t>
            </a:r>
            <a:r>
              <a:rPr lang="zh-TW" altLang="en-US" b="0" i="0" dirty="0">
                <a:solidFill>
                  <a:srgbClr val="1D1F25"/>
                </a:solidFill>
                <a:effectLst/>
                <a:latin typeface="Atkinson Hyperlegible"/>
              </a:rPr>
              <a:t>敏感区域相关的片段数目</a:t>
            </a:r>
          </a:p>
          <a:p>
            <a:pPr algn="l">
              <a:buFont typeface="Arial" panose="020B0604020202020204" pitchFamily="34" charset="0"/>
              <a:buChar char="•"/>
            </a:pPr>
            <a:r>
              <a:rPr lang="en-US" b="0" i="0" dirty="0" err="1">
                <a:solidFill>
                  <a:srgbClr val="1D1F25"/>
                </a:solidFill>
                <a:effectLst/>
                <a:latin typeface="Atkinson Hyperlegible"/>
              </a:rPr>
              <a:t>enhancer_region_fragments</a:t>
            </a:r>
            <a:r>
              <a:rPr lang="en-US" b="0" i="0" dirty="0">
                <a:solidFill>
                  <a:srgbClr val="1D1F25"/>
                </a:solidFill>
                <a:effectLst/>
                <a:latin typeface="Atkinson Hyperlegible"/>
              </a:rPr>
              <a:t>：</a:t>
            </a:r>
            <a:r>
              <a:rPr lang="zh-TW" altLang="en-US" b="0" i="0" dirty="0">
                <a:solidFill>
                  <a:srgbClr val="1D1F25"/>
                </a:solidFill>
                <a:effectLst/>
                <a:latin typeface="Atkinson Hyperlegible"/>
              </a:rPr>
              <a:t>与增强子区域相关的片段数目</a:t>
            </a:r>
          </a:p>
          <a:p>
            <a:pPr algn="l">
              <a:buFont typeface="Arial" panose="020B0604020202020204" pitchFamily="34" charset="0"/>
              <a:buChar char="•"/>
            </a:pPr>
            <a:r>
              <a:rPr lang="en-US" b="0" i="0" dirty="0" err="1">
                <a:solidFill>
                  <a:srgbClr val="1D1F25"/>
                </a:solidFill>
                <a:effectLst/>
                <a:latin typeface="Atkinson Hyperlegible"/>
              </a:rPr>
              <a:t>promoter_region_fragments</a:t>
            </a:r>
            <a:r>
              <a:rPr lang="en-US" b="0" i="0" dirty="0">
                <a:solidFill>
                  <a:srgbClr val="1D1F25"/>
                </a:solidFill>
                <a:effectLst/>
                <a:latin typeface="Atkinson Hyperlegible"/>
              </a:rPr>
              <a:t>：</a:t>
            </a:r>
            <a:r>
              <a:rPr lang="zh-TW" altLang="en-US" b="0" i="0" dirty="0">
                <a:solidFill>
                  <a:srgbClr val="1D1F25"/>
                </a:solidFill>
                <a:effectLst/>
                <a:latin typeface="Atkinson Hyperlegible"/>
              </a:rPr>
              <a:t>与启动子区域相关的片段数目</a:t>
            </a:r>
          </a:p>
          <a:p>
            <a:pPr algn="l">
              <a:buFont typeface="Arial" panose="020B0604020202020204" pitchFamily="34" charset="0"/>
              <a:buChar char="•"/>
            </a:pPr>
            <a:r>
              <a:rPr lang="en-US" b="0" i="0" dirty="0" err="1">
                <a:solidFill>
                  <a:srgbClr val="1D1F25"/>
                </a:solidFill>
                <a:effectLst/>
                <a:latin typeface="Atkinson Hyperlegible"/>
              </a:rPr>
              <a:t>on_target_fragments</a:t>
            </a:r>
            <a:r>
              <a:rPr lang="en-US" b="0" i="0" dirty="0">
                <a:solidFill>
                  <a:srgbClr val="1D1F25"/>
                </a:solidFill>
                <a:effectLst/>
                <a:latin typeface="Atkinson Hyperlegible"/>
              </a:rPr>
              <a:t>：</a:t>
            </a:r>
            <a:r>
              <a:rPr lang="zh-TW" altLang="en-US" b="0" i="0" dirty="0">
                <a:solidFill>
                  <a:srgbClr val="1D1F25"/>
                </a:solidFill>
                <a:effectLst/>
                <a:latin typeface="Atkinson Hyperlegible"/>
              </a:rPr>
              <a:t>与目标区域相关的片段数目</a:t>
            </a:r>
          </a:p>
          <a:p>
            <a:pPr algn="l">
              <a:buFont typeface="Arial" panose="020B0604020202020204" pitchFamily="34" charset="0"/>
              <a:buChar char="•"/>
            </a:pPr>
            <a:r>
              <a:rPr lang="en-US" b="0" i="0" dirty="0" err="1">
                <a:solidFill>
                  <a:srgbClr val="1D1F25"/>
                </a:solidFill>
                <a:effectLst/>
                <a:latin typeface="Atkinson Hyperlegible"/>
              </a:rPr>
              <a:t>blacklist_region_fragments</a:t>
            </a:r>
            <a:r>
              <a:rPr lang="en-US" b="0" i="0" dirty="0">
                <a:solidFill>
                  <a:srgbClr val="1D1F25"/>
                </a:solidFill>
                <a:effectLst/>
                <a:latin typeface="Atkinson Hyperlegible"/>
              </a:rPr>
              <a:t>：</a:t>
            </a:r>
            <a:r>
              <a:rPr lang="zh-TW" altLang="en-US" b="0" i="0" dirty="0">
                <a:solidFill>
                  <a:srgbClr val="1D1F25"/>
                </a:solidFill>
                <a:effectLst/>
                <a:latin typeface="Atkinson Hyperlegible"/>
              </a:rPr>
              <a:t>位于黑名单区域的片段数目</a:t>
            </a:r>
          </a:p>
          <a:p>
            <a:pPr algn="l">
              <a:buFont typeface="Arial" panose="020B0604020202020204" pitchFamily="34" charset="0"/>
              <a:buChar char="•"/>
            </a:pPr>
            <a:r>
              <a:rPr lang="en-US" b="0" i="0" dirty="0" err="1">
                <a:solidFill>
                  <a:srgbClr val="1D1F25"/>
                </a:solidFill>
                <a:effectLst/>
                <a:latin typeface="Atkinson Hyperlegible"/>
              </a:rPr>
              <a:t>peak_region_fragments</a:t>
            </a:r>
            <a:r>
              <a:rPr lang="en-US" b="0" i="0" dirty="0">
                <a:solidFill>
                  <a:srgbClr val="1D1F25"/>
                </a:solidFill>
                <a:effectLst/>
                <a:latin typeface="Atkinson Hyperlegible"/>
              </a:rPr>
              <a:t>：</a:t>
            </a:r>
            <a:r>
              <a:rPr lang="zh-TW" altLang="en-US" b="0" i="0" dirty="0">
                <a:solidFill>
                  <a:srgbClr val="1D1F25"/>
                </a:solidFill>
                <a:effectLst/>
                <a:latin typeface="Atkinson Hyperlegible"/>
              </a:rPr>
              <a:t>位于峰值区域的片段数目</a:t>
            </a:r>
          </a:p>
          <a:p>
            <a:endParaRPr lang="en-US" dirty="0"/>
          </a:p>
        </p:txBody>
      </p:sp>
      <p:sp>
        <p:nvSpPr>
          <p:cNvPr id="4" name="Slide Number Placeholder 3"/>
          <p:cNvSpPr>
            <a:spLocks noGrp="1"/>
          </p:cNvSpPr>
          <p:nvPr>
            <p:ph type="sldNum" sz="quarter" idx="5"/>
          </p:nvPr>
        </p:nvSpPr>
        <p:spPr/>
        <p:txBody>
          <a:bodyPr/>
          <a:lstStyle/>
          <a:p>
            <a:fld id="{A0D3149A-5CEE-485E-B722-2D0A63FFEAF0}" type="slidenum">
              <a:rPr lang="en-US" smtClean="0"/>
              <a:t>54</a:t>
            </a:fld>
            <a:endParaRPr lang="en-US"/>
          </a:p>
        </p:txBody>
      </p:sp>
    </p:spTree>
    <p:extLst>
      <p:ext uri="{BB962C8B-B14F-4D97-AF65-F5344CB8AC3E}">
        <p14:creationId xmlns:p14="http://schemas.microsoft.com/office/powerpoint/2010/main" val="25087235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TW" dirty="0" err="1"/>
              <a:t>NucleosomeSignal</a:t>
            </a:r>
            <a:r>
              <a:rPr lang="zh-TW" altLang="en-US" b="0" i="0" dirty="0">
                <a:solidFill>
                  <a:srgbClr val="374151"/>
                </a:solidFill>
                <a:effectLst/>
                <a:latin typeface="Söhne"/>
              </a:rPr>
              <a:t> 是 </a:t>
            </a:r>
            <a:r>
              <a:rPr lang="en-US" altLang="zh-TW" b="0" i="0" dirty="0">
                <a:solidFill>
                  <a:srgbClr val="374151"/>
                </a:solidFill>
                <a:effectLst/>
                <a:latin typeface="Söhne"/>
              </a:rPr>
              <a:t>Seurat </a:t>
            </a:r>
            <a:r>
              <a:rPr lang="zh-TW" altLang="en-US" b="0" i="0" dirty="0">
                <a:solidFill>
                  <a:srgbClr val="374151"/>
                </a:solidFill>
                <a:effectLst/>
                <a:latin typeface="Söhne"/>
              </a:rPr>
              <a:t>的一個功能，特別為 </a:t>
            </a:r>
            <a:r>
              <a:rPr lang="en-US" altLang="zh-TW" b="0" i="0" dirty="0" err="1">
                <a:solidFill>
                  <a:srgbClr val="374151"/>
                </a:solidFill>
                <a:effectLst/>
                <a:latin typeface="Söhne"/>
              </a:rPr>
              <a:t>scATAC</a:t>
            </a:r>
            <a:r>
              <a:rPr lang="en-US" altLang="zh-TW" b="0" i="0" dirty="0">
                <a:solidFill>
                  <a:srgbClr val="374151"/>
                </a:solidFill>
                <a:effectLst/>
                <a:latin typeface="Söhne"/>
              </a:rPr>
              <a:t>-seq </a:t>
            </a:r>
            <a:r>
              <a:rPr lang="zh-TW" altLang="en-US" b="0" i="0" dirty="0">
                <a:solidFill>
                  <a:srgbClr val="374151"/>
                </a:solidFill>
                <a:effectLst/>
                <a:latin typeface="Söhne"/>
              </a:rPr>
              <a:t>數據分析而設計。在單細胞</a:t>
            </a:r>
            <a:r>
              <a:rPr lang="en-US" altLang="zh-TW" b="0" i="0" dirty="0">
                <a:solidFill>
                  <a:srgbClr val="374151"/>
                </a:solidFill>
                <a:effectLst/>
                <a:latin typeface="Söhne"/>
              </a:rPr>
              <a:t>ATAC</a:t>
            </a:r>
            <a:r>
              <a:rPr lang="zh-TW" altLang="en-US" b="0" i="0" dirty="0">
                <a:solidFill>
                  <a:srgbClr val="374151"/>
                </a:solidFill>
                <a:effectLst/>
                <a:latin typeface="Söhne"/>
              </a:rPr>
              <a:t>序列數據中，開放的染色體區域（也稱為無核染色體區域）對應於信號的增強，而核小體占據的區域對應於信號的降低或缺失。</a:t>
            </a:r>
            <a:endParaRPr lang="en-US" altLang="zh-TW" dirty="0"/>
          </a:p>
          <a:p>
            <a:r>
              <a:rPr lang="en-US" altLang="zh-TW" dirty="0" err="1"/>
              <a:t>NucleosomeSignal</a:t>
            </a:r>
            <a:r>
              <a:rPr lang="zh-TW" altLang="en-US" b="0" i="0" dirty="0">
                <a:solidFill>
                  <a:srgbClr val="374151"/>
                </a:solidFill>
                <a:effectLst/>
                <a:latin typeface="Söhne"/>
              </a:rPr>
              <a:t> 函數的目的是計算每個細胞的核小體信號，這可以作為數據質量的指標。具體來說，健康的細胞通常具有強烈的開放染色體信號和較低的核小體信號。而質量較低的細胞可能在開放區域缺乏強烈的信號</a:t>
            </a:r>
            <a:endParaRPr lang="en-US" altLang="zh-TW" b="0" i="0" dirty="0">
              <a:solidFill>
                <a:srgbClr val="374151"/>
              </a:solidFill>
              <a:effectLst/>
              <a:latin typeface="Söhne"/>
            </a:endParaRPr>
          </a:p>
          <a:p>
            <a:r>
              <a:rPr lang="zh-TW" altLang="en-US" b="0" i="0" dirty="0">
                <a:solidFill>
                  <a:srgbClr val="374151"/>
                </a:solidFill>
                <a:effectLst/>
                <a:latin typeface="Söhne"/>
              </a:rPr>
              <a:t>您正在對名為</a:t>
            </a:r>
            <a:r>
              <a:rPr lang="en-US" altLang="zh-TW" dirty="0" err="1"/>
              <a:t>pbmc</a:t>
            </a:r>
            <a:r>
              <a:rPr lang="zh-TW" altLang="en-US" b="0" i="0" dirty="0">
                <a:solidFill>
                  <a:srgbClr val="374151"/>
                </a:solidFill>
                <a:effectLst/>
                <a:latin typeface="Söhne"/>
              </a:rPr>
              <a:t>的 </a:t>
            </a:r>
            <a:r>
              <a:rPr lang="en-US" altLang="zh-TW" b="0" i="0" dirty="0">
                <a:solidFill>
                  <a:srgbClr val="374151"/>
                </a:solidFill>
                <a:effectLst/>
                <a:latin typeface="Söhne"/>
              </a:rPr>
              <a:t>Seurat </a:t>
            </a:r>
            <a:r>
              <a:rPr lang="zh-TW" altLang="en-US" b="0" i="0" dirty="0">
                <a:solidFill>
                  <a:srgbClr val="374151"/>
                </a:solidFill>
                <a:effectLst/>
                <a:latin typeface="Söhne"/>
              </a:rPr>
              <a:t>物件計算核小體信號，並將結果存回到相同的物件中。這個計算後的物件將會有一個新的元數據列（通常命名為 </a:t>
            </a:r>
            <a:r>
              <a:rPr lang="en-US" altLang="zh-TW" b="0" i="0" dirty="0">
                <a:solidFill>
                  <a:srgbClr val="374151"/>
                </a:solidFill>
                <a:effectLst/>
                <a:latin typeface="Söhne"/>
              </a:rPr>
              <a:t>"</a:t>
            </a:r>
            <a:r>
              <a:rPr lang="en-US" altLang="zh-TW" b="0" i="0" dirty="0" err="1">
                <a:solidFill>
                  <a:srgbClr val="374151"/>
                </a:solidFill>
                <a:effectLst/>
                <a:latin typeface="Söhne"/>
              </a:rPr>
              <a:t>nucleosome_signal</a:t>
            </a:r>
            <a:r>
              <a:rPr lang="en-US" altLang="zh-TW" b="0" i="0" dirty="0">
                <a:solidFill>
                  <a:srgbClr val="374151"/>
                </a:solidFill>
                <a:effectLst/>
                <a:latin typeface="Söhne"/>
              </a:rPr>
              <a:t>"</a:t>
            </a:r>
            <a:r>
              <a:rPr lang="zh-TW" altLang="en-US" b="0" i="0" dirty="0">
                <a:solidFill>
                  <a:srgbClr val="374151"/>
                </a:solidFill>
                <a:effectLst/>
                <a:latin typeface="Söhne"/>
              </a:rPr>
              <a:t>），這個列包含了每個細胞的核小體信號計算值</a:t>
            </a:r>
            <a:endParaRPr lang="en-US" dirty="0"/>
          </a:p>
        </p:txBody>
      </p:sp>
      <p:sp>
        <p:nvSpPr>
          <p:cNvPr id="4" name="Slide Number Placeholder 3"/>
          <p:cNvSpPr>
            <a:spLocks noGrp="1"/>
          </p:cNvSpPr>
          <p:nvPr>
            <p:ph type="sldNum" sz="quarter" idx="5"/>
          </p:nvPr>
        </p:nvSpPr>
        <p:spPr/>
        <p:txBody>
          <a:bodyPr/>
          <a:lstStyle/>
          <a:p>
            <a:fld id="{A0D3149A-5CEE-485E-B722-2D0A63FFEAF0}" type="slidenum">
              <a:rPr lang="en-US" smtClean="0"/>
              <a:t>55</a:t>
            </a:fld>
            <a:endParaRPr lang="en-US"/>
          </a:p>
        </p:txBody>
      </p:sp>
    </p:spTree>
    <p:extLst>
      <p:ext uri="{BB962C8B-B14F-4D97-AF65-F5344CB8AC3E}">
        <p14:creationId xmlns:p14="http://schemas.microsoft.com/office/powerpoint/2010/main" val="99864222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0D3149A-5CEE-485E-B722-2D0A63FFEAF0}" type="slidenum">
              <a:rPr lang="en-US" smtClean="0"/>
              <a:t>56</a:t>
            </a:fld>
            <a:endParaRPr lang="en-US"/>
          </a:p>
        </p:txBody>
      </p:sp>
    </p:spTree>
    <p:extLst>
      <p:ext uri="{BB962C8B-B14F-4D97-AF65-F5344CB8AC3E}">
        <p14:creationId xmlns:p14="http://schemas.microsoft.com/office/powerpoint/2010/main" val="344522845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solidFill>
                  <a:srgbClr val="C397D8"/>
                </a:solidFill>
                <a:effectLst/>
              </a:rPr>
              <a:t>VlnPlot</a:t>
            </a:r>
            <a:r>
              <a:rPr lang="en-US" dirty="0">
                <a:solidFill>
                  <a:srgbClr val="C397D8"/>
                </a:solidFill>
                <a:effectLst/>
              </a:rPr>
              <a:t>( + object = </a:t>
            </a:r>
            <a:r>
              <a:rPr lang="en-US" dirty="0" err="1">
                <a:solidFill>
                  <a:srgbClr val="C397D8"/>
                </a:solidFill>
                <a:effectLst/>
              </a:rPr>
              <a:t>pbmc</a:t>
            </a:r>
            <a:r>
              <a:rPr lang="en-US" dirty="0">
                <a:solidFill>
                  <a:srgbClr val="C397D8"/>
                </a:solidFill>
                <a:effectLst/>
              </a:rPr>
              <a:t>,  features = c("</a:t>
            </a:r>
            <a:r>
              <a:rPr lang="en-US" dirty="0" err="1">
                <a:solidFill>
                  <a:srgbClr val="C397D8"/>
                </a:solidFill>
                <a:effectLst/>
              </a:rPr>
              <a:t>pct_reads_in_peaks</a:t>
            </a:r>
            <a:r>
              <a:rPr lang="en-US" dirty="0">
                <a:solidFill>
                  <a:srgbClr val="C397D8"/>
                </a:solidFill>
                <a:effectLst/>
              </a:rPr>
              <a:t>", "</a:t>
            </a:r>
            <a:r>
              <a:rPr lang="en-US" dirty="0" err="1">
                <a:solidFill>
                  <a:srgbClr val="C397D8"/>
                </a:solidFill>
                <a:effectLst/>
              </a:rPr>
              <a:t>peak_region_fragments</a:t>
            </a:r>
            <a:r>
              <a:rPr lang="en-US" dirty="0">
                <a:solidFill>
                  <a:srgbClr val="C397D8"/>
                </a:solidFill>
                <a:effectLst/>
              </a:rPr>
              <a:t>",  "</a:t>
            </a:r>
            <a:r>
              <a:rPr lang="en-US" dirty="0" err="1">
                <a:solidFill>
                  <a:srgbClr val="C397D8"/>
                </a:solidFill>
                <a:effectLst/>
              </a:rPr>
              <a:t>TSS.enrichment</a:t>
            </a:r>
            <a:r>
              <a:rPr lang="en-US" dirty="0">
                <a:solidFill>
                  <a:srgbClr val="C397D8"/>
                </a:solidFill>
                <a:effectLst/>
              </a:rPr>
              <a:t>", "</a:t>
            </a:r>
            <a:r>
              <a:rPr lang="en-US" dirty="0" err="1">
                <a:solidFill>
                  <a:srgbClr val="C397D8"/>
                </a:solidFill>
                <a:effectLst/>
              </a:rPr>
              <a:t>blacklist_ratio</a:t>
            </a:r>
            <a:r>
              <a:rPr lang="en-US" dirty="0">
                <a:solidFill>
                  <a:srgbClr val="C397D8"/>
                </a:solidFill>
                <a:effectLst/>
              </a:rPr>
              <a:t>", "</a:t>
            </a:r>
            <a:r>
              <a:rPr lang="en-US" dirty="0" err="1">
                <a:solidFill>
                  <a:srgbClr val="C397D8"/>
                </a:solidFill>
                <a:effectLst/>
              </a:rPr>
              <a:t>nucleosome_signal</a:t>
            </a:r>
            <a:r>
              <a:rPr lang="en-US" dirty="0">
                <a:solidFill>
                  <a:srgbClr val="C397D8"/>
                </a:solidFill>
                <a:effectLst/>
              </a:rPr>
              <a:t>"),  group.by = "</a:t>
            </a:r>
            <a:r>
              <a:rPr lang="en-US" dirty="0" err="1">
                <a:solidFill>
                  <a:srgbClr val="C397D8"/>
                </a:solidFill>
                <a:effectLst/>
              </a:rPr>
              <a:t>orig.ident</a:t>
            </a:r>
            <a:r>
              <a:rPr lang="en-US" dirty="0">
                <a:solidFill>
                  <a:srgbClr val="C397D8"/>
                </a:solidFill>
                <a:effectLst/>
              </a:rPr>
              <a:t>",  </a:t>
            </a:r>
            <a:r>
              <a:rPr lang="en-US" dirty="0" err="1">
                <a:solidFill>
                  <a:srgbClr val="C397D8"/>
                </a:solidFill>
                <a:effectLst/>
              </a:rPr>
              <a:t>pt.size</a:t>
            </a:r>
            <a:r>
              <a:rPr lang="en-US" dirty="0">
                <a:solidFill>
                  <a:srgbClr val="C397D8"/>
                </a:solidFill>
                <a:effectLst/>
              </a:rPr>
              <a:t> = 0,  </a:t>
            </a:r>
            <a:r>
              <a:rPr lang="en-US" dirty="0" err="1">
                <a:solidFill>
                  <a:srgbClr val="C397D8"/>
                </a:solidFill>
                <a:effectLst/>
              </a:rPr>
              <a:t>ncol</a:t>
            </a:r>
            <a:r>
              <a:rPr lang="en-US" dirty="0">
                <a:solidFill>
                  <a:srgbClr val="C397D8"/>
                </a:solidFill>
                <a:effectLst/>
              </a:rPr>
              <a:t> = 5  )</a:t>
            </a:r>
          </a:p>
          <a:p>
            <a:endParaRPr lang="en-US" dirty="0">
              <a:solidFill>
                <a:srgbClr val="C397D8"/>
              </a:solidFill>
              <a:effectLst/>
            </a:endParaRPr>
          </a:p>
          <a:p>
            <a:r>
              <a:rPr lang="en-US" altLang="zh-CN" b="0" i="0" dirty="0">
                <a:solidFill>
                  <a:srgbClr val="0D0016"/>
                </a:solidFill>
                <a:effectLst/>
                <a:latin typeface="-apple-system"/>
              </a:rPr>
              <a:t>Reads in Peaks </a:t>
            </a:r>
            <a:r>
              <a:rPr lang="zh-TW" altLang="en-US" b="0" i="0" dirty="0">
                <a:solidFill>
                  <a:srgbClr val="0D0016"/>
                </a:solidFill>
                <a:effectLst/>
                <a:latin typeface="-apple-system"/>
              </a:rPr>
              <a:t>：</a:t>
            </a:r>
            <a:r>
              <a:rPr lang="zh-CN" altLang="en-US" b="0" i="0" dirty="0">
                <a:solidFill>
                  <a:srgbClr val="0D0016"/>
                </a:solidFill>
                <a:effectLst/>
                <a:latin typeface="-apple-system"/>
              </a:rPr>
              <a:t>这是衡量细胞测序深度和复杂性的指标。读数非常少的细胞可能需要被排除在外，因为其测序深度较低。而具有极多片段数的细胞可能代表着双体细胞、细胞核团聚或其他伪迹。测序深度是指从一个细胞中获得的测序读数的总数，它反映了对细胞基因组的覆盖程度。测序深度较低的细胞可能会导致数据质量不足，很难进行准确的分析和解释。因此，具有非常少读数的细胞可能需要在后续分析中排除，以确保分析的可靠性。双体细胞是指在一个测序读数中捕获了两个细胞的信号，因此会有异常高的片段数。类似地，细胞核团聚或其他技术伪迹也可能导致片段数异常升高。这些细胞可能会影响数据的解释和分析，因此需要进行进一步的检查或排除</a:t>
            </a:r>
          </a:p>
          <a:p>
            <a:endParaRPr lang="en-US" altLang="zh-CN" b="0" i="0" dirty="0">
              <a:solidFill>
                <a:srgbClr val="0D0016"/>
              </a:solidFill>
              <a:effectLst/>
              <a:latin typeface="-apple-system"/>
            </a:endParaRPr>
          </a:p>
          <a:p>
            <a:r>
              <a:rPr lang="en-US" altLang="zh-CN" b="0" i="0" dirty="0">
                <a:solidFill>
                  <a:srgbClr val="0D0016"/>
                </a:solidFill>
                <a:effectLst/>
                <a:latin typeface="-apple-system"/>
              </a:rPr>
              <a:t>Fraction of fragments in peaks</a:t>
            </a:r>
            <a:r>
              <a:rPr lang="zh-CN" altLang="en-US" b="0" i="0" dirty="0">
                <a:solidFill>
                  <a:srgbClr val="0D0016"/>
                </a:solidFill>
                <a:effectLst/>
                <a:latin typeface="-apple-system"/>
              </a:rPr>
              <a:t>（片段在峰值区域的比例）：表示所有片段中落在</a:t>
            </a:r>
            <a:r>
              <a:rPr lang="en-US" altLang="zh-CN" b="0" i="0" dirty="0">
                <a:solidFill>
                  <a:srgbClr val="0D0016"/>
                </a:solidFill>
                <a:effectLst/>
                <a:latin typeface="-apple-system"/>
              </a:rPr>
              <a:t>ATAC-seq</a:t>
            </a:r>
            <a:r>
              <a:rPr lang="zh-CN" altLang="en-US" b="0" i="0" dirty="0">
                <a:solidFill>
                  <a:srgbClr val="0D0016"/>
                </a:solidFill>
                <a:effectLst/>
                <a:latin typeface="-apple-system"/>
              </a:rPr>
              <a:t>峰值区域内的比例。具有低值的细胞（即</a:t>
            </a:r>
            <a:r>
              <a:rPr lang="en-US" altLang="zh-CN" b="0" i="0" dirty="0">
                <a:solidFill>
                  <a:srgbClr val="0D0016"/>
                </a:solidFill>
                <a:effectLst/>
                <a:latin typeface="-apple-system"/>
              </a:rPr>
              <a:t>&lt;15-20%</a:t>
            </a:r>
            <a:r>
              <a:rPr lang="zh-CN" altLang="en-US" b="0" i="0" dirty="0">
                <a:solidFill>
                  <a:srgbClr val="0D0016"/>
                </a:solidFill>
                <a:effectLst/>
                <a:latin typeface="-apple-system"/>
              </a:rPr>
              <a:t>）通常代表低质量细胞或应该被排除的技术伪迹。需要注意的是，这个值对使用的峰值集合非常敏感。这个指标反映了测序数据中的片段有多少落在</a:t>
            </a:r>
            <a:r>
              <a:rPr lang="en-US" altLang="zh-CN" b="0" i="0" dirty="0">
                <a:solidFill>
                  <a:srgbClr val="0D0016"/>
                </a:solidFill>
                <a:effectLst/>
                <a:latin typeface="-apple-system"/>
              </a:rPr>
              <a:t>ATAC-seq</a:t>
            </a:r>
            <a:r>
              <a:rPr lang="zh-CN" altLang="en-US" b="0" i="0" dirty="0">
                <a:solidFill>
                  <a:srgbClr val="0D0016"/>
                </a:solidFill>
                <a:effectLst/>
                <a:latin typeface="-apple-system"/>
              </a:rPr>
              <a:t>的峰值区域内，也就是开放染色质区域。峰值区域通常与基因的调控元件和功能相关，因此高质量的细胞通常会有较高的片段比例落在这些区域内。低片段比例可能暗示细胞质量较差，或者可能存在一些技术伪迹。例如，数据处理过程中可能出现片段损失，或者细胞中的</a:t>
            </a:r>
            <a:r>
              <a:rPr lang="en-US" altLang="zh-CN" b="0" i="0" dirty="0">
                <a:solidFill>
                  <a:srgbClr val="0D0016"/>
                </a:solidFill>
                <a:effectLst/>
                <a:latin typeface="-apple-system"/>
              </a:rPr>
              <a:t>ATAC-seq</a:t>
            </a:r>
            <a:r>
              <a:rPr lang="zh-CN" altLang="en-US" b="0" i="0" dirty="0">
                <a:solidFill>
                  <a:srgbClr val="0D0016"/>
                </a:solidFill>
                <a:effectLst/>
                <a:latin typeface="-apple-system"/>
              </a:rPr>
              <a:t>片段分布不均匀。这可能会影响后续分析的结果可靠性。因此，在分析过程中通常会选择性去除低片段比例的细胞，以确保结果的可靠性和一致性</a:t>
            </a:r>
          </a:p>
          <a:p>
            <a:endParaRPr lang="en-US" altLang="zh-CN" b="0" i="0" dirty="0">
              <a:solidFill>
                <a:srgbClr val="0D0016"/>
              </a:solidFill>
              <a:effectLst/>
              <a:latin typeface="-apple-system"/>
            </a:endParaRPr>
          </a:p>
          <a:p>
            <a:r>
              <a:rPr lang="en-US" altLang="zh-CN" b="0" i="0" dirty="0">
                <a:solidFill>
                  <a:srgbClr val="0D0016"/>
                </a:solidFill>
                <a:effectLst/>
                <a:latin typeface="-apple-system"/>
              </a:rPr>
              <a:t>Transcriptional start site (TSS) enrichment score</a:t>
            </a:r>
            <a:r>
              <a:rPr lang="zh-CN" altLang="en-US" b="0" i="0" dirty="0">
                <a:solidFill>
                  <a:srgbClr val="0D0016"/>
                </a:solidFill>
                <a:effectLst/>
                <a:latin typeface="-apple-system"/>
              </a:rPr>
              <a:t>（转录起始位点富集分数）：</a:t>
            </a:r>
            <a:r>
              <a:rPr lang="en-US" altLang="zh-CN" b="0" i="0" dirty="0">
                <a:solidFill>
                  <a:srgbClr val="0D0016"/>
                </a:solidFill>
                <a:effectLst/>
                <a:latin typeface="-apple-system"/>
              </a:rPr>
              <a:t>ENCODE</a:t>
            </a:r>
            <a:r>
              <a:rPr lang="zh-CN" altLang="en-US" b="0" i="0" dirty="0">
                <a:solidFill>
                  <a:srgbClr val="0D0016"/>
                </a:solidFill>
                <a:effectLst/>
                <a:latin typeface="-apple-system"/>
              </a:rPr>
              <a:t>项目基于片段在</a:t>
            </a:r>
            <a:r>
              <a:rPr lang="en-US" altLang="zh-CN" b="0" i="0" dirty="0">
                <a:solidFill>
                  <a:srgbClr val="0D0016"/>
                </a:solidFill>
                <a:effectLst/>
                <a:latin typeface="-apple-system"/>
              </a:rPr>
              <a:t>TSS</a:t>
            </a:r>
            <a:r>
              <a:rPr lang="zh-CN" altLang="en-US" b="0" i="0" dirty="0">
                <a:solidFill>
                  <a:srgbClr val="0D0016"/>
                </a:solidFill>
                <a:effectLst/>
                <a:latin typeface="-apple-system"/>
              </a:rPr>
              <a:t>中心和</a:t>
            </a:r>
            <a:r>
              <a:rPr lang="en-US" altLang="zh-CN" b="0" i="0" dirty="0">
                <a:solidFill>
                  <a:srgbClr val="0D0016"/>
                </a:solidFill>
                <a:effectLst/>
                <a:latin typeface="-apple-system"/>
              </a:rPr>
              <a:t>TSS</a:t>
            </a:r>
            <a:r>
              <a:rPr lang="zh-CN" altLang="en-US" b="0" i="0" dirty="0">
                <a:solidFill>
                  <a:srgbClr val="0D0016"/>
                </a:solidFill>
                <a:effectLst/>
                <a:latin typeface="-apple-system"/>
              </a:rPr>
              <a:t>相邻区域之间的比率定义了一个</a:t>
            </a:r>
            <a:r>
              <a:rPr lang="en-US" altLang="zh-CN" b="0" i="0" dirty="0">
                <a:solidFill>
                  <a:srgbClr val="0D0016"/>
                </a:solidFill>
                <a:effectLst/>
                <a:latin typeface="-apple-system"/>
              </a:rPr>
              <a:t>ATAC-seq</a:t>
            </a:r>
            <a:r>
              <a:rPr lang="zh-CN" altLang="en-US" b="0" i="0" dirty="0">
                <a:solidFill>
                  <a:srgbClr val="0D0016"/>
                </a:solidFill>
                <a:effectLst/>
                <a:latin typeface="-apple-system"/>
              </a:rPr>
              <a:t>定位分数。这个分数反映了细胞中</a:t>
            </a:r>
            <a:r>
              <a:rPr lang="en-US" altLang="zh-CN" b="0" i="0" dirty="0">
                <a:solidFill>
                  <a:srgbClr val="0D0016"/>
                </a:solidFill>
                <a:effectLst/>
                <a:latin typeface="-apple-system"/>
              </a:rPr>
              <a:t>TSS</a:t>
            </a:r>
            <a:r>
              <a:rPr lang="zh-CN" altLang="en-US" b="0" i="0" dirty="0">
                <a:solidFill>
                  <a:srgbClr val="0D0016"/>
                </a:solidFill>
                <a:effectLst/>
                <a:latin typeface="-apple-system"/>
              </a:rPr>
              <a:t>附近的</a:t>
            </a:r>
            <a:r>
              <a:rPr lang="en-US" altLang="zh-CN" b="0" i="0" dirty="0">
                <a:solidFill>
                  <a:srgbClr val="0D0016"/>
                </a:solidFill>
                <a:effectLst/>
                <a:latin typeface="-apple-system"/>
              </a:rPr>
              <a:t>ATAC-seq</a:t>
            </a:r>
            <a:r>
              <a:rPr lang="zh-CN" altLang="en-US" b="0" i="0" dirty="0">
                <a:solidFill>
                  <a:srgbClr val="0D0016"/>
                </a:solidFill>
                <a:effectLst/>
                <a:latin typeface="-apple-system"/>
              </a:rPr>
              <a:t>片段相对于</a:t>
            </a:r>
            <a:r>
              <a:rPr lang="en-US" altLang="zh-CN" b="0" i="0" dirty="0">
                <a:solidFill>
                  <a:srgbClr val="0D0016"/>
                </a:solidFill>
                <a:effectLst/>
                <a:latin typeface="-apple-system"/>
              </a:rPr>
              <a:t>TSS</a:t>
            </a:r>
            <a:r>
              <a:rPr lang="zh-CN" altLang="en-US" b="0" i="0" dirty="0">
                <a:solidFill>
                  <a:srgbClr val="0D0016"/>
                </a:solidFill>
                <a:effectLst/>
                <a:latin typeface="-apple-system"/>
              </a:rPr>
              <a:t>相邻区域的富集程度。</a:t>
            </a:r>
            <a:r>
              <a:rPr lang="en-US" altLang="zh-CN" b="0" i="0" dirty="0">
                <a:solidFill>
                  <a:srgbClr val="0D0016"/>
                </a:solidFill>
                <a:effectLst/>
                <a:latin typeface="-apple-system"/>
              </a:rPr>
              <a:t>TSS</a:t>
            </a:r>
            <a:r>
              <a:rPr lang="zh-CN" altLang="en-US" b="0" i="0" dirty="0">
                <a:solidFill>
                  <a:srgbClr val="0D0016"/>
                </a:solidFill>
                <a:effectLst/>
                <a:latin typeface="-apple-system"/>
              </a:rPr>
              <a:t>是基因的转录起始位点，通常会有更多的开放染色质和</a:t>
            </a:r>
            <a:r>
              <a:rPr lang="en-US" altLang="zh-CN" b="0" i="0" dirty="0">
                <a:solidFill>
                  <a:srgbClr val="0D0016"/>
                </a:solidFill>
                <a:effectLst/>
                <a:latin typeface="-apple-system"/>
              </a:rPr>
              <a:t>ATAC-seq</a:t>
            </a:r>
            <a:r>
              <a:rPr lang="zh-CN" altLang="en-US" b="0" i="0" dirty="0">
                <a:solidFill>
                  <a:srgbClr val="0D0016"/>
                </a:solidFill>
                <a:effectLst/>
                <a:latin typeface="-apple-system"/>
              </a:rPr>
              <a:t>片段。因此，</a:t>
            </a:r>
            <a:r>
              <a:rPr lang="zh-CN" altLang="en-US" b="1" i="0" dirty="0">
                <a:solidFill>
                  <a:srgbClr val="0D0016"/>
                </a:solidFill>
                <a:effectLst/>
                <a:latin typeface="-apple-system"/>
              </a:rPr>
              <a:t>高富集分数意味着细胞中的</a:t>
            </a:r>
            <a:r>
              <a:rPr lang="en-US" altLang="zh-CN" b="1" i="0" dirty="0">
                <a:solidFill>
                  <a:srgbClr val="0D0016"/>
                </a:solidFill>
                <a:effectLst/>
                <a:latin typeface="-apple-system"/>
              </a:rPr>
              <a:t>ATAC-seq</a:t>
            </a:r>
            <a:r>
              <a:rPr lang="zh-CN" altLang="en-US" b="1" i="0" dirty="0">
                <a:solidFill>
                  <a:srgbClr val="0D0016"/>
                </a:solidFill>
                <a:effectLst/>
                <a:latin typeface="-apple-system"/>
              </a:rPr>
              <a:t>片段更多地集中在基因的</a:t>
            </a:r>
            <a:r>
              <a:rPr lang="en-US" altLang="zh-CN" b="1" i="0" dirty="0">
                <a:solidFill>
                  <a:srgbClr val="0D0016"/>
                </a:solidFill>
                <a:effectLst/>
                <a:latin typeface="-apple-system"/>
              </a:rPr>
              <a:t>TSS</a:t>
            </a:r>
            <a:r>
              <a:rPr lang="zh-CN" altLang="en-US" b="1" i="0" dirty="0">
                <a:solidFill>
                  <a:srgbClr val="0D0016"/>
                </a:solidFill>
                <a:effectLst/>
                <a:latin typeface="-apple-system"/>
              </a:rPr>
              <a:t>区域，这可能表示这些细胞在转录调控和基因表达方面具有更高的活性和功能</a:t>
            </a:r>
            <a:endParaRPr lang="en-US" altLang="zh-CN" b="1" i="0" dirty="0">
              <a:solidFill>
                <a:srgbClr val="0D0016"/>
              </a:solidFill>
              <a:effectLst/>
              <a:latin typeface="-apple-system"/>
            </a:endParaRPr>
          </a:p>
          <a:p>
            <a:endParaRPr lang="en-US" b="1" i="0" dirty="0">
              <a:solidFill>
                <a:srgbClr val="0D0016"/>
              </a:solidFill>
              <a:effectLst/>
              <a:latin typeface="-apple-system"/>
            </a:endParaRPr>
          </a:p>
          <a:p>
            <a:r>
              <a:rPr lang="en-US" b="1" dirty="0">
                <a:solidFill>
                  <a:srgbClr val="C397D8"/>
                </a:solidFill>
                <a:effectLst/>
              </a:rPr>
              <a:t>Blacklist:</a:t>
            </a:r>
            <a:r>
              <a:rPr lang="en-US" dirty="0">
                <a:solidFill>
                  <a:srgbClr val="C397D8"/>
                </a:solidFill>
                <a:effectLst/>
              </a:rPr>
              <a:t> </a:t>
            </a:r>
            <a:r>
              <a:rPr lang="zh-TW" altLang="en-US" b="0" i="0" dirty="0">
                <a:solidFill>
                  <a:srgbClr val="374151"/>
                </a:solidFill>
                <a:effectLst/>
                <a:latin typeface="Söhne"/>
              </a:rPr>
              <a:t>這些區域在高通量测序数据中可能會產生偽陽性信號</a:t>
            </a:r>
            <a:r>
              <a:rPr lang="en-US" altLang="zh-TW" b="0" i="0" dirty="0">
                <a:solidFill>
                  <a:srgbClr val="C397D8"/>
                </a:solidFill>
                <a:effectLst/>
                <a:latin typeface="Söhne"/>
              </a:rPr>
              <a:t> (</a:t>
            </a:r>
            <a:r>
              <a:rPr lang="en-US" altLang="zh-CN" b="0" i="0" dirty="0">
                <a:solidFill>
                  <a:srgbClr val="0D0016"/>
                </a:solidFill>
                <a:effectLst/>
                <a:latin typeface="-apple-system"/>
              </a:rPr>
              <a:t>ENCODE</a:t>
            </a:r>
            <a:r>
              <a:rPr lang="zh-CN" altLang="en-US" b="0" i="0" dirty="0">
                <a:solidFill>
                  <a:srgbClr val="0D0016"/>
                </a:solidFill>
                <a:effectLst/>
                <a:latin typeface="-apple-system"/>
              </a:rPr>
              <a:t>项目提供了一个黑名单区域列表，其中包含与伪迹信号经常相关的读数。具有大量读数映射到这些区域（相对于映射到峰值区域的读数）的细胞通常代表技术伪迹，应该被移除</a:t>
            </a:r>
            <a:r>
              <a:rPr lang="en-US" altLang="zh-CN" b="0" i="0" dirty="0">
                <a:solidFill>
                  <a:srgbClr val="C397D8"/>
                </a:solidFill>
                <a:effectLst/>
                <a:latin typeface="Söhne"/>
              </a:rPr>
              <a:t>)</a:t>
            </a:r>
          </a:p>
          <a:p>
            <a:endParaRPr lang="en-US" altLang="zh-CN" b="0" i="0" dirty="0">
              <a:solidFill>
                <a:srgbClr val="C397D8"/>
              </a:solidFill>
              <a:effectLst/>
              <a:latin typeface="Söhne"/>
            </a:endParaRPr>
          </a:p>
          <a:p>
            <a:r>
              <a:rPr lang="en-US" b="0" i="0" dirty="0">
                <a:solidFill>
                  <a:srgbClr val="333333"/>
                </a:solidFill>
                <a:effectLst/>
                <a:latin typeface="-apple-system"/>
              </a:rPr>
              <a:t>Nucleosome banding pattern（</a:t>
            </a:r>
            <a:r>
              <a:rPr lang="zh-TW" altLang="en-US" b="0" i="0" dirty="0">
                <a:solidFill>
                  <a:srgbClr val="333333"/>
                </a:solidFill>
                <a:effectLst/>
                <a:latin typeface="-apple-system"/>
              </a:rPr>
              <a:t>核小体条带分布模式）：</a:t>
            </a:r>
            <a:r>
              <a:rPr lang="zh-CN" altLang="en-US" b="0" i="0" dirty="0">
                <a:solidFill>
                  <a:srgbClr val="333333"/>
                </a:solidFill>
                <a:effectLst/>
                <a:latin typeface="-apple-system"/>
              </a:rPr>
              <a:t> 核小体条带分布模式是指</a:t>
            </a:r>
            <a:r>
              <a:rPr lang="en-US" altLang="zh-CN" b="0" i="0" dirty="0">
                <a:solidFill>
                  <a:srgbClr val="333333"/>
                </a:solidFill>
                <a:effectLst/>
                <a:latin typeface="-apple-system"/>
              </a:rPr>
              <a:t>DNA</a:t>
            </a:r>
            <a:r>
              <a:rPr lang="zh-CN" altLang="en-US" b="0" i="0" dirty="0">
                <a:solidFill>
                  <a:srgbClr val="333333"/>
                </a:solidFill>
                <a:effectLst/>
                <a:latin typeface="-apple-system"/>
              </a:rPr>
              <a:t>片段大小的直方图（通过配对末端测序读数确定）呈现出明显的核小体带模式，对应于包裹在单个核小体周围的</a:t>
            </a:r>
            <a:r>
              <a:rPr lang="en-US" altLang="zh-CN" b="0" i="0" dirty="0">
                <a:solidFill>
                  <a:srgbClr val="333333"/>
                </a:solidFill>
                <a:effectLst/>
                <a:latin typeface="-apple-system"/>
              </a:rPr>
              <a:t>DNA</a:t>
            </a:r>
            <a:r>
              <a:rPr lang="zh-CN" altLang="en-US" b="0" i="0" dirty="0">
                <a:solidFill>
                  <a:srgbClr val="333333"/>
                </a:solidFill>
                <a:effectLst/>
                <a:latin typeface="-apple-system"/>
              </a:rPr>
              <a:t>长度。对每个单细胞计算这个分布模式，并量化单核小体与无核小体片段的大致比率（存储为 </a:t>
            </a:r>
            <a:r>
              <a:rPr lang="en-US" altLang="zh-CN" b="0" i="0" dirty="0" err="1">
                <a:solidFill>
                  <a:srgbClr val="333333"/>
                </a:solidFill>
                <a:effectLst/>
                <a:latin typeface="-apple-system"/>
              </a:rPr>
              <a:t>nucleosome_signal</a:t>
            </a:r>
            <a:r>
              <a:rPr lang="zh-CN" altLang="en-US" b="0" i="0" dirty="0">
                <a:solidFill>
                  <a:srgbClr val="333333"/>
                </a:solidFill>
                <a:effectLst/>
                <a:latin typeface="-apple-system"/>
              </a:rPr>
              <a:t>）。核小体信号可以显示核小体在细胞中的分布情况（分布模式）。一个好的</a:t>
            </a:r>
            <a:r>
              <a:rPr lang="en-US" altLang="zh-CN" b="0" i="0" dirty="0" err="1">
                <a:solidFill>
                  <a:srgbClr val="333333"/>
                </a:solidFill>
                <a:effectLst/>
                <a:latin typeface="-apple-system"/>
              </a:rPr>
              <a:t>scATAC</a:t>
            </a:r>
            <a:r>
              <a:rPr lang="en-US" altLang="zh-CN" b="0" i="0" dirty="0">
                <a:solidFill>
                  <a:srgbClr val="333333"/>
                </a:solidFill>
                <a:effectLst/>
                <a:latin typeface="-apple-system"/>
              </a:rPr>
              <a:t>-seq</a:t>
            </a:r>
            <a:r>
              <a:rPr lang="zh-CN" altLang="en-US" b="0" i="0" dirty="0">
                <a:solidFill>
                  <a:srgbClr val="333333"/>
                </a:solidFill>
                <a:effectLst/>
                <a:latin typeface="-apple-system"/>
              </a:rPr>
              <a:t>实验通常会呈现出明显的核小体带模式，其中峰值对应于</a:t>
            </a:r>
            <a:r>
              <a:rPr lang="en-US" altLang="zh-CN" b="0" i="0" dirty="0">
                <a:solidFill>
                  <a:srgbClr val="333333"/>
                </a:solidFill>
                <a:effectLst/>
                <a:latin typeface="-apple-system"/>
              </a:rPr>
              <a:t>DNA</a:t>
            </a:r>
            <a:r>
              <a:rPr lang="zh-CN" altLang="en-US" b="0" i="0" dirty="0">
                <a:solidFill>
                  <a:srgbClr val="333333"/>
                </a:solidFill>
                <a:effectLst/>
                <a:latin typeface="-apple-system"/>
              </a:rPr>
              <a:t>包裹在单个核小体周围的长度。如果核小体信号没有明显的带状模式，可能表明数据存在噪声、污染或其他问题。</a:t>
            </a:r>
          </a:p>
        </p:txBody>
      </p:sp>
      <p:sp>
        <p:nvSpPr>
          <p:cNvPr id="4" name="Slide Number Placeholder 3"/>
          <p:cNvSpPr>
            <a:spLocks noGrp="1"/>
          </p:cNvSpPr>
          <p:nvPr>
            <p:ph type="sldNum" sz="quarter" idx="5"/>
          </p:nvPr>
        </p:nvSpPr>
        <p:spPr/>
        <p:txBody>
          <a:bodyPr/>
          <a:lstStyle/>
          <a:p>
            <a:fld id="{A0D3149A-5CEE-485E-B722-2D0A63FFEAF0}" type="slidenum">
              <a:rPr lang="en-US" smtClean="0"/>
              <a:t>57</a:t>
            </a:fld>
            <a:endParaRPr lang="en-US"/>
          </a:p>
        </p:txBody>
      </p:sp>
    </p:spTree>
    <p:extLst>
      <p:ext uri="{BB962C8B-B14F-4D97-AF65-F5344CB8AC3E}">
        <p14:creationId xmlns:p14="http://schemas.microsoft.com/office/powerpoint/2010/main" val="14779310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TW" dirty="0">
                <a:solidFill>
                  <a:srgbClr val="C397D8"/>
                </a:solidFill>
                <a:effectLst/>
              </a:rPr>
              <a:t># </a:t>
            </a:r>
            <a:r>
              <a:rPr lang="zh-TW" altLang="en-US" dirty="0">
                <a:solidFill>
                  <a:srgbClr val="C397D8"/>
                </a:solidFill>
                <a:effectLst/>
              </a:rPr>
              <a:t>这段代码通过条件判断，将</a:t>
            </a:r>
            <a:r>
              <a:rPr lang="en-US" dirty="0">
                <a:solidFill>
                  <a:srgbClr val="C397D8"/>
                </a:solidFill>
                <a:effectLst/>
              </a:rPr>
              <a:t>TSS</a:t>
            </a:r>
            <a:r>
              <a:rPr lang="zh-TW" altLang="en-US" dirty="0">
                <a:solidFill>
                  <a:srgbClr val="C397D8"/>
                </a:solidFill>
                <a:effectLst/>
              </a:rPr>
              <a:t>富集分数大于</a:t>
            </a:r>
            <a:r>
              <a:rPr lang="en-US" altLang="zh-TW" dirty="0">
                <a:solidFill>
                  <a:srgbClr val="C397D8"/>
                </a:solidFill>
                <a:effectLst/>
              </a:rPr>
              <a:t>3</a:t>
            </a:r>
            <a:r>
              <a:rPr lang="zh-TW" altLang="en-US" dirty="0">
                <a:solidFill>
                  <a:srgbClr val="C397D8"/>
                </a:solidFill>
                <a:effectLst/>
              </a:rPr>
              <a:t>的细胞标记为</a:t>
            </a:r>
            <a:r>
              <a:rPr lang="en-US" altLang="zh-TW" dirty="0">
                <a:solidFill>
                  <a:srgbClr val="C397D8"/>
                </a:solidFill>
                <a:effectLst/>
              </a:rPr>
              <a:t>'</a:t>
            </a:r>
            <a:r>
              <a:rPr lang="en-US" dirty="0">
                <a:solidFill>
                  <a:srgbClr val="C397D8"/>
                </a:solidFill>
                <a:effectLst/>
              </a:rPr>
              <a:t>High'</a:t>
            </a:r>
            <a:r>
              <a:rPr lang="zh-TW" altLang="en-US" dirty="0">
                <a:solidFill>
                  <a:srgbClr val="C397D8"/>
                </a:solidFill>
                <a:effectLst/>
              </a:rPr>
              <a:t>组，其他细胞标记为</a:t>
            </a:r>
            <a:r>
              <a:rPr lang="en-US" altLang="zh-TW" dirty="0">
                <a:solidFill>
                  <a:srgbClr val="C397D8"/>
                </a:solidFill>
                <a:effectLst/>
              </a:rPr>
              <a:t>'</a:t>
            </a:r>
            <a:r>
              <a:rPr lang="en-US" dirty="0">
                <a:solidFill>
                  <a:srgbClr val="C397D8"/>
                </a:solidFill>
                <a:effectLst/>
              </a:rPr>
              <a:t>Low'</a:t>
            </a:r>
            <a:r>
              <a:rPr lang="zh-TW" altLang="en-US" dirty="0">
                <a:solidFill>
                  <a:srgbClr val="C397D8"/>
                </a:solidFill>
                <a:effectLst/>
              </a:rPr>
              <a:t>组</a:t>
            </a:r>
          </a:p>
          <a:p>
            <a:r>
              <a:rPr lang="en-US" altLang="zh-TW" dirty="0">
                <a:solidFill>
                  <a:srgbClr val="C397D8"/>
                </a:solidFill>
                <a:effectLst/>
              </a:rPr>
              <a:t># </a:t>
            </a:r>
            <a:r>
              <a:rPr lang="zh-TW" altLang="en-US" dirty="0">
                <a:solidFill>
                  <a:srgbClr val="C397D8"/>
                </a:solidFill>
                <a:effectLst/>
              </a:rPr>
              <a:t>并调用</a:t>
            </a:r>
            <a:r>
              <a:rPr lang="en-US" dirty="0" err="1">
                <a:solidFill>
                  <a:srgbClr val="C397D8"/>
                </a:solidFill>
                <a:effectLst/>
              </a:rPr>
              <a:t>TSSPlot</a:t>
            </a:r>
            <a:r>
              <a:rPr lang="en-US" dirty="0">
                <a:solidFill>
                  <a:srgbClr val="C397D8"/>
                </a:solidFill>
                <a:effectLst/>
              </a:rPr>
              <a:t>()</a:t>
            </a:r>
            <a:r>
              <a:rPr lang="zh-TW" altLang="en-US" dirty="0">
                <a:solidFill>
                  <a:srgbClr val="C397D8"/>
                </a:solidFill>
                <a:effectLst/>
              </a:rPr>
              <a:t>函数，绘制不同组细胞在</a:t>
            </a:r>
            <a:r>
              <a:rPr lang="en-US" dirty="0">
                <a:solidFill>
                  <a:srgbClr val="C397D8"/>
                </a:solidFill>
                <a:effectLst/>
              </a:rPr>
              <a:t>TSS</a:t>
            </a:r>
            <a:r>
              <a:rPr lang="zh-TW" altLang="en-US" dirty="0">
                <a:solidFill>
                  <a:srgbClr val="C397D8"/>
                </a:solidFill>
                <a:effectLst/>
              </a:rPr>
              <a:t>位点上的可及性信号图</a:t>
            </a:r>
          </a:p>
          <a:p>
            <a:r>
              <a:rPr lang="zh-TW" altLang="en-US" dirty="0">
                <a:solidFill>
                  <a:srgbClr val="C397D8"/>
                </a:solidFill>
                <a:effectLst/>
              </a:rPr>
              <a:t> </a:t>
            </a:r>
          </a:p>
          <a:p>
            <a:r>
              <a:rPr lang="en-US" dirty="0" err="1">
                <a:solidFill>
                  <a:srgbClr val="C397D8"/>
                </a:solidFill>
                <a:effectLst/>
              </a:rPr>
              <a:t>pbmc$high.tss</a:t>
            </a:r>
            <a:r>
              <a:rPr lang="en-US" dirty="0">
                <a:solidFill>
                  <a:srgbClr val="C397D8"/>
                </a:solidFill>
                <a:effectLst/>
              </a:rPr>
              <a:t> &lt;- </a:t>
            </a:r>
            <a:r>
              <a:rPr lang="en-US" dirty="0" err="1">
                <a:solidFill>
                  <a:srgbClr val="C397D8"/>
                </a:solidFill>
                <a:effectLst/>
              </a:rPr>
              <a:t>ifelse</a:t>
            </a:r>
            <a:r>
              <a:rPr lang="en-US" dirty="0">
                <a:solidFill>
                  <a:srgbClr val="C397D8"/>
                </a:solidFill>
                <a:effectLst/>
              </a:rPr>
              <a:t>(</a:t>
            </a:r>
            <a:r>
              <a:rPr lang="en-US" dirty="0" err="1">
                <a:solidFill>
                  <a:srgbClr val="C397D8"/>
                </a:solidFill>
                <a:effectLst/>
              </a:rPr>
              <a:t>pbmc$TSS.enrichment</a:t>
            </a:r>
            <a:r>
              <a:rPr lang="en-US" dirty="0">
                <a:solidFill>
                  <a:srgbClr val="C397D8"/>
                </a:solidFill>
                <a:effectLst/>
              </a:rPr>
              <a:t> &gt; 3, 'High', 'Low')</a:t>
            </a:r>
          </a:p>
          <a:p>
            <a:r>
              <a:rPr lang="en-US" dirty="0" err="1">
                <a:solidFill>
                  <a:srgbClr val="C397D8"/>
                </a:solidFill>
                <a:effectLst/>
              </a:rPr>
              <a:t>TSSPlot</a:t>
            </a:r>
            <a:r>
              <a:rPr lang="en-US" dirty="0">
                <a:solidFill>
                  <a:srgbClr val="C397D8"/>
                </a:solidFill>
                <a:effectLst/>
              </a:rPr>
              <a:t>(</a:t>
            </a:r>
            <a:r>
              <a:rPr lang="en-US" dirty="0" err="1">
                <a:solidFill>
                  <a:srgbClr val="C397D8"/>
                </a:solidFill>
                <a:effectLst/>
              </a:rPr>
              <a:t>pbmc</a:t>
            </a:r>
            <a:r>
              <a:rPr lang="en-US" dirty="0">
                <a:solidFill>
                  <a:srgbClr val="C397D8"/>
                </a:solidFill>
                <a:effectLst/>
              </a:rPr>
              <a:t>, group.by = '</a:t>
            </a:r>
            <a:r>
              <a:rPr lang="en-US" dirty="0" err="1">
                <a:solidFill>
                  <a:srgbClr val="C397D8"/>
                </a:solidFill>
                <a:effectLst/>
              </a:rPr>
              <a:t>high.tss</a:t>
            </a:r>
            <a:r>
              <a:rPr lang="en-US" dirty="0">
                <a:solidFill>
                  <a:srgbClr val="C397D8"/>
                </a:solidFill>
                <a:effectLst/>
              </a:rPr>
              <a:t>') + </a:t>
            </a:r>
            <a:r>
              <a:rPr lang="en-US" dirty="0" err="1">
                <a:solidFill>
                  <a:srgbClr val="C397D8"/>
                </a:solidFill>
                <a:effectLst/>
              </a:rPr>
              <a:t>NoLegend</a:t>
            </a:r>
            <a:r>
              <a:rPr lang="en-US" dirty="0">
                <a:solidFill>
                  <a:srgbClr val="C397D8"/>
                </a:solidFill>
                <a:effectLst/>
              </a:rPr>
              <a:t>()</a:t>
            </a:r>
            <a:endParaRPr lang="en-US" dirty="0"/>
          </a:p>
        </p:txBody>
      </p:sp>
      <p:sp>
        <p:nvSpPr>
          <p:cNvPr id="4" name="Slide Number Placeholder 3"/>
          <p:cNvSpPr>
            <a:spLocks noGrp="1"/>
          </p:cNvSpPr>
          <p:nvPr>
            <p:ph type="sldNum" sz="quarter" idx="5"/>
          </p:nvPr>
        </p:nvSpPr>
        <p:spPr/>
        <p:txBody>
          <a:bodyPr/>
          <a:lstStyle/>
          <a:p>
            <a:fld id="{A0D3149A-5CEE-485E-B722-2D0A63FFEAF0}" type="slidenum">
              <a:rPr lang="en-US" smtClean="0"/>
              <a:t>58</a:t>
            </a:fld>
            <a:endParaRPr lang="en-US"/>
          </a:p>
        </p:txBody>
      </p:sp>
    </p:spTree>
    <p:extLst>
      <p:ext uri="{BB962C8B-B14F-4D97-AF65-F5344CB8AC3E}">
        <p14:creationId xmlns:p14="http://schemas.microsoft.com/office/powerpoint/2010/main" val="111824202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TW" dirty="0">
                <a:solidFill>
                  <a:srgbClr val="C397D8"/>
                </a:solidFill>
                <a:effectLst/>
              </a:rPr>
              <a:t># </a:t>
            </a:r>
            <a:r>
              <a:rPr lang="zh-TW" altLang="en-US" dirty="0">
                <a:solidFill>
                  <a:srgbClr val="C397D8"/>
                </a:solidFill>
                <a:effectLst/>
              </a:rPr>
              <a:t>计算每个细胞的核小体信号强度（</a:t>
            </a:r>
            <a:r>
              <a:rPr lang="en-US" dirty="0">
                <a:solidFill>
                  <a:srgbClr val="C397D8"/>
                </a:solidFill>
                <a:effectLst/>
              </a:rPr>
              <a:t>NS），</a:t>
            </a:r>
            <a:r>
              <a:rPr lang="zh-TW" altLang="en-US" dirty="0">
                <a:solidFill>
                  <a:srgbClr val="C397D8"/>
                </a:solidFill>
                <a:effectLst/>
              </a:rPr>
              <a:t>即计算位于 </a:t>
            </a:r>
            <a:r>
              <a:rPr lang="en-US" altLang="zh-TW" dirty="0">
                <a:solidFill>
                  <a:srgbClr val="C397D8"/>
                </a:solidFill>
                <a:effectLst/>
              </a:rPr>
              <a:t>147</a:t>
            </a:r>
            <a:r>
              <a:rPr lang="en-US" dirty="0">
                <a:solidFill>
                  <a:srgbClr val="C397D8"/>
                </a:solidFill>
                <a:effectLst/>
              </a:rPr>
              <a:t>bp </a:t>
            </a:r>
            <a:r>
              <a:rPr lang="zh-TW" altLang="en-US" dirty="0">
                <a:solidFill>
                  <a:srgbClr val="C397D8"/>
                </a:solidFill>
                <a:effectLst/>
              </a:rPr>
              <a:t>到 </a:t>
            </a:r>
            <a:r>
              <a:rPr lang="en-US" altLang="zh-TW" dirty="0">
                <a:solidFill>
                  <a:srgbClr val="C397D8"/>
                </a:solidFill>
                <a:effectLst/>
              </a:rPr>
              <a:t>294</a:t>
            </a:r>
            <a:r>
              <a:rPr lang="en-US" dirty="0">
                <a:solidFill>
                  <a:srgbClr val="C397D8"/>
                </a:solidFill>
                <a:effectLst/>
              </a:rPr>
              <a:t>bp </a:t>
            </a:r>
            <a:r>
              <a:rPr lang="zh-TW" altLang="en-US" dirty="0">
                <a:solidFill>
                  <a:srgbClr val="C397D8"/>
                </a:solidFill>
                <a:effectLst/>
              </a:rPr>
              <a:t>之间（单核小体）的片段与小于 </a:t>
            </a:r>
            <a:r>
              <a:rPr lang="en-US" altLang="zh-TW" dirty="0">
                <a:solidFill>
                  <a:srgbClr val="C397D8"/>
                </a:solidFill>
                <a:effectLst/>
              </a:rPr>
              <a:t>147</a:t>
            </a:r>
            <a:r>
              <a:rPr lang="en-US" dirty="0">
                <a:solidFill>
                  <a:srgbClr val="C397D8"/>
                </a:solidFill>
                <a:effectLst/>
              </a:rPr>
              <a:t>bp（</a:t>
            </a:r>
            <a:r>
              <a:rPr lang="zh-TW" altLang="en-US" dirty="0">
                <a:solidFill>
                  <a:srgbClr val="C397D8"/>
                </a:solidFill>
                <a:effectLst/>
              </a:rPr>
              <a:t>无核小体）的片段的比率</a:t>
            </a:r>
          </a:p>
          <a:p>
            <a:r>
              <a:rPr lang="en-US" altLang="zh-TW" dirty="0">
                <a:solidFill>
                  <a:srgbClr val="C397D8"/>
                </a:solidFill>
                <a:effectLst/>
              </a:rPr>
              <a:t># </a:t>
            </a:r>
            <a:r>
              <a:rPr lang="zh-TW" altLang="en-US" dirty="0">
                <a:solidFill>
                  <a:srgbClr val="C397D8"/>
                </a:solidFill>
                <a:effectLst/>
              </a:rPr>
              <a:t>将核小体信号分数大于</a:t>
            </a:r>
            <a:r>
              <a:rPr lang="en-US" altLang="zh-TW" dirty="0">
                <a:solidFill>
                  <a:srgbClr val="C397D8"/>
                </a:solidFill>
                <a:effectLst/>
              </a:rPr>
              <a:t>4</a:t>
            </a:r>
            <a:r>
              <a:rPr lang="zh-TW" altLang="en-US" dirty="0">
                <a:solidFill>
                  <a:srgbClr val="C397D8"/>
                </a:solidFill>
                <a:effectLst/>
              </a:rPr>
              <a:t>的细胞标记为</a:t>
            </a:r>
            <a:r>
              <a:rPr lang="en-US" altLang="zh-TW" dirty="0">
                <a:solidFill>
                  <a:srgbClr val="C397D8"/>
                </a:solidFill>
                <a:effectLst/>
              </a:rPr>
              <a:t>'</a:t>
            </a:r>
            <a:r>
              <a:rPr lang="en-US" dirty="0">
                <a:solidFill>
                  <a:srgbClr val="C397D8"/>
                </a:solidFill>
                <a:effectLst/>
              </a:rPr>
              <a:t>NS &gt; 4'</a:t>
            </a:r>
            <a:r>
              <a:rPr lang="zh-TW" altLang="en-US" dirty="0">
                <a:solidFill>
                  <a:srgbClr val="C397D8"/>
                </a:solidFill>
                <a:effectLst/>
              </a:rPr>
              <a:t>组，其他细胞标记为</a:t>
            </a:r>
            <a:r>
              <a:rPr lang="en-US" altLang="zh-TW" dirty="0">
                <a:solidFill>
                  <a:srgbClr val="C397D8"/>
                </a:solidFill>
                <a:effectLst/>
              </a:rPr>
              <a:t>'</a:t>
            </a:r>
            <a:r>
              <a:rPr lang="en-US" dirty="0">
                <a:solidFill>
                  <a:srgbClr val="C397D8"/>
                </a:solidFill>
                <a:effectLst/>
              </a:rPr>
              <a:t>NS &lt; 4'</a:t>
            </a:r>
            <a:r>
              <a:rPr lang="zh-TW" altLang="en-US" dirty="0">
                <a:solidFill>
                  <a:srgbClr val="C397D8"/>
                </a:solidFill>
                <a:effectLst/>
              </a:rPr>
              <a:t>组</a:t>
            </a:r>
          </a:p>
          <a:p>
            <a:r>
              <a:rPr lang="en-US" altLang="zh-TW" dirty="0">
                <a:solidFill>
                  <a:srgbClr val="C397D8"/>
                </a:solidFill>
                <a:effectLst/>
              </a:rPr>
              <a:t># </a:t>
            </a:r>
            <a:r>
              <a:rPr lang="zh-TW" altLang="en-US" dirty="0">
                <a:solidFill>
                  <a:srgbClr val="C397D8"/>
                </a:solidFill>
                <a:effectLst/>
              </a:rPr>
              <a:t>核小体信号分数是之前计算的，用于反映细胞的核小体条带分布情况</a:t>
            </a:r>
          </a:p>
          <a:p>
            <a:r>
              <a:rPr lang="en-US" altLang="zh-TW" dirty="0">
                <a:solidFill>
                  <a:srgbClr val="C397D8"/>
                </a:solidFill>
                <a:effectLst/>
              </a:rPr>
              <a:t># </a:t>
            </a:r>
            <a:r>
              <a:rPr lang="zh-TW" altLang="en-US" dirty="0">
                <a:solidFill>
                  <a:srgbClr val="C397D8"/>
                </a:solidFill>
                <a:effectLst/>
              </a:rPr>
              <a:t>官方根据多次实验，认为 </a:t>
            </a:r>
            <a:r>
              <a:rPr lang="en-US" dirty="0">
                <a:solidFill>
                  <a:srgbClr val="C397D8"/>
                </a:solidFill>
                <a:effectLst/>
              </a:rPr>
              <a:t>NS &gt; 4 </a:t>
            </a:r>
            <a:r>
              <a:rPr lang="zh-TW" altLang="en-US" dirty="0">
                <a:solidFill>
                  <a:srgbClr val="C397D8"/>
                </a:solidFill>
                <a:effectLst/>
              </a:rPr>
              <a:t>的细胞质量不佳</a:t>
            </a:r>
          </a:p>
          <a:p>
            <a:r>
              <a:rPr lang="zh-TW" altLang="en-US" dirty="0">
                <a:solidFill>
                  <a:srgbClr val="C397D8"/>
                </a:solidFill>
                <a:effectLst/>
              </a:rPr>
              <a:t> </a:t>
            </a:r>
          </a:p>
          <a:p>
            <a:r>
              <a:rPr lang="en-US" dirty="0" err="1">
                <a:solidFill>
                  <a:srgbClr val="C397D8"/>
                </a:solidFill>
                <a:effectLst/>
              </a:rPr>
              <a:t>pbmc$nucleosome_group</a:t>
            </a:r>
            <a:r>
              <a:rPr lang="en-US" dirty="0">
                <a:solidFill>
                  <a:srgbClr val="C397D8"/>
                </a:solidFill>
                <a:effectLst/>
              </a:rPr>
              <a:t> &lt;- </a:t>
            </a:r>
            <a:r>
              <a:rPr lang="en-US" dirty="0" err="1">
                <a:solidFill>
                  <a:srgbClr val="C397D8"/>
                </a:solidFill>
                <a:effectLst/>
              </a:rPr>
              <a:t>ifelse</a:t>
            </a:r>
            <a:r>
              <a:rPr lang="en-US" dirty="0">
                <a:solidFill>
                  <a:srgbClr val="C397D8"/>
                </a:solidFill>
                <a:effectLst/>
              </a:rPr>
              <a:t>(</a:t>
            </a:r>
            <a:r>
              <a:rPr lang="en-US" dirty="0" err="1">
                <a:solidFill>
                  <a:srgbClr val="C397D8"/>
                </a:solidFill>
                <a:effectLst/>
              </a:rPr>
              <a:t>pbmc$nucleosome_signal</a:t>
            </a:r>
            <a:r>
              <a:rPr lang="en-US" dirty="0">
                <a:solidFill>
                  <a:srgbClr val="C397D8"/>
                </a:solidFill>
                <a:effectLst/>
              </a:rPr>
              <a:t> &gt; 4, 'NS &gt; 4', 'NS &lt; 4')</a:t>
            </a:r>
          </a:p>
          <a:p>
            <a:r>
              <a:rPr lang="en-US" dirty="0" err="1">
                <a:solidFill>
                  <a:srgbClr val="C397D8"/>
                </a:solidFill>
                <a:effectLst/>
              </a:rPr>
              <a:t>FragmentHistogram</a:t>
            </a:r>
            <a:r>
              <a:rPr lang="en-US" dirty="0">
                <a:solidFill>
                  <a:srgbClr val="C397D8"/>
                </a:solidFill>
                <a:effectLst/>
              </a:rPr>
              <a:t>(object = </a:t>
            </a:r>
            <a:r>
              <a:rPr lang="en-US" dirty="0" err="1">
                <a:solidFill>
                  <a:srgbClr val="C397D8"/>
                </a:solidFill>
                <a:effectLst/>
              </a:rPr>
              <a:t>pbmc</a:t>
            </a:r>
            <a:r>
              <a:rPr lang="en-US" dirty="0">
                <a:solidFill>
                  <a:srgbClr val="C397D8"/>
                </a:solidFill>
                <a:effectLst/>
              </a:rPr>
              <a:t>, group.by = '</a:t>
            </a:r>
            <a:r>
              <a:rPr lang="en-US" dirty="0" err="1">
                <a:solidFill>
                  <a:srgbClr val="C397D8"/>
                </a:solidFill>
                <a:effectLst/>
              </a:rPr>
              <a:t>nucleosome_group</a:t>
            </a:r>
            <a:r>
              <a:rPr lang="en-US" dirty="0">
                <a:solidFill>
                  <a:srgbClr val="C397D8"/>
                </a:solidFill>
                <a:effectLst/>
              </a:rPr>
              <a:t>')</a:t>
            </a:r>
            <a:endParaRPr lang="en-US" dirty="0"/>
          </a:p>
        </p:txBody>
      </p:sp>
      <p:sp>
        <p:nvSpPr>
          <p:cNvPr id="4" name="Slide Number Placeholder 3"/>
          <p:cNvSpPr>
            <a:spLocks noGrp="1"/>
          </p:cNvSpPr>
          <p:nvPr>
            <p:ph type="sldNum" sz="quarter" idx="5"/>
          </p:nvPr>
        </p:nvSpPr>
        <p:spPr/>
        <p:txBody>
          <a:bodyPr/>
          <a:lstStyle/>
          <a:p>
            <a:fld id="{A0D3149A-5CEE-485E-B722-2D0A63FFEAF0}" type="slidenum">
              <a:rPr lang="en-US" smtClean="0"/>
              <a:t>59</a:t>
            </a:fld>
            <a:endParaRPr lang="en-US"/>
          </a:p>
        </p:txBody>
      </p:sp>
    </p:spTree>
    <p:extLst>
      <p:ext uri="{BB962C8B-B14F-4D97-AF65-F5344CB8AC3E}">
        <p14:creationId xmlns:p14="http://schemas.microsoft.com/office/powerpoint/2010/main" val="23217360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标准化是</a:t>
            </a:r>
            <a:r>
              <a:rPr lang="en-US" altLang="zh-CN" dirty="0" err="1"/>
              <a:t>scATAC</a:t>
            </a:r>
            <a:r>
              <a:rPr lang="en-US" altLang="zh-CN" dirty="0"/>
              <a:t>-seq</a:t>
            </a:r>
            <a:r>
              <a:rPr lang="zh-CN" altLang="en-US" dirty="0"/>
              <a:t>数据分析中的重要步骤，旨在确保数据的可比性和适用性，以便进行后续分析。</a:t>
            </a:r>
            <a:endParaRPr lang="en-US" altLang="zh-CN" dirty="0"/>
          </a:p>
          <a:p>
            <a:endParaRPr lang="en-US" altLang="zh-CN" dirty="0"/>
          </a:p>
          <a:p>
            <a:r>
              <a:rPr lang="zh-CN" altLang="en-US" dirty="0"/>
              <a:t>在</a:t>
            </a:r>
            <a:r>
              <a:rPr lang="en-US" altLang="zh-CN" dirty="0"/>
              <a:t>Signac</a:t>
            </a:r>
            <a:r>
              <a:rPr lang="zh-CN" altLang="en-US" dirty="0"/>
              <a:t>中，采用了一种特定的标准化方法，称为词频</a:t>
            </a:r>
            <a:r>
              <a:rPr lang="en-US" altLang="zh-CN" dirty="0"/>
              <a:t>-</a:t>
            </a:r>
            <a:r>
              <a:rPr lang="zh-CN" altLang="en-US" dirty="0"/>
              <a:t>逆文档频率（</a:t>
            </a:r>
            <a:r>
              <a:rPr lang="en-US" altLang="zh-CN" dirty="0"/>
              <a:t>TF-IDF</a:t>
            </a:r>
            <a:r>
              <a:rPr lang="zh-CN" altLang="en-US" dirty="0"/>
              <a:t>）标准化。</a:t>
            </a:r>
            <a:endParaRPr lang="en-US" altLang="zh-CN" dirty="0"/>
          </a:p>
          <a:p>
            <a:endParaRPr lang="en-US" altLang="zh-CN" dirty="0"/>
          </a:p>
          <a:p>
            <a:r>
              <a:rPr lang="en-US" altLang="zh-CN" dirty="0"/>
              <a:t>Signac</a:t>
            </a:r>
            <a:r>
              <a:rPr lang="zh-CN" altLang="en-US" dirty="0"/>
              <a:t>中的</a:t>
            </a:r>
            <a:r>
              <a:rPr lang="en-US" altLang="zh-CN" dirty="0"/>
              <a:t>TF-IDF</a:t>
            </a:r>
            <a:r>
              <a:rPr lang="zh-CN" altLang="en-US" dirty="0"/>
              <a:t>标准化包括两个步骤：</a:t>
            </a:r>
            <a:endParaRPr lang="en-US" altLang="zh-CN" dirty="0"/>
          </a:p>
          <a:p>
            <a:pPr marL="228600" indent="-228600">
              <a:buAutoNum type="arabicParenBoth"/>
            </a:pPr>
            <a:r>
              <a:rPr lang="zh-CN" altLang="en-US" dirty="0"/>
              <a:t>细胞间标准化：此步骤旨在校正细胞测序深度的差异。确保具有较高测序深度的细胞不会在下游分析中占主导地位。每个细胞的</a:t>
            </a:r>
            <a:r>
              <a:rPr lang="en-US" altLang="zh-CN" dirty="0"/>
              <a:t>ATAC-seq</a:t>
            </a:r>
            <a:r>
              <a:rPr lang="zh-CN" altLang="en-US" dirty="0"/>
              <a:t>峰值会根据其整体测序深度进行标准化</a:t>
            </a:r>
            <a:endParaRPr lang="en-US" altLang="zh-CN" dirty="0"/>
          </a:p>
          <a:p>
            <a:pPr marL="228600" indent="-228600">
              <a:buAutoNum type="arabicParenBoth"/>
            </a:pPr>
            <a:r>
              <a:rPr lang="zh-CN" altLang="en-US" dirty="0"/>
              <a:t>峰值间标准化：此步骤涉及对数据在峰值间进行标准化。更罕见的峰值（即在较少细胞中出现的峰值）会获得较高的值。这有助于突显特定细胞群或条件下独特的峰值        总之，</a:t>
            </a:r>
            <a:r>
              <a:rPr lang="en-US" altLang="zh-CN" dirty="0"/>
              <a:t>TF-IDF</a:t>
            </a:r>
            <a:r>
              <a:rPr lang="zh-CN" altLang="en-US" dirty="0"/>
              <a:t>标准化允许消除因测序深度和峰值频率差异而产生的偏差。这确保数据得到适当缩放，可以用于后续分析，如降维、聚类和差异可及性分析</a:t>
            </a:r>
          </a:p>
        </p:txBody>
      </p:sp>
      <p:sp>
        <p:nvSpPr>
          <p:cNvPr id="4" name="Slide Number Placeholder 3"/>
          <p:cNvSpPr>
            <a:spLocks noGrp="1"/>
          </p:cNvSpPr>
          <p:nvPr>
            <p:ph type="sldNum" sz="quarter" idx="5"/>
          </p:nvPr>
        </p:nvSpPr>
        <p:spPr/>
        <p:txBody>
          <a:bodyPr/>
          <a:lstStyle/>
          <a:p>
            <a:fld id="{A0D3149A-5CEE-485E-B722-2D0A63FFEAF0}" type="slidenum">
              <a:rPr lang="en-US" smtClean="0"/>
              <a:t>60</a:t>
            </a:fld>
            <a:endParaRPr lang="en-US"/>
          </a:p>
        </p:txBody>
      </p:sp>
    </p:spTree>
    <p:extLst>
      <p:ext uri="{BB962C8B-B14F-4D97-AF65-F5344CB8AC3E}">
        <p14:creationId xmlns:p14="http://schemas.microsoft.com/office/powerpoint/2010/main" val="383069400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solidFill>
                  <a:srgbClr val="C397D8"/>
                </a:solidFill>
                <a:effectLst/>
              </a:rPr>
              <a:t>LSI</a:t>
            </a:r>
            <a:r>
              <a:rPr lang="zh-CN" altLang="en-US" dirty="0">
                <a:solidFill>
                  <a:srgbClr val="C397D8"/>
                </a:solidFill>
                <a:effectLst/>
              </a:rPr>
              <a:t>算法，</a:t>
            </a:r>
            <a:r>
              <a:rPr lang="en-US" altLang="zh-CN" dirty="0">
                <a:solidFill>
                  <a:srgbClr val="C397D8"/>
                </a:solidFill>
                <a:effectLst/>
              </a:rPr>
              <a:t>LSI</a:t>
            </a:r>
            <a:r>
              <a:rPr lang="zh-CN" altLang="en-US" dirty="0">
                <a:solidFill>
                  <a:srgbClr val="C397D8"/>
                </a:solidFill>
                <a:effectLst/>
              </a:rPr>
              <a:t>代表</a:t>
            </a:r>
            <a:r>
              <a:rPr lang="en-US" altLang="zh-CN" dirty="0">
                <a:solidFill>
                  <a:srgbClr val="C397D8"/>
                </a:solidFill>
                <a:effectLst/>
              </a:rPr>
              <a:t>Latent Semantic Indexing</a:t>
            </a:r>
            <a:r>
              <a:rPr lang="zh-CN" altLang="en-US" dirty="0">
                <a:solidFill>
                  <a:srgbClr val="C397D8"/>
                </a:solidFill>
                <a:effectLst/>
              </a:rPr>
              <a:t>（潜在语义索引），是一种用于文本挖掘和信息检索的技术</a:t>
            </a:r>
            <a:r>
              <a:rPr lang="zh-TW" altLang="en-US" dirty="0">
                <a:solidFill>
                  <a:srgbClr val="C397D8"/>
                </a:solidFill>
                <a:effectLst/>
              </a:rPr>
              <a:t>，</a:t>
            </a:r>
            <a:r>
              <a:rPr lang="zh-CN" altLang="en-US" dirty="0">
                <a:solidFill>
                  <a:srgbClr val="C397D8"/>
                </a:solidFill>
                <a:effectLst/>
              </a:rPr>
              <a:t>它的主要目标是通过降低维度和发现隐藏在数据中的语义关系来改善文本数据的表示和分析。</a:t>
            </a:r>
            <a:r>
              <a:rPr lang="zh-CN" altLang="en-US" b="0" i="0" dirty="0">
                <a:solidFill>
                  <a:srgbClr val="4D4D4D"/>
                </a:solidFill>
                <a:effectLst/>
                <a:latin typeface="-apple-system"/>
              </a:rPr>
              <a:t>在</a:t>
            </a:r>
            <a:r>
              <a:rPr lang="en-US" altLang="zh-CN" b="0" i="0" dirty="0" err="1">
                <a:solidFill>
                  <a:srgbClr val="4D4D4D"/>
                </a:solidFill>
                <a:effectLst/>
                <a:latin typeface="-apple-system"/>
              </a:rPr>
              <a:t>scATAC</a:t>
            </a:r>
            <a:r>
              <a:rPr lang="en-US" altLang="zh-CN" b="0" i="0" dirty="0">
                <a:solidFill>
                  <a:srgbClr val="4D4D4D"/>
                </a:solidFill>
                <a:effectLst/>
                <a:latin typeface="-apple-system"/>
              </a:rPr>
              <a:t>-seq</a:t>
            </a:r>
            <a:r>
              <a:rPr lang="zh-CN" altLang="en-US" b="0" i="0" dirty="0">
                <a:solidFill>
                  <a:srgbClr val="4D4D4D"/>
                </a:solidFill>
                <a:effectLst/>
                <a:latin typeface="-apple-system"/>
              </a:rPr>
              <a:t>场景下，不同样本就是不同的文档，不同的区域</a:t>
            </a:r>
            <a:r>
              <a:rPr lang="en-US" altLang="zh-CN" b="0" i="0" dirty="0">
                <a:solidFill>
                  <a:srgbClr val="4D4D4D"/>
                </a:solidFill>
                <a:effectLst/>
                <a:latin typeface="-apple-system"/>
              </a:rPr>
              <a:t>/peak</a:t>
            </a:r>
            <a:r>
              <a:rPr lang="zh-CN" altLang="en-US" b="0" i="0" dirty="0">
                <a:solidFill>
                  <a:srgbClr val="4D4D4D"/>
                </a:solidFill>
                <a:effectLst/>
                <a:latin typeface="-apple-system"/>
              </a:rPr>
              <a:t>就是不同的单词</a:t>
            </a:r>
            <a:r>
              <a:rPr lang="en-US" altLang="zh-CN" b="0" i="0" dirty="0">
                <a:solidFill>
                  <a:srgbClr val="4D4D4D"/>
                </a:solidFill>
                <a:effectLst/>
                <a:latin typeface="-apple-system"/>
              </a:rPr>
              <a:t>(</a:t>
            </a:r>
            <a:r>
              <a:rPr lang="zh-CN" altLang="en-US" b="0" i="0" dirty="0">
                <a:solidFill>
                  <a:srgbClr val="4D4D4D"/>
                </a:solidFill>
                <a:effectLst/>
                <a:latin typeface="-apple-system"/>
              </a:rPr>
              <a:t>注</a:t>
            </a:r>
            <a:r>
              <a:rPr lang="en-US" altLang="zh-CN" b="0" i="0" dirty="0">
                <a:solidFill>
                  <a:srgbClr val="4D4D4D"/>
                </a:solidFill>
                <a:effectLst/>
                <a:latin typeface="-apple-system"/>
              </a:rPr>
              <a:t>1)</a:t>
            </a:r>
            <a:r>
              <a:rPr lang="zh-CN" altLang="en-US" b="0" i="0" dirty="0">
                <a:solidFill>
                  <a:srgbClr val="4D4D4D"/>
                </a:solidFill>
                <a:effectLst/>
                <a:latin typeface="-apple-system"/>
              </a:rPr>
              <a:t>。计算步骤如下</a:t>
            </a:r>
            <a:r>
              <a:rPr lang="zh-CN" altLang="en-US" dirty="0">
                <a:solidFill>
                  <a:srgbClr val="C397D8"/>
                </a:solidFill>
                <a:effectLst/>
              </a:rPr>
              <a:t>。在</a:t>
            </a:r>
            <a:r>
              <a:rPr lang="en-US" altLang="zh-CN" dirty="0" err="1">
                <a:solidFill>
                  <a:srgbClr val="C397D8"/>
                </a:solidFill>
                <a:effectLst/>
              </a:rPr>
              <a:t>scATAC</a:t>
            </a:r>
            <a:r>
              <a:rPr lang="en-US" altLang="zh-CN" dirty="0">
                <a:solidFill>
                  <a:srgbClr val="C397D8"/>
                </a:solidFill>
                <a:effectLst/>
              </a:rPr>
              <a:t>-seq</a:t>
            </a:r>
            <a:r>
              <a:rPr lang="zh-CN" altLang="en-US" dirty="0">
                <a:solidFill>
                  <a:srgbClr val="C397D8"/>
                </a:solidFill>
                <a:effectLst/>
              </a:rPr>
              <a:t>数据中，</a:t>
            </a:r>
            <a:r>
              <a:rPr lang="en-US" altLang="zh-CN" dirty="0">
                <a:solidFill>
                  <a:srgbClr val="C397D8"/>
                </a:solidFill>
                <a:effectLst/>
              </a:rPr>
              <a:t>LSI</a:t>
            </a:r>
            <a:r>
              <a:rPr lang="zh-CN" altLang="en-US" dirty="0">
                <a:solidFill>
                  <a:srgbClr val="C397D8"/>
                </a:solidFill>
                <a:effectLst/>
              </a:rPr>
              <a:t>被用来进行降维，类似于主成分分析（</a:t>
            </a:r>
            <a:r>
              <a:rPr lang="en-US" altLang="zh-CN" dirty="0">
                <a:solidFill>
                  <a:srgbClr val="C397D8"/>
                </a:solidFill>
                <a:effectLst/>
              </a:rPr>
              <a:t>PCA</a:t>
            </a:r>
            <a:r>
              <a:rPr lang="zh-CN" altLang="en-US" dirty="0">
                <a:solidFill>
                  <a:srgbClr val="C397D8"/>
                </a:solidFill>
                <a:effectLst/>
              </a:rPr>
              <a:t>），以便将高维度的数据转换为较低维度的表示，同时保留数据的主要变异模式</a:t>
            </a:r>
          </a:p>
          <a:p>
            <a:endParaRPr lang="en-US" altLang="zh-CN" dirty="0">
              <a:solidFill>
                <a:srgbClr val="C397D8"/>
              </a:solidFill>
              <a:effectLst/>
            </a:endParaRPr>
          </a:p>
          <a:p>
            <a:r>
              <a:rPr lang="zh-CN" altLang="en-US" dirty="0">
                <a:solidFill>
                  <a:srgbClr val="C397D8"/>
                </a:solidFill>
                <a:effectLst/>
              </a:rPr>
              <a:t>第</a:t>
            </a:r>
            <a:r>
              <a:rPr lang="en-US" altLang="zh-CN" dirty="0">
                <a:solidFill>
                  <a:srgbClr val="C397D8"/>
                </a:solidFill>
                <a:effectLst/>
              </a:rPr>
              <a:t>1</a:t>
            </a:r>
            <a:r>
              <a:rPr lang="zh-CN" altLang="en-US" dirty="0">
                <a:solidFill>
                  <a:srgbClr val="C397D8"/>
                </a:solidFill>
                <a:effectLst/>
              </a:rPr>
              <a:t>个</a:t>
            </a:r>
            <a:r>
              <a:rPr lang="en-US" altLang="zh-CN" dirty="0">
                <a:solidFill>
                  <a:srgbClr val="C397D8"/>
                </a:solidFill>
                <a:effectLst/>
              </a:rPr>
              <a:t>LSI</a:t>
            </a:r>
            <a:r>
              <a:rPr lang="zh-CN" altLang="en-US" dirty="0">
                <a:solidFill>
                  <a:srgbClr val="C397D8"/>
                </a:solidFill>
                <a:effectLst/>
              </a:rPr>
              <a:t>组件与细胞的总计数（测序深度）之间存在强烈的相关性，而其他组件的分布均在可接受范围内。这意味着第一个</a:t>
            </a:r>
            <a:r>
              <a:rPr lang="en-US" altLang="zh-CN" dirty="0">
                <a:solidFill>
                  <a:srgbClr val="C397D8"/>
                </a:solidFill>
                <a:effectLst/>
              </a:rPr>
              <a:t>LSI</a:t>
            </a:r>
            <a:r>
              <a:rPr lang="zh-CN" altLang="en-US" dirty="0">
                <a:solidFill>
                  <a:srgbClr val="C397D8"/>
                </a:solidFill>
                <a:effectLst/>
              </a:rPr>
              <a:t>组件可能主要捕获了技术性的变异，而不是生物学上的变异。所以在后续的分析中，会忽略第</a:t>
            </a:r>
            <a:r>
              <a:rPr lang="en-US" altLang="zh-CN" dirty="0">
                <a:solidFill>
                  <a:srgbClr val="C397D8"/>
                </a:solidFill>
                <a:effectLst/>
              </a:rPr>
              <a:t>1</a:t>
            </a:r>
            <a:r>
              <a:rPr lang="zh-CN" altLang="en-US" dirty="0">
                <a:solidFill>
                  <a:srgbClr val="C397D8"/>
                </a:solidFill>
                <a:effectLst/>
              </a:rPr>
              <a:t>个</a:t>
            </a:r>
            <a:r>
              <a:rPr lang="en-US" altLang="zh-CN" dirty="0">
                <a:solidFill>
                  <a:srgbClr val="C397D8"/>
                </a:solidFill>
                <a:effectLst/>
              </a:rPr>
              <a:t>LSI</a:t>
            </a:r>
            <a:r>
              <a:rPr lang="zh-CN" altLang="en-US" dirty="0">
                <a:solidFill>
                  <a:srgbClr val="C397D8"/>
                </a:solidFill>
                <a:effectLst/>
              </a:rPr>
              <a:t>组件，以避免将细胞基于测序深度而分组在一起。这将有助于更好地捕获细胞的生物学变异和特征。</a:t>
            </a:r>
            <a:endParaRPr lang="en-US" altLang="zh-CN" dirty="0">
              <a:solidFill>
                <a:srgbClr val="C397D8"/>
              </a:solidFill>
              <a:effectLst/>
            </a:endParaRPr>
          </a:p>
          <a:p>
            <a:endParaRPr lang="en-US" altLang="zh-CN" dirty="0">
              <a:solidFill>
                <a:srgbClr val="C397D8"/>
              </a:solidFill>
              <a:effectLst/>
            </a:endParaRPr>
          </a:p>
          <a:p>
            <a:r>
              <a:rPr lang="zh-CN" altLang="en-US" b="0" i="0" dirty="0">
                <a:solidFill>
                  <a:srgbClr val="4D4D4D"/>
                </a:solidFill>
                <a:effectLst/>
                <a:latin typeface="-apple-system"/>
              </a:rPr>
              <a:t>由于数据的稀疏性会导致细胞间在</a:t>
            </a:r>
            <a:r>
              <a:rPr lang="en-US" altLang="zh-CN" b="0" i="0" dirty="0">
                <a:solidFill>
                  <a:srgbClr val="4D4D4D"/>
                </a:solidFill>
                <a:effectLst/>
                <a:latin typeface="-apple-system"/>
              </a:rPr>
              <a:t>0</a:t>
            </a:r>
            <a:r>
              <a:rPr lang="zh-CN" altLang="en-US" b="0" i="0" dirty="0">
                <a:solidFill>
                  <a:srgbClr val="4D4D4D"/>
                </a:solidFill>
                <a:effectLst/>
                <a:latin typeface="-apple-system"/>
              </a:rPr>
              <a:t>的位置有更高的相似性</a:t>
            </a:r>
            <a:r>
              <a:rPr lang="zh-TW" altLang="en-US" b="0" i="0" dirty="0">
                <a:solidFill>
                  <a:srgbClr val="C397D8"/>
                </a:solidFill>
                <a:effectLst/>
                <a:latin typeface="-apple-system"/>
              </a:rPr>
              <a:t>，所以如果使用</a:t>
            </a:r>
            <a:r>
              <a:rPr lang="zh-TW" altLang="en-US" b="0" i="0" dirty="0">
                <a:solidFill>
                  <a:srgbClr val="4D4D4D"/>
                </a:solidFill>
                <a:effectLst/>
                <a:latin typeface="-apple-system"/>
              </a:rPr>
              <a:t>主成分分析</a:t>
            </a:r>
            <a:r>
              <a:rPr lang="en-US" altLang="zh-TW" b="0" i="0" dirty="0">
                <a:solidFill>
                  <a:srgbClr val="4D4D4D"/>
                </a:solidFill>
                <a:effectLst/>
                <a:latin typeface="-apple-system"/>
              </a:rPr>
              <a:t>(</a:t>
            </a:r>
            <a:r>
              <a:rPr lang="en-US" b="0" i="0" dirty="0">
                <a:solidFill>
                  <a:srgbClr val="4D4D4D"/>
                </a:solidFill>
                <a:effectLst/>
                <a:latin typeface="-apple-system"/>
              </a:rPr>
              <a:t>Principal Component Analysis, PCA)，</a:t>
            </a:r>
            <a:r>
              <a:rPr lang="zh-TW" altLang="en-US" b="0" i="0" dirty="0">
                <a:solidFill>
                  <a:srgbClr val="4D4D4D"/>
                </a:solidFill>
                <a:effectLst/>
                <a:latin typeface="-apple-system"/>
              </a:rPr>
              <a:t>然后使用前两个主成分进行绘图，可能无法得到想要的结果。</a:t>
            </a:r>
            <a:endParaRPr lang="en-US" altLang="zh-TW" b="0" i="0" dirty="0">
              <a:solidFill>
                <a:srgbClr val="4D4D4D"/>
              </a:solidFill>
              <a:effectLst/>
              <a:latin typeface="-apple-system"/>
            </a:endParaRPr>
          </a:p>
          <a:p>
            <a:r>
              <a:rPr lang="zh-CN" altLang="en-US" b="0" i="0" dirty="0">
                <a:solidFill>
                  <a:srgbClr val="4D4D4D"/>
                </a:solidFill>
                <a:effectLst/>
                <a:latin typeface="-apple-system"/>
              </a:rPr>
              <a:t>为了解决这个问题，我们采用了分层的降维策略。</a:t>
            </a:r>
            <a:endParaRPr lang="zh-CN" altLang="en-US" dirty="0">
              <a:solidFill>
                <a:srgbClr val="C397D8"/>
              </a:solidFill>
              <a:effectLst/>
            </a:endParaRPr>
          </a:p>
          <a:p>
            <a:endParaRPr lang="en-US" altLang="zh-CN" dirty="0">
              <a:solidFill>
                <a:srgbClr val="C397D8"/>
              </a:solidFill>
              <a:effectLst/>
            </a:endParaRPr>
          </a:p>
        </p:txBody>
      </p:sp>
      <p:sp>
        <p:nvSpPr>
          <p:cNvPr id="4" name="Slide Number Placeholder 3"/>
          <p:cNvSpPr>
            <a:spLocks noGrp="1"/>
          </p:cNvSpPr>
          <p:nvPr>
            <p:ph type="sldNum" sz="quarter" idx="5"/>
          </p:nvPr>
        </p:nvSpPr>
        <p:spPr/>
        <p:txBody>
          <a:bodyPr/>
          <a:lstStyle/>
          <a:p>
            <a:fld id="{A0D3149A-5CEE-485E-B722-2D0A63FFEAF0}" type="slidenum">
              <a:rPr lang="en-US" smtClean="0"/>
              <a:t>61</a:t>
            </a:fld>
            <a:endParaRPr lang="en-US"/>
          </a:p>
        </p:txBody>
      </p:sp>
    </p:spTree>
    <p:extLst>
      <p:ext uri="{BB962C8B-B14F-4D97-AF65-F5344CB8AC3E}">
        <p14:creationId xmlns:p14="http://schemas.microsoft.com/office/powerpoint/2010/main" val="363544841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0D3149A-5CEE-485E-B722-2D0A63FFEAF0}" type="slidenum">
              <a:rPr lang="en-US" smtClean="0"/>
              <a:t>66</a:t>
            </a:fld>
            <a:endParaRPr lang="en-US"/>
          </a:p>
        </p:txBody>
      </p:sp>
    </p:spTree>
    <p:extLst>
      <p:ext uri="{BB962C8B-B14F-4D97-AF65-F5344CB8AC3E}">
        <p14:creationId xmlns:p14="http://schemas.microsoft.com/office/powerpoint/2010/main" val="34896378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CAC0F-A4DC-68AB-9F73-EB8169DEC66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B6CA5A7-E3B0-0D7F-3A1E-25C9449307C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86C36D4-66F3-BE39-9877-BF24F8FBB3F8}"/>
              </a:ext>
            </a:extLst>
          </p:cNvPr>
          <p:cNvSpPr>
            <a:spLocks noGrp="1"/>
          </p:cNvSpPr>
          <p:nvPr>
            <p:ph type="dt" sz="half" idx="10"/>
          </p:nvPr>
        </p:nvSpPr>
        <p:spPr/>
        <p:txBody>
          <a:bodyPr/>
          <a:lstStyle/>
          <a:p>
            <a:fld id="{7298D579-427B-4E10-A41C-5CA8F67B89E8}" type="datetimeFigureOut">
              <a:rPr lang="en-US" smtClean="0"/>
              <a:t>11/24/2023</a:t>
            </a:fld>
            <a:endParaRPr lang="en-US"/>
          </a:p>
        </p:txBody>
      </p:sp>
      <p:sp>
        <p:nvSpPr>
          <p:cNvPr id="5" name="Footer Placeholder 4">
            <a:extLst>
              <a:ext uri="{FF2B5EF4-FFF2-40B4-BE49-F238E27FC236}">
                <a16:creationId xmlns:a16="http://schemas.microsoft.com/office/drawing/2014/main" id="{31438301-4451-B21B-C8FD-D33B64D44C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2DD599-9A65-D6FC-1DE0-934B178C812F}"/>
              </a:ext>
            </a:extLst>
          </p:cNvPr>
          <p:cNvSpPr>
            <a:spLocks noGrp="1"/>
          </p:cNvSpPr>
          <p:nvPr>
            <p:ph type="sldNum" sz="quarter" idx="12"/>
          </p:nvPr>
        </p:nvSpPr>
        <p:spPr/>
        <p:txBody>
          <a:bodyPr/>
          <a:lstStyle/>
          <a:p>
            <a:fld id="{F832E252-A8EC-4132-90F3-ACD39A6B8CA5}" type="slidenum">
              <a:rPr lang="en-US" smtClean="0"/>
              <a:t>‹#›</a:t>
            </a:fld>
            <a:endParaRPr lang="en-US"/>
          </a:p>
        </p:txBody>
      </p:sp>
    </p:spTree>
    <p:extLst>
      <p:ext uri="{BB962C8B-B14F-4D97-AF65-F5344CB8AC3E}">
        <p14:creationId xmlns:p14="http://schemas.microsoft.com/office/powerpoint/2010/main" val="27874337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CDAA6-E8B2-7047-2AAB-148FECD0650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6856043-83A8-CC4F-F05D-E7B80A91E9F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FD1293-283D-03D6-C139-38A71B244772}"/>
              </a:ext>
            </a:extLst>
          </p:cNvPr>
          <p:cNvSpPr>
            <a:spLocks noGrp="1"/>
          </p:cNvSpPr>
          <p:nvPr>
            <p:ph type="dt" sz="half" idx="10"/>
          </p:nvPr>
        </p:nvSpPr>
        <p:spPr/>
        <p:txBody>
          <a:bodyPr/>
          <a:lstStyle/>
          <a:p>
            <a:fld id="{7298D579-427B-4E10-A41C-5CA8F67B89E8}" type="datetimeFigureOut">
              <a:rPr lang="en-US" smtClean="0"/>
              <a:t>11/24/2023</a:t>
            </a:fld>
            <a:endParaRPr lang="en-US"/>
          </a:p>
        </p:txBody>
      </p:sp>
      <p:sp>
        <p:nvSpPr>
          <p:cNvPr id="5" name="Footer Placeholder 4">
            <a:extLst>
              <a:ext uri="{FF2B5EF4-FFF2-40B4-BE49-F238E27FC236}">
                <a16:creationId xmlns:a16="http://schemas.microsoft.com/office/drawing/2014/main" id="{265C0952-4030-C975-9338-6361BAF037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22502F-DEF9-1E6E-6680-5BC071713A6C}"/>
              </a:ext>
            </a:extLst>
          </p:cNvPr>
          <p:cNvSpPr>
            <a:spLocks noGrp="1"/>
          </p:cNvSpPr>
          <p:nvPr>
            <p:ph type="sldNum" sz="quarter" idx="12"/>
          </p:nvPr>
        </p:nvSpPr>
        <p:spPr/>
        <p:txBody>
          <a:bodyPr/>
          <a:lstStyle/>
          <a:p>
            <a:fld id="{F832E252-A8EC-4132-90F3-ACD39A6B8CA5}" type="slidenum">
              <a:rPr lang="en-US" smtClean="0"/>
              <a:t>‹#›</a:t>
            </a:fld>
            <a:endParaRPr lang="en-US"/>
          </a:p>
        </p:txBody>
      </p:sp>
    </p:spTree>
    <p:extLst>
      <p:ext uri="{BB962C8B-B14F-4D97-AF65-F5344CB8AC3E}">
        <p14:creationId xmlns:p14="http://schemas.microsoft.com/office/powerpoint/2010/main" val="2830210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A6622-CD96-A4B7-6071-6A07A54077F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AB43F44-D4CE-DAB3-5B88-517A6AA5FD5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E9AA50D-FB5B-A3BB-2B94-64CC4B1E9E51}"/>
              </a:ext>
            </a:extLst>
          </p:cNvPr>
          <p:cNvSpPr>
            <a:spLocks noGrp="1"/>
          </p:cNvSpPr>
          <p:nvPr>
            <p:ph type="dt" sz="half" idx="10"/>
          </p:nvPr>
        </p:nvSpPr>
        <p:spPr/>
        <p:txBody>
          <a:bodyPr/>
          <a:lstStyle/>
          <a:p>
            <a:fld id="{7298D579-427B-4E10-A41C-5CA8F67B89E8}" type="datetimeFigureOut">
              <a:rPr lang="en-US" smtClean="0"/>
              <a:t>11/24/2023</a:t>
            </a:fld>
            <a:endParaRPr lang="en-US"/>
          </a:p>
        </p:txBody>
      </p:sp>
      <p:sp>
        <p:nvSpPr>
          <p:cNvPr id="5" name="Footer Placeholder 4">
            <a:extLst>
              <a:ext uri="{FF2B5EF4-FFF2-40B4-BE49-F238E27FC236}">
                <a16:creationId xmlns:a16="http://schemas.microsoft.com/office/drawing/2014/main" id="{E84B030E-7ACB-F3F0-D1EA-D5263D0FBB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EC797F-C02B-8253-5FC0-A093A645170D}"/>
              </a:ext>
            </a:extLst>
          </p:cNvPr>
          <p:cNvSpPr>
            <a:spLocks noGrp="1"/>
          </p:cNvSpPr>
          <p:nvPr>
            <p:ph type="sldNum" sz="quarter" idx="12"/>
          </p:nvPr>
        </p:nvSpPr>
        <p:spPr/>
        <p:txBody>
          <a:bodyPr/>
          <a:lstStyle/>
          <a:p>
            <a:fld id="{F832E252-A8EC-4132-90F3-ACD39A6B8CA5}" type="slidenum">
              <a:rPr lang="en-US" smtClean="0"/>
              <a:t>‹#›</a:t>
            </a:fld>
            <a:endParaRPr lang="en-US"/>
          </a:p>
        </p:txBody>
      </p:sp>
    </p:spTree>
    <p:extLst>
      <p:ext uri="{BB962C8B-B14F-4D97-AF65-F5344CB8AC3E}">
        <p14:creationId xmlns:p14="http://schemas.microsoft.com/office/powerpoint/2010/main" val="5271214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8E40A-6300-038D-62BD-6E9375C1B7A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C5CF9BD-B9EC-2196-2DCC-FA83E19713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CAA5619-BC09-C430-81E5-F7156C984D1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F01F5CC-40F9-F4A6-42D3-288AC73267B3}"/>
              </a:ext>
            </a:extLst>
          </p:cNvPr>
          <p:cNvSpPr>
            <a:spLocks noGrp="1"/>
          </p:cNvSpPr>
          <p:nvPr>
            <p:ph type="dt" sz="half" idx="10"/>
          </p:nvPr>
        </p:nvSpPr>
        <p:spPr/>
        <p:txBody>
          <a:bodyPr/>
          <a:lstStyle/>
          <a:p>
            <a:fld id="{7298D579-427B-4E10-A41C-5CA8F67B89E8}" type="datetimeFigureOut">
              <a:rPr lang="en-US" smtClean="0"/>
              <a:t>11/24/2023</a:t>
            </a:fld>
            <a:endParaRPr lang="en-US"/>
          </a:p>
        </p:txBody>
      </p:sp>
      <p:sp>
        <p:nvSpPr>
          <p:cNvPr id="6" name="Footer Placeholder 5">
            <a:extLst>
              <a:ext uri="{FF2B5EF4-FFF2-40B4-BE49-F238E27FC236}">
                <a16:creationId xmlns:a16="http://schemas.microsoft.com/office/drawing/2014/main" id="{C026A0E4-1823-F8C0-4358-104234A10F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7C5226-97AC-2C60-5263-90A7B98EAADC}"/>
              </a:ext>
            </a:extLst>
          </p:cNvPr>
          <p:cNvSpPr>
            <a:spLocks noGrp="1"/>
          </p:cNvSpPr>
          <p:nvPr>
            <p:ph type="sldNum" sz="quarter" idx="12"/>
          </p:nvPr>
        </p:nvSpPr>
        <p:spPr/>
        <p:txBody>
          <a:bodyPr/>
          <a:lstStyle/>
          <a:p>
            <a:fld id="{F832E252-A8EC-4132-90F3-ACD39A6B8CA5}" type="slidenum">
              <a:rPr lang="en-US" smtClean="0"/>
              <a:t>‹#›</a:t>
            </a:fld>
            <a:endParaRPr lang="en-US"/>
          </a:p>
        </p:txBody>
      </p:sp>
    </p:spTree>
    <p:extLst>
      <p:ext uri="{BB962C8B-B14F-4D97-AF65-F5344CB8AC3E}">
        <p14:creationId xmlns:p14="http://schemas.microsoft.com/office/powerpoint/2010/main" val="29459008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9B6AC-988F-1E23-CFF1-D73CE5D404D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B9FF137-56EE-B21C-9295-8C069112F7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A566166-DC0F-6FFA-B24A-BC61D8CBF1B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3D28786-F343-6772-7559-CAC8A5E5323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BC9F0E1-26B3-011B-9391-BDF99FD31AC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7BCDAEE-7751-56BD-F267-D5098F86CFD8}"/>
              </a:ext>
            </a:extLst>
          </p:cNvPr>
          <p:cNvSpPr>
            <a:spLocks noGrp="1"/>
          </p:cNvSpPr>
          <p:nvPr>
            <p:ph type="dt" sz="half" idx="10"/>
          </p:nvPr>
        </p:nvSpPr>
        <p:spPr/>
        <p:txBody>
          <a:bodyPr/>
          <a:lstStyle/>
          <a:p>
            <a:fld id="{7298D579-427B-4E10-A41C-5CA8F67B89E8}" type="datetimeFigureOut">
              <a:rPr lang="en-US" smtClean="0"/>
              <a:t>11/24/2023</a:t>
            </a:fld>
            <a:endParaRPr lang="en-US"/>
          </a:p>
        </p:txBody>
      </p:sp>
      <p:sp>
        <p:nvSpPr>
          <p:cNvPr id="8" name="Footer Placeholder 7">
            <a:extLst>
              <a:ext uri="{FF2B5EF4-FFF2-40B4-BE49-F238E27FC236}">
                <a16:creationId xmlns:a16="http://schemas.microsoft.com/office/drawing/2014/main" id="{CEB29A07-920D-C7F7-9804-644E5290968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2052D91-C29A-D1A7-53AF-B82F4F64A53B}"/>
              </a:ext>
            </a:extLst>
          </p:cNvPr>
          <p:cNvSpPr>
            <a:spLocks noGrp="1"/>
          </p:cNvSpPr>
          <p:nvPr>
            <p:ph type="sldNum" sz="quarter" idx="12"/>
          </p:nvPr>
        </p:nvSpPr>
        <p:spPr/>
        <p:txBody>
          <a:bodyPr/>
          <a:lstStyle/>
          <a:p>
            <a:fld id="{F832E252-A8EC-4132-90F3-ACD39A6B8CA5}" type="slidenum">
              <a:rPr lang="en-US" smtClean="0"/>
              <a:t>‹#›</a:t>
            </a:fld>
            <a:endParaRPr lang="en-US"/>
          </a:p>
        </p:txBody>
      </p:sp>
    </p:spTree>
    <p:extLst>
      <p:ext uri="{BB962C8B-B14F-4D97-AF65-F5344CB8AC3E}">
        <p14:creationId xmlns:p14="http://schemas.microsoft.com/office/powerpoint/2010/main" val="5339872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E0492-78E9-10D6-9D56-F1F6200A22D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5C52078-7656-D237-F91C-78C042CCA5C9}"/>
              </a:ext>
            </a:extLst>
          </p:cNvPr>
          <p:cNvSpPr>
            <a:spLocks noGrp="1"/>
          </p:cNvSpPr>
          <p:nvPr>
            <p:ph type="dt" sz="half" idx="10"/>
          </p:nvPr>
        </p:nvSpPr>
        <p:spPr/>
        <p:txBody>
          <a:bodyPr/>
          <a:lstStyle/>
          <a:p>
            <a:fld id="{7298D579-427B-4E10-A41C-5CA8F67B89E8}" type="datetimeFigureOut">
              <a:rPr lang="en-US" smtClean="0"/>
              <a:t>11/24/2023</a:t>
            </a:fld>
            <a:endParaRPr lang="en-US"/>
          </a:p>
        </p:txBody>
      </p:sp>
      <p:sp>
        <p:nvSpPr>
          <p:cNvPr id="4" name="Footer Placeholder 3">
            <a:extLst>
              <a:ext uri="{FF2B5EF4-FFF2-40B4-BE49-F238E27FC236}">
                <a16:creationId xmlns:a16="http://schemas.microsoft.com/office/drawing/2014/main" id="{88926720-5033-5950-76D9-1034ED16EE8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A797E35-7479-BD1C-9313-3E351340B387}"/>
              </a:ext>
            </a:extLst>
          </p:cNvPr>
          <p:cNvSpPr>
            <a:spLocks noGrp="1"/>
          </p:cNvSpPr>
          <p:nvPr>
            <p:ph type="sldNum" sz="quarter" idx="12"/>
          </p:nvPr>
        </p:nvSpPr>
        <p:spPr/>
        <p:txBody>
          <a:bodyPr/>
          <a:lstStyle/>
          <a:p>
            <a:fld id="{F832E252-A8EC-4132-90F3-ACD39A6B8CA5}" type="slidenum">
              <a:rPr lang="en-US" smtClean="0"/>
              <a:t>‹#›</a:t>
            </a:fld>
            <a:endParaRPr lang="en-US"/>
          </a:p>
        </p:txBody>
      </p:sp>
    </p:spTree>
    <p:extLst>
      <p:ext uri="{BB962C8B-B14F-4D97-AF65-F5344CB8AC3E}">
        <p14:creationId xmlns:p14="http://schemas.microsoft.com/office/powerpoint/2010/main" val="1833630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9AE2149-AE37-E57B-DF63-4A7545152F73}"/>
              </a:ext>
            </a:extLst>
          </p:cNvPr>
          <p:cNvSpPr>
            <a:spLocks noGrp="1"/>
          </p:cNvSpPr>
          <p:nvPr>
            <p:ph type="dt" sz="half" idx="10"/>
          </p:nvPr>
        </p:nvSpPr>
        <p:spPr/>
        <p:txBody>
          <a:bodyPr/>
          <a:lstStyle/>
          <a:p>
            <a:fld id="{7298D579-427B-4E10-A41C-5CA8F67B89E8}" type="datetimeFigureOut">
              <a:rPr lang="en-US" smtClean="0"/>
              <a:t>11/24/2023</a:t>
            </a:fld>
            <a:endParaRPr lang="en-US"/>
          </a:p>
        </p:txBody>
      </p:sp>
      <p:sp>
        <p:nvSpPr>
          <p:cNvPr id="3" name="Footer Placeholder 2">
            <a:extLst>
              <a:ext uri="{FF2B5EF4-FFF2-40B4-BE49-F238E27FC236}">
                <a16:creationId xmlns:a16="http://schemas.microsoft.com/office/drawing/2014/main" id="{496E18EF-AF02-9F64-4815-93A9732019D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D38ED3C-9A56-5B58-46CF-C204846E0B84}"/>
              </a:ext>
            </a:extLst>
          </p:cNvPr>
          <p:cNvSpPr>
            <a:spLocks noGrp="1"/>
          </p:cNvSpPr>
          <p:nvPr>
            <p:ph type="sldNum" sz="quarter" idx="12"/>
          </p:nvPr>
        </p:nvSpPr>
        <p:spPr/>
        <p:txBody>
          <a:bodyPr/>
          <a:lstStyle/>
          <a:p>
            <a:fld id="{F832E252-A8EC-4132-90F3-ACD39A6B8CA5}" type="slidenum">
              <a:rPr lang="en-US" smtClean="0"/>
              <a:t>‹#›</a:t>
            </a:fld>
            <a:endParaRPr lang="en-US"/>
          </a:p>
        </p:txBody>
      </p:sp>
    </p:spTree>
    <p:extLst>
      <p:ext uri="{BB962C8B-B14F-4D97-AF65-F5344CB8AC3E}">
        <p14:creationId xmlns:p14="http://schemas.microsoft.com/office/powerpoint/2010/main" val="18508393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B8C3A-6032-1CF9-2915-46277C7C95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6096BB9-2CC6-E8F9-0ACB-76996F391DA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1C50C33-02F6-E384-0335-557421C3DC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04D6BC-5CE8-F9A6-9652-19C75E50446D}"/>
              </a:ext>
            </a:extLst>
          </p:cNvPr>
          <p:cNvSpPr>
            <a:spLocks noGrp="1"/>
          </p:cNvSpPr>
          <p:nvPr>
            <p:ph type="dt" sz="half" idx="10"/>
          </p:nvPr>
        </p:nvSpPr>
        <p:spPr/>
        <p:txBody>
          <a:bodyPr/>
          <a:lstStyle/>
          <a:p>
            <a:fld id="{7298D579-427B-4E10-A41C-5CA8F67B89E8}" type="datetimeFigureOut">
              <a:rPr lang="en-US" smtClean="0"/>
              <a:t>11/24/2023</a:t>
            </a:fld>
            <a:endParaRPr lang="en-US"/>
          </a:p>
        </p:txBody>
      </p:sp>
      <p:sp>
        <p:nvSpPr>
          <p:cNvPr id="6" name="Footer Placeholder 5">
            <a:extLst>
              <a:ext uri="{FF2B5EF4-FFF2-40B4-BE49-F238E27FC236}">
                <a16:creationId xmlns:a16="http://schemas.microsoft.com/office/drawing/2014/main" id="{ABAF44CE-1C8D-D429-6377-6350C4347D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8A6B1A4-83EC-3852-5AC9-982672415C32}"/>
              </a:ext>
            </a:extLst>
          </p:cNvPr>
          <p:cNvSpPr>
            <a:spLocks noGrp="1"/>
          </p:cNvSpPr>
          <p:nvPr>
            <p:ph type="sldNum" sz="quarter" idx="12"/>
          </p:nvPr>
        </p:nvSpPr>
        <p:spPr/>
        <p:txBody>
          <a:bodyPr/>
          <a:lstStyle/>
          <a:p>
            <a:fld id="{F832E252-A8EC-4132-90F3-ACD39A6B8CA5}" type="slidenum">
              <a:rPr lang="en-US" smtClean="0"/>
              <a:t>‹#›</a:t>
            </a:fld>
            <a:endParaRPr lang="en-US"/>
          </a:p>
        </p:txBody>
      </p:sp>
    </p:spTree>
    <p:extLst>
      <p:ext uri="{BB962C8B-B14F-4D97-AF65-F5344CB8AC3E}">
        <p14:creationId xmlns:p14="http://schemas.microsoft.com/office/powerpoint/2010/main" val="6874074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E5869-6839-D382-9AC5-30D71CBBB6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09E649A-BFF3-05F1-B79A-3683580E59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A82B332-3747-81BA-EB55-0DE5C13ADB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1B3760-D0A5-56DC-C101-3B62DF7ED595}"/>
              </a:ext>
            </a:extLst>
          </p:cNvPr>
          <p:cNvSpPr>
            <a:spLocks noGrp="1"/>
          </p:cNvSpPr>
          <p:nvPr>
            <p:ph type="dt" sz="half" idx="10"/>
          </p:nvPr>
        </p:nvSpPr>
        <p:spPr/>
        <p:txBody>
          <a:bodyPr/>
          <a:lstStyle/>
          <a:p>
            <a:fld id="{7298D579-427B-4E10-A41C-5CA8F67B89E8}" type="datetimeFigureOut">
              <a:rPr lang="en-US" smtClean="0"/>
              <a:t>11/24/2023</a:t>
            </a:fld>
            <a:endParaRPr lang="en-US"/>
          </a:p>
        </p:txBody>
      </p:sp>
      <p:sp>
        <p:nvSpPr>
          <p:cNvPr id="6" name="Footer Placeholder 5">
            <a:extLst>
              <a:ext uri="{FF2B5EF4-FFF2-40B4-BE49-F238E27FC236}">
                <a16:creationId xmlns:a16="http://schemas.microsoft.com/office/drawing/2014/main" id="{54CEC95B-EB1F-8C27-D7FF-A432D9C65E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34345C5-0B6D-55AB-B41E-F1E4729D5B71}"/>
              </a:ext>
            </a:extLst>
          </p:cNvPr>
          <p:cNvSpPr>
            <a:spLocks noGrp="1"/>
          </p:cNvSpPr>
          <p:nvPr>
            <p:ph type="sldNum" sz="quarter" idx="12"/>
          </p:nvPr>
        </p:nvSpPr>
        <p:spPr/>
        <p:txBody>
          <a:bodyPr/>
          <a:lstStyle/>
          <a:p>
            <a:fld id="{F832E252-A8EC-4132-90F3-ACD39A6B8CA5}" type="slidenum">
              <a:rPr lang="en-US" smtClean="0"/>
              <a:t>‹#›</a:t>
            </a:fld>
            <a:endParaRPr lang="en-US"/>
          </a:p>
        </p:txBody>
      </p:sp>
    </p:spTree>
    <p:extLst>
      <p:ext uri="{BB962C8B-B14F-4D97-AF65-F5344CB8AC3E}">
        <p14:creationId xmlns:p14="http://schemas.microsoft.com/office/powerpoint/2010/main" val="29106325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63C69-7B79-5385-A567-0BCD4A876CE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7FAD279-6E16-F6DA-7D6F-74C4F748983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D363F6-38D4-AD61-B706-DF382BCC01F6}"/>
              </a:ext>
            </a:extLst>
          </p:cNvPr>
          <p:cNvSpPr>
            <a:spLocks noGrp="1"/>
          </p:cNvSpPr>
          <p:nvPr>
            <p:ph type="dt" sz="half" idx="10"/>
          </p:nvPr>
        </p:nvSpPr>
        <p:spPr/>
        <p:txBody>
          <a:bodyPr/>
          <a:lstStyle/>
          <a:p>
            <a:fld id="{7298D579-427B-4E10-A41C-5CA8F67B89E8}" type="datetimeFigureOut">
              <a:rPr lang="en-US" smtClean="0"/>
              <a:t>11/24/2023</a:t>
            </a:fld>
            <a:endParaRPr lang="en-US"/>
          </a:p>
        </p:txBody>
      </p:sp>
      <p:sp>
        <p:nvSpPr>
          <p:cNvPr id="5" name="Footer Placeholder 4">
            <a:extLst>
              <a:ext uri="{FF2B5EF4-FFF2-40B4-BE49-F238E27FC236}">
                <a16:creationId xmlns:a16="http://schemas.microsoft.com/office/drawing/2014/main" id="{5ECF3C66-804A-63CB-1299-8FA759981F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71089A-3411-7C3E-C3FC-85EA7F63AB44}"/>
              </a:ext>
            </a:extLst>
          </p:cNvPr>
          <p:cNvSpPr>
            <a:spLocks noGrp="1"/>
          </p:cNvSpPr>
          <p:nvPr>
            <p:ph type="sldNum" sz="quarter" idx="12"/>
          </p:nvPr>
        </p:nvSpPr>
        <p:spPr/>
        <p:txBody>
          <a:bodyPr/>
          <a:lstStyle/>
          <a:p>
            <a:fld id="{F832E252-A8EC-4132-90F3-ACD39A6B8CA5}" type="slidenum">
              <a:rPr lang="en-US" smtClean="0"/>
              <a:t>‹#›</a:t>
            </a:fld>
            <a:endParaRPr lang="en-US"/>
          </a:p>
        </p:txBody>
      </p:sp>
    </p:spTree>
    <p:extLst>
      <p:ext uri="{BB962C8B-B14F-4D97-AF65-F5344CB8AC3E}">
        <p14:creationId xmlns:p14="http://schemas.microsoft.com/office/powerpoint/2010/main" val="20016347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95299A9-EEF5-4234-6513-DB0112FA8B9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0811DDA-6A4E-3965-EDC5-8A2C7B8B9B5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4BF18B-8CB3-7DFB-A662-8B491E02FBF1}"/>
              </a:ext>
            </a:extLst>
          </p:cNvPr>
          <p:cNvSpPr>
            <a:spLocks noGrp="1"/>
          </p:cNvSpPr>
          <p:nvPr>
            <p:ph type="dt" sz="half" idx="10"/>
          </p:nvPr>
        </p:nvSpPr>
        <p:spPr/>
        <p:txBody>
          <a:bodyPr/>
          <a:lstStyle/>
          <a:p>
            <a:fld id="{7298D579-427B-4E10-A41C-5CA8F67B89E8}" type="datetimeFigureOut">
              <a:rPr lang="en-US" smtClean="0"/>
              <a:t>11/24/2023</a:t>
            </a:fld>
            <a:endParaRPr lang="en-US"/>
          </a:p>
        </p:txBody>
      </p:sp>
      <p:sp>
        <p:nvSpPr>
          <p:cNvPr id="5" name="Footer Placeholder 4">
            <a:extLst>
              <a:ext uri="{FF2B5EF4-FFF2-40B4-BE49-F238E27FC236}">
                <a16:creationId xmlns:a16="http://schemas.microsoft.com/office/drawing/2014/main" id="{0199A679-2DAF-1EA5-C491-FEE3FD923F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C5B241-6256-02B4-C406-390EC9D27687}"/>
              </a:ext>
            </a:extLst>
          </p:cNvPr>
          <p:cNvSpPr>
            <a:spLocks noGrp="1"/>
          </p:cNvSpPr>
          <p:nvPr>
            <p:ph type="sldNum" sz="quarter" idx="12"/>
          </p:nvPr>
        </p:nvSpPr>
        <p:spPr/>
        <p:txBody>
          <a:bodyPr/>
          <a:lstStyle/>
          <a:p>
            <a:fld id="{F832E252-A8EC-4132-90F3-ACD39A6B8CA5}" type="slidenum">
              <a:rPr lang="en-US" smtClean="0"/>
              <a:t>‹#›</a:t>
            </a:fld>
            <a:endParaRPr lang="en-US"/>
          </a:p>
        </p:txBody>
      </p:sp>
    </p:spTree>
    <p:extLst>
      <p:ext uri="{BB962C8B-B14F-4D97-AF65-F5344CB8AC3E}">
        <p14:creationId xmlns:p14="http://schemas.microsoft.com/office/powerpoint/2010/main" val="37121623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A0C5F2A-4F1D-0910-0ABD-C43EEE9B26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ED26FD8-7F86-17BF-0F77-E49DB910D2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5060E1-13B3-B941-056B-69B635CD7B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98D579-427B-4E10-A41C-5CA8F67B89E8}" type="datetimeFigureOut">
              <a:rPr lang="en-US" smtClean="0"/>
              <a:t>11/24/2023</a:t>
            </a:fld>
            <a:endParaRPr lang="en-US"/>
          </a:p>
        </p:txBody>
      </p:sp>
      <p:sp>
        <p:nvSpPr>
          <p:cNvPr id="5" name="Footer Placeholder 4">
            <a:extLst>
              <a:ext uri="{FF2B5EF4-FFF2-40B4-BE49-F238E27FC236}">
                <a16:creationId xmlns:a16="http://schemas.microsoft.com/office/drawing/2014/main" id="{8784B3A6-C25C-5401-C9E5-247234B562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3DB9AD0-8ED6-9AA6-E99A-3304C9F132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32E252-A8EC-4132-90F3-ACD39A6B8CA5}" type="slidenum">
              <a:rPr lang="en-US" smtClean="0"/>
              <a:t>‹#›</a:t>
            </a:fld>
            <a:endParaRPr lang="en-US"/>
          </a:p>
        </p:txBody>
      </p:sp>
    </p:spTree>
    <p:extLst>
      <p:ext uri="{BB962C8B-B14F-4D97-AF65-F5344CB8AC3E}">
        <p14:creationId xmlns:p14="http://schemas.microsoft.com/office/powerpoint/2010/main" val="3360344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www.bilibili.com/video/BV1MV4y1777Y/?spm_id_from=333.788&amp;vd_source=a332e702ab3b304c9c53e4fad1d71aaf" TargetMode="External"/><Relationship Id="rId2" Type="http://schemas.openxmlformats.org/officeDocument/2006/relationships/hyperlink" Target="https://www.bilibili.com/video/BV1354y1v7C5/?spm_id_from=333.337.search-card.all.click&amp;vd_source=a332e702ab3b304c9c53e4fad1d71aaf" TargetMode="External"/><Relationship Id="rId1" Type="http://schemas.openxmlformats.org/officeDocument/2006/relationships/slideLayout" Target="../slideLayouts/slideLayout2.xml"/><Relationship Id="rId6" Type="http://schemas.openxmlformats.org/officeDocument/2006/relationships/hyperlink" Target="https://www.bilibili.com/video/BV1C7411C7ez/?vd_source=a332e702ab3b304c9c53e4fad1d71aaf" TargetMode="External"/><Relationship Id="rId5" Type="http://schemas.openxmlformats.org/officeDocument/2006/relationships/hyperlink" Target="https://www.bilibili.com/video/BV1ig4y1j7eC/?spm_id_from=333.337.search-card.all.click&amp;vd_source=a332e702ab3b304c9c53e4fad1d71aaf" TargetMode="External"/><Relationship Id="rId4" Type="http://schemas.openxmlformats.org/officeDocument/2006/relationships/hyperlink" Target="https://zhuanlan.zhihu.com/p/397392754" TargetMode="Externa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hyperlink" Target="https://support.10xgenomics.com/single-cell-atac/datasets/1.0.1/atac_v1_pbmc_10k" TargetMode="External"/></Relationships>
</file>

<file path=ppt/slides/_rels/slide4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4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hyperlink" Target="https://support.10xgenomics.com/single-cell-atac/software/pipelines/latest/output/singlecell" TargetMode="External"/></Relationships>
</file>

<file path=ppt/slides/_rels/slide49.xml.rels><?xml version="1.0" encoding="UTF-8" standalone="yes"?>
<Relationships xmlns="http://schemas.openxmlformats.org/package/2006/relationships"><Relationship Id="rId3" Type="http://schemas.openxmlformats.org/officeDocument/2006/relationships/hyperlink" Target="https://support.10xgenomics.com/single-cell-atac/software/pipelines/latest/output/singlecell" TargetMode="External"/><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5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5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5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hyperlink" Target="https://www.bilibili.com/read/cv19378851/" TargetMode="External"/><Relationship Id="rId2" Type="http://schemas.openxmlformats.org/officeDocument/2006/relationships/hyperlink" Target="https://zhuanlan.zhihu.com/p/378365295" TargetMode="External"/><Relationship Id="rId1" Type="http://schemas.openxmlformats.org/officeDocument/2006/relationships/slideLayout" Target="../slideLayouts/slideLayout2.xml"/><Relationship Id="rId5" Type="http://schemas.openxmlformats.org/officeDocument/2006/relationships/hyperlink" Target="https://blog.csdn.net/qq_52813185/article/details/129339904" TargetMode="External"/><Relationship Id="rId4" Type="http://schemas.openxmlformats.org/officeDocument/2006/relationships/hyperlink" Target="https://blog.csdn.net/u011299561/article/details/132327961" TargetMode="External"/></Relationships>
</file>

<file path=ppt/slides/_rels/slide70.xml.rels><?xml version="1.0" encoding="UTF-8" standalone="yes"?>
<Relationships xmlns="http://schemas.openxmlformats.org/package/2006/relationships"><Relationship Id="rId2" Type="http://schemas.openxmlformats.org/officeDocument/2006/relationships/hyperlink" Target="https://www.bilibili.com/video/BV1br4y1x7Hf/?p=7&amp;spm_id_from=pageDriver&amp;vd_source=a332e702ab3b304c9c53e4fad1d71aaf"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D4E17C4-40C8-990A-DEF5-62E466F8EE4B}"/>
              </a:ext>
            </a:extLst>
          </p:cNvPr>
          <p:cNvSpPr>
            <a:spLocks noGrp="1"/>
          </p:cNvSpPr>
          <p:nvPr>
            <p:ph type="ctrTitle"/>
          </p:nvPr>
        </p:nvSpPr>
        <p:spPr>
          <a:xfrm>
            <a:off x="1524000" y="2534855"/>
            <a:ext cx="9144000" cy="975107"/>
          </a:xfrm>
        </p:spPr>
        <p:txBody>
          <a:bodyPr/>
          <a:lstStyle/>
          <a:p>
            <a:r>
              <a:rPr lang="en-US" altLang="zh-TW" dirty="0"/>
              <a:t>Progress Report</a:t>
            </a:r>
            <a:endParaRPr lang="en-US" dirty="0"/>
          </a:p>
        </p:txBody>
      </p:sp>
      <p:sp>
        <p:nvSpPr>
          <p:cNvPr id="5" name="Subtitle 2">
            <a:extLst>
              <a:ext uri="{FF2B5EF4-FFF2-40B4-BE49-F238E27FC236}">
                <a16:creationId xmlns:a16="http://schemas.microsoft.com/office/drawing/2014/main" id="{38B01626-1B31-0D9C-EA4F-B86F9100C0DD}"/>
              </a:ext>
            </a:extLst>
          </p:cNvPr>
          <p:cNvSpPr>
            <a:spLocks noGrp="1"/>
          </p:cNvSpPr>
          <p:nvPr>
            <p:ph type="subTitle" idx="1"/>
          </p:nvPr>
        </p:nvSpPr>
        <p:spPr>
          <a:xfrm>
            <a:off x="1524000" y="3602038"/>
            <a:ext cx="9144000" cy="1655762"/>
          </a:xfrm>
        </p:spPr>
        <p:txBody>
          <a:bodyPr/>
          <a:lstStyle/>
          <a:p>
            <a:r>
              <a:rPr lang="en-US" sz="3200" dirty="0"/>
              <a:t>Chen, Yi Jie</a:t>
            </a:r>
          </a:p>
          <a:p>
            <a:r>
              <a:rPr lang="en-US" dirty="0"/>
              <a:t>2023.11.24</a:t>
            </a:r>
          </a:p>
          <a:p>
            <a:endParaRPr lang="en-US" dirty="0"/>
          </a:p>
        </p:txBody>
      </p:sp>
    </p:spTree>
    <p:extLst>
      <p:ext uri="{BB962C8B-B14F-4D97-AF65-F5344CB8AC3E}">
        <p14:creationId xmlns:p14="http://schemas.microsoft.com/office/powerpoint/2010/main" val="9887259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834DF-4DB7-7FDC-A51C-46A8D7CEAE9C}"/>
              </a:ext>
            </a:extLst>
          </p:cNvPr>
          <p:cNvSpPr>
            <a:spLocks noGrp="1"/>
          </p:cNvSpPr>
          <p:nvPr>
            <p:ph type="title"/>
          </p:nvPr>
        </p:nvSpPr>
        <p:spPr/>
        <p:txBody>
          <a:bodyPr/>
          <a:lstStyle/>
          <a:p>
            <a:r>
              <a:rPr lang="zh-TW" altLang="en-US" dirty="0"/>
              <a:t>問題</a:t>
            </a:r>
            <a:endParaRPr lang="en-US" dirty="0"/>
          </a:p>
        </p:txBody>
      </p:sp>
      <p:sp>
        <p:nvSpPr>
          <p:cNvPr id="3" name="Content Placeholder 2">
            <a:extLst>
              <a:ext uri="{FF2B5EF4-FFF2-40B4-BE49-F238E27FC236}">
                <a16:creationId xmlns:a16="http://schemas.microsoft.com/office/drawing/2014/main" id="{1EEBE0FE-5EA0-D1C0-F043-D5D352DDDCA0}"/>
              </a:ext>
            </a:extLst>
          </p:cNvPr>
          <p:cNvSpPr>
            <a:spLocks noGrp="1"/>
          </p:cNvSpPr>
          <p:nvPr>
            <p:ph idx="1"/>
          </p:nvPr>
        </p:nvSpPr>
        <p:spPr/>
        <p:txBody>
          <a:bodyPr/>
          <a:lstStyle/>
          <a:p>
            <a:pPr marL="0" indent="0">
              <a:buNone/>
            </a:pPr>
            <a:r>
              <a:rPr lang="en-US" altLang="zh-TW" dirty="0"/>
              <a:t>- </a:t>
            </a:r>
            <a:r>
              <a:rPr lang="zh-TW" altLang="en-US" dirty="0"/>
              <a:t>會有同一類群分屬在圖片兩地的情形</a:t>
            </a:r>
            <a:endParaRPr lang="en-US" altLang="zh-TW" dirty="0"/>
          </a:p>
          <a:p>
            <a:pPr marL="0" indent="0">
              <a:buNone/>
            </a:pPr>
            <a:r>
              <a:rPr lang="en-US" dirty="0"/>
              <a:t>	=&gt; </a:t>
            </a:r>
            <a:r>
              <a:rPr lang="en-US" altLang="zh-TW" dirty="0"/>
              <a:t>Cell</a:t>
            </a:r>
            <a:r>
              <a:rPr lang="zh-TW" altLang="en-US" dirty="0"/>
              <a:t> </a:t>
            </a:r>
            <a:r>
              <a:rPr lang="en-US" altLang="zh-TW" dirty="0"/>
              <a:t>Annotation</a:t>
            </a:r>
            <a:r>
              <a:rPr lang="zh-TW" altLang="en-US" dirty="0"/>
              <a:t> 做的不夠精細？</a:t>
            </a:r>
            <a:endParaRPr lang="en-US" altLang="zh-TW" dirty="0"/>
          </a:p>
          <a:p>
            <a:pPr marL="0" indent="0">
              <a:buNone/>
            </a:pPr>
            <a:endParaRPr lang="en-US" dirty="0"/>
          </a:p>
        </p:txBody>
      </p:sp>
    </p:spTree>
    <p:extLst>
      <p:ext uri="{BB962C8B-B14F-4D97-AF65-F5344CB8AC3E}">
        <p14:creationId xmlns:p14="http://schemas.microsoft.com/office/powerpoint/2010/main" val="37215847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940242B-31D4-FF0D-EBED-51DCFABB516E}"/>
              </a:ext>
            </a:extLst>
          </p:cNvPr>
          <p:cNvSpPr>
            <a:spLocks noGrp="1"/>
          </p:cNvSpPr>
          <p:nvPr>
            <p:ph type="title"/>
          </p:nvPr>
        </p:nvSpPr>
        <p:spPr>
          <a:xfrm>
            <a:off x="838200" y="365125"/>
            <a:ext cx="10515600" cy="1325563"/>
          </a:xfrm>
        </p:spPr>
        <p:txBody>
          <a:bodyPr/>
          <a:lstStyle/>
          <a:p>
            <a:r>
              <a:rPr lang="en-US" dirty="0"/>
              <a:t>Outline</a:t>
            </a:r>
          </a:p>
        </p:txBody>
      </p:sp>
      <p:sp>
        <p:nvSpPr>
          <p:cNvPr id="5" name="Content Placeholder 2">
            <a:extLst>
              <a:ext uri="{FF2B5EF4-FFF2-40B4-BE49-F238E27FC236}">
                <a16:creationId xmlns:a16="http://schemas.microsoft.com/office/drawing/2014/main" id="{14DECE67-ADAF-59EB-60F5-B89541557492}"/>
              </a:ext>
            </a:extLst>
          </p:cNvPr>
          <p:cNvSpPr>
            <a:spLocks noGrp="1"/>
          </p:cNvSpPr>
          <p:nvPr>
            <p:ph idx="1"/>
          </p:nvPr>
        </p:nvSpPr>
        <p:spPr>
          <a:xfrm>
            <a:off x="838200" y="1825625"/>
            <a:ext cx="10515600" cy="4351338"/>
          </a:xfrm>
        </p:spPr>
        <p:txBody>
          <a:bodyPr/>
          <a:lstStyle/>
          <a:p>
            <a:pPr>
              <a:lnSpc>
                <a:spcPct val="150000"/>
              </a:lnSpc>
            </a:pPr>
            <a:r>
              <a:rPr lang="en-US" altLang="zh-TW" sz="3200" dirty="0"/>
              <a:t>(</a:t>
            </a:r>
            <a:r>
              <a:rPr lang="zh-TW" altLang="en-US" sz="3200" dirty="0"/>
              <a:t>收尾</a:t>
            </a:r>
            <a:r>
              <a:rPr lang="en-US" altLang="zh-TW" sz="3200" dirty="0"/>
              <a:t>)</a:t>
            </a:r>
            <a:r>
              <a:rPr lang="zh-TW" altLang="en-US" sz="3200" dirty="0"/>
              <a:t> </a:t>
            </a:r>
            <a:r>
              <a:rPr lang="en-US" altLang="zh-TW" sz="3200" dirty="0"/>
              <a:t>Monocle2 Cell Annotation</a:t>
            </a:r>
          </a:p>
          <a:p>
            <a:pPr>
              <a:lnSpc>
                <a:spcPct val="150000"/>
              </a:lnSpc>
            </a:pPr>
            <a:r>
              <a:rPr lang="en-US" altLang="zh-TW" sz="3200" dirty="0"/>
              <a:t>SIMBA</a:t>
            </a:r>
            <a:r>
              <a:rPr lang="zh-TW" altLang="en-US" sz="3200" dirty="0"/>
              <a:t> </a:t>
            </a:r>
            <a:r>
              <a:rPr lang="en-US" altLang="zh-TW" sz="3200" dirty="0"/>
              <a:t>Running</a:t>
            </a:r>
          </a:p>
          <a:p>
            <a:pPr>
              <a:lnSpc>
                <a:spcPct val="150000"/>
              </a:lnSpc>
            </a:pPr>
            <a:r>
              <a:rPr lang="en-US" sz="3200" dirty="0" err="1"/>
              <a:t>scATAC</a:t>
            </a:r>
            <a:r>
              <a:rPr lang="en-US" sz="3200" dirty="0"/>
              <a:t> Analysis</a:t>
            </a:r>
            <a:endParaRPr lang="en-US" altLang="zh-TW" sz="3200" dirty="0"/>
          </a:p>
          <a:p>
            <a:pPr>
              <a:lnSpc>
                <a:spcPct val="150000"/>
              </a:lnSpc>
            </a:pPr>
            <a:r>
              <a:rPr lang="en-US" sz="3200" dirty="0"/>
              <a:t>Future Work</a:t>
            </a:r>
          </a:p>
          <a:p>
            <a:pPr marL="0" indent="0">
              <a:buNone/>
            </a:pPr>
            <a:endParaRPr lang="en-US" dirty="0"/>
          </a:p>
          <a:p>
            <a:endParaRPr lang="en-US" dirty="0"/>
          </a:p>
        </p:txBody>
      </p:sp>
    </p:spTree>
    <p:extLst>
      <p:ext uri="{BB962C8B-B14F-4D97-AF65-F5344CB8AC3E}">
        <p14:creationId xmlns:p14="http://schemas.microsoft.com/office/powerpoint/2010/main" val="27356366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C89D6-BD69-F1A9-B2E6-DDD0DF542005}"/>
              </a:ext>
            </a:extLst>
          </p:cNvPr>
          <p:cNvSpPr>
            <a:spLocks noGrp="1"/>
          </p:cNvSpPr>
          <p:nvPr>
            <p:ph type="title"/>
          </p:nvPr>
        </p:nvSpPr>
        <p:spPr>
          <a:xfrm>
            <a:off x="3242821" y="2766218"/>
            <a:ext cx="5128181" cy="1325563"/>
          </a:xfrm>
        </p:spPr>
        <p:txBody>
          <a:bodyPr/>
          <a:lstStyle/>
          <a:p>
            <a:pPr algn="ctr"/>
            <a:r>
              <a:rPr lang="en-US" dirty="0"/>
              <a:t>Monocle </a:t>
            </a:r>
            <a:r>
              <a:rPr lang="zh-TW" altLang="en-US" dirty="0"/>
              <a:t>後續分析</a:t>
            </a:r>
            <a:endParaRPr lang="en-US" dirty="0"/>
          </a:p>
        </p:txBody>
      </p:sp>
    </p:spTree>
    <p:extLst>
      <p:ext uri="{BB962C8B-B14F-4D97-AF65-F5344CB8AC3E}">
        <p14:creationId xmlns:p14="http://schemas.microsoft.com/office/powerpoint/2010/main" val="29505060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CCF5B04-3B5B-D6D3-1C36-73C7F7DD2EC0}"/>
              </a:ext>
            </a:extLst>
          </p:cNvPr>
          <p:cNvPicPr>
            <a:picLocks noChangeAspect="1"/>
          </p:cNvPicPr>
          <p:nvPr/>
        </p:nvPicPr>
        <p:blipFill>
          <a:blip r:embed="rId3"/>
          <a:stretch>
            <a:fillRect/>
          </a:stretch>
        </p:blipFill>
        <p:spPr>
          <a:xfrm>
            <a:off x="2966244" y="970383"/>
            <a:ext cx="8664532" cy="5441326"/>
          </a:xfrm>
          <a:prstGeom prst="rect">
            <a:avLst/>
          </a:prstGeom>
        </p:spPr>
      </p:pic>
      <p:sp>
        <p:nvSpPr>
          <p:cNvPr id="6" name="Title 1">
            <a:extLst>
              <a:ext uri="{FF2B5EF4-FFF2-40B4-BE49-F238E27FC236}">
                <a16:creationId xmlns:a16="http://schemas.microsoft.com/office/drawing/2014/main" id="{F10BC664-4F51-2699-F792-2A48DB07139D}"/>
              </a:ext>
            </a:extLst>
          </p:cNvPr>
          <p:cNvSpPr>
            <a:spLocks noGrp="1"/>
          </p:cNvSpPr>
          <p:nvPr>
            <p:ph type="title"/>
          </p:nvPr>
        </p:nvSpPr>
        <p:spPr>
          <a:xfrm>
            <a:off x="269034" y="2881579"/>
            <a:ext cx="2240902" cy="869327"/>
          </a:xfrm>
        </p:spPr>
        <p:txBody>
          <a:bodyPr>
            <a:normAutofit/>
          </a:bodyPr>
          <a:lstStyle/>
          <a:p>
            <a:r>
              <a:rPr lang="en-US" sz="3200" b="1" dirty="0" err="1"/>
              <a:t>plot_cluster</a:t>
            </a:r>
            <a:endParaRPr lang="en-US" sz="3200" b="1" dirty="0"/>
          </a:p>
        </p:txBody>
      </p:sp>
    </p:spTree>
    <p:extLst>
      <p:ext uri="{BB962C8B-B14F-4D97-AF65-F5344CB8AC3E}">
        <p14:creationId xmlns:p14="http://schemas.microsoft.com/office/powerpoint/2010/main" val="8095388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015F4B2A-2137-54CD-E2E7-36AFE82F0336}"/>
              </a:ext>
            </a:extLst>
          </p:cNvPr>
          <p:cNvGrpSpPr/>
          <p:nvPr/>
        </p:nvGrpSpPr>
        <p:grpSpPr>
          <a:xfrm>
            <a:off x="-1058610" y="2275589"/>
            <a:ext cx="6796060" cy="1457237"/>
            <a:chOff x="621777" y="1836469"/>
            <a:chExt cx="6096528" cy="1219306"/>
          </a:xfrm>
        </p:grpSpPr>
        <p:pic>
          <p:nvPicPr>
            <p:cNvPr id="5" name="Picture 4">
              <a:extLst>
                <a:ext uri="{FF2B5EF4-FFF2-40B4-BE49-F238E27FC236}">
                  <a16:creationId xmlns:a16="http://schemas.microsoft.com/office/drawing/2014/main" id="{12D37996-4606-04A3-BF89-7ED9CCABA0C0}"/>
                </a:ext>
              </a:extLst>
            </p:cNvPr>
            <p:cNvPicPr>
              <a:picLocks noChangeAspect="1"/>
            </p:cNvPicPr>
            <p:nvPr/>
          </p:nvPicPr>
          <p:blipFill>
            <a:blip r:embed="rId2"/>
            <a:stretch>
              <a:fillRect/>
            </a:stretch>
          </p:blipFill>
          <p:spPr>
            <a:xfrm>
              <a:off x="621777" y="1836469"/>
              <a:ext cx="6096528" cy="1219306"/>
            </a:xfrm>
            <a:prstGeom prst="rect">
              <a:avLst/>
            </a:prstGeom>
          </p:spPr>
        </p:pic>
        <p:sp>
          <p:nvSpPr>
            <p:cNvPr id="6" name="Rectangle 5">
              <a:extLst>
                <a:ext uri="{FF2B5EF4-FFF2-40B4-BE49-F238E27FC236}">
                  <a16:creationId xmlns:a16="http://schemas.microsoft.com/office/drawing/2014/main" id="{F54979AA-1EAC-9B40-55D9-255598A0D432}"/>
                </a:ext>
              </a:extLst>
            </p:cNvPr>
            <p:cNvSpPr/>
            <p:nvPr/>
          </p:nvSpPr>
          <p:spPr>
            <a:xfrm>
              <a:off x="5439747" y="2156873"/>
              <a:ext cx="656253" cy="289249"/>
            </a:xfrm>
            <a:prstGeom prst="rect">
              <a:avLst/>
            </a:prstGeom>
            <a:noFill/>
            <a:ln w="28575">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4" name="TextBox 3">
            <a:extLst>
              <a:ext uri="{FF2B5EF4-FFF2-40B4-BE49-F238E27FC236}">
                <a16:creationId xmlns:a16="http://schemas.microsoft.com/office/drawing/2014/main" id="{5C0A057C-7FE5-A081-2537-3EE1A546CCBF}"/>
              </a:ext>
            </a:extLst>
          </p:cNvPr>
          <p:cNvSpPr txBox="1"/>
          <p:nvPr/>
        </p:nvSpPr>
        <p:spPr>
          <a:xfrm>
            <a:off x="371356" y="901149"/>
            <a:ext cx="5724644" cy="879151"/>
          </a:xfrm>
          <a:prstGeom prst="rect">
            <a:avLst/>
          </a:prstGeom>
          <a:noFill/>
        </p:spPr>
        <p:txBody>
          <a:bodyPr wrap="none" rtlCol="0">
            <a:spAutoFit/>
          </a:bodyPr>
          <a:lstStyle/>
          <a:p>
            <a:pPr>
              <a:lnSpc>
                <a:spcPct val="150000"/>
              </a:lnSpc>
            </a:pPr>
            <a:r>
              <a:rPr lang="zh-TW" altLang="en-US" dirty="0"/>
              <a:t>如果要可視化單一個基因在整個細胞分類群中的表現量</a:t>
            </a:r>
            <a:endParaRPr lang="en-US" altLang="zh-TW" dirty="0"/>
          </a:p>
          <a:p>
            <a:pPr>
              <a:lnSpc>
                <a:spcPct val="150000"/>
              </a:lnSpc>
            </a:pPr>
            <a:r>
              <a:rPr lang="zh-TW" altLang="en-US" dirty="0"/>
              <a:t>比如：</a:t>
            </a:r>
            <a:r>
              <a:rPr lang="en-US" altLang="zh-TW" dirty="0"/>
              <a:t>DCT</a:t>
            </a:r>
            <a:endParaRPr lang="en-US" dirty="0"/>
          </a:p>
        </p:txBody>
      </p:sp>
      <p:pic>
        <p:nvPicPr>
          <p:cNvPr id="7" name="Picture 6">
            <a:extLst>
              <a:ext uri="{FF2B5EF4-FFF2-40B4-BE49-F238E27FC236}">
                <a16:creationId xmlns:a16="http://schemas.microsoft.com/office/drawing/2014/main" id="{EB61277B-6AD4-2274-DB9E-039418F3EDF2}"/>
              </a:ext>
            </a:extLst>
          </p:cNvPr>
          <p:cNvPicPr>
            <a:picLocks noChangeAspect="1"/>
          </p:cNvPicPr>
          <p:nvPr/>
        </p:nvPicPr>
        <p:blipFill rotWithShape="1">
          <a:blip r:embed="rId3"/>
          <a:srcRect r="51010"/>
          <a:stretch/>
        </p:blipFill>
        <p:spPr>
          <a:xfrm>
            <a:off x="5928810" y="279400"/>
            <a:ext cx="5972783" cy="6299200"/>
          </a:xfrm>
          <a:prstGeom prst="rect">
            <a:avLst/>
          </a:prstGeom>
        </p:spPr>
      </p:pic>
    </p:spTree>
    <p:extLst>
      <p:ext uri="{BB962C8B-B14F-4D97-AF65-F5344CB8AC3E}">
        <p14:creationId xmlns:p14="http://schemas.microsoft.com/office/powerpoint/2010/main" val="37080082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ED35F-E184-4CB9-8A7B-148353CBEB6A}"/>
              </a:ext>
            </a:extLst>
          </p:cNvPr>
          <p:cNvSpPr>
            <a:spLocks noGrp="1"/>
          </p:cNvSpPr>
          <p:nvPr>
            <p:ph type="title"/>
          </p:nvPr>
        </p:nvSpPr>
        <p:spPr>
          <a:xfrm>
            <a:off x="530290" y="365125"/>
            <a:ext cx="4816151" cy="717226"/>
          </a:xfrm>
        </p:spPr>
        <p:txBody>
          <a:bodyPr/>
          <a:lstStyle/>
          <a:p>
            <a:r>
              <a:rPr lang="en-US" altLang="zh-TW" dirty="0"/>
              <a:t>Monocle vs. Seurat</a:t>
            </a:r>
            <a:endParaRPr lang="en-US" dirty="0"/>
          </a:p>
        </p:txBody>
      </p:sp>
      <p:pic>
        <p:nvPicPr>
          <p:cNvPr id="5" name="Picture 4">
            <a:extLst>
              <a:ext uri="{FF2B5EF4-FFF2-40B4-BE49-F238E27FC236}">
                <a16:creationId xmlns:a16="http://schemas.microsoft.com/office/drawing/2014/main" id="{3B57EB4D-ABC1-0A6D-68F2-9E041D5DD0DA}"/>
              </a:ext>
            </a:extLst>
          </p:cNvPr>
          <p:cNvPicPr>
            <a:picLocks noChangeAspect="1"/>
          </p:cNvPicPr>
          <p:nvPr/>
        </p:nvPicPr>
        <p:blipFill>
          <a:blip r:embed="rId3"/>
          <a:stretch>
            <a:fillRect/>
          </a:stretch>
        </p:blipFill>
        <p:spPr>
          <a:xfrm>
            <a:off x="653142" y="1227508"/>
            <a:ext cx="10608906" cy="5265367"/>
          </a:xfrm>
          <a:prstGeom prst="rect">
            <a:avLst/>
          </a:prstGeom>
        </p:spPr>
      </p:pic>
      <p:pic>
        <p:nvPicPr>
          <p:cNvPr id="3" name="Picture 2">
            <a:extLst>
              <a:ext uri="{FF2B5EF4-FFF2-40B4-BE49-F238E27FC236}">
                <a16:creationId xmlns:a16="http://schemas.microsoft.com/office/drawing/2014/main" id="{9C6823D8-DB0C-D1FE-7585-4F7C99A10BC8}"/>
              </a:ext>
            </a:extLst>
          </p:cNvPr>
          <p:cNvPicPr>
            <a:picLocks noChangeAspect="1"/>
          </p:cNvPicPr>
          <p:nvPr/>
        </p:nvPicPr>
        <p:blipFill>
          <a:blip r:embed="rId4"/>
          <a:stretch>
            <a:fillRect/>
          </a:stretch>
        </p:blipFill>
        <p:spPr>
          <a:xfrm>
            <a:off x="5577299" y="285344"/>
            <a:ext cx="7483498" cy="1107299"/>
          </a:xfrm>
          <a:prstGeom prst="rect">
            <a:avLst/>
          </a:prstGeom>
        </p:spPr>
      </p:pic>
      <p:sp>
        <p:nvSpPr>
          <p:cNvPr id="4" name="Title 1">
            <a:extLst>
              <a:ext uri="{FF2B5EF4-FFF2-40B4-BE49-F238E27FC236}">
                <a16:creationId xmlns:a16="http://schemas.microsoft.com/office/drawing/2014/main" id="{62BA0317-5BB9-785D-D207-F3747D4AAF2B}"/>
              </a:ext>
            </a:extLst>
          </p:cNvPr>
          <p:cNvSpPr txBox="1">
            <a:spLocks/>
          </p:cNvSpPr>
          <p:nvPr/>
        </p:nvSpPr>
        <p:spPr>
          <a:xfrm>
            <a:off x="9202540" y="1537800"/>
            <a:ext cx="3534937" cy="735654"/>
          </a:xfrm>
          <a:prstGeom prst="rect">
            <a:avLst/>
          </a:prstGeom>
        </p:spPr>
        <p:txBody>
          <a:bodyPr vert="horz" lIns="91440" tIns="45720" rIns="91440" bIns="45720" rtlCol="0" anchor="ctr">
            <a:normAutofit fontScale="7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sz="2000" dirty="0" err="1"/>
              <a:t>Show_cell_names</a:t>
            </a:r>
            <a:r>
              <a:rPr lang="en-US" sz="2000" dirty="0"/>
              <a:t> = T </a:t>
            </a:r>
            <a:r>
              <a:rPr lang="zh-TW" altLang="en-US" sz="2000" dirty="0"/>
              <a:t>失效了</a:t>
            </a:r>
            <a:br>
              <a:rPr lang="en-US" altLang="zh-TW" sz="2000" dirty="0"/>
            </a:br>
            <a:r>
              <a:rPr lang="en-US" altLang="zh-TW" sz="2000" dirty="0"/>
              <a:t>(</a:t>
            </a:r>
            <a:r>
              <a:rPr lang="zh-TW" altLang="en-US" sz="2000" dirty="0"/>
              <a:t>原本應該要是可以把細胞標出來</a:t>
            </a:r>
            <a:r>
              <a:rPr lang="en-US" altLang="zh-TW" sz="2000" dirty="0"/>
              <a:t>)</a:t>
            </a:r>
            <a:endParaRPr lang="en-US" sz="2000" dirty="0"/>
          </a:p>
        </p:txBody>
      </p:sp>
      <p:cxnSp>
        <p:nvCxnSpPr>
          <p:cNvPr id="7" name="Straight Arrow Connector 6">
            <a:extLst>
              <a:ext uri="{FF2B5EF4-FFF2-40B4-BE49-F238E27FC236}">
                <a16:creationId xmlns:a16="http://schemas.microsoft.com/office/drawing/2014/main" id="{5285CB0C-41CC-8E85-DA03-9D3737C58971}"/>
              </a:ext>
            </a:extLst>
          </p:cNvPr>
          <p:cNvCxnSpPr>
            <a:cxnSpLocks/>
          </p:cNvCxnSpPr>
          <p:nvPr/>
        </p:nvCxnSpPr>
        <p:spPr>
          <a:xfrm flipH="1">
            <a:off x="4815191" y="1082351"/>
            <a:ext cx="3278222" cy="1534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76708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8D9C1-F5D3-64FC-3904-25BCAB8646CE}"/>
              </a:ext>
            </a:extLst>
          </p:cNvPr>
          <p:cNvSpPr>
            <a:spLocks noGrp="1"/>
          </p:cNvSpPr>
          <p:nvPr>
            <p:ph type="title"/>
          </p:nvPr>
        </p:nvSpPr>
        <p:spPr>
          <a:xfrm>
            <a:off x="838200" y="365126"/>
            <a:ext cx="3379237" cy="838524"/>
          </a:xfrm>
        </p:spPr>
        <p:txBody>
          <a:bodyPr>
            <a:normAutofit/>
          </a:bodyPr>
          <a:lstStyle/>
          <a:p>
            <a:r>
              <a:rPr lang="zh-TW" altLang="en-US" sz="3600" dirty="0"/>
              <a:t>分群展示</a:t>
            </a:r>
            <a:endParaRPr lang="en-US" sz="3600" dirty="0"/>
          </a:p>
        </p:txBody>
      </p:sp>
      <p:pic>
        <p:nvPicPr>
          <p:cNvPr id="5" name="Picture 4">
            <a:extLst>
              <a:ext uri="{FF2B5EF4-FFF2-40B4-BE49-F238E27FC236}">
                <a16:creationId xmlns:a16="http://schemas.microsoft.com/office/drawing/2014/main" id="{58076A40-3E08-76CA-7C37-7449DBC60BA2}"/>
              </a:ext>
            </a:extLst>
          </p:cNvPr>
          <p:cNvPicPr>
            <a:picLocks noChangeAspect="1"/>
          </p:cNvPicPr>
          <p:nvPr/>
        </p:nvPicPr>
        <p:blipFill>
          <a:blip r:embed="rId3"/>
          <a:stretch>
            <a:fillRect/>
          </a:stretch>
        </p:blipFill>
        <p:spPr>
          <a:xfrm>
            <a:off x="744892" y="1531898"/>
            <a:ext cx="10188215" cy="4850241"/>
          </a:xfrm>
          <a:prstGeom prst="rect">
            <a:avLst/>
          </a:prstGeom>
        </p:spPr>
      </p:pic>
    </p:spTree>
    <p:extLst>
      <p:ext uri="{BB962C8B-B14F-4D97-AF65-F5344CB8AC3E}">
        <p14:creationId xmlns:p14="http://schemas.microsoft.com/office/powerpoint/2010/main" val="2729493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239836A-160B-8327-1D42-B729B4B5306B}"/>
              </a:ext>
            </a:extLst>
          </p:cNvPr>
          <p:cNvPicPr>
            <a:picLocks noGrp="1" noChangeAspect="1"/>
          </p:cNvPicPr>
          <p:nvPr>
            <p:ph idx="1"/>
          </p:nvPr>
        </p:nvPicPr>
        <p:blipFill>
          <a:blip r:embed="rId3"/>
          <a:stretch>
            <a:fillRect/>
          </a:stretch>
        </p:blipFill>
        <p:spPr>
          <a:xfrm>
            <a:off x="1035699" y="1592268"/>
            <a:ext cx="10433794" cy="4967152"/>
          </a:xfrm>
          <a:prstGeom prst="rect">
            <a:avLst/>
          </a:prstGeom>
        </p:spPr>
      </p:pic>
    </p:spTree>
    <p:extLst>
      <p:ext uri="{BB962C8B-B14F-4D97-AF65-F5344CB8AC3E}">
        <p14:creationId xmlns:p14="http://schemas.microsoft.com/office/powerpoint/2010/main" val="25149244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9CCED1D-4AD4-0FC9-7980-5F3DE8C9AE21}"/>
              </a:ext>
            </a:extLst>
          </p:cNvPr>
          <p:cNvPicPr>
            <a:picLocks noGrp="1" noChangeAspect="1"/>
          </p:cNvPicPr>
          <p:nvPr>
            <p:ph idx="1"/>
          </p:nvPr>
        </p:nvPicPr>
        <p:blipFill>
          <a:blip r:embed="rId3"/>
          <a:stretch>
            <a:fillRect/>
          </a:stretch>
        </p:blipFill>
        <p:spPr>
          <a:xfrm>
            <a:off x="849123" y="133961"/>
            <a:ext cx="10493754" cy="6590078"/>
          </a:xfrm>
          <a:prstGeom prst="rect">
            <a:avLst/>
          </a:prstGeom>
        </p:spPr>
      </p:pic>
    </p:spTree>
    <p:extLst>
      <p:ext uri="{BB962C8B-B14F-4D97-AF65-F5344CB8AC3E}">
        <p14:creationId xmlns:p14="http://schemas.microsoft.com/office/powerpoint/2010/main" val="17541559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4EFAC58-A9DE-C3B1-D3DD-E2269B93467E}"/>
              </a:ext>
            </a:extLst>
          </p:cNvPr>
          <p:cNvPicPr>
            <a:picLocks noGrp="1" noChangeAspect="1"/>
          </p:cNvPicPr>
          <p:nvPr>
            <p:ph idx="1"/>
          </p:nvPr>
        </p:nvPicPr>
        <p:blipFill>
          <a:blip r:embed="rId3"/>
          <a:stretch>
            <a:fillRect/>
          </a:stretch>
        </p:blipFill>
        <p:spPr>
          <a:xfrm>
            <a:off x="841288" y="129041"/>
            <a:ext cx="10509423" cy="6599918"/>
          </a:xfrm>
          <a:prstGeom prst="rect">
            <a:avLst/>
          </a:prstGeom>
        </p:spPr>
      </p:pic>
    </p:spTree>
    <p:extLst>
      <p:ext uri="{BB962C8B-B14F-4D97-AF65-F5344CB8AC3E}">
        <p14:creationId xmlns:p14="http://schemas.microsoft.com/office/powerpoint/2010/main" val="42524412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43CDB36-DA6B-B2B1-5550-DAAD7A2C01DC}"/>
              </a:ext>
            </a:extLst>
          </p:cNvPr>
          <p:cNvPicPr>
            <a:picLocks noChangeAspect="1"/>
          </p:cNvPicPr>
          <p:nvPr/>
        </p:nvPicPr>
        <p:blipFill>
          <a:blip r:embed="rId3"/>
          <a:stretch>
            <a:fillRect/>
          </a:stretch>
        </p:blipFill>
        <p:spPr>
          <a:xfrm>
            <a:off x="635809" y="0"/>
            <a:ext cx="10920382" cy="6858000"/>
          </a:xfrm>
          <a:prstGeom prst="rect">
            <a:avLst/>
          </a:prstGeom>
        </p:spPr>
      </p:pic>
    </p:spTree>
    <p:extLst>
      <p:ext uri="{BB962C8B-B14F-4D97-AF65-F5344CB8AC3E}">
        <p14:creationId xmlns:p14="http://schemas.microsoft.com/office/powerpoint/2010/main" val="38023320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C80BCF9-950A-B194-383A-4873D55CF230}"/>
              </a:ext>
            </a:extLst>
          </p:cNvPr>
          <p:cNvPicPr>
            <a:picLocks noChangeAspect="1"/>
          </p:cNvPicPr>
          <p:nvPr/>
        </p:nvPicPr>
        <p:blipFill>
          <a:blip r:embed="rId3"/>
          <a:stretch>
            <a:fillRect/>
          </a:stretch>
        </p:blipFill>
        <p:spPr>
          <a:xfrm>
            <a:off x="635809" y="0"/>
            <a:ext cx="10920382" cy="6858000"/>
          </a:xfrm>
          <a:prstGeom prst="rect">
            <a:avLst/>
          </a:prstGeom>
        </p:spPr>
      </p:pic>
    </p:spTree>
    <p:extLst>
      <p:ext uri="{BB962C8B-B14F-4D97-AF65-F5344CB8AC3E}">
        <p14:creationId xmlns:p14="http://schemas.microsoft.com/office/powerpoint/2010/main" val="21237703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02A69FC-5433-A54F-B022-26883946030B}"/>
              </a:ext>
            </a:extLst>
          </p:cNvPr>
          <p:cNvPicPr>
            <a:picLocks noChangeAspect="1"/>
          </p:cNvPicPr>
          <p:nvPr/>
        </p:nvPicPr>
        <p:blipFill>
          <a:blip r:embed="rId3"/>
          <a:stretch>
            <a:fillRect/>
          </a:stretch>
        </p:blipFill>
        <p:spPr>
          <a:xfrm>
            <a:off x="635809" y="0"/>
            <a:ext cx="10920382" cy="6858000"/>
          </a:xfrm>
          <a:prstGeom prst="rect">
            <a:avLst/>
          </a:prstGeom>
        </p:spPr>
      </p:pic>
    </p:spTree>
    <p:extLst>
      <p:ext uri="{BB962C8B-B14F-4D97-AF65-F5344CB8AC3E}">
        <p14:creationId xmlns:p14="http://schemas.microsoft.com/office/powerpoint/2010/main" val="25497493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934A1B-F3AA-8311-900C-0A7CA1B8CF24}"/>
              </a:ext>
            </a:extLst>
          </p:cNvPr>
          <p:cNvPicPr>
            <a:picLocks noChangeAspect="1"/>
          </p:cNvPicPr>
          <p:nvPr/>
        </p:nvPicPr>
        <p:blipFill>
          <a:blip r:embed="rId3"/>
          <a:stretch>
            <a:fillRect/>
          </a:stretch>
        </p:blipFill>
        <p:spPr>
          <a:xfrm>
            <a:off x="635809" y="0"/>
            <a:ext cx="10920382" cy="6858000"/>
          </a:xfrm>
          <a:prstGeom prst="rect">
            <a:avLst/>
          </a:prstGeom>
        </p:spPr>
      </p:pic>
    </p:spTree>
    <p:extLst>
      <p:ext uri="{BB962C8B-B14F-4D97-AF65-F5344CB8AC3E}">
        <p14:creationId xmlns:p14="http://schemas.microsoft.com/office/powerpoint/2010/main" val="2456277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8A31B6C-63EE-0695-9073-38D2B782A17C}"/>
              </a:ext>
            </a:extLst>
          </p:cNvPr>
          <p:cNvPicPr>
            <a:picLocks noChangeAspect="1"/>
          </p:cNvPicPr>
          <p:nvPr/>
        </p:nvPicPr>
        <p:blipFill>
          <a:blip r:embed="rId3"/>
          <a:stretch>
            <a:fillRect/>
          </a:stretch>
        </p:blipFill>
        <p:spPr>
          <a:xfrm>
            <a:off x="635809" y="0"/>
            <a:ext cx="10920382" cy="6858000"/>
          </a:xfrm>
          <a:prstGeom prst="rect">
            <a:avLst/>
          </a:prstGeom>
        </p:spPr>
      </p:pic>
    </p:spTree>
    <p:extLst>
      <p:ext uri="{BB962C8B-B14F-4D97-AF65-F5344CB8AC3E}">
        <p14:creationId xmlns:p14="http://schemas.microsoft.com/office/powerpoint/2010/main" val="27027387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2C53343-A1CB-309D-04E1-70421EC98D40}"/>
              </a:ext>
            </a:extLst>
          </p:cNvPr>
          <p:cNvPicPr>
            <a:picLocks noChangeAspect="1"/>
          </p:cNvPicPr>
          <p:nvPr/>
        </p:nvPicPr>
        <p:blipFill>
          <a:blip r:embed="rId3"/>
          <a:stretch>
            <a:fillRect/>
          </a:stretch>
        </p:blipFill>
        <p:spPr>
          <a:xfrm>
            <a:off x="635809" y="0"/>
            <a:ext cx="10920382" cy="6858000"/>
          </a:xfrm>
          <a:prstGeom prst="rect">
            <a:avLst/>
          </a:prstGeom>
        </p:spPr>
      </p:pic>
    </p:spTree>
    <p:extLst>
      <p:ext uri="{BB962C8B-B14F-4D97-AF65-F5344CB8AC3E}">
        <p14:creationId xmlns:p14="http://schemas.microsoft.com/office/powerpoint/2010/main" val="12487109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278319D-84E7-54D4-92A7-7A868736ABD0}"/>
              </a:ext>
            </a:extLst>
          </p:cNvPr>
          <p:cNvPicPr>
            <a:picLocks noChangeAspect="1"/>
          </p:cNvPicPr>
          <p:nvPr/>
        </p:nvPicPr>
        <p:blipFill>
          <a:blip r:embed="rId3"/>
          <a:stretch>
            <a:fillRect/>
          </a:stretch>
        </p:blipFill>
        <p:spPr>
          <a:xfrm>
            <a:off x="1142108" y="317956"/>
            <a:ext cx="9907783" cy="6222088"/>
          </a:xfrm>
          <a:prstGeom prst="rect">
            <a:avLst/>
          </a:prstGeom>
        </p:spPr>
      </p:pic>
    </p:spTree>
    <p:extLst>
      <p:ext uri="{BB962C8B-B14F-4D97-AF65-F5344CB8AC3E}">
        <p14:creationId xmlns:p14="http://schemas.microsoft.com/office/powerpoint/2010/main" val="25460504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46711-6B83-F000-ABC0-BB5670942272}"/>
              </a:ext>
            </a:extLst>
          </p:cNvPr>
          <p:cNvSpPr>
            <a:spLocks noGrp="1"/>
          </p:cNvSpPr>
          <p:nvPr>
            <p:ph type="title"/>
          </p:nvPr>
        </p:nvSpPr>
        <p:spPr>
          <a:xfrm>
            <a:off x="3874536" y="2766218"/>
            <a:ext cx="4442927" cy="1325563"/>
          </a:xfrm>
        </p:spPr>
        <p:txBody>
          <a:bodyPr/>
          <a:lstStyle/>
          <a:p>
            <a:r>
              <a:rPr lang="en-US" altLang="zh-TW" dirty="0"/>
              <a:t>PART2 </a:t>
            </a:r>
            <a:r>
              <a:rPr lang="zh-TW" altLang="en-US" dirty="0"/>
              <a:t>非監督式</a:t>
            </a:r>
            <a:endParaRPr lang="en-US" dirty="0"/>
          </a:p>
        </p:txBody>
      </p:sp>
    </p:spTree>
    <p:extLst>
      <p:ext uri="{BB962C8B-B14F-4D97-AF65-F5344CB8AC3E}">
        <p14:creationId xmlns:p14="http://schemas.microsoft.com/office/powerpoint/2010/main" val="19902701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64D389A-9493-1489-8FC4-DDB25BB89F34}"/>
              </a:ext>
            </a:extLst>
          </p:cNvPr>
          <p:cNvPicPr>
            <a:picLocks noChangeAspect="1"/>
          </p:cNvPicPr>
          <p:nvPr/>
        </p:nvPicPr>
        <p:blipFill>
          <a:blip r:embed="rId3"/>
          <a:stretch>
            <a:fillRect/>
          </a:stretch>
        </p:blipFill>
        <p:spPr>
          <a:xfrm>
            <a:off x="635809" y="0"/>
            <a:ext cx="10920382" cy="6858000"/>
          </a:xfrm>
          <a:prstGeom prst="rect">
            <a:avLst/>
          </a:prstGeom>
        </p:spPr>
      </p:pic>
    </p:spTree>
    <p:extLst>
      <p:ext uri="{BB962C8B-B14F-4D97-AF65-F5344CB8AC3E}">
        <p14:creationId xmlns:p14="http://schemas.microsoft.com/office/powerpoint/2010/main" val="22770127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639CF-A757-8A0A-DC7E-9BA64F570EE7}"/>
              </a:ext>
            </a:extLst>
          </p:cNvPr>
          <p:cNvSpPr>
            <a:spLocks noGrp="1"/>
          </p:cNvSpPr>
          <p:nvPr>
            <p:ph type="title"/>
          </p:nvPr>
        </p:nvSpPr>
        <p:spPr/>
        <p:txBody>
          <a:bodyPr/>
          <a:lstStyle/>
          <a:p>
            <a:endParaRPr lang="en-US"/>
          </a:p>
        </p:txBody>
      </p:sp>
      <p:pic>
        <p:nvPicPr>
          <p:cNvPr id="5" name="Picture 4">
            <a:extLst>
              <a:ext uri="{FF2B5EF4-FFF2-40B4-BE49-F238E27FC236}">
                <a16:creationId xmlns:a16="http://schemas.microsoft.com/office/drawing/2014/main" id="{E03637CC-2A7E-F0D0-BA12-483FBC15F39B}"/>
              </a:ext>
            </a:extLst>
          </p:cNvPr>
          <p:cNvPicPr>
            <a:picLocks noChangeAspect="1"/>
          </p:cNvPicPr>
          <p:nvPr/>
        </p:nvPicPr>
        <p:blipFill>
          <a:blip r:embed="rId3"/>
          <a:stretch>
            <a:fillRect/>
          </a:stretch>
        </p:blipFill>
        <p:spPr>
          <a:xfrm>
            <a:off x="635809" y="0"/>
            <a:ext cx="10920382" cy="6858000"/>
          </a:xfrm>
          <a:prstGeom prst="rect">
            <a:avLst/>
          </a:prstGeom>
        </p:spPr>
      </p:pic>
    </p:spTree>
    <p:extLst>
      <p:ext uri="{BB962C8B-B14F-4D97-AF65-F5344CB8AC3E}">
        <p14:creationId xmlns:p14="http://schemas.microsoft.com/office/powerpoint/2010/main" val="4207881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AABFF-5BA6-223B-A186-F55DF2A01494}"/>
              </a:ext>
            </a:extLst>
          </p:cNvPr>
          <p:cNvSpPr>
            <a:spLocks noGrp="1"/>
          </p:cNvSpPr>
          <p:nvPr>
            <p:ph type="title"/>
          </p:nvPr>
        </p:nvSpPr>
        <p:spPr/>
        <p:txBody>
          <a:bodyPr/>
          <a:lstStyle/>
          <a:p>
            <a:endParaRPr lang="en-US"/>
          </a:p>
        </p:txBody>
      </p:sp>
      <p:pic>
        <p:nvPicPr>
          <p:cNvPr id="5" name="Picture 4">
            <a:extLst>
              <a:ext uri="{FF2B5EF4-FFF2-40B4-BE49-F238E27FC236}">
                <a16:creationId xmlns:a16="http://schemas.microsoft.com/office/drawing/2014/main" id="{B8A85B76-CB60-D650-7676-C2E509F6D6EA}"/>
              </a:ext>
            </a:extLst>
          </p:cNvPr>
          <p:cNvPicPr>
            <a:picLocks noChangeAspect="1"/>
          </p:cNvPicPr>
          <p:nvPr/>
        </p:nvPicPr>
        <p:blipFill>
          <a:blip r:embed="rId3"/>
          <a:stretch>
            <a:fillRect/>
          </a:stretch>
        </p:blipFill>
        <p:spPr>
          <a:xfrm>
            <a:off x="635809" y="0"/>
            <a:ext cx="10920382" cy="6858000"/>
          </a:xfrm>
          <a:prstGeom prst="rect">
            <a:avLst/>
          </a:prstGeom>
        </p:spPr>
      </p:pic>
    </p:spTree>
    <p:extLst>
      <p:ext uri="{BB962C8B-B14F-4D97-AF65-F5344CB8AC3E}">
        <p14:creationId xmlns:p14="http://schemas.microsoft.com/office/powerpoint/2010/main" val="30104006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40ACC86-9317-73D2-82B6-CF94F21DB0C8}"/>
              </a:ext>
            </a:extLst>
          </p:cNvPr>
          <p:cNvPicPr>
            <a:picLocks noChangeAspect="1"/>
          </p:cNvPicPr>
          <p:nvPr/>
        </p:nvPicPr>
        <p:blipFill>
          <a:blip r:embed="rId3"/>
          <a:stretch>
            <a:fillRect/>
          </a:stretch>
        </p:blipFill>
        <p:spPr>
          <a:xfrm>
            <a:off x="0" y="279400"/>
            <a:ext cx="12192000" cy="6299200"/>
          </a:xfrm>
          <a:prstGeom prst="rect">
            <a:avLst/>
          </a:prstGeom>
        </p:spPr>
      </p:pic>
    </p:spTree>
    <p:extLst>
      <p:ext uri="{BB962C8B-B14F-4D97-AF65-F5344CB8AC3E}">
        <p14:creationId xmlns:p14="http://schemas.microsoft.com/office/powerpoint/2010/main" val="23901023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1536E87-B1E7-50C2-6ACB-B7941A02A648}"/>
              </a:ext>
            </a:extLst>
          </p:cNvPr>
          <p:cNvPicPr>
            <a:picLocks noChangeAspect="1"/>
          </p:cNvPicPr>
          <p:nvPr/>
        </p:nvPicPr>
        <p:blipFill>
          <a:blip r:embed="rId3"/>
          <a:stretch>
            <a:fillRect/>
          </a:stretch>
        </p:blipFill>
        <p:spPr>
          <a:xfrm>
            <a:off x="0" y="279400"/>
            <a:ext cx="12192000" cy="6299200"/>
          </a:xfrm>
          <a:prstGeom prst="rect">
            <a:avLst/>
          </a:prstGeom>
        </p:spPr>
      </p:pic>
      <p:sp>
        <p:nvSpPr>
          <p:cNvPr id="7" name="TextBox 6">
            <a:extLst>
              <a:ext uri="{FF2B5EF4-FFF2-40B4-BE49-F238E27FC236}">
                <a16:creationId xmlns:a16="http://schemas.microsoft.com/office/drawing/2014/main" id="{8BA1120B-66AC-0B3E-B5CF-CDA65B0CC523}"/>
              </a:ext>
            </a:extLst>
          </p:cNvPr>
          <p:cNvSpPr txBox="1"/>
          <p:nvPr/>
        </p:nvSpPr>
        <p:spPr>
          <a:xfrm>
            <a:off x="9810945" y="6393934"/>
            <a:ext cx="1906572" cy="369332"/>
          </a:xfrm>
          <a:prstGeom prst="rect">
            <a:avLst/>
          </a:prstGeom>
          <a:noFill/>
        </p:spPr>
        <p:txBody>
          <a:bodyPr wrap="square">
            <a:spAutoFit/>
          </a:bodyPr>
          <a:lstStyle/>
          <a:p>
            <a:pPr algn="ctr"/>
            <a:r>
              <a:rPr lang="en-US" dirty="0" err="1"/>
              <a:t>num_clusters</a:t>
            </a:r>
            <a:r>
              <a:rPr lang="en-US" dirty="0"/>
              <a:t> = 3 </a:t>
            </a:r>
          </a:p>
        </p:txBody>
      </p:sp>
    </p:spTree>
    <p:extLst>
      <p:ext uri="{BB962C8B-B14F-4D97-AF65-F5344CB8AC3E}">
        <p14:creationId xmlns:p14="http://schemas.microsoft.com/office/powerpoint/2010/main" val="20029678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0D771A6-BE69-EF06-3FAA-3F6F4A9FD9E2}"/>
              </a:ext>
            </a:extLst>
          </p:cNvPr>
          <p:cNvPicPr>
            <a:picLocks noChangeAspect="1"/>
          </p:cNvPicPr>
          <p:nvPr/>
        </p:nvPicPr>
        <p:blipFill>
          <a:blip r:embed="rId3"/>
          <a:stretch>
            <a:fillRect/>
          </a:stretch>
        </p:blipFill>
        <p:spPr>
          <a:xfrm>
            <a:off x="0" y="279400"/>
            <a:ext cx="12192000" cy="6299200"/>
          </a:xfrm>
          <a:prstGeom prst="rect">
            <a:avLst/>
          </a:prstGeom>
        </p:spPr>
      </p:pic>
      <p:sp>
        <p:nvSpPr>
          <p:cNvPr id="6" name="TextBox 5">
            <a:extLst>
              <a:ext uri="{FF2B5EF4-FFF2-40B4-BE49-F238E27FC236}">
                <a16:creationId xmlns:a16="http://schemas.microsoft.com/office/drawing/2014/main" id="{55BB8949-2448-6DD7-722C-F741A96A7D04}"/>
              </a:ext>
            </a:extLst>
          </p:cNvPr>
          <p:cNvSpPr txBox="1"/>
          <p:nvPr/>
        </p:nvSpPr>
        <p:spPr>
          <a:xfrm>
            <a:off x="10074896" y="6393934"/>
            <a:ext cx="1850011" cy="369332"/>
          </a:xfrm>
          <a:prstGeom prst="rect">
            <a:avLst/>
          </a:prstGeom>
          <a:noFill/>
        </p:spPr>
        <p:txBody>
          <a:bodyPr wrap="square">
            <a:spAutoFit/>
          </a:bodyPr>
          <a:lstStyle/>
          <a:p>
            <a:r>
              <a:rPr lang="en-US" dirty="0" err="1"/>
              <a:t>num_clusters</a:t>
            </a:r>
            <a:r>
              <a:rPr lang="en-US" dirty="0"/>
              <a:t> = 6 </a:t>
            </a:r>
          </a:p>
        </p:txBody>
      </p:sp>
    </p:spTree>
    <p:extLst>
      <p:ext uri="{BB962C8B-B14F-4D97-AF65-F5344CB8AC3E}">
        <p14:creationId xmlns:p14="http://schemas.microsoft.com/office/powerpoint/2010/main" val="26840597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F7A9B80-49E2-0B64-9497-E65A72DD00C4}"/>
              </a:ext>
            </a:extLst>
          </p:cNvPr>
          <p:cNvPicPr>
            <a:picLocks noChangeAspect="1"/>
          </p:cNvPicPr>
          <p:nvPr/>
        </p:nvPicPr>
        <p:blipFill>
          <a:blip r:embed="rId3"/>
          <a:stretch>
            <a:fillRect/>
          </a:stretch>
        </p:blipFill>
        <p:spPr>
          <a:xfrm>
            <a:off x="0" y="279400"/>
            <a:ext cx="12192000" cy="6299200"/>
          </a:xfrm>
          <a:prstGeom prst="rect">
            <a:avLst/>
          </a:prstGeom>
        </p:spPr>
      </p:pic>
      <p:sp>
        <p:nvSpPr>
          <p:cNvPr id="6" name="TextBox 5">
            <a:extLst>
              <a:ext uri="{FF2B5EF4-FFF2-40B4-BE49-F238E27FC236}">
                <a16:creationId xmlns:a16="http://schemas.microsoft.com/office/drawing/2014/main" id="{7E678051-0B9C-B68C-E198-D7CD40298A5E}"/>
              </a:ext>
            </a:extLst>
          </p:cNvPr>
          <p:cNvSpPr txBox="1"/>
          <p:nvPr/>
        </p:nvSpPr>
        <p:spPr>
          <a:xfrm>
            <a:off x="9924068" y="6393934"/>
            <a:ext cx="1925425" cy="369332"/>
          </a:xfrm>
          <a:prstGeom prst="rect">
            <a:avLst/>
          </a:prstGeom>
          <a:noFill/>
        </p:spPr>
        <p:txBody>
          <a:bodyPr wrap="square">
            <a:spAutoFit/>
          </a:bodyPr>
          <a:lstStyle/>
          <a:p>
            <a:r>
              <a:rPr lang="en-US" dirty="0" err="1"/>
              <a:t>num_clusters</a:t>
            </a:r>
            <a:r>
              <a:rPr lang="en-US" dirty="0"/>
              <a:t> = 5 </a:t>
            </a:r>
          </a:p>
        </p:txBody>
      </p:sp>
    </p:spTree>
    <p:extLst>
      <p:ext uri="{BB962C8B-B14F-4D97-AF65-F5344CB8AC3E}">
        <p14:creationId xmlns:p14="http://schemas.microsoft.com/office/powerpoint/2010/main" val="3122836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9D4844-BD9B-DAA0-8BD3-8409FADE492B}"/>
              </a:ext>
            </a:extLst>
          </p:cNvPr>
          <p:cNvPicPr>
            <a:picLocks noChangeAspect="1"/>
          </p:cNvPicPr>
          <p:nvPr/>
        </p:nvPicPr>
        <p:blipFill>
          <a:blip r:embed="rId3"/>
          <a:stretch>
            <a:fillRect/>
          </a:stretch>
        </p:blipFill>
        <p:spPr>
          <a:xfrm>
            <a:off x="0" y="279400"/>
            <a:ext cx="12192000" cy="6299200"/>
          </a:xfrm>
          <a:prstGeom prst="rect">
            <a:avLst/>
          </a:prstGeom>
        </p:spPr>
      </p:pic>
    </p:spTree>
    <p:extLst>
      <p:ext uri="{BB962C8B-B14F-4D97-AF65-F5344CB8AC3E}">
        <p14:creationId xmlns:p14="http://schemas.microsoft.com/office/powerpoint/2010/main" val="12257983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16ABA4A-704E-E815-09EE-5C49A5D6046D}"/>
              </a:ext>
            </a:extLst>
          </p:cNvPr>
          <p:cNvPicPr>
            <a:picLocks noChangeAspect="1"/>
          </p:cNvPicPr>
          <p:nvPr/>
        </p:nvPicPr>
        <p:blipFill>
          <a:blip r:embed="rId3"/>
          <a:stretch>
            <a:fillRect/>
          </a:stretch>
        </p:blipFill>
        <p:spPr>
          <a:xfrm>
            <a:off x="477624" y="526172"/>
            <a:ext cx="11236751" cy="5805655"/>
          </a:xfrm>
          <a:prstGeom prst="rect">
            <a:avLst/>
          </a:prstGeom>
        </p:spPr>
      </p:pic>
    </p:spTree>
    <p:extLst>
      <p:ext uri="{BB962C8B-B14F-4D97-AF65-F5344CB8AC3E}">
        <p14:creationId xmlns:p14="http://schemas.microsoft.com/office/powerpoint/2010/main" val="41630593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1A778-28EB-32A9-8C3D-829DF699F7FC}"/>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610042F3-7D20-4EE3-DD49-6110F8E83889}"/>
              </a:ext>
            </a:extLst>
          </p:cNvPr>
          <p:cNvPicPr>
            <a:picLocks noChangeAspect="1"/>
          </p:cNvPicPr>
          <p:nvPr/>
        </p:nvPicPr>
        <p:blipFill>
          <a:blip r:embed="rId3"/>
          <a:stretch>
            <a:fillRect/>
          </a:stretch>
        </p:blipFill>
        <p:spPr>
          <a:xfrm>
            <a:off x="0" y="279400"/>
            <a:ext cx="12192000" cy="6299200"/>
          </a:xfrm>
          <a:prstGeom prst="rect">
            <a:avLst/>
          </a:prstGeom>
        </p:spPr>
      </p:pic>
      <p:sp>
        <p:nvSpPr>
          <p:cNvPr id="5" name="TextBox 4">
            <a:extLst>
              <a:ext uri="{FF2B5EF4-FFF2-40B4-BE49-F238E27FC236}">
                <a16:creationId xmlns:a16="http://schemas.microsoft.com/office/drawing/2014/main" id="{C3F8A7F6-24F7-D87C-DD5F-3B5B33BF0001}"/>
              </a:ext>
            </a:extLst>
          </p:cNvPr>
          <p:cNvSpPr txBox="1"/>
          <p:nvPr/>
        </p:nvSpPr>
        <p:spPr>
          <a:xfrm>
            <a:off x="5405120" y="121920"/>
            <a:ext cx="690880" cy="369332"/>
          </a:xfrm>
          <a:prstGeom prst="rect">
            <a:avLst/>
          </a:prstGeom>
          <a:noFill/>
        </p:spPr>
        <p:txBody>
          <a:bodyPr wrap="square" rtlCol="0">
            <a:spAutoFit/>
          </a:bodyPr>
          <a:lstStyle/>
          <a:p>
            <a:r>
              <a:rPr lang="zh-TW" altLang="en-US" dirty="0"/>
              <a:t>節點</a:t>
            </a:r>
            <a:endParaRPr lang="en-US" dirty="0"/>
          </a:p>
        </p:txBody>
      </p:sp>
    </p:spTree>
    <p:extLst>
      <p:ext uri="{BB962C8B-B14F-4D97-AF65-F5344CB8AC3E}">
        <p14:creationId xmlns:p14="http://schemas.microsoft.com/office/powerpoint/2010/main" val="26141222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9452B-29CF-DD42-CD22-5C1CBBC7BE9B}"/>
              </a:ext>
            </a:extLst>
          </p:cNvPr>
          <p:cNvSpPr>
            <a:spLocks noGrp="1"/>
          </p:cNvSpPr>
          <p:nvPr>
            <p:ph type="title"/>
          </p:nvPr>
        </p:nvSpPr>
        <p:spPr>
          <a:xfrm>
            <a:off x="4153684" y="2103437"/>
            <a:ext cx="3884629" cy="1325563"/>
          </a:xfrm>
        </p:spPr>
        <p:txBody>
          <a:bodyPr/>
          <a:lstStyle/>
          <a:p>
            <a:r>
              <a:rPr lang="en-US" dirty="0" err="1"/>
              <a:t>scATAC</a:t>
            </a:r>
            <a:r>
              <a:rPr lang="en-US" dirty="0"/>
              <a:t> Analysis</a:t>
            </a:r>
          </a:p>
        </p:txBody>
      </p:sp>
      <p:sp>
        <p:nvSpPr>
          <p:cNvPr id="3" name="TextBox 2">
            <a:extLst>
              <a:ext uri="{FF2B5EF4-FFF2-40B4-BE49-F238E27FC236}">
                <a16:creationId xmlns:a16="http://schemas.microsoft.com/office/drawing/2014/main" id="{AEB929C9-41C3-6050-06EF-BAA2506B44BC}"/>
              </a:ext>
            </a:extLst>
          </p:cNvPr>
          <p:cNvSpPr txBox="1"/>
          <p:nvPr/>
        </p:nvSpPr>
        <p:spPr>
          <a:xfrm>
            <a:off x="4313170" y="3429000"/>
            <a:ext cx="3565656" cy="879151"/>
          </a:xfrm>
          <a:prstGeom prst="rect">
            <a:avLst/>
          </a:prstGeom>
          <a:noFill/>
        </p:spPr>
        <p:txBody>
          <a:bodyPr wrap="none" rtlCol="0">
            <a:spAutoFit/>
          </a:bodyPr>
          <a:lstStyle/>
          <a:p>
            <a:pPr marL="342900" indent="-342900">
              <a:lnSpc>
                <a:spcPct val="150000"/>
              </a:lnSpc>
              <a:buAutoNum type="arabicPeriod"/>
            </a:pPr>
            <a:r>
              <a:rPr lang="zh-TW" altLang="en-US" dirty="0"/>
              <a:t>套件安裝問題與解決</a:t>
            </a:r>
            <a:endParaRPr lang="en-US" altLang="zh-TW" dirty="0"/>
          </a:p>
          <a:p>
            <a:pPr marL="342900" indent="-342900">
              <a:lnSpc>
                <a:spcPct val="150000"/>
              </a:lnSpc>
              <a:buAutoNum type="arabicPeriod"/>
            </a:pPr>
            <a:r>
              <a:rPr lang="zh-TW" altLang="en-US" dirty="0">
                <a:solidFill>
                  <a:schemeClr val="bg1">
                    <a:lumMod val="75000"/>
                  </a:schemeClr>
                </a:solidFill>
              </a:rPr>
              <a:t>使用 </a:t>
            </a:r>
            <a:r>
              <a:rPr lang="en-US" altLang="zh-TW" dirty="0">
                <a:solidFill>
                  <a:schemeClr val="bg1">
                    <a:lumMod val="75000"/>
                  </a:schemeClr>
                </a:solidFill>
              </a:rPr>
              <a:t>PBMC</a:t>
            </a:r>
            <a:r>
              <a:rPr lang="zh-TW" altLang="en-US" dirty="0">
                <a:solidFill>
                  <a:schemeClr val="bg1">
                    <a:lumMod val="75000"/>
                  </a:schemeClr>
                </a:solidFill>
              </a:rPr>
              <a:t> </a:t>
            </a:r>
            <a:r>
              <a:rPr lang="en-US" altLang="zh-TW" dirty="0">
                <a:solidFill>
                  <a:schemeClr val="bg1">
                    <a:lumMod val="75000"/>
                  </a:schemeClr>
                </a:solidFill>
              </a:rPr>
              <a:t>dataset </a:t>
            </a:r>
            <a:r>
              <a:rPr lang="zh-TW" altLang="en-US" dirty="0">
                <a:solidFill>
                  <a:schemeClr val="bg1">
                    <a:lumMod val="75000"/>
                  </a:schemeClr>
                </a:solidFill>
              </a:rPr>
              <a:t>的分析流程</a:t>
            </a:r>
            <a:endParaRPr lang="en-US" dirty="0">
              <a:solidFill>
                <a:schemeClr val="bg1">
                  <a:lumMod val="75000"/>
                </a:schemeClr>
              </a:solidFill>
            </a:endParaRPr>
          </a:p>
        </p:txBody>
      </p:sp>
    </p:spTree>
    <p:extLst>
      <p:ext uri="{BB962C8B-B14F-4D97-AF65-F5344CB8AC3E}">
        <p14:creationId xmlns:p14="http://schemas.microsoft.com/office/powerpoint/2010/main" val="28872513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EE8DE-9E62-3568-F050-58EB376869D9}"/>
              </a:ext>
            </a:extLst>
          </p:cNvPr>
          <p:cNvSpPr>
            <a:spLocks noGrp="1"/>
          </p:cNvSpPr>
          <p:nvPr>
            <p:ph type="title"/>
          </p:nvPr>
        </p:nvSpPr>
        <p:spPr/>
        <p:txBody>
          <a:bodyPr/>
          <a:lstStyle/>
          <a:p>
            <a:r>
              <a:rPr lang="zh-TW" altLang="en-US" dirty="0"/>
              <a:t>前導影片和文章</a:t>
            </a:r>
            <a:endParaRPr lang="en-US" dirty="0"/>
          </a:p>
        </p:txBody>
      </p:sp>
      <p:sp>
        <p:nvSpPr>
          <p:cNvPr id="3" name="Content Placeholder 2">
            <a:extLst>
              <a:ext uri="{FF2B5EF4-FFF2-40B4-BE49-F238E27FC236}">
                <a16:creationId xmlns:a16="http://schemas.microsoft.com/office/drawing/2014/main" id="{5C34679F-32A5-B805-D546-DF20AE0493AC}"/>
              </a:ext>
            </a:extLst>
          </p:cNvPr>
          <p:cNvSpPr>
            <a:spLocks noGrp="1"/>
          </p:cNvSpPr>
          <p:nvPr>
            <p:ph idx="1"/>
          </p:nvPr>
        </p:nvSpPr>
        <p:spPr/>
        <p:txBody>
          <a:bodyPr/>
          <a:lstStyle/>
          <a:p>
            <a:r>
              <a:rPr lang="en-US" altLang="zh-CN" b="0" i="0" dirty="0">
                <a:effectLst/>
                <a:latin typeface="PingFang SC"/>
                <a:hlinkClick r:id="rId2"/>
              </a:rPr>
              <a:t>【</a:t>
            </a:r>
            <a:r>
              <a:rPr lang="zh-CN" altLang="en-US" b="0" i="0" dirty="0">
                <a:effectLst/>
                <a:latin typeface="PingFang SC"/>
                <a:hlinkClick r:id="rId2"/>
              </a:rPr>
              <a:t>陈巍学基因</a:t>
            </a:r>
            <a:r>
              <a:rPr lang="en-US" altLang="zh-CN" b="0" i="0" dirty="0">
                <a:effectLst/>
                <a:latin typeface="PingFang SC"/>
                <a:hlinkClick r:id="rId2"/>
              </a:rPr>
              <a:t>】</a:t>
            </a:r>
            <a:r>
              <a:rPr lang="en-US" altLang="zh-CN" b="0" i="0" dirty="0" err="1">
                <a:effectLst/>
                <a:latin typeface="PingFang SC"/>
                <a:hlinkClick r:id="rId2"/>
              </a:rPr>
              <a:t>scATAC</a:t>
            </a:r>
            <a:r>
              <a:rPr lang="en-US" altLang="zh-CN" b="0" i="0" dirty="0">
                <a:effectLst/>
                <a:latin typeface="PingFang SC"/>
                <a:hlinkClick r:id="rId2"/>
              </a:rPr>
              <a:t>-seq</a:t>
            </a:r>
            <a:r>
              <a:rPr lang="zh-CN" altLang="en-US" b="0" i="0" dirty="0">
                <a:effectLst/>
                <a:latin typeface="PingFang SC"/>
                <a:hlinkClick r:id="rId2"/>
              </a:rPr>
              <a:t>实验方法与报告解读</a:t>
            </a:r>
            <a:endParaRPr lang="en-US" altLang="zh-CN" b="0" i="0" dirty="0">
              <a:effectLst/>
              <a:latin typeface="PingFang SC"/>
            </a:endParaRPr>
          </a:p>
          <a:p>
            <a:r>
              <a:rPr lang="zh-TW" altLang="en-US" b="0" i="0" dirty="0">
                <a:effectLst/>
                <a:latin typeface="PingFang SC"/>
                <a:hlinkClick r:id="rId3"/>
              </a:rPr>
              <a:t>单细胞染色质可及性 </a:t>
            </a:r>
            <a:r>
              <a:rPr lang="en-US" altLang="zh-TW" b="0" i="0" dirty="0">
                <a:effectLst/>
                <a:latin typeface="PingFang SC"/>
                <a:hlinkClick r:id="rId3"/>
              </a:rPr>
              <a:t>(</a:t>
            </a:r>
            <a:r>
              <a:rPr lang="en-US" b="0" i="0" dirty="0" err="1">
                <a:effectLst/>
                <a:latin typeface="PingFang SC"/>
                <a:hlinkClick r:id="rId3"/>
              </a:rPr>
              <a:t>scATAC</a:t>
            </a:r>
            <a:r>
              <a:rPr lang="en-US" b="0" i="0" dirty="0">
                <a:effectLst/>
                <a:latin typeface="PingFang SC"/>
                <a:hlinkClick r:id="rId3"/>
              </a:rPr>
              <a:t>-seq) </a:t>
            </a:r>
            <a:r>
              <a:rPr lang="zh-TW" altLang="en-US" b="0" i="0" dirty="0">
                <a:effectLst/>
                <a:latin typeface="PingFang SC"/>
                <a:hlinkClick r:id="rId3"/>
              </a:rPr>
              <a:t>数据分析 </a:t>
            </a:r>
            <a:r>
              <a:rPr lang="en-US" altLang="zh-TW" b="0" i="0" dirty="0">
                <a:effectLst/>
                <a:latin typeface="PingFang SC"/>
                <a:hlinkClick r:id="rId3"/>
              </a:rPr>
              <a:t>(</a:t>
            </a:r>
            <a:r>
              <a:rPr lang="zh-TW" altLang="en-US" b="0" i="0" dirty="0">
                <a:effectLst/>
                <a:latin typeface="PingFang SC"/>
                <a:hlinkClick r:id="rId3"/>
              </a:rPr>
              <a:t>兩個影片</a:t>
            </a:r>
            <a:r>
              <a:rPr lang="en-US" altLang="zh-TW" b="0" i="0" dirty="0">
                <a:effectLst/>
                <a:latin typeface="PingFang SC"/>
                <a:hlinkClick r:id="rId3"/>
              </a:rPr>
              <a:t>)</a:t>
            </a:r>
            <a:endParaRPr lang="en-US" altLang="zh-TW" b="0" i="0" dirty="0">
              <a:effectLst/>
              <a:latin typeface="PingFang SC"/>
            </a:endParaRPr>
          </a:p>
          <a:p>
            <a:r>
              <a:rPr lang="zh-TW" altLang="en-US" b="1" i="0" dirty="0">
                <a:solidFill>
                  <a:srgbClr val="121212"/>
                </a:solidFill>
                <a:effectLst/>
                <a:latin typeface="-apple-system"/>
                <a:hlinkClick r:id="rId4"/>
              </a:rPr>
              <a:t>入门</a:t>
            </a:r>
            <a:r>
              <a:rPr lang="en-US" b="1" i="0" dirty="0">
                <a:solidFill>
                  <a:srgbClr val="121212"/>
                </a:solidFill>
                <a:effectLst/>
                <a:latin typeface="-apple-system"/>
                <a:hlinkClick r:id="rId4"/>
              </a:rPr>
              <a:t>ATAC-seq，</a:t>
            </a:r>
            <a:r>
              <a:rPr lang="zh-TW" altLang="en-US" b="1" i="0" dirty="0">
                <a:solidFill>
                  <a:srgbClr val="121212"/>
                </a:solidFill>
                <a:effectLst/>
                <a:latin typeface="-apple-system"/>
                <a:hlinkClick r:id="rId4"/>
              </a:rPr>
              <a:t>你需要知道什么？</a:t>
            </a:r>
            <a:endParaRPr lang="en-US" altLang="zh-TW" b="0" i="0" dirty="0">
              <a:effectLst/>
              <a:latin typeface="PingFang SC"/>
            </a:endParaRPr>
          </a:p>
          <a:p>
            <a:endParaRPr lang="en-US" altLang="zh-CN" dirty="0">
              <a:latin typeface="PingFang SC"/>
            </a:endParaRPr>
          </a:p>
          <a:p>
            <a:pPr marL="0" indent="0">
              <a:buNone/>
            </a:pPr>
            <a:r>
              <a:rPr lang="zh-TW" altLang="en-US" b="0" i="0" dirty="0">
                <a:effectLst/>
                <a:latin typeface="PingFang SC"/>
              </a:rPr>
              <a:t>   實戰</a:t>
            </a:r>
            <a:endParaRPr lang="zh-CN" altLang="en-US" b="0" i="0" dirty="0">
              <a:effectLst/>
              <a:latin typeface="PingFang SC"/>
            </a:endParaRPr>
          </a:p>
          <a:p>
            <a:r>
              <a:rPr lang="en-US" b="0" i="0" dirty="0">
                <a:effectLst/>
                <a:latin typeface="PingFang SC"/>
                <a:hlinkClick r:id="rId5"/>
              </a:rPr>
              <a:t>Signac | </a:t>
            </a:r>
            <a:r>
              <a:rPr lang="en-US" b="0" i="0" dirty="0" err="1">
                <a:effectLst/>
                <a:latin typeface="PingFang SC"/>
                <a:hlinkClick r:id="rId5"/>
              </a:rPr>
              <a:t>scATAC</a:t>
            </a:r>
            <a:r>
              <a:rPr lang="en-US" b="0" i="0" dirty="0">
                <a:effectLst/>
                <a:latin typeface="PingFang SC"/>
                <a:hlinkClick r:id="rId5"/>
              </a:rPr>
              <a:t>-seq </a:t>
            </a:r>
            <a:r>
              <a:rPr lang="zh-TW" altLang="en-US" b="0" i="0" dirty="0">
                <a:effectLst/>
                <a:latin typeface="PingFang SC"/>
                <a:hlinkClick r:id="rId5"/>
              </a:rPr>
              <a:t>数据分析实战视频</a:t>
            </a:r>
            <a:endParaRPr lang="en-US" altLang="zh-TW" b="0" i="0" dirty="0">
              <a:effectLst/>
              <a:latin typeface="PingFang SC"/>
            </a:endParaRPr>
          </a:p>
          <a:p>
            <a:r>
              <a:rPr lang="en-US" altLang="zh-CN" b="0" i="0" dirty="0">
                <a:effectLst/>
                <a:latin typeface="PingFang SC"/>
                <a:hlinkClick r:id="rId6"/>
              </a:rPr>
              <a:t>ATAC-seq</a:t>
            </a:r>
            <a:r>
              <a:rPr lang="zh-CN" altLang="en-US" b="0" i="0" dirty="0">
                <a:effectLst/>
                <a:latin typeface="PingFang SC"/>
                <a:hlinkClick r:id="rId6"/>
              </a:rPr>
              <a:t>数据分析实战</a:t>
            </a:r>
            <a:endParaRPr lang="zh-CN" altLang="en-US" b="0" i="0" dirty="0">
              <a:effectLst/>
              <a:latin typeface="PingFang SC"/>
            </a:endParaRPr>
          </a:p>
          <a:p>
            <a:endParaRPr lang="zh-TW" altLang="en-US" b="0" i="0" dirty="0">
              <a:effectLst/>
              <a:latin typeface="PingFang SC"/>
            </a:endParaRPr>
          </a:p>
          <a:p>
            <a:endParaRPr lang="en-US" dirty="0"/>
          </a:p>
        </p:txBody>
      </p:sp>
    </p:spTree>
    <p:extLst>
      <p:ext uri="{BB962C8B-B14F-4D97-AF65-F5344CB8AC3E}">
        <p14:creationId xmlns:p14="http://schemas.microsoft.com/office/powerpoint/2010/main" val="17378664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AB316-DC2F-84FE-8A5B-91381D63E0B5}"/>
              </a:ext>
            </a:extLst>
          </p:cNvPr>
          <p:cNvSpPr>
            <a:spLocks noGrp="1"/>
          </p:cNvSpPr>
          <p:nvPr>
            <p:ph type="title"/>
          </p:nvPr>
        </p:nvSpPr>
        <p:spPr/>
        <p:txBody>
          <a:bodyPr/>
          <a:lstStyle/>
          <a:p>
            <a:r>
              <a:rPr lang="zh-TW" altLang="en-US" dirty="0"/>
              <a:t>安裝 </a:t>
            </a:r>
            <a:r>
              <a:rPr lang="en-US" altLang="zh-TW" dirty="0"/>
              <a:t>Signac </a:t>
            </a:r>
            <a:r>
              <a:rPr lang="zh-TW" altLang="en-US" dirty="0"/>
              <a:t>的各種問題</a:t>
            </a:r>
            <a:endParaRPr lang="en-US" dirty="0"/>
          </a:p>
        </p:txBody>
      </p:sp>
      <p:sp>
        <p:nvSpPr>
          <p:cNvPr id="4" name="TextBox 3">
            <a:extLst>
              <a:ext uri="{FF2B5EF4-FFF2-40B4-BE49-F238E27FC236}">
                <a16:creationId xmlns:a16="http://schemas.microsoft.com/office/drawing/2014/main" id="{099731A9-CC68-C4B1-9185-3C7D430F571A}"/>
              </a:ext>
            </a:extLst>
          </p:cNvPr>
          <p:cNvSpPr txBox="1"/>
          <p:nvPr/>
        </p:nvSpPr>
        <p:spPr>
          <a:xfrm>
            <a:off x="10812546" y="6394400"/>
            <a:ext cx="1272618" cy="369332"/>
          </a:xfrm>
          <a:prstGeom prst="rect">
            <a:avLst/>
          </a:prstGeom>
          <a:noFill/>
        </p:spPr>
        <p:txBody>
          <a:bodyPr wrap="square" rtlCol="0">
            <a:spAutoFit/>
          </a:bodyPr>
          <a:lstStyle/>
          <a:p>
            <a:r>
              <a:rPr lang="en-US" dirty="0"/>
              <a:t>2023.10.22</a:t>
            </a:r>
          </a:p>
        </p:txBody>
      </p:sp>
      <p:sp>
        <p:nvSpPr>
          <p:cNvPr id="5" name="TextBox 4">
            <a:extLst>
              <a:ext uri="{FF2B5EF4-FFF2-40B4-BE49-F238E27FC236}">
                <a16:creationId xmlns:a16="http://schemas.microsoft.com/office/drawing/2014/main" id="{FBE196D9-2B96-671D-6AB4-D18BBF34E9F3}"/>
              </a:ext>
            </a:extLst>
          </p:cNvPr>
          <p:cNvSpPr txBox="1"/>
          <p:nvPr/>
        </p:nvSpPr>
        <p:spPr>
          <a:xfrm>
            <a:off x="838200" y="1873272"/>
            <a:ext cx="3132589" cy="369332"/>
          </a:xfrm>
          <a:prstGeom prst="rect">
            <a:avLst/>
          </a:prstGeom>
          <a:noFill/>
        </p:spPr>
        <p:txBody>
          <a:bodyPr wrap="none" rtlCol="0">
            <a:spAutoFit/>
          </a:bodyPr>
          <a:lstStyle/>
          <a:p>
            <a:r>
              <a:rPr lang="zh-TW" altLang="en-US" dirty="0"/>
              <a:t>找不到 </a:t>
            </a:r>
            <a:r>
              <a:rPr lang="en-US" altLang="zh-TW" dirty="0" err="1"/>
              <a:t>cpp</a:t>
            </a:r>
            <a:r>
              <a:rPr lang="en-US" altLang="zh-TW" dirty="0"/>
              <a:t> header file </a:t>
            </a:r>
            <a:r>
              <a:rPr lang="zh-TW" altLang="en-US" dirty="0"/>
              <a:t>的檔案</a:t>
            </a:r>
            <a:r>
              <a:rPr lang="en-US" altLang="zh-TW" dirty="0"/>
              <a:t> </a:t>
            </a:r>
            <a:endParaRPr lang="en-US" dirty="0"/>
          </a:p>
        </p:txBody>
      </p:sp>
      <p:pic>
        <p:nvPicPr>
          <p:cNvPr id="7" name="Picture 6">
            <a:extLst>
              <a:ext uri="{FF2B5EF4-FFF2-40B4-BE49-F238E27FC236}">
                <a16:creationId xmlns:a16="http://schemas.microsoft.com/office/drawing/2014/main" id="{BC854912-CAE4-B8F3-A3F0-403666A45583}"/>
              </a:ext>
            </a:extLst>
          </p:cNvPr>
          <p:cNvPicPr>
            <a:picLocks noChangeAspect="1"/>
          </p:cNvPicPr>
          <p:nvPr/>
        </p:nvPicPr>
        <p:blipFill>
          <a:blip r:embed="rId2"/>
          <a:stretch>
            <a:fillRect/>
          </a:stretch>
        </p:blipFill>
        <p:spPr>
          <a:xfrm>
            <a:off x="838200" y="2588818"/>
            <a:ext cx="9289585" cy="3132091"/>
          </a:xfrm>
          <a:prstGeom prst="rect">
            <a:avLst/>
          </a:prstGeom>
        </p:spPr>
      </p:pic>
    </p:spTree>
    <p:extLst>
      <p:ext uri="{BB962C8B-B14F-4D97-AF65-F5344CB8AC3E}">
        <p14:creationId xmlns:p14="http://schemas.microsoft.com/office/powerpoint/2010/main" val="24537050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AB316-DC2F-84FE-8A5B-91381D63E0B5}"/>
              </a:ext>
            </a:extLst>
          </p:cNvPr>
          <p:cNvSpPr>
            <a:spLocks noGrp="1"/>
          </p:cNvSpPr>
          <p:nvPr>
            <p:ph type="title"/>
          </p:nvPr>
        </p:nvSpPr>
        <p:spPr/>
        <p:txBody>
          <a:bodyPr/>
          <a:lstStyle/>
          <a:p>
            <a:r>
              <a:rPr lang="zh-TW" altLang="en-US" dirty="0"/>
              <a:t>安裝 </a:t>
            </a:r>
            <a:r>
              <a:rPr lang="en-US" altLang="zh-TW" dirty="0"/>
              <a:t>Signac </a:t>
            </a:r>
            <a:r>
              <a:rPr lang="zh-TW" altLang="en-US" dirty="0"/>
              <a:t>的各種問題</a:t>
            </a:r>
            <a:endParaRPr lang="en-US" dirty="0"/>
          </a:p>
        </p:txBody>
      </p:sp>
      <p:sp>
        <p:nvSpPr>
          <p:cNvPr id="4" name="TextBox 3">
            <a:extLst>
              <a:ext uri="{FF2B5EF4-FFF2-40B4-BE49-F238E27FC236}">
                <a16:creationId xmlns:a16="http://schemas.microsoft.com/office/drawing/2014/main" id="{099731A9-CC68-C4B1-9185-3C7D430F571A}"/>
              </a:ext>
            </a:extLst>
          </p:cNvPr>
          <p:cNvSpPr txBox="1"/>
          <p:nvPr/>
        </p:nvSpPr>
        <p:spPr>
          <a:xfrm>
            <a:off x="10812546" y="6394400"/>
            <a:ext cx="1272618" cy="369332"/>
          </a:xfrm>
          <a:prstGeom prst="rect">
            <a:avLst/>
          </a:prstGeom>
          <a:noFill/>
        </p:spPr>
        <p:txBody>
          <a:bodyPr wrap="square" rtlCol="0">
            <a:spAutoFit/>
          </a:bodyPr>
          <a:lstStyle/>
          <a:p>
            <a:r>
              <a:rPr lang="en-US" dirty="0"/>
              <a:t>2023.10.22</a:t>
            </a:r>
          </a:p>
        </p:txBody>
      </p:sp>
      <p:pic>
        <p:nvPicPr>
          <p:cNvPr id="6" name="Picture 5">
            <a:extLst>
              <a:ext uri="{FF2B5EF4-FFF2-40B4-BE49-F238E27FC236}">
                <a16:creationId xmlns:a16="http://schemas.microsoft.com/office/drawing/2014/main" id="{68A86498-F199-81F6-BAA4-9A170D46B4A2}"/>
              </a:ext>
            </a:extLst>
          </p:cNvPr>
          <p:cNvPicPr>
            <a:picLocks noChangeAspect="1"/>
          </p:cNvPicPr>
          <p:nvPr/>
        </p:nvPicPr>
        <p:blipFill>
          <a:blip r:embed="rId2"/>
          <a:stretch>
            <a:fillRect/>
          </a:stretch>
        </p:blipFill>
        <p:spPr>
          <a:xfrm>
            <a:off x="905444" y="2136221"/>
            <a:ext cx="9099068" cy="4442845"/>
          </a:xfrm>
          <a:prstGeom prst="rect">
            <a:avLst/>
          </a:prstGeom>
        </p:spPr>
      </p:pic>
      <p:sp>
        <p:nvSpPr>
          <p:cNvPr id="8" name="TextBox 7">
            <a:extLst>
              <a:ext uri="{FF2B5EF4-FFF2-40B4-BE49-F238E27FC236}">
                <a16:creationId xmlns:a16="http://schemas.microsoft.com/office/drawing/2014/main" id="{DEE2EBCB-D88A-7ABB-3671-DB51FC7BC5E5}"/>
              </a:ext>
            </a:extLst>
          </p:cNvPr>
          <p:cNvSpPr txBox="1"/>
          <p:nvPr/>
        </p:nvSpPr>
        <p:spPr>
          <a:xfrm>
            <a:off x="838200" y="1506022"/>
            <a:ext cx="8370689" cy="369332"/>
          </a:xfrm>
          <a:prstGeom prst="rect">
            <a:avLst/>
          </a:prstGeom>
          <a:noFill/>
        </p:spPr>
        <p:txBody>
          <a:bodyPr wrap="none" rtlCol="0">
            <a:spAutoFit/>
          </a:bodyPr>
          <a:lstStyle/>
          <a:p>
            <a:r>
              <a:rPr lang="zh-TW" altLang="en-US" dirty="0"/>
              <a:t>檢查我的</a:t>
            </a:r>
            <a:r>
              <a:rPr lang="en-US" altLang="zh-TW" dirty="0"/>
              <a:t>header file </a:t>
            </a:r>
            <a:r>
              <a:rPr lang="zh-TW" altLang="en-US" dirty="0"/>
              <a:t>是否存在。結論：存在。但是</a:t>
            </a:r>
            <a:r>
              <a:rPr lang="en-US" altLang="zh-TW" dirty="0"/>
              <a:t>Error</a:t>
            </a:r>
            <a:r>
              <a:rPr lang="zh-TW" altLang="en-US" dirty="0"/>
              <a:t>一樣，還是無法安裝 </a:t>
            </a:r>
            <a:r>
              <a:rPr lang="en-US" altLang="zh-TW" dirty="0"/>
              <a:t>Signac</a:t>
            </a:r>
            <a:endParaRPr lang="en-US" dirty="0"/>
          </a:p>
        </p:txBody>
      </p:sp>
      <p:sp>
        <p:nvSpPr>
          <p:cNvPr id="9" name="Rectangle 8">
            <a:extLst>
              <a:ext uri="{FF2B5EF4-FFF2-40B4-BE49-F238E27FC236}">
                <a16:creationId xmlns:a16="http://schemas.microsoft.com/office/drawing/2014/main" id="{48949A38-4B18-4F8D-6745-841C914FCA80}"/>
              </a:ext>
            </a:extLst>
          </p:cNvPr>
          <p:cNvSpPr/>
          <p:nvPr/>
        </p:nvSpPr>
        <p:spPr>
          <a:xfrm>
            <a:off x="905444" y="2234153"/>
            <a:ext cx="1988585" cy="36764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9E470AC-9D73-9088-3939-F29A99A9C5DA}"/>
              </a:ext>
            </a:extLst>
          </p:cNvPr>
          <p:cNvSpPr/>
          <p:nvPr/>
        </p:nvSpPr>
        <p:spPr>
          <a:xfrm>
            <a:off x="1193195" y="6125230"/>
            <a:ext cx="1988585" cy="36764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068744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AB316-DC2F-84FE-8A5B-91381D63E0B5}"/>
              </a:ext>
            </a:extLst>
          </p:cNvPr>
          <p:cNvSpPr>
            <a:spLocks noGrp="1"/>
          </p:cNvSpPr>
          <p:nvPr>
            <p:ph type="title"/>
          </p:nvPr>
        </p:nvSpPr>
        <p:spPr/>
        <p:txBody>
          <a:bodyPr/>
          <a:lstStyle/>
          <a:p>
            <a:r>
              <a:rPr lang="zh-TW" altLang="en-US" dirty="0"/>
              <a:t>安裝 </a:t>
            </a:r>
            <a:r>
              <a:rPr lang="en-US" altLang="zh-TW" dirty="0"/>
              <a:t>Signac </a:t>
            </a:r>
            <a:r>
              <a:rPr lang="zh-TW" altLang="en-US" dirty="0"/>
              <a:t>的各種問題</a:t>
            </a:r>
            <a:endParaRPr lang="en-US" dirty="0"/>
          </a:p>
        </p:txBody>
      </p:sp>
      <p:sp>
        <p:nvSpPr>
          <p:cNvPr id="4" name="TextBox 3">
            <a:extLst>
              <a:ext uri="{FF2B5EF4-FFF2-40B4-BE49-F238E27FC236}">
                <a16:creationId xmlns:a16="http://schemas.microsoft.com/office/drawing/2014/main" id="{099731A9-CC68-C4B1-9185-3C7D430F571A}"/>
              </a:ext>
            </a:extLst>
          </p:cNvPr>
          <p:cNvSpPr txBox="1"/>
          <p:nvPr/>
        </p:nvSpPr>
        <p:spPr>
          <a:xfrm>
            <a:off x="10812546" y="6394400"/>
            <a:ext cx="1272618" cy="369332"/>
          </a:xfrm>
          <a:prstGeom prst="rect">
            <a:avLst/>
          </a:prstGeom>
          <a:noFill/>
        </p:spPr>
        <p:txBody>
          <a:bodyPr wrap="square" rtlCol="0">
            <a:spAutoFit/>
          </a:bodyPr>
          <a:lstStyle/>
          <a:p>
            <a:r>
              <a:rPr lang="en-US" dirty="0"/>
              <a:t>2023.10.22</a:t>
            </a:r>
          </a:p>
        </p:txBody>
      </p:sp>
      <p:sp>
        <p:nvSpPr>
          <p:cNvPr id="8" name="TextBox 7">
            <a:extLst>
              <a:ext uri="{FF2B5EF4-FFF2-40B4-BE49-F238E27FC236}">
                <a16:creationId xmlns:a16="http://schemas.microsoft.com/office/drawing/2014/main" id="{DEE2EBCB-D88A-7ABB-3671-DB51FC7BC5E5}"/>
              </a:ext>
            </a:extLst>
          </p:cNvPr>
          <p:cNvSpPr txBox="1"/>
          <p:nvPr/>
        </p:nvSpPr>
        <p:spPr>
          <a:xfrm>
            <a:off x="838200" y="1506022"/>
            <a:ext cx="5877560" cy="369332"/>
          </a:xfrm>
          <a:prstGeom prst="rect">
            <a:avLst/>
          </a:prstGeom>
          <a:noFill/>
        </p:spPr>
        <p:txBody>
          <a:bodyPr wrap="square" rtlCol="0">
            <a:spAutoFit/>
          </a:bodyPr>
          <a:lstStyle/>
          <a:p>
            <a:endParaRPr lang="en-US" dirty="0"/>
          </a:p>
        </p:txBody>
      </p:sp>
      <p:sp>
        <p:nvSpPr>
          <p:cNvPr id="15" name="TextBox 14">
            <a:extLst>
              <a:ext uri="{FF2B5EF4-FFF2-40B4-BE49-F238E27FC236}">
                <a16:creationId xmlns:a16="http://schemas.microsoft.com/office/drawing/2014/main" id="{C64655FB-9C2A-004D-D839-047B7D2253C2}"/>
              </a:ext>
            </a:extLst>
          </p:cNvPr>
          <p:cNvSpPr txBox="1"/>
          <p:nvPr/>
        </p:nvSpPr>
        <p:spPr>
          <a:xfrm>
            <a:off x="838200" y="1413689"/>
            <a:ext cx="9768840" cy="369332"/>
          </a:xfrm>
          <a:prstGeom prst="rect">
            <a:avLst/>
          </a:prstGeom>
          <a:noFill/>
        </p:spPr>
        <p:txBody>
          <a:bodyPr wrap="square">
            <a:spAutoFit/>
          </a:bodyPr>
          <a:lstStyle/>
          <a:p>
            <a:r>
              <a:rPr lang="zh-TW" altLang="en-US" dirty="0"/>
              <a:t>使用 </a:t>
            </a:r>
            <a:r>
              <a:rPr lang="en-US" dirty="0" err="1"/>
              <a:t>Sys.setenv</a:t>
            </a:r>
            <a:r>
              <a:rPr lang="en-US" dirty="0"/>
              <a:t> </a:t>
            </a:r>
            <a:r>
              <a:rPr lang="zh-TW" altLang="en-US" dirty="0"/>
              <a:t>設定 </a:t>
            </a:r>
            <a:r>
              <a:rPr lang="en-US" dirty="0"/>
              <a:t>PKG_CPPFLAGS</a:t>
            </a:r>
            <a:r>
              <a:rPr lang="zh-TW" altLang="en-US" dirty="0"/>
              <a:t>。這次 </a:t>
            </a:r>
            <a:r>
              <a:rPr lang="en-US" altLang="zh-TW" dirty="0"/>
              <a:t>Error </a:t>
            </a:r>
            <a:r>
              <a:rPr lang="zh-TW" altLang="en-US" dirty="0"/>
              <a:t>是和同時提供多個 </a:t>
            </a:r>
            <a:r>
              <a:rPr lang="en-US" altLang="zh-TW" dirty="0"/>
              <a:t>input file </a:t>
            </a:r>
            <a:r>
              <a:rPr lang="zh-TW" altLang="en-US" dirty="0"/>
              <a:t>有關</a:t>
            </a:r>
            <a:endParaRPr lang="en-US" dirty="0"/>
          </a:p>
        </p:txBody>
      </p:sp>
      <p:pic>
        <p:nvPicPr>
          <p:cNvPr id="17" name="Picture 16">
            <a:extLst>
              <a:ext uri="{FF2B5EF4-FFF2-40B4-BE49-F238E27FC236}">
                <a16:creationId xmlns:a16="http://schemas.microsoft.com/office/drawing/2014/main" id="{BEFC7F36-ABAF-2FEB-7D4D-5AEEB5AAE869}"/>
              </a:ext>
            </a:extLst>
          </p:cNvPr>
          <p:cNvPicPr>
            <a:picLocks noChangeAspect="1"/>
          </p:cNvPicPr>
          <p:nvPr/>
        </p:nvPicPr>
        <p:blipFill>
          <a:blip r:embed="rId3"/>
          <a:stretch>
            <a:fillRect/>
          </a:stretch>
        </p:blipFill>
        <p:spPr>
          <a:xfrm>
            <a:off x="1017205" y="2060448"/>
            <a:ext cx="8492556" cy="4391509"/>
          </a:xfrm>
          <a:prstGeom prst="rect">
            <a:avLst/>
          </a:prstGeom>
        </p:spPr>
      </p:pic>
      <p:sp>
        <p:nvSpPr>
          <p:cNvPr id="9" name="Rectangle 8">
            <a:extLst>
              <a:ext uri="{FF2B5EF4-FFF2-40B4-BE49-F238E27FC236}">
                <a16:creationId xmlns:a16="http://schemas.microsoft.com/office/drawing/2014/main" id="{48949A38-4B18-4F8D-6745-841C914FCA80}"/>
              </a:ext>
            </a:extLst>
          </p:cNvPr>
          <p:cNvSpPr/>
          <p:nvPr/>
        </p:nvSpPr>
        <p:spPr>
          <a:xfrm>
            <a:off x="1017205" y="1929599"/>
            <a:ext cx="1988585" cy="36764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092203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AB316-DC2F-84FE-8A5B-91381D63E0B5}"/>
              </a:ext>
            </a:extLst>
          </p:cNvPr>
          <p:cNvSpPr>
            <a:spLocks noGrp="1"/>
          </p:cNvSpPr>
          <p:nvPr>
            <p:ph type="title"/>
          </p:nvPr>
        </p:nvSpPr>
        <p:spPr>
          <a:xfrm>
            <a:off x="626978" y="384524"/>
            <a:ext cx="9687560" cy="871412"/>
          </a:xfrm>
        </p:spPr>
        <p:txBody>
          <a:bodyPr/>
          <a:lstStyle/>
          <a:p>
            <a:r>
              <a:rPr lang="zh-TW" altLang="en-US" dirty="0"/>
              <a:t>安裝 </a:t>
            </a:r>
            <a:r>
              <a:rPr lang="en-US" altLang="zh-TW" dirty="0"/>
              <a:t>Signac </a:t>
            </a:r>
            <a:r>
              <a:rPr lang="zh-TW" altLang="en-US" dirty="0"/>
              <a:t>的各種問題</a:t>
            </a:r>
            <a:endParaRPr lang="en-US" dirty="0"/>
          </a:p>
        </p:txBody>
      </p:sp>
      <p:sp>
        <p:nvSpPr>
          <p:cNvPr id="4" name="TextBox 3">
            <a:extLst>
              <a:ext uri="{FF2B5EF4-FFF2-40B4-BE49-F238E27FC236}">
                <a16:creationId xmlns:a16="http://schemas.microsoft.com/office/drawing/2014/main" id="{099731A9-CC68-C4B1-9185-3C7D430F571A}"/>
              </a:ext>
            </a:extLst>
          </p:cNvPr>
          <p:cNvSpPr txBox="1"/>
          <p:nvPr/>
        </p:nvSpPr>
        <p:spPr>
          <a:xfrm>
            <a:off x="10812546" y="6394400"/>
            <a:ext cx="1272618" cy="369332"/>
          </a:xfrm>
          <a:prstGeom prst="rect">
            <a:avLst/>
          </a:prstGeom>
          <a:noFill/>
        </p:spPr>
        <p:txBody>
          <a:bodyPr wrap="square" rtlCol="0">
            <a:spAutoFit/>
          </a:bodyPr>
          <a:lstStyle/>
          <a:p>
            <a:r>
              <a:rPr lang="en-US" dirty="0"/>
              <a:t>2023.10.22</a:t>
            </a:r>
          </a:p>
        </p:txBody>
      </p:sp>
      <p:sp>
        <p:nvSpPr>
          <p:cNvPr id="8" name="TextBox 7">
            <a:extLst>
              <a:ext uri="{FF2B5EF4-FFF2-40B4-BE49-F238E27FC236}">
                <a16:creationId xmlns:a16="http://schemas.microsoft.com/office/drawing/2014/main" id="{DEE2EBCB-D88A-7ABB-3671-DB51FC7BC5E5}"/>
              </a:ext>
            </a:extLst>
          </p:cNvPr>
          <p:cNvSpPr txBox="1"/>
          <p:nvPr/>
        </p:nvSpPr>
        <p:spPr>
          <a:xfrm>
            <a:off x="838200" y="1506022"/>
            <a:ext cx="5877560" cy="369332"/>
          </a:xfrm>
          <a:prstGeom prst="rect">
            <a:avLst/>
          </a:prstGeom>
          <a:noFill/>
        </p:spPr>
        <p:txBody>
          <a:bodyPr wrap="square" rtlCol="0">
            <a:spAutoFit/>
          </a:bodyPr>
          <a:lstStyle/>
          <a:p>
            <a:endParaRPr lang="en-US" dirty="0"/>
          </a:p>
        </p:txBody>
      </p:sp>
      <p:pic>
        <p:nvPicPr>
          <p:cNvPr id="5" name="Picture 4">
            <a:extLst>
              <a:ext uri="{FF2B5EF4-FFF2-40B4-BE49-F238E27FC236}">
                <a16:creationId xmlns:a16="http://schemas.microsoft.com/office/drawing/2014/main" id="{BAE7C18E-0A62-CAE8-0B62-29B3B16CB394}"/>
              </a:ext>
            </a:extLst>
          </p:cNvPr>
          <p:cNvPicPr>
            <a:picLocks noChangeAspect="1"/>
          </p:cNvPicPr>
          <p:nvPr/>
        </p:nvPicPr>
        <p:blipFill>
          <a:blip r:embed="rId3"/>
          <a:stretch>
            <a:fillRect/>
          </a:stretch>
        </p:blipFill>
        <p:spPr>
          <a:xfrm>
            <a:off x="1299677" y="1900320"/>
            <a:ext cx="8342163" cy="4678746"/>
          </a:xfrm>
          <a:prstGeom prst="rect">
            <a:avLst/>
          </a:prstGeom>
        </p:spPr>
      </p:pic>
      <p:sp>
        <p:nvSpPr>
          <p:cNvPr id="9" name="Rectangle 8">
            <a:extLst>
              <a:ext uri="{FF2B5EF4-FFF2-40B4-BE49-F238E27FC236}">
                <a16:creationId xmlns:a16="http://schemas.microsoft.com/office/drawing/2014/main" id="{48949A38-4B18-4F8D-6745-841C914FCA80}"/>
              </a:ext>
            </a:extLst>
          </p:cNvPr>
          <p:cNvSpPr/>
          <p:nvPr/>
        </p:nvSpPr>
        <p:spPr>
          <a:xfrm>
            <a:off x="3048000" y="1801026"/>
            <a:ext cx="1005840" cy="36764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14BDE08A-7D1A-B23B-E7C4-B20CFBD4E676}"/>
              </a:ext>
            </a:extLst>
          </p:cNvPr>
          <p:cNvSpPr txBox="1"/>
          <p:nvPr/>
        </p:nvSpPr>
        <p:spPr>
          <a:xfrm>
            <a:off x="1017205" y="1343815"/>
            <a:ext cx="7670800" cy="369332"/>
          </a:xfrm>
          <a:prstGeom prst="rect">
            <a:avLst/>
          </a:prstGeom>
          <a:noFill/>
        </p:spPr>
        <p:txBody>
          <a:bodyPr wrap="square">
            <a:spAutoFit/>
          </a:bodyPr>
          <a:lstStyle/>
          <a:p>
            <a:r>
              <a:rPr lang="en-US" altLang="zh-TW" dirty="0"/>
              <a:t>(</a:t>
            </a:r>
            <a:r>
              <a:rPr lang="zh-TW" altLang="en-US" dirty="0"/>
              <a:t>承上頁</a:t>
            </a:r>
            <a:r>
              <a:rPr lang="en-US" altLang="zh-TW" dirty="0"/>
              <a:t>)</a:t>
            </a:r>
            <a:r>
              <a:rPr lang="zh-TW" altLang="en-US" dirty="0"/>
              <a:t> 所以這次用 </a:t>
            </a:r>
            <a:r>
              <a:rPr lang="en-US" altLang="zh-TW" dirty="0"/>
              <a:t>–I </a:t>
            </a:r>
            <a:r>
              <a:rPr lang="zh-TW" altLang="en-US" dirty="0"/>
              <a:t>指令，只指定 </a:t>
            </a:r>
            <a:r>
              <a:rPr lang="en-US" dirty="0" err="1"/>
              <a:t>Rcpp</a:t>
            </a:r>
            <a:r>
              <a:rPr lang="en-US" dirty="0"/>
              <a:t> </a:t>
            </a:r>
            <a:r>
              <a:rPr lang="zh-TW" altLang="en-US" dirty="0"/>
              <a:t>的 </a:t>
            </a:r>
            <a:r>
              <a:rPr lang="en-US" dirty="0"/>
              <a:t>include </a:t>
            </a:r>
            <a:r>
              <a:rPr lang="zh-TW" altLang="en-US" dirty="0"/>
              <a:t>路徑</a:t>
            </a:r>
            <a:endParaRPr lang="en-US" dirty="0"/>
          </a:p>
        </p:txBody>
      </p:sp>
      <p:sp>
        <p:nvSpPr>
          <p:cNvPr id="12" name="Rectangle 11">
            <a:extLst>
              <a:ext uri="{FF2B5EF4-FFF2-40B4-BE49-F238E27FC236}">
                <a16:creationId xmlns:a16="http://schemas.microsoft.com/office/drawing/2014/main" id="{8F5A91E5-243B-ED1A-DE22-28F9F693E811}"/>
              </a:ext>
            </a:extLst>
          </p:cNvPr>
          <p:cNvSpPr/>
          <p:nvPr/>
        </p:nvSpPr>
        <p:spPr>
          <a:xfrm>
            <a:off x="6807200" y="5602064"/>
            <a:ext cx="2600960" cy="871412"/>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zh-TW" altLang="en-US" sz="1400" dirty="0">
                <a:solidFill>
                  <a:schemeClr val="tx1"/>
                </a:solidFill>
              </a:rPr>
              <a:t>然後又回到了原本的問題：</a:t>
            </a:r>
            <a:endParaRPr lang="en-US" altLang="zh-TW" sz="1400" dirty="0">
              <a:solidFill>
                <a:schemeClr val="tx1"/>
              </a:solidFill>
            </a:endParaRPr>
          </a:p>
          <a:p>
            <a:pPr algn="ctr">
              <a:lnSpc>
                <a:spcPct val="150000"/>
              </a:lnSpc>
            </a:pPr>
            <a:r>
              <a:rPr lang="zh-TW" altLang="en-US" sz="1400" dirty="0">
                <a:solidFill>
                  <a:schemeClr val="tx1"/>
                </a:solidFill>
              </a:rPr>
              <a:t>找不到 </a:t>
            </a:r>
            <a:r>
              <a:rPr lang="en-US" altLang="zh-TW" sz="1400" dirty="0">
                <a:solidFill>
                  <a:schemeClr val="tx1"/>
                </a:solidFill>
              </a:rPr>
              <a:t>header file</a:t>
            </a:r>
            <a:endParaRPr lang="en-US" sz="1400" dirty="0">
              <a:solidFill>
                <a:schemeClr val="tx1"/>
              </a:solidFill>
            </a:endParaRPr>
          </a:p>
        </p:txBody>
      </p:sp>
    </p:spTree>
    <p:extLst>
      <p:ext uri="{BB962C8B-B14F-4D97-AF65-F5344CB8AC3E}">
        <p14:creationId xmlns:p14="http://schemas.microsoft.com/office/powerpoint/2010/main" val="23338137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AB316-DC2F-84FE-8A5B-91381D63E0B5}"/>
              </a:ext>
            </a:extLst>
          </p:cNvPr>
          <p:cNvSpPr>
            <a:spLocks noGrp="1"/>
          </p:cNvSpPr>
          <p:nvPr>
            <p:ph type="title"/>
          </p:nvPr>
        </p:nvSpPr>
        <p:spPr>
          <a:xfrm>
            <a:off x="626978" y="384524"/>
            <a:ext cx="9687560" cy="871412"/>
          </a:xfrm>
        </p:spPr>
        <p:txBody>
          <a:bodyPr/>
          <a:lstStyle/>
          <a:p>
            <a:r>
              <a:rPr lang="zh-TW" altLang="en-US" dirty="0"/>
              <a:t>安裝 </a:t>
            </a:r>
            <a:r>
              <a:rPr lang="en-US" altLang="zh-TW" dirty="0"/>
              <a:t>Signac </a:t>
            </a:r>
            <a:r>
              <a:rPr lang="zh-TW" altLang="en-US" dirty="0"/>
              <a:t>的各種問題</a:t>
            </a:r>
            <a:endParaRPr lang="en-US" dirty="0"/>
          </a:p>
        </p:txBody>
      </p:sp>
      <p:sp>
        <p:nvSpPr>
          <p:cNvPr id="4" name="TextBox 3">
            <a:extLst>
              <a:ext uri="{FF2B5EF4-FFF2-40B4-BE49-F238E27FC236}">
                <a16:creationId xmlns:a16="http://schemas.microsoft.com/office/drawing/2014/main" id="{099731A9-CC68-C4B1-9185-3C7D430F571A}"/>
              </a:ext>
            </a:extLst>
          </p:cNvPr>
          <p:cNvSpPr txBox="1"/>
          <p:nvPr/>
        </p:nvSpPr>
        <p:spPr>
          <a:xfrm>
            <a:off x="10812546" y="6394400"/>
            <a:ext cx="1272618" cy="369332"/>
          </a:xfrm>
          <a:prstGeom prst="rect">
            <a:avLst/>
          </a:prstGeom>
          <a:noFill/>
        </p:spPr>
        <p:txBody>
          <a:bodyPr wrap="square" rtlCol="0">
            <a:spAutoFit/>
          </a:bodyPr>
          <a:lstStyle/>
          <a:p>
            <a:r>
              <a:rPr lang="en-US" dirty="0"/>
              <a:t>2023.10.22</a:t>
            </a:r>
          </a:p>
        </p:txBody>
      </p:sp>
      <p:sp>
        <p:nvSpPr>
          <p:cNvPr id="8" name="TextBox 7">
            <a:extLst>
              <a:ext uri="{FF2B5EF4-FFF2-40B4-BE49-F238E27FC236}">
                <a16:creationId xmlns:a16="http://schemas.microsoft.com/office/drawing/2014/main" id="{DEE2EBCB-D88A-7ABB-3671-DB51FC7BC5E5}"/>
              </a:ext>
            </a:extLst>
          </p:cNvPr>
          <p:cNvSpPr txBox="1"/>
          <p:nvPr/>
        </p:nvSpPr>
        <p:spPr>
          <a:xfrm>
            <a:off x="838200" y="1506022"/>
            <a:ext cx="5877560" cy="369332"/>
          </a:xfrm>
          <a:prstGeom prst="rect">
            <a:avLst/>
          </a:prstGeom>
          <a:noFill/>
        </p:spPr>
        <p:txBody>
          <a:bodyPr wrap="square" rtlCol="0">
            <a:spAutoFit/>
          </a:bodyPr>
          <a:lstStyle/>
          <a:p>
            <a:endParaRPr lang="en-US" dirty="0"/>
          </a:p>
        </p:txBody>
      </p:sp>
      <p:sp>
        <p:nvSpPr>
          <p:cNvPr id="10" name="TextBox 9">
            <a:extLst>
              <a:ext uri="{FF2B5EF4-FFF2-40B4-BE49-F238E27FC236}">
                <a16:creationId xmlns:a16="http://schemas.microsoft.com/office/drawing/2014/main" id="{14BDE08A-7D1A-B23B-E7C4-B20CFBD4E676}"/>
              </a:ext>
            </a:extLst>
          </p:cNvPr>
          <p:cNvSpPr txBox="1"/>
          <p:nvPr/>
        </p:nvSpPr>
        <p:spPr>
          <a:xfrm>
            <a:off x="492604" y="1476215"/>
            <a:ext cx="11592560" cy="1294650"/>
          </a:xfrm>
          <a:prstGeom prst="rect">
            <a:avLst/>
          </a:prstGeom>
          <a:noFill/>
        </p:spPr>
        <p:txBody>
          <a:bodyPr wrap="square">
            <a:spAutoFit/>
          </a:bodyPr>
          <a:lstStyle/>
          <a:p>
            <a:pPr marL="342900" indent="-342900">
              <a:lnSpc>
                <a:spcPct val="150000"/>
              </a:lnSpc>
              <a:buAutoNum type="arabicPeriod"/>
            </a:pPr>
            <a:r>
              <a:rPr lang="zh-TW" altLang="en-US" dirty="0"/>
              <a:t>因為</a:t>
            </a:r>
            <a:r>
              <a:rPr lang="en-US" altLang="zh-TW" dirty="0"/>
              <a:t>error</a:t>
            </a:r>
            <a:r>
              <a:rPr lang="zh-TW" altLang="en-US" dirty="0"/>
              <a:t>顯示還是找不到</a:t>
            </a:r>
            <a:r>
              <a:rPr lang="en-US" altLang="zh-TW" dirty="0" err="1"/>
              <a:t>Rcpp.h</a:t>
            </a:r>
            <a:endParaRPr lang="en-US" altLang="zh-TW" dirty="0"/>
          </a:p>
          <a:p>
            <a:pPr marL="342900" indent="-342900">
              <a:lnSpc>
                <a:spcPct val="150000"/>
              </a:lnSpc>
              <a:buAutoNum type="arabicPeriod"/>
            </a:pPr>
            <a:r>
              <a:rPr lang="zh-TW" altLang="en-US" dirty="0"/>
              <a:t>所以我們用 </a:t>
            </a:r>
            <a:r>
              <a:rPr lang="en-US" altLang="zh-TW" dirty="0" err="1"/>
              <a:t>system.file</a:t>
            </a:r>
            <a:r>
              <a:rPr lang="en-US" altLang="zh-TW" dirty="0"/>
              <a:t>(“include”, package=“</a:t>
            </a:r>
            <a:r>
              <a:rPr lang="en-US" altLang="zh-TW" dirty="0" err="1"/>
              <a:t>Rcpp</a:t>
            </a:r>
            <a:r>
              <a:rPr lang="en-US" altLang="zh-TW" dirty="0"/>
              <a:t>”) </a:t>
            </a:r>
            <a:r>
              <a:rPr lang="zh-TW" altLang="en-US" dirty="0"/>
              <a:t>去檢查 </a:t>
            </a:r>
            <a:r>
              <a:rPr lang="en-US" altLang="zh-TW" dirty="0" err="1"/>
              <a:t>Rcpp</a:t>
            </a:r>
            <a:r>
              <a:rPr lang="zh-TW" altLang="en-US" dirty="0"/>
              <a:t>的</a:t>
            </a:r>
            <a:r>
              <a:rPr lang="en-US" altLang="zh-TW" dirty="0"/>
              <a:t>include</a:t>
            </a:r>
            <a:r>
              <a:rPr lang="zh-TW" altLang="en-US" dirty="0"/>
              <a:t>路徑</a:t>
            </a:r>
            <a:endParaRPr lang="en-US" altLang="zh-TW" dirty="0"/>
          </a:p>
          <a:p>
            <a:pPr marL="342900" indent="-342900">
              <a:lnSpc>
                <a:spcPct val="150000"/>
              </a:lnSpc>
              <a:buAutoNum type="arabicPeriod"/>
            </a:pPr>
            <a:r>
              <a:rPr lang="zh-TW" altLang="en-US" dirty="0"/>
              <a:t>結果發現</a:t>
            </a:r>
            <a:r>
              <a:rPr lang="en-US" altLang="zh-TW" dirty="0" err="1"/>
              <a:t>ouput</a:t>
            </a:r>
            <a:r>
              <a:rPr lang="zh-TW" altLang="en-US" dirty="0"/>
              <a:t>路徑和我以為的不同</a:t>
            </a:r>
            <a:endParaRPr lang="en-US" dirty="0"/>
          </a:p>
        </p:txBody>
      </p:sp>
      <p:pic>
        <p:nvPicPr>
          <p:cNvPr id="13" name="Picture 12">
            <a:extLst>
              <a:ext uri="{FF2B5EF4-FFF2-40B4-BE49-F238E27FC236}">
                <a16:creationId xmlns:a16="http://schemas.microsoft.com/office/drawing/2014/main" id="{792A0FB1-E113-6E8F-C191-C1E0B2033E11}"/>
              </a:ext>
            </a:extLst>
          </p:cNvPr>
          <p:cNvPicPr>
            <a:picLocks noChangeAspect="1"/>
          </p:cNvPicPr>
          <p:nvPr/>
        </p:nvPicPr>
        <p:blipFill>
          <a:blip r:embed="rId3"/>
          <a:stretch>
            <a:fillRect/>
          </a:stretch>
        </p:blipFill>
        <p:spPr>
          <a:xfrm>
            <a:off x="471757" y="3289373"/>
            <a:ext cx="10977098" cy="1590098"/>
          </a:xfrm>
          <a:prstGeom prst="rect">
            <a:avLst/>
          </a:prstGeom>
        </p:spPr>
      </p:pic>
      <p:sp>
        <p:nvSpPr>
          <p:cNvPr id="14" name="TextBox 13">
            <a:extLst>
              <a:ext uri="{FF2B5EF4-FFF2-40B4-BE49-F238E27FC236}">
                <a16:creationId xmlns:a16="http://schemas.microsoft.com/office/drawing/2014/main" id="{04216487-DAF4-1D64-7A34-332D456AC5EE}"/>
              </a:ext>
            </a:extLst>
          </p:cNvPr>
          <p:cNvSpPr txBox="1"/>
          <p:nvPr/>
        </p:nvSpPr>
        <p:spPr>
          <a:xfrm>
            <a:off x="492604" y="5056667"/>
            <a:ext cx="11592560" cy="464871"/>
          </a:xfrm>
          <a:prstGeom prst="rect">
            <a:avLst/>
          </a:prstGeom>
          <a:noFill/>
        </p:spPr>
        <p:txBody>
          <a:bodyPr wrap="square">
            <a:spAutoFit/>
          </a:bodyPr>
          <a:lstStyle/>
          <a:p>
            <a:pPr>
              <a:lnSpc>
                <a:spcPct val="150000"/>
              </a:lnSpc>
            </a:pPr>
            <a:r>
              <a:rPr lang="en-US" dirty="0"/>
              <a:t>4. </a:t>
            </a:r>
            <a:r>
              <a:rPr lang="zh-TW" altLang="en-US" dirty="0"/>
              <a:t>用函數返傳給我的路徑去裝</a:t>
            </a:r>
            <a:endParaRPr lang="en-US" dirty="0"/>
          </a:p>
        </p:txBody>
      </p:sp>
    </p:spTree>
    <p:extLst>
      <p:ext uri="{BB962C8B-B14F-4D97-AF65-F5344CB8AC3E}">
        <p14:creationId xmlns:p14="http://schemas.microsoft.com/office/powerpoint/2010/main" val="42200134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AB316-DC2F-84FE-8A5B-91381D63E0B5}"/>
              </a:ext>
            </a:extLst>
          </p:cNvPr>
          <p:cNvSpPr>
            <a:spLocks noGrp="1"/>
          </p:cNvSpPr>
          <p:nvPr>
            <p:ph type="title"/>
          </p:nvPr>
        </p:nvSpPr>
        <p:spPr>
          <a:xfrm>
            <a:off x="626978" y="384524"/>
            <a:ext cx="9687560" cy="871412"/>
          </a:xfrm>
        </p:spPr>
        <p:txBody>
          <a:bodyPr/>
          <a:lstStyle/>
          <a:p>
            <a:r>
              <a:rPr lang="zh-TW" altLang="en-US" dirty="0"/>
              <a:t>安裝 </a:t>
            </a:r>
            <a:r>
              <a:rPr lang="en-US" altLang="zh-TW" dirty="0"/>
              <a:t>Signac </a:t>
            </a:r>
            <a:r>
              <a:rPr lang="zh-TW" altLang="en-US" dirty="0"/>
              <a:t>的各種問題</a:t>
            </a:r>
            <a:endParaRPr lang="en-US" dirty="0"/>
          </a:p>
        </p:txBody>
      </p:sp>
      <p:sp>
        <p:nvSpPr>
          <p:cNvPr id="4" name="TextBox 3">
            <a:extLst>
              <a:ext uri="{FF2B5EF4-FFF2-40B4-BE49-F238E27FC236}">
                <a16:creationId xmlns:a16="http://schemas.microsoft.com/office/drawing/2014/main" id="{099731A9-CC68-C4B1-9185-3C7D430F571A}"/>
              </a:ext>
            </a:extLst>
          </p:cNvPr>
          <p:cNvSpPr txBox="1"/>
          <p:nvPr/>
        </p:nvSpPr>
        <p:spPr>
          <a:xfrm>
            <a:off x="10812546" y="6394400"/>
            <a:ext cx="1272618" cy="369332"/>
          </a:xfrm>
          <a:prstGeom prst="rect">
            <a:avLst/>
          </a:prstGeom>
          <a:noFill/>
        </p:spPr>
        <p:txBody>
          <a:bodyPr wrap="square" rtlCol="0">
            <a:spAutoFit/>
          </a:bodyPr>
          <a:lstStyle/>
          <a:p>
            <a:r>
              <a:rPr lang="en-US" dirty="0"/>
              <a:t>2023.10.22</a:t>
            </a:r>
          </a:p>
        </p:txBody>
      </p:sp>
      <p:sp>
        <p:nvSpPr>
          <p:cNvPr id="8" name="TextBox 7">
            <a:extLst>
              <a:ext uri="{FF2B5EF4-FFF2-40B4-BE49-F238E27FC236}">
                <a16:creationId xmlns:a16="http://schemas.microsoft.com/office/drawing/2014/main" id="{DEE2EBCB-D88A-7ABB-3671-DB51FC7BC5E5}"/>
              </a:ext>
            </a:extLst>
          </p:cNvPr>
          <p:cNvSpPr txBox="1"/>
          <p:nvPr/>
        </p:nvSpPr>
        <p:spPr>
          <a:xfrm>
            <a:off x="838200" y="1506022"/>
            <a:ext cx="5877560" cy="369332"/>
          </a:xfrm>
          <a:prstGeom prst="rect">
            <a:avLst/>
          </a:prstGeom>
          <a:noFill/>
        </p:spPr>
        <p:txBody>
          <a:bodyPr wrap="square" rtlCol="0">
            <a:spAutoFit/>
          </a:bodyPr>
          <a:lstStyle/>
          <a:p>
            <a:endParaRPr lang="en-US" dirty="0"/>
          </a:p>
        </p:txBody>
      </p:sp>
      <p:pic>
        <p:nvPicPr>
          <p:cNvPr id="5" name="Picture 4">
            <a:extLst>
              <a:ext uri="{FF2B5EF4-FFF2-40B4-BE49-F238E27FC236}">
                <a16:creationId xmlns:a16="http://schemas.microsoft.com/office/drawing/2014/main" id="{96AFF6D7-C99E-8EE5-C9DA-975D1D069698}"/>
              </a:ext>
            </a:extLst>
          </p:cNvPr>
          <p:cNvPicPr>
            <a:picLocks noChangeAspect="1"/>
          </p:cNvPicPr>
          <p:nvPr/>
        </p:nvPicPr>
        <p:blipFill>
          <a:blip r:embed="rId3"/>
          <a:stretch>
            <a:fillRect/>
          </a:stretch>
        </p:blipFill>
        <p:spPr>
          <a:xfrm>
            <a:off x="525377" y="1448976"/>
            <a:ext cx="8685711" cy="5409024"/>
          </a:xfrm>
          <a:prstGeom prst="rect">
            <a:avLst/>
          </a:prstGeom>
        </p:spPr>
      </p:pic>
      <p:sp>
        <p:nvSpPr>
          <p:cNvPr id="6" name="TextBox 5">
            <a:extLst>
              <a:ext uri="{FF2B5EF4-FFF2-40B4-BE49-F238E27FC236}">
                <a16:creationId xmlns:a16="http://schemas.microsoft.com/office/drawing/2014/main" id="{E5AE9A8B-90E1-CFD8-2183-C81947107719}"/>
              </a:ext>
            </a:extLst>
          </p:cNvPr>
          <p:cNvSpPr txBox="1"/>
          <p:nvPr/>
        </p:nvSpPr>
        <p:spPr>
          <a:xfrm>
            <a:off x="9533375" y="3134360"/>
            <a:ext cx="2551789" cy="369332"/>
          </a:xfrm>
          <a:prstGeom prst="rect">
            <a:avLst/>
          </a:prstGeom>
          <a:noFill/>
        </p:spPr>
        <p:txBody>
          <a:bodyPr wrap="none" rtlCol="0">
            <a:spAutoFit/>
          </a:bodyPr>
          <a:lstStyle/>
          <a:p>
            <a:r>
              <a:rPr lang="en-US" altLang="zh-TW" dirty="0"/>
              <a:t>5. </a:t>
            </a:r>
            <a:r>
              <a:rPr lang="zh-TW" altLang="en-US" dirty="0"/>
              <a:t>終於換了另一個 </a:t>
            </a:r>
            <a:r>
              <a:rPr lang="en-US" altLang="zh-TW" dirty="0"/>
              <a:t>Error</a:t>
            </a:r>
            <a:endParaRPr lang="en-US" dirty="0"/>
          </a:p>
        </p:txBody>
      </p:sp>
    </p:spTree>
    <p:extLst>
      <p:ext uri="{BB962C8B-B14F-4D97-AF65-F5344CB8AC3E}">
        <p14:creationId xmlns:p14="http://schemas.microsoft.com/office/powerpoint/2010/main" val="11199014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AB316-DC2F-84FE-8A5B-91381D63E0B5}"/>
              </a:ext>
            </a:extLst>
          </p:cNvPr>
          <p:cNvSpPr>
            <a:spLocks noGrp="1"/>
          </p:cNvSpPr>
          <p:nvPr>
            <p:ph type="title"/>
          </p:nvPr>
        </p:nvSpPr>
        <p:spPr>
          <a:xfrm>
            <a:off x="626978" y="384524"/>
            <a:ext cx="9687560" cy="871412"/>
          </a:xfrm>
        </p:spPr>
        <p:txBody>
          <a:bodyPr/>
          <a:lstStyle/>
          <a:p>
            <a:r>
              <a:rPr lang="zh-TW" altLang="en-US" dirty="0"/>
              <a:t>安裝 </a:t>
            </a:r>
            <a:r>
              <a:rPr lang="en-US" altLang="zh-TW" dirty="0"/>
              <a:t>Signac </a:t>
            </a:r>
            <a:r>
              <a:rPr lang="zh-TW" altLang="en-US" dirty="0"/>
              <a:t>的各種問題</a:t>
            </a:r>
            <a:endParaRPr lang="en-US" dirty="0"/>
          </a:p>
        </p:txBody>
      </p:sp>
      <p:sp>
        <p:nvSpPr>
          <p:cNvPr id="4" name="TextBox 3">
            <a:extLst>
              <a:ext uri="{FF2B5EF4-FFF2-40B4-BE49-F238E27FC236}">
                <a16:creationId xmlns:a16="http://schemas.microsoft.com/office/drawing/2014/main" id="{099731A9-CC68-C4B1-9185-3C7D430F571A}"/>
              </a:ext>
            </a:extLst>
          </p:cNvPr>
          <p:cNvSpPr txBox="1"/>
          <p:nvPr/>
        </p:nvSpPr>
        <p:spPr>
          <a:xfrm>
            <a:off x="10812546" y="6394400"/>
            <a:ext cx="1272618" cy="369332"/>
          </a:xfrm>
          <a:prstGeom prst="rect">
            <a:avLst/>
          </a:prstGeom>
          <a:noFill/>
        </p:spPr>
        <p:txBody>
          <a:bodyPr wrap="square" rtlCol="0">
            <a:spAutoFit/>
          </a:bodyPr>
          <a:lstStyle/>
          <a:p>
            <a:r>
              <a:rPr lang="en-US" dirty="0"/>
              <a:t>2023.10.22</a:t>
            </a:r>
          </a:p>
        </p:txBody>
      </p:sp>
      <p:sp>
        <p:nvSpPr>
          <p:cNvPr id="8" name="TextBox 7">
            <a:extLst>
              <a:ext uri="{FF2B5EF4-FFF2-40B4-BE49-F238E27FC236}">
                <a16:creationId xmlns:a16="http://schemas.microsoft.com/office/drawing/2014/main" id="{DEE2EBCB-D88A-7ABB-3671-DB51FC7BC5E5}"/>
              </a:ext>
            </a:extLst>
          </p:cNvPr>
          <p:cNvSpPr txBox="1"/>
          <p:nvPr/>
        </p:nvSpPr>
        <p:spPr>
          <a:xfrm>
            <a:off x="838200" y="1506022"/>
            <a:ext cx="5877560" cy="369332"/>
          </a:xfrm>
          <a:prstGeom prst="rect">
            <a:avLst/>
          </a:prstGeom>
          <a:noFill/>
        </p:spPr>
        <p:txBody>
          <a:bodyPr wrap="square" rtlCol="0">
            <a:spAutoFit/>
          </a:bodyPr>
          <a:lstStyle/>
          <a:p>
            <a:endParaRPr lang="en-US" dirty="0"/>
          </a:p>
        </p:txBody>
      </p:sp>
      <p:sp>
        <p:nvSpPr>
          <p:cNvPr id="6" name="TextBox 5">
            <a:extLst>
              <a:ext uri="{FF2B5EF4-FFF2-40B4-BE49-F238E27FC236}">
                <a16:creationId xmlns:a16="http://schemas.microsoft.com/office/drawing/2014/main" id="{E5AE9A8B-90E1-CFD8-2183-C81947107719}"/>
              </a:ext>
            </a:extLst>
          </p:cNvPr>
          <p:cNvSpPr txBox="1"/>
          <p:nvPr/>
        </p:nvSpPr>
        <p:spPr>
          <a:xfrm>
            <a:off x="9533375" y="2606604"/>
            <a:ext cx="2658625" cy="1710148"/>
          </a:xfrm>
          <a:prstGeom prst="rect">
            <a:avLst/>
          </a:prstGeom>
          <a:noFill/>
        </p:spPr>
        <p:txBody>
          <a:bodyPr wrap="square" rtlCol="0">
            <a:spAutoFit/>
          </a:bodyPr>
          <a:lstStyle/>
          <a:p>
            <a:pPr>
              <a:lnSpc>
                <a:spcPct val="150000"/>
              </a:lnSpc>
            </a:pPr>
            <a:r>
              <a:rPr lang="en-US" altLang="zh-TW" dirty="0"/>
              <a:t>5. </a:t>
            </a:r>
            <a:r>
              <a:rPr lang="zh-TW" altLang="en-US" dirty="0"/>
              <a:t>終於換了另一個 </a:t>
            </a:r>
            <a:r>
              <a:rPr lang="en-US" altLang="zh-TW" dirty="0"/>
              <a:t>Error</a:t>
            </a:r>
          </a:p>
          <a:p>
            <a:pPr>
              <a:lnSpc>
                <a:spcPct val="150000"/>
              </a:lnSpc>
            </a:pPr>
            <a:r>
              <a:rPr lang="zh-TW" altLang="en-US" dirty="0"/>
              <a:t>（是關於 </a:t>
            </a:r>
            <a:r>
              <a:rPr lang="en-US" altLang="zh-TW" dirty="0"/>
              <a:t>lazy loading </a:t>
            </a:r>
            <a:r>
              <a:rPr lang="zh-TW" altLang="en-US" dirty="0"/>
              <a:t>階段，需要升級 </a:t>
            </a:r>
            <a:r>
              <a:rPr lang="en-US" altLang="zh-TW" dirty="0"/>
              <a:t>Matrix Package</a:t>
            </a:r>
            <a:r>
              <a:rPr lang="zh-TW" altLang="en-US" dirty="0"/>
              <a:t> 版本）</a:t>
            </a:r>
            <a:endParaRPr lang="en-US" dirty="0"/>
          </a:p>
        </p:txBody>
      </p:sp>
      <p:pic>
        <p:nvPicPr>
          <p:cNvPr id="7" name="Picture 6">
            <a:extLst>
              <a:ext uri="{FF2B5EF4-FFF2-40B4-BE49-F238E27FC236}">
                <a16:creationId xmlns:a16="http://schemas.microsoft.com/office/drawing/2014/main" id="{81531B90-FD4B-020E-BEDC-45616BAB85B4}"/>
              </a:ext>
            </a:extLst>
          </p:cNvPr>
          <p:cNvPicPr>
            <a:picLocks noChangeAspect="1"/>
          </p:cNvPicPr>
          <p:nvPr/>
        </p:nvPicPr>
        <p:blipFill>
          <a:blip r:embed="rId3"/>
          <a:stretch>
            <a:fillRect/>
          </a:stretch>
        </p:blipFill>
        <p:spPr>
          <a:xfrm>
            <a:off x="106836" y="1646729"/>
            <a:ext cx="9297206" cy="4747671"/>
          </a:xfrm>
          <a:prstGeom prst="rect">
            <a:avLst/>
          </a:prstGeom>
        </p:spPr>
      </p:pic>
      <p:sp>
        <p:nvSpPr>
          <p:cNvPr id="9" name="Rectangle 8">
            <a:extLst>
              <a:ext uri="{FF2B5EF4-FFF2-40B4-BE49-F238E27FC236}">
                <a16:creationId xmlns:a16="http://schemas.microsoft.com/office/drawing/2014/main" id="{BA19B63F-95E1-C3E0-8892-AE2770234FB8}"/>
              </a:ext>
            </a:extLst>
          </p:cNvPr>
          <p:cNvSpPr/>
          <p:nvPr/>
        </p:nvSpPr>
        <p:spPr>
          <a:xfrm>
            <a:off x="3027680" y="5118593"/>
            <a:ext cx="1005840" cy="32452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4D16401B-67A2-4213-90E4-C6B6C7008FDE}"/>
              </a:ext>
            </a:extLst>
          </p:cNvPr>
          <p:cNvSpPr txBox="1"/>
          <p:nvPr/>
        </p:nvSpPr>
        <p:spPr>
          <a:xfrm>
            <a:off x="9543981" y="2237272"/>
            <a:ext cx="1257845" cy="369332"/>
          </a:xfrm>
          <a:prstGeom prst="rect">
            <a:avLst/>
          </a:prstGeom>
          <a:noFill/>
        </p:spPr>
        <p:txBody>
          <a:bodyPr wrap="none" rtlCol="0">
            <a:spAutoFit/>
          </a:bodyPr>
          <a:lstStyle/>
          <a:p>
            <a:r>
              <a:rPr lang="en-US" dirty="0"/>
              <a:t>( continue )</a:t>
            </a:r>
          </a:p>
        </p:txBody>
      </p:sp>
    </p:spTree>
    <p:extLst>
      <p:ext uri="{BB962C8B-B14F-4D97-AF65-F5344CB8AC3E}">
        <p14:creationId xmlns:p14="http://schemas.microsoft.com/office/powerpoint/2010/main" val="22993525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AB316-DC2F-84FE-8A5B-91381D63E0B5}"/>
              </a:ext>
            </a:extLst>
          </p:cNvPr>
          <p:cNvSpPr>
            <a:spLocks noGrp="1"/>
          </p:cNvSpPr>
          <p:nvPr>
            <p:ph type="title"/>
          </p:nvPr>
        </p:nvSpPr>
        <p:spPr>
          <a:xfrm>
            <a:off x="626978" y="384524"/>
            <a:ext cx="9687560" cy="871412"/>
          </a:xfrm>
        </p:spPr>
        <p:txBody>
          <a:bodyPr/>
          <a:lstStyle/>
          <a:p>
            <a:r>
              <a:rPr lang="zh-TW" altLang="en-US" dirty="0"/>
              <a:t>安裝 </a:t>
            </a:r>
            <a:r>
              <a:rPr lang="en-US" altLang="zh-TW" dirty="0"/>
              <a:t>Signac </a:t>
            </a:r>
            <a:r>
              <a:rPr lang="zh-TW" altLang="en-US" dirty="0"/>
              <a:t>的各種問題</a:t>
            </a:r>
            <a:endParaRPr lang="en-US" dirty="0"/>
          </a:p>
        </p:txBody>
      </p:sp>
      <p:sp>
        <p:nvSpPr>
          <p:cNvPr id="4" name="TextBox 3">
            <a:extLst>
              <a:ext uri="{FF2B5EF4-FFF2-40B4-BE49-F238E27FC236}">
                <a16:creationId xmlns:a16="http://schemas.microsoft.com/office/drawing/2014/main" id="{099731A9-CC68-C4B1-9185-3C7D430F571A}"/>
              </a:ext>
            </a:extLst>
          </p:cNvPr>
          <p:cNvSpPr txBox="1"/>
          <p:nvPr/>
        </p:nvSpPr>
        <p:spPr>
          <a:xfrm>
            <a:off x="10812546" y="6394400"/>
            <a:ext cx="1272618" cy="369332"/>
          </a:xfrm>
          <a:prstGeom prst="rect">
            <a:avLst/>
          </a:prstGeom>
          <a:noFill/>
        </p:spPr>
        <p:txBody>
          <a:bodyPr wrap="square" rtlCol="0">
            <a:spAutoFit/>
          </a:bodyPr>
          <a:lstStyle/>
          <a:p>
            <a:r>
              <a:rPr lang="en-US" dirty="0"/>
              <a:t>2023.10.22</a:t>
            </a:r>
          </a:p>
        </p:txBody>
      </p:sp>
      <p:sp>
        <p:nvSpPr>
          <p:cNvPr id="8" name="TextBox 7">
            <a:extLst>
              <a:ext uri="{FF2B5EF4-FFF2-40B4-BE49-F238E27FC236}">
                <a16:creationId xmlns:a16="http://schemas.microsoft.com/office/drawing/2014/main" id="{DEE2EBCB-D88A-7ABB-3671-DB51FC7BC5E5}"/>
              </a:ext>
            </a:extLst>
          </p:cNvPr>
          <p:cNvSpPr txBox="1"/>
          <p:nvPr/>
        </p:nvSpPr>
        <p:spPr>
          <a:xfrm>
            <a:off x="838200" y="1506022"/>
            <a:ext cx="5877560" cy="369332"/>
          </a:xfrm>
          <a:prstGeom prst="rect">
            <a:avLst/>
          </a:prstGeom>
          <a:noFill/>
        </p:spPr>
        <p:txBody>
          <a:bodyPr wrap="square" rtlCol="0">
            <a:spAutoFit/>
          </a:bodyPr>
          <a:lstStyle/>
          <a:p>
            <a:endParaRPr lang="en-US" dirty="0"/>
          </a:p>
        </p:txBody>
      </p:sp>
      <p:sp>
        <p:nvSpPr>
          <p:cNvPr id="6" name="TextBox 5">
            <a:extLst>
              <a:ext uri="{FF2B5EF4-FFF2-40B4-BE49-F238E27FC236}">
                <a16:creationId xmlns:a16="http://schemas.microsoft.com/office/drawing/2014/main" id="{E5AE9A8B-90E1-CFD8-2183-C81947107719}"/>
              </a:ext>
            </a:extLst>
          </p:cNvPr>
          <p:cNvSpPr txBox="1"/>
          <p:nvPr/>
        </p:nvSpPr>
        <p:spPr>
          <a:xfrm>
            <a:off x="626978" y="1227035"/>
            <a:ext cx="3464560" cy="463653"/>
          </a:xfrm>
          <a:prstGeom prst="rect">
            <a:avLst/>
          </a:prstGeom>
          <a:noFill/>
        </p:spPr>
        <p:txBody>
          <a:bodyPr wrap="square" rtlCol="0">
            <a:spAutoFit/>
          </a:bodyPr>
          <a:lstStyle/>
          <a:p>
            <a:pPr>
              <a:lnSpc>
                <a:spcPct val="150000"/>
              </a:lnSpc>
            </a:pPr>
            <a:r>
              <a:rPr lang="en-US" dirty="0"/>
              <a:t>6. </a:t>
            </a:r>
            <a:r>
              <a:rPr lang="zh-TW" altLang="en-US" dirty="0"/>
              <a:t>最後升級完，大功告成！</a:t>
            </a:r>
            <a:endParaRPr lang="en-US" dirty="0"/>
          </a:p>
        </p:txBody>
      </p:sp>
      <p:pic>
        <p:nvPicPr>
          <p:cNvPr id="5" name="Picture 4">
            <a:extLst>
              <a:ext uri="{FF2B5EF4-FFF2-40B4-BE49-F238E27FC236}">
                <a16:creationId xmlns:a16="http://schemas.microsoft.com/office/drawing/2014/main" id="{AF60F3A9-0648-A73A-D7D1-FE1433CC8174}"/>
              </a:ext>
            </a:extLst>
          </p:cNvPr>
          <p:cNvPicPr>
            <a:picLocks noChangeAspect="1"/>
          </p:cNvPicPr>
          <p:nvPr/>
        </p:nvPicPr>
        <p:blipFill>
          <a:blip r:embed="rId3"/>
          <a:stretch>
            <a:fillRect/>
          </a:stretch>
        </p:blipFill>
        <p:spPr>
          <a:xfrm>
            <a:off x="492742" y="1794957"/>
            <a:ext cx="10165779" cy="4678519"/>
          </a:xfrm>
          <a:prstGeom prst="rect">
            <a:avLst/>
          </a:prstGeom>
        </p:spPr>
      </p:pic>
    </p:spTree>
    <p:extLst>
      <p:ext uri="{BB962C8B-B14F-4D97-AF65-F5344CB8AC3E}">
        <p14:creationId xmlns:p14="http://schemas.microsoft.com/office/powerpoint/2010/main" val="42226063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9452B-29CF-DD42-CD22-5C1CBBC7BE9B}"/>
              </a:ext>
            </a:extLst>
          </p:cNvPr>
          <p:cNvSpPr>
            <a:spLocks noGrp="1"/>
          </p:cNvSpPr>
          <p:nvPr>
            <p:ph type="title"/>
          </p:nvPr>
        </p:nvSpPr>
        <p:spPr>
          <a:xfrm>
            <a:off x="4153684" y="2103437"/>
            <a:ext cx="3884629" cy="1325563"/>
          </a:xfrm>
        </p:spPr>
        <p:txBody>
          <a:bodyPr/>
          <a:lstStyle/>
          <a:p>
            <a:r>
              <a:rPr lang="en-US" dirty="0" err="1"/>
              <a:t>scATAC</a:t>
            </a:r>
            <a:r>
              <a:rPr lang="en-US" dirty="0"/>
              <a:t> Analysis</a:t>
            </a:r>
          </a:p>
        </p:txBody>
      </p:sp>
      <p:sp>
        <p:nvSpPr>
          <p:cNvPr id="3" name="TextBox 2">
            <a:extLst>
              <a:ext uri="{FF2B5EF4-FFF2-40B4-BE49-F238E27FC236}">
                <a16:creationId xmlns:a16="http://schemas.microsoft.com/office/drawing/2014/main" id="{AEB929C9-41C3-6050-06EF-BAA2506B44BC}"/>
              </a:ext>
            </a:extLst>
          </p:cNvPr>
          <p:cNvSpPr txBox="1"/>
          <p:nvPr/>
        </p:nvSpPr>
        <p:spPr>
          <a:xfrm>
            <a:off x="4313170" y="3429000"/>
            <a:ext cx="3565656" cy="879151"/>
          </a:xfrm>
          <a:prstGeom prst="rect">
            <a:avLst/>
          </a:prstGeom>
          <a:noFill/>
        </p:spPr>
        <p:txBody>
          <a:bodyPr wrap="none" rtlCol="0">
            <a:spAutoFit/>
          </a:bodyPr>
          <a:lstStyle/>
          <a:p>
            <a:pPr marL="342900" indent="-342900">
              <a:lnSpc>
                <a:spcPct val="150000"/>
              </a:lnSpc>
              <a:buAutoNum type="arabicPeriod"/>
            </a:pPr>
            <a:r>
              <a:rPr lang="zh-TW" altLang="en-US" dirty="0">
                <a:solidFill>
                  <a:schemeClr val="bg1">
                    <a:lumMod val="75000"/>
                  </a:schemeClr>
                </a:solidFill>
              </a:rPr>
              <a:t>套件安裝問題與解決</a:t>
            </a:r>
            <a:endParaRPr lang="en-US" altLang="zh-TW" dirty="0">
              <a:solidFill>
                <a:schemeClr val="bg1">
                  <a:lumMod val="75000"/>
                </a:schemeClr>
              </a:solidFill>
            </a:endParaRPr>
          </a:p>
          <a:p>
            <a:pPr marL="342900" indent="-342900">
              <a:lnSpc>
                <a:spcPct val="150000"/>
              </a:lnSpc>
              <a:buAutoNum type="arabicPeriod"/>
            </a:pPr>
            <a:r>
              <a:rPr lang="zh-TW" altLang="en-US" dirty="0"/>
              <a:t>使用 </a:t>
            </a:r>
            <a:r>
              <a:rPr lang="en-US" altLang="zh-TW" dirty="0"/>
              <a:t>PBMC</a:t>
            </a:r>
            <a:r>
              <a:rPr lang="zh-TW" altLang="en-US" dirty="0"/>
              <a:t> </a:t>
            </a:r>
            <a:r>
              <a:rPr lang="en-US" altLang="zh-TW" dirty="0"/>
              <a:t>dataset </a:t>
            </a:r>
            <a:r>
              <a:rPr lang="zh-TW" altLang="en-US" dirty="0"/>
              <a:t>的分析流程</a:t>
            </a:r>
            <a:endParaRPr lang="en-US" dirty="0"/>
          </a:p>
        </p:txBody>
      </p:sp>
    </p:spTree>
    <p:extLst>
      <p:ext uri="{BB962C8B-B14F-4D97-AF65-F5344CB8AC3E}">
        <p14:creationId xmlns:p14="http://schemas.microsoft.com/office/powerpoint/2010/main" val="15481496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EB0E6-AFA7-43EF-EAAF-95131C3DA86A}"/>
              </a:ext>
            </a:extLst>
          </p:cNvPr>
          <p:cNvSpPr>
            <a:spLocks noGrp="1"/>
          </p:cNvSpPr>
          <p:nvPr>
            <p:ph type="title"/>
          </p:nvPr>
        </p:nvSpPr>
        <p:spPr/>
        <p:txBody>
          <a:bodyPr/>
          <a:lstStyle/>
          <a:p>
            <a:r>
              <a:rPr lang="en-US" altLang="zh-TW" dirty="0"/>
              <a:t>Dataset</a:t>
            </a:r>
            <a:r>
              <a:rPr lang="zh-TW" altLang="en-US" dirty="0"/>
              <a:t> 獲取</a:t>
            </a:r>
            <a:endParaRPr lang="en-US" dirty="0"/>
          </a:p>
        </p:txBody>
      </p:sp>
      <p:pic>
        <p:nvPicPr>
          <p:cNvPr id="5" name="Content Placeholder 4">
            <a:extLst>
              <a:ext uri="{FF2B5EF4-FFF2-40B4-BE49-F238E27FC236}">
                <a16:creationId xmlns:a16="http://schemas.microsoft.com/office/drawing/2014/main" id="{7B6E06F5-3BF1-D037-9F1C-49C5191B2255}"/>
              </a:ext>
            </a:extLst>
          </p:cNvPr>
          <p:cNvPicPr>
            <a:picLocks noGrp="1" noChangeAspect="1"/>
          </p:cNvPicPr>
          <p:nvPr>
            <p:ph idx="1"/>
          </p:nvPr>
        </p:nvPicPr>
        <p:blipFill>
          <a:blip r:embed="rId3"/>
          <a:stretch>
            <a:fillRect/>
          </a:stretch>
        </p:blipFill>
        <p:spPr>
          <a:xfrm>
            <a:off x="1470253" y="1825625"/>
            <a:ext cx="9251494" cy="4351338"/>
          </a:xfrm>
        </p:spPr>
      </p:pic>
      <p:sp>
        <p:nvSpPr>
          <p:cNvPr id="7" name="TextBox 6">
            <a:extLst>
              <a:ext uri="{FF2B5EF4-FFF2-40B4-BE49-F238E27FC236}">
                <a16:creationId xmlns:a16="http://schemas.microsoft.com/office/drawing/2014/main" id="{376FA6C2-A3BF-EFF3-48A0-670948DA1FCA}"/>
              </a:ext>
            </a:extLst>
          </p:cNvPr>
          <p:cNvSpPr txBox="1"/>
          <p:nvPr/>
        </p:nvSpPr>
        <p:spPr>
          <a:xfrm>
            <a:off x="4917440" y="6421755"/>
            <a:ext cx="7274560" cy="338554"/>
          </a:xfrm>
          <a:prstGeom prst="rect">
            <a:avLst/>
          </a:prstGeom>
          <a:noFill/>
        </p:spPr>
        <p:txBody>
          <a:bodyPr wrap="square">
            <a:spAutoFit/>
          </a:bodyPr>
          <a:lstStyle/>
          <a:p>
            <a:r>
              <a:rPr lang="en-US" sz="1600" dirty="0">
                <a:hlinkClick r:id="rId4"/>
              </a:rPr>
              <a:t>https://support.10xgenomics.com/single-cell-atac/datasets/1.0.1/atac_v1_pbmc_10k</a:t>
            </a:r>
            <a:endParaRPr lang="en-US" sz="1600" dirty="0"/>
          </a:p>
        </p:txBody>
      </p:sp>
    </p:spTree>
    <p:extLst>
      <p:ext uri="{BB962C8B-B14F-4D97-AF65-F5344CB8AC3E}">
        <p14:creationId xmlns:p14="http://schemas.microsoft.com/office/powerpoint/2010/main" val="8212281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4A14916-FE95-5872-1A3F-5B8232E773D2}"/>
              </a:ext>
            </a:extLst>
          </p:cNvPr>
          <p:cNvPicPr>
            <a:picLocks noChangeAspect="1"/>
          </p:cNvPicPr>
          <p:nvPr/>
        </p:nvPicPr>
        <p:blipFill>
          <a:blip r:embed="rId3"/>
          <a:stretch>
            <a:fillRect/>
          </a:stretch>
        </p:blipFill>
        <p:spPr>
          <a:xfrm>
            <a:off x="0" y="572310"/>
            <a:ext cx="12192000" cy="5713379"/>
          </a:xfrm>
          <a:prstGeom prst="rect">
            <a:avLst/>
          </a:prstGeom>
        </p:spPr>
      </p:pic>
      <p:sp>
        <p:nvSpPr>
          <p:cNvPr id="6" name="Rectangle 5">
            <a:extLst>
              <a:ext uri="{FF2B5EF4-FFF2-40B4-BE49-F238E27FC236}">
                <a16:creationId xmlns:a16="http://schemas.microsoft.com/office/drawing/2014/main" id="{D852CE2E-FCEF-BBD6-E739-E3E80D66027B}"/>
              </a:ext>
            </a:extLst>
          </p:cNvPr>
          <p:cNvSpPr/>
          <p:nvPr/>
        </p:nvSpPr>
        <p:spPr>
          <a:xfrm>
            <a:off x="5593080" y="4315953"/>
            <a:ext cx="1005840" cy="32452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914722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6F0A0C5-D97B-6A98-8E71-59BE9DD98CEC}"/>
              </a:ext>
            </a:extLst>
          </p:cNvPr>
          <p:cNvPicPr>
            <a:picLocks noChangeAspect="1"/>
          </p:cNvPicPr>
          <p:nvPr/>
        </p:nvPicPr>
        <p:blipFill>
          <a:blip r:embed="rId3"/>
          <a:stretch>
            <a:fillRect/>
          </a:stretch>
        </p:blipFill>
        <p:spPr>
          <a:xfrm>
            <a:off x="0" y="318082"/>
            <a:ext cx="12192000" cy="6221835"/>
          </a:xfrm>
          <a:prstGeom prst="rect">
            <a:avLst/>
          </a:prstGeom>
        </p:spPr>
      </p:pic>
    </p:spTree>
    <p:extLst>
      <p:ext uri="{BB962C8B-B14F-4D97-AF65-F5344CB8AC3E}">
        <p14:creationId xmlns:p14="http://schemas.microsoft.com/office/powerpoint/2010/main" val="17194047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47F1170-F526-F576-FA0F-999691192FFF}"/>
              </a:ext>
            </a:extLst>
          </p:cNvPr>
          <p:cNvPicPr>
            <a:picLocks noChangeAspect="1"/>
          </p:cNvPicPr>
          <p:nvPr/>
        </p:nvPicPr>
        <p:blipFill>
          <a:blip r:embed="rId3"/>
          <a:stretch>
            <a:fillRect/>
          </a:stretch>
        </p:blipFill>
        <p:spPr>
          <a:xfrm>
            <a:off x="0" y="439681"/>
            <a:ext cx="12192000" cy="5978637"/>
          </a:xfrm>
          <a:prstGeom prst="rect">
            <a:avLst/>
          </a:prstGeom>
        </p:spPr>
      </p:pic>
    </p:spTree>
    <p:extLst>
      <p:ext uri="{BB962C8B-B14F-4D97-AF65-F5344CB8AC3E}">
        <p14:creationId xmlns:p14="http://schemas.microsoft.com/office/powerpoint/2010/main" val="41878492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A1FE979-785A-C2C2-D290-39F79AE67940}"/>
              </a:ext>
            </a:extLst>
          </p:cNvPr>
          <p:cNvPicPr>
            <a:picLocks noChangeAspect="1"/>
          </p:cNvPicPr>
          <p:nvPr/>
        </p:nvPicPr>
        <p:blipFill>
          <a:blip r:embed="rId3"/>
          <a:stretch>
            <a:fillRect/>
          </a:stretch>
        </p:blipFill>
        <p:spPr>
          <a:xfrm>
            <a:off x="18523" y="144495"/>
            <a:ext cx="12154953" cy="6569009"/>
          </a:xfrm>
          <a:prstGeom prst="rect">
            <a:avLst/>
          </a:prstGeom>
        </p:spPr>
      </p:pic>
    </p:spTree>
    <p:extLst>
      <p:ext uri="{BB962C8B-B14F-4D97-AF65-F5344CB8AC3E}">
        <p14:creationId xmlns:p14="http://schemas.microsoft.com/office/powerpoint/2010/main" val="39161695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FCB702A-B09B-611C-6B4D-BED3AE516840}"/>
              </a:ext>
            </a:extLst>
          </p:cNvPr>
          <p:cNvPicPr>
            <a:picLocks noChangeAspect="1"/>
          </p:cNvPicPr>
          <p:nvPr/>
        </p:nvPicPr>
        <p:blipFill>
          <a:blip r:embed="rId3"/>
          <a:stretch>
            <a:fillRect/>
          </a:stretch>
        </p:blipFill>
        <p:spPr>
          <a:xfrm>
            <a:off x="0" y="239274"/>
            <a:ext cx="12192000" cy="6379451"/>
          </a:xfrm>
          <a:prstGeom prst="rect">
            <a:avLst/>
          </a:prstGeom>
        </p:spPr>
      </p:pic>
    </p:spTree>
    <p:extLst>
      <p:ext uri="{BB962C8B-B14F-4D97-AF65-F5344CB8AC3E}">
        <p14:creationId xmlns:p14="http://schemas.microsoft.com/office/powerpoint/2010/main" val="387516445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292A375-E9D6-7011-5512-3D51E608A767}"/>
              </a:ext>
            </a:extLst>
          </p:cNvPr>
          <p:cNvPicPr>
            <a:picLocks noChangeAspect="1"/>
          </p:cNvPicPr>
          <p:nvPr/>
        </p:nvPicPr>
        <p:blipFill>
          <a:blip r:embed="rId3"/>
          <a:stretch>
            <a:fillRect/>
          </a:stretch>
        </p:blipFill>
        <p:spPr>
          <a:xfrm>
            <a:off x="275160" y="255040"/>
            <a:ext cx="9914479" cy="5311600"/>
          </a:xfrm>
          <a:prstGeom prst="rect">
            <a:avLst/>
          </a:prstGeom>
        </p:spPr>
      </p:pic>
      <p:pic>
        <p:nvPicPr>
          <p:cNvPr id="3" name="Picture 2">
            <a:extLst>
              <a:ext uri="{FF2B5EF4-FFF2-40B4-BE49-F238E27FC236}">
                <a16:creationId xmlns:a16="http://schemas.microsoft.com/office/drawing/2014/main" id="{47434DF9-DA1A-31E9-53FA-529B69156262}"/>
              </a:ext>
            </a:extLst>
          </p:cNvPr>
          <p:cNvPicPr>
            <a:picLocks noChangeAspect="1"/>
          </p:cNvPicPr>
          <p:nvPr/>
        </p:nvPicPr>
        <p:blipFill>
          <a:blip r:embed="rId4"/>
          <a:stretch>
            <a:fillRect/>
          </a:stretch>
        </p:blipFill>
        <p:spPr>
          <a:xfrm>
            <a:off x="4124643" y="2256607"/>
            <a:ext cx="7315834" cy="4214225"/>
          </a:xfrm>
          <a:prstGeom prst="rect">
            <a:avLst/>
          </a:prstGeom>
        </p:spPr>
      </p:pic>
      <p:sp>
        <p:nvSpPr>
          <p:cNvPr id="7" name="Rectangle 6">
            <a:extLst>
              <a:ext uri="{FF2B5EF4-FFF2-40B4-BE49-F238E27FC236}">
                <a16:creationId xmlns:a16="http://schemas.microsoft.com/office/drawing/2014/main" id="{4E498C3E-B3C7-FA95-E2A6-E42CB0456989}"/>
              </a:ext>
            </a:extLst>
          </p:cNvPr>
          <p:cNvSpPr/>
          <p:nvPr/>
        </p:nvSpPr>
        <p:spPr>
          <a:xfrm>
            <a:off x="889000" y="1389873"/>
            <a:ext cx="2667000" cy="32452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5DE1F05A-EE4F-010D-26C9-0168857E9659}"/>
              </a:ext>
            </a:extLst>
          </p:cNvPr>
          <p:cNvSpPr/>
          <p:nvPr/>
        </p:nvSpPr>
        <p:spPr>
          <a:xfrm>
            <a:off x="889000" y="2405873"/>
            <a:ext cx="2667000" cy="32452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7D30100-84AC-3C62-599B-76D4AD94A18C}"/>
              </a:ext>
            </a:extLst>
          </p:cNvPr>
          <p:cNvSpPr/>
          <p:nvPr/>
        </p:nvSpPr>
        <p:spPr>
          <a:xfrm>
            <a:off x="889000" y="4895073"/>
            <a:ext cx="2667000" cy="32452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1509EAB4-A959-57CA-1085-631023C798C6}"/>
              </a:ext>
            </a:extLst>
          </p:cNvPr>
          <p:cNvSpPr txBox="1"/>
          <p:nvPr/>
        </p:nvSpPr>
        <p:spPr>
          <a:xfrm>
            <a:off x="10332481" y="1808480"/>
            <a:ext cx="1107996" cy="369332"/>
          </a:xfrm>
          <a:prstGeom prst="rect">
            <a:avLst/>
          </a:prstGeom>
          <a:noFill/>
        </p:spPr>
        <p:txBody>
          <a:bodyPr wrap="none" rtlCol="0">
            <a:spAutoFit/>
          </a:bodyPr>
          <a:lstStyle/>
          <a:p>
            <a:r>
              <a:rPr lang="zh-TW" altLang="en-US" dirty="0"/>
              <a:t>對照文件</a:t>
            </a:r>
            <a:endParaRPr lang="en-US" dirty="0"/>
          </a:p>
        </p:txBody>
      </p:sp>
      <p:sp>
        <p:nvSpPr>
          <p:cNvPr id="11" name="Rectangle 10">
            <a:extLst>
              <a:ext uri="{FF2B5EF4-FFF2-40B4-BE49-F238E27FC236}">
                <a16:creationId xmlns:a16="http://schemas.microsoft.com/office/drawing/2014/main" id="{B70CE4A6-586D-88BE-3B12-8E41C0F6531A}"/>
              </a:ext>
            </a:extLst>
          </p:cNvPr>
          <p:cNvSpPr/>
          <p:nvPr/>
        </p:nvSpPr>
        <p:spPr>
          <a:xfrm>
            <a:off x="9434945" y="2497317"/>
            <a:ext cx="2182090" cy="206654"/>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584A93A-7CAD-3F14-5497-54C84F5751BA}"/>
              </a:ext>
            </a:extLst>
          </p:cNvPr>
          <p:cNvSpPr/>
          <p:nvPr/>
        </p:nvSpPr>
        <p:spPr>
          <a:xfrm>
            <a:off x="9559635" y="4540827"/>
            <a:ext cx="2057400" cy="206653"/>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5C4710-8E86-6F6B-9397-ACBB9F48838A}"/>
              </a:ext>
            </a:extLst>
          </p:cNvPr>
          <p:cNvSpPr/>
          <p:nvPr/>
        </p:nvSpPr>
        <p:spPr>
          <a:xfrm>
            <a:off x="9559635" y="4194891"/>
            <a:ext cx="2057401" cy="191141"/>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A6A72277-1A4B-02D7-F5EB-0F3E264AA8EA}"/>
              </a:ext>
            </a:extLst>
          </p:cNvPr>
          <p:cNvSpPr/>
          <p:nvPr/>
        </p:nvSpPr>
        <p:spPr>
          <a:xfrm>
            <a:off x="457200" y="1389873"/>
            <a:ext cx="288958" cy="32452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1</a:t>
            </a:r>
            <a:endParaRPr lang="en-US" dirty="0">
              <a:solidFill>
                <a:schemeClr val="tx1"/>
              </a:solidFill>
            </a:endParaRPr>
          </a:p>
        </p:txBody>
      </p:sp>
      <p:sp>
        <p:nvSpPr>
          <p:cNvPr id="15" name="Oval 14">
            <a:extLst>
              <a:ext uri="{FF2B5EF4-FFF2-40B4-BE49-F238E27FC236}">
                <a16:creationId xmlns:a16="http://schemas.microsoft.com/office/drawing/2014/main" id="{DDAF01EB-A3D4-F32F-7218-1FC137B8B961}"/>
              </a:ext>
            </a:extLst>
          </p:cNvPr>
          <p:cNvSpPr/>
          <p:nvPr/>
        </p:nvSpPr>
        <p:spPr>
          <a:xfrm>
            <a:off x="465603" y="2379442"/>
            <a:ext cx="288958" cy="32452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2</a:t>
            </a:r>
            <a:endParaRPr lang="en-US" dirty="0">
              <a:solidFill>
                <a:schemeClr val="tx1"/>
              </a:solidFill>
            </a:endParaRPr>
          </a:p>
        </p:txBody>
      </p:sp>
      <p:sp>
        <p:nvSpPr>
          <p:cNvPr id="16" name="Oval 15">
            <a:extLst>
              <a:ext uri="{FF2B5EF4-FFF2-40B4-BE49-F238E27FC236}">
                <a16:creationId xmlns:a16="http://schemas.microsoft.com/office/drawing/2014/main" id="{7B708457-8FA0-ABC0-9BAE-1F03DD83A045}"/>
              </a:ext>
            </a:extLst>
          </p:cNvPr>
          <p:cNvSpPr/>
          <p:nvPr/>
        </p:nvSpPr>
        <p:spPr>
          <a:xfrm>
            <a:off x="459670" y="4879864"/>
            <a:ext cx="288958" cy="32452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3</a:t>
            </a:r>
            <a:endParaRPr lang="en-US" dirty="0">
              <a:solidFill>
                <a:schemeClr val="tx1"/>
              </a:solidFill>
            </a:endParaRPr>
          </a:p>
        </p:txBody>
      </p:sp>
      <p:sp>
        <p:nvSpPr>
          <p:cNvPr id="17" name="Oval 16">
            <a:extLst>
              <a:ext uri="{FF2B5EF4-FFF2-40B4-BE49-F238E27FC236}">
                <a16:creationId xmlns:a16="http://schemas.microsoft.com/office/drawing/2014/main" id="{044E918A-2A8A-5C91-4EDF-983102955B75}"/>
              </a:ext>
            </a:extLst>
          </p:cNvPr>
          <p:cNvSpPr/>
          <p:nvPr/>
        </p:nvSpPr>
        <p:spPr>
          <a:xfrm>
            <a:off x="11695405" y="4128196"/>
            <a:ext cx="288958" cy="32452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1</a:t>
            </a:r>
            <a:endParaRPr lang="en-US" dirty="0">
              <a:solidFill>
                <a:schemeClr val="tx1"/>
              </a:solidFill>
            </a:endParaRPr>
          </a:p>
        </p:txBody>
      </p:sp>
      <p:sp>
        <p:nvSpPr>
          <p:cNvPr id="18" name="Oval 17">
            <a:extLst>
              <a:ext uri="{FF2B5EF4-FFF2-40B4-BE49-F238E27FC236}">
                <a16:creationId xmlns:a16="http://schemas.microsoft.com/office/drawing/2014/main" id="{0829B036-8F66-2AC9-5C59-B20C266A8C24}"/>
              </a:ext>
            </a:extLst>
          </p:cNvPr>
          <p:cNvSpPr/>
          <p:nvPr/>
        </p:nvSpPr>
        <p:spPr>
          <a:xfrm>
            <a:off x="11705796" y="4496645"/>
            <a:ext cx="288958" cy="32452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2</a:t>
            </a:r>
            <a:endParaRPr lang="en-US" dirty="0">
              <a:solidFill>
                <a:schemeClr val="tx1"/>
              </a:solidFill>
            </a:endParaRPr>
          </a:p>
        </p:txBody>
      </p:sp>
      <p:sp>
        <p:nvSpPr>
          <p:cNvPr id="19" name="Oval 18">
            <a:extLst>
              <a:ext uri="{FF2B5EF4-FFF2-40B4-BE49-F238E27FC236}">
                <a16:creationId xmlns:a16="http://schemas.microsoft.com/office/drawing/2014/main" id="{98B45CB1-9E7F-4630-F811-DFCE24E21713}"/>
              </a:ext>
            </a:extLst>
          </p:cNvPr>
          <p:cNvSpPr/>
          <p:nvPr/>
        </p:nvSpPr>
        <p:spPr>
          <a:xfrm>
            <a:off x="11670467" y="2438379"/>
            <a:ext cx="288958" cy="32452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3</a:t>
            </a:r>
            <a:endParaRPr lang="en-US" dirty="0">
              <a:solidFill>
                <a:schemeClr val="tx1"/>
              </a:solidFill>
            </a:endParaRPr>
          </a:p>
        </p:txBody>
      </p:sp>
      <p:sp>
        <p:nvSpPr>
          <p:cNvPr id="20" name="Rectangle 19">
            <a:extLst>
              <a:ext uri="{FF2B5EF4-FFF2-40B4-BE49-F238E27FC236}">
                <a16:creationId xmlns:a16="http://schemas.microsoft.com/office/drawing/2014/main" id="{7E1DDCAC-065C-9D75-487F-94D54DA454D4}"/>
              </a:ext>
            </a:extLst>
          </p:cNvPr>
          <p:cNvSpPr/>
          <p:nvPr/>
        </p:nvSpPr>
        <p:spPr>
          <a:xfrm>
            <a:off x="889000" y="2839075"/>
            <a:ext cx="2667000" cy="249565"/>
          </a:xfrm>
          <a:prstGeom prst="rect">
            <a:avLst/>
          </a:prstGeom>
          <a:noFill/>
          <a:ln w="28575">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CCCC"/>
              </a:solidFill>
            </a:endParaRPr>
          </a:p>
        </p:txBody>
      </p:sp>
      <p:sp>
        <p:nvSpPr>
          <p:cNvPr id="21" name="Oval 20">
            <a:extLst>
              <a:ext uri="{FF2B5EF4-FFF2-40B4-BE49-F238E27FC236}">
                <a16:creationId xmlns:a16="http://schemas.microsoft.com/office/drawing/2014/main" id="{55B4438A-99AD-2ED2-221B-BB07B381C489}"/>
              </a:ext>
            </a:extLst>
          </p:cNvPr>
          <p:cNvSpPr/>
          <p:nvPr/>
        </p:nvSpPr>
        <p:spPr>
          <a:xfrm>
            <a:off x="156158" y="2801592"/>
            <a:ext cx="935046" cy="32452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bg1">
                    <a:lumMod val="65000"/>
                  </a:schemeClr>
                </a:solidFill>
              </a:rPr>
              <a:t>2-1</a:t>
            </a:r>
            <a:endParaRPr lang="en-US" dirty="0">
              <a:solidFill>
                <a:schemeClr val="bg1">
                  <a:lumMod val="65000"/>
                </a:schemeClr>
              </a:solidFill>
            </a:endParaRPr>
          </a:p>
        </p:txBody>
      </p:sp>
      <p:sp>
        <p:nvSpPr>
          <p:cNvPr id="22" name="Oval 21">
            <a:extLst>
              <a:ext uri="{FF2B5EF4-FFF2-40B4-BE49-F238E27FC236}">
                <a16:creationId xmlns:a16="http://schemas.microsoft.com/office/drawing/2014/main" id="{BC31FEE6-1662-8931-D1E2-58333CFD9AB2}"/>
              </a:ext>
            </a:extLst>
          </p:cNvPr>
          <p:cNvSpPr/>
          <p:nvPr/>
        </p:nvSpPr>
        <p:spPr>
          <a:xfrm>
            <a:off x="11410123" y="4845229"/>
            <a:ext cx="935046" cy="32452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bg1">
                    <a:lumMod val="65000"/>
                  </a:schemeClr>
                </a:solidFill>
              </a:rPr>
              <a:t>2-1</a:t>
            </a:r>
            <a:endParaRPr lang="en-US" dirty="0">
              <a:solidFill>
                <a:schemeClr val="bg1">
                  <a:lumMod val="65000"/>
                </a:schemeClr>
              </a:solidFill>
            </a:endParaRPr>
          </a:p>
        </p:txBody>
      </p:sp>
      <p:cxnSp>
        <p:nvCxnSpPr>
          <p:cNvPr id="25" name="Straight Arrow Connector 24">
            <a:extLst>
              <a:ext uri="{FF2B5EF4-FFF2-40B4-BE49-F238E27FC236}">
                <a16:creationId xmlns:a16="http://schemas.microsoft.com/office/drawing/2014/main" id="{18CA85B9-94AA-B9F0-0581-B6F787835692}"/>
              </a:ext>
            </a:extLst>
          </p:cNvPr>
          <p:cNvCxnSpPr/>
          <p:nvPr/>
        </p:nvCxnSpPr>
        <p:spPr>
          <a:xfrm>
            <a:off x="11023600" y="4845229"/>
            <a:ext cx="646867" cy="16226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8256343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11C43-0B3E-A9F2-6AE9-71A0CAA9C9A0}"/>
              </a:ext>
            </a:extLst>
          </p:cNvPr>
          <p:cNvSpPr>
            <a:spLocks noGrp="1"/>
          </p:cNvSpPr>
          <p:nvPr>
            <p:ph type="title"/>
          </p:nvPr>
        </p:nvSpPr>
        <p:spPr/>
        <p:txBody>
          <a:bodyPr/>
          <a:lstStyle/>
          <a:p>
            <a:r>
              <a:rPr lang="en-US" altLang="zh-TW" dirty="0"/>
              <a:t>Understanding Important Data</a:t>
            </a:r>
            <a:r>
              <a:rPr lang="zh-TW" altLang="en-US" dirty="0"/>
              <a:t> </a:t>
            </a:r>
            <a:r>
              <a:rPr lang="en-US" altLang="zh-TW" dirty="0"/>
              <a:t>Structure</a:t>
            </a:r>
            <a:endParaRPr lang="en-US" dirty="0"/>
          </a:p>
        </p:txBody>
      </p:sp>
      <p:pic>
        <p:nvPicPr>
          <p:cNvPr id="5" name="Picture 4">
            <a:extLst>
              <a:ext uri="{FF2B5EF4-FFF2-40B4-BE49-F238E27FC236}">
                <a16:creationId xmlns:a16="http://schemas.microsoft.com/office/drawing/2014/main" id="{8E2D1B2D-989A-C519-308C-81903B733D81}"/>
              </a:ext>
            </a:extLst>
          </p:cNvPr>
          <p:cNvPicPr>
            <a:picLocks noChangeAspect="1"/>
          </p:cNvPicPr>
          <p:nvPr/>
        </p:nvPicPr>
        <p:blipFill>
          <a:blip r:embed="rId3"/>
          <a:stretch>
            <a:fillRect/>
          </a:stretch>
        </p:blipFill>
        <p:spPr>
          <a:xfrm>
            <a:off x="934720" y="1570330"/>
            <a:ext cx="10109200" cy="4922545"/>
          </a:xfrm>
          <a:prstGeom prst="rect">
            <a:avLst/>
          </a:prstGeom>
        </p:spPr>
      </p:pic>
      <p:sp>
        <p:nvSpPr>
          <p:cNvPr id="7" name="TextBox 6">
            <a:extLst>
              <a:ext uri="{FF2B5EF4-FFF2-40B4-BE49-F238E27FC236}">
                <a16:creationId xmlns:a16="http://schemas.microsoft.com/office/drawing/2014/main" id="{7A8E41A9-7996-AD82-EAC0-DE41AF3D0DEA}"/>
              </a:ext>
            </a:extLst>
          </p:cNvPr>
          <p:cNvSpPr txBox="1"/>
          <p:nvPr/>
        </p:nvSpPr>
        <p:spPr>
          <a:xfrm>
            <a:off x="6096000" y="6581001"/>
            <a:ext cx="6096000" cy="276999"/>
          </a:xfrm>
          <a:prstGeom prst="rect">
            <a:avLst/>
          </a:prstGeom>
          <a:noFill/>
        </p:spPr>
        <p:txBody>
          <a:bodyPr wrap="square">
            <a:spAutoFit/>
          </a:bodyPr>
          <a:lstStyle/>
          <a:p>
            <a:r>
              <a:rPr lang="en-US" sz="1200" dirty="0">
                <a:hlinkClick r:id="rId4"/>
              </a:rPr>
              <a:t>https://support.10xgenomics.com/single-cell-atac/software/pipelines/latest/output/singlecell</a:t>
            </a:r>
            <a:endParaRPr lang="en-US" sz="1200" dirty="0"/>
          </a:p>
        </p:txBody>
      </p:sp>
    </p:spTree>
    <p:extLst>
      <p:ext uri="{BB962C8B-B14F-4D97-AF65-F5344CB8AC3E}">
        <p14:creationId xmlns:p14="http://schemas.microsoft.com/office/powerpoint/2010/main" val="258104632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11C43-0B3E-A9F2-6AE9-71A0CAA9C9A0}"/>
              </a:ext>
            </a:extLst>
          </p:cNvPr>
          <p:cNvSpPr>
            <a:spLocks noGrp="1"/>
          </p:cNvSpPr>
          <p:nvPr>
            <p:ph type="title"/>
          </p:nvPr>
        </p:nvSpPr>
        <p:spPr>
          <a:xfrm>
            <a:off x="558800" y="365125"/>
            <a:ext cx="11033760" cy="1325563"/>
          </a:xfrm>
        </p:spPr>
        <p:txBody>
          <a:bodyPr/>
          <a:lstStyle/>
          <a:p>
            <a:r>
              <a:rPr lang="en-US" altLang="zh-TW" dirty="0"/>
              <a:t>Understanding Important Data</a:t>
            </a:r>
            <a:r>
              <a:rPr lang="zh-TW" altLang="en-US" dirty="0"/>
              <a:t> </a:t>
            </a:r>
            <a:r>
              <a:rPr lang="en-US" altLang="zh-TW" dirty="0"/>
              <a:t>Structure(</a:t>
            </a:r>
            <a:r>
              <a:rPr lang="en-US" altLang="zh-TW" dirty="0" err="1"/>
              <a:t>cont</a:t>
            </a:r>
            <a:r>
              <a:rPr lang="en-US" altLang="zh-TW" dirty="0"/>
              <a:t>)</a:t>
            </a:r>
            <a:endParaRPr lang="en-US" dirty="0"/>
          </a:p>
        </p:txBody>
      </p:sp>
      <p:sp>
        <p:nvSpPr>
          <p:cNvPr id="7" name="TextBox 6">
            <a:extLst>
              <a:ext uri="{FF2B5EF4-FFF2-40B4-BE49-F238E27FC236}">
                <a16:creationId xmlns:a16="http://schemas.microsoft.com/office/drawing/2014/main" id="{7A8E41A9-7996-AD82-EAC0-DE41AF3D0DEA}"/>
              </a:ext>
            </a:extLst>
          </p:cNvPr>
          <p:cNvSpPr txBox="1"/>
          <p:nvPr/>
        </p:nvSpPr>
        <p:spPr>
          <a:xfrm>
            <a:off x="6096000" y="6581001"/>
            <a:ext cx="6096000" cy="276999"/>
          </a:xfrm>
          <a:prstGeom prst="rect">
            <a:avLst/>
          </a:prstGeom>
          <a:noFill/>
        </p:spPr>
        <p:txBody>
          <a:bodyPr wrap="square">
            <a:spAutoFit/>
          </a:bodyPr>
          <a:lstStyle/>
          <a:p>
            <a:r>
              <a:rPr lang="en-US" sz="1200" dirty="0">
                <a:hlinkClick r:id="rId3"/>
              </a:rPr>
              <a:t>https://support.10xgenomics.com/single-cell-atac/software/pipelines/latest/output/singlecell</a:t>
            </a:r>
            <a:endParaRPr lang="en-US" sz="1200" dirty="0"/>
          </a:p>
        </p:txBody>
      </p:sp>
      <p:pic>
        <p:nvPicPr>
          <p:cNvPr id="4" name="Picture 3">
            <a:extLst>
              <a:ext uri="{FF2B5EF4-FFF2-40B4-BE49-F238E27FC236}">
                <a16:creationId xmlns:a16="http://schemas.microsoft.com/office/drawing/2014/main" id="{1E172194-58BB-3FD6-2D67-125A7C3B71FC}"/>
              </a:ext>
            </a:extLst>
          </p:cNvPr>
          <p:cNvPicPr>
            <a:picLocks noChangeAspect="1"/>
          </p:cNvPicPr>
          <p:nvPr/>
        </p:nvPicPr>
        <p:blipFill>
          <a:blip r:embed="rId4"/>
          <a:stretch>
            <a:fillRect/>
          </a:stretch>
        </p:blipFill>
        <p:spPr>
          <a:xfrm>
            <a:off x="944880" y="1438571"/>
            <a:ext cx="9692640" cy="5054304"/>
          </a:xfrm>
          <a:prstGeom prst="rect">
            <a:avLst/>
          </a:prstGeom>
        </p:spPr>
      </p:pic>
    </p:spTree>
    <p:extLst>
      <p:ext uri="{BB962C8B-B14F-4D97-AF65-F5344CB8AC3E}">
        <p14:creationId xmlns:p14="http://schemas.microsoft.com/office/powerpoint/2010/main" val="307095805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A3BC4-F6BD-F9C2-2F9B-3517F9E87357}"/>
              </a:ext>
            </a:extLst>
          </p:cNvPr>
          <p:cNvSpPr>
            <a:spLocks noGrp="1"/>
          </p:cNvSpPr>
          <p:nvPr>
            <p:ph type="title"/>
          </p:nvPr>
        </p:nvSpPr>
        <p:spPr/>
        <p:txBody>
          <a:bodyPr/>
          <a:lstStyle/>
          <a:p>
            <a:r>
              <a:rPr lang="zh-TW" altLang="en-US" dirty="0"/>
              <a:t>補充：</a:t>
            </a:r>
            <a:r>
              <a:rPr lang="en-US" altLang="zh-TW" dirty="0" err="1"/>
              <a:t>sep</a:t>
            </a:r>
            <a:r>
              <a:rPr lang="en-US" altLang="zh-TW" dirty="0"/>
              <a:t> </a:t>
            </a:r>
            <a:r>
              <a:rPr lang="zh-TW" altLang="en-US" dirty="0"/>
              <a:t>參數的用途</a:t>
            </a:r>
            <a:endParaRPr lang="en-US" dirty="0"/>
          </a:p>
        </p:txBody>
      </p:sp>
      <p:pic>
        <p:nvPicPr>
          <p:cNvPr id="5" name="Picture 4">
            <a:extLst>
              <a:ext uri="{FF2B5EF4-FFF2-40B4-BE49-F238E27FC236}">
                <a16:creationId xmlns:a16="http://schemas.microsoft.com/office/drawing/2014/main" id="{175641D7-25AE-8803-B2C2-93A5483D0868}"/>
              </a:ext>
            </a:extLst>
          </p:cNvPr>
          <p:cNvPicPr>
            <a:picLocks noChangeAspect="1"/>
          </p:cNvPicPr>
          <p:nvPr/>
        </p:nvPicPr>
        <p:blipFill>
          <a:blip r:embed="rId2"/>
          <a:stretch>
            <a:fillRect/>
          </a:stretch>
        </p:blipFill>
        <p:spPr>
          <a:xfrm>
            <a:off x="996708" y="4504654"/>
            <a:ext cx="8169348" cy="815411"/>
          </a:xfrm>
          <a:prstGeom prst="rect">
            <a:avLst/>
          </a:prstGeom>
        </p:spPr>
      </p:pic>
      <p:pic>
        <p:nvPicPr>
          <p:cNvPr id="7" name="Picture 6">
            <a:extLst>
              <a:ext uri="{FF2B5EF4-FFF2-40B4-BE49-F238E27FC236}">
                <a16:creationId xmlns:a16="http://schemas.microsoft.com/office/drawing/2014/main" id="{1C95AB1E-8844-53CD-526C-F431893A8B0D}"/>
              </a:ext>
            </a:extLst>
          </p:cNvPr>
          <p:cNvPicPr>
            <a:picLocks noChangeAspect="1"/>
          </p:cNvPicPr>
          <p:nvPr/>
        </p:nvPicPr>
        <p:blipFill>
          <a:blip r:embed="rId3"/>
          <a:stretch>
            <a:fillRect/>
          </a:stretch>
        </p:blipFill>
        <p:spPr>
          <a:xfrm>
            <a:off x="996708" y="2231215"/>
            <a:ext cx="5585944" cy="1554615"/>
          </a:xfrm>
          <a:prstGeom prst="rect">
            <a:avLst/>
          </a:prstGeom>
        </p:spPr>
      </p:pic>
      <p:sp>
        <p:nvSpPr>
          <p:cNvPr id="10" name="Rectangle 9">
            <a:extLst>
              <a:ext uri="{FF2B5EF4-FFF2-40B4-BE49-F238E27FC236}">
                <a16:creationId xmlns:a16="http://schemas.microsoft.com/office/drawing/2014/main" id="{6C8694F5-80BA-D227-811C-525143319163}"/>
              </a:ext>
            </a:extLst>
          </p:cNvPr>
          <p:cNvSpPr/>
          <p:nvPr/>
        </p:nvSpPr>
        <p:spPr>
          <a:xfrm>
            <a:off x="1254760" y="2644894"/>
            <a:ext cx="2667000" cy="230386"/>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a:extLst>
              <a:ext uri="{FF2B5EF4-FFF2-40B4-BE49-F238E27FC236}">
                <a16:creationId xmlns:a16="http://schemas.microsoft.com/office/drawing/2014/main" id="{BFAB84EA-33A6-1617-3C26-A2CC8DB511C4}"/>
              </a:ext>
            </a:extLst>
          </p:cNvPr>
          <p:cNvCxnSpPr/>
          <p:nvPr/>
        </p:nvCxnSpPr>
        <p:spPr>
          <a:xfrm>
            <a:off x="2011680" y="2922849"/>
            <a:ext cx="0" cy="1403508"/>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410461601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4BA0A-108F-3178-CCC7-F068CC5BBCDF}"/>
              </a:ext>
            </a:extLst>
          </p:cNvPr>
          <p:cNvSpPr>
            <a:spLocks noGrp="1"/>
          </p:cNvSpPr>
          <p:nvPr>
            <p:ph type="title"/>
          </p:nvPr>
        </p:nvSpPr>
        <p:spPr/>
        <p:txBody>
          <a:bodyPr/>
          <a:lstStyle/>
          <a:p>
            <a:r>
              <a:rPr lang="en-US" dirty="0"/>
              <a:t>Peak/Cell Matrix</a:t>
            </a:r>
          </a:p>
        </p:txBody>
      </p:sp>
      <p:pic>
        <p:nvPicPr>
          <p:cNvPr id="1026" name="Picture 2">
            <a:extLst>
              <a:ext uri="{FF2B5EF4-FFF2-40B4-BE49-F238E27FC236}">
                <a16:creationId xmlns:a16="http://schemas.microsoft.com/office/drawing/2014/main" id="{D6C900C9-6C6C-8C07-B2D7-1DBE5DD806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614488"/>
            <a:ext cx="12192000" cy="36274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808746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AC065-5F8C-7C31-9CE7-3A81293CC406}"/>
              </a:ext>
            </a:extLst>
          </p:cNvPr>
          <p:cNvSpPr>
            <a:spLocks noGrp="1"/>
          </p:cNvSpPr>
          <p:nvPr>
            <p:ph type="title"/>
          </p:nvPr>
        </p:nvSpPr>
        <p:spPr/>
        <p:txBody>
          <a:bodyPr/>
          <a:lstStyle/>
          <a:p>
            <a:r>
              <a:rPr lang="zh-TW" altLang="en-US" dirty="0"/>
              <a:t>查看 </a:t>
            </a:r>
            <a:r>
              <a:rPr lang="en-US" altLang="zh-TW" dirty="0"/>
              <a:t>fragment.tsv.gz </a:t>
            </a:r>
            <a:r>
              <a:rPr lang="zh-TW" altLang="en-US" dirty="0"/>
              <a:t>內容</a:t>
            </a:r>
            <a:endParaRPr lang="en-US" dirty="0"/>
          </a:p>
        </p:txBody>
      </p:sp>
      <p:pic>
        <p:nvPicPr>
          <p:cNvPr id="5" name="Picture 4">
            <a:extLst>
              <a:ext uri="{FF2B5EF4-FFF2-40B4-BE49-F238E27FC236}">
                <a16:creationId xmlns:a16="http://schemas.microsoft.com/office/drawing/2014/main" id="{69982415-CB0F-9C2A-F18B-CD00CB689423}"/>
              </a:ext>
            </a:extLst>
          </p:cNvPr>
          <p:cNvPicPr>
            <a:picLocks noChangeAspect="1"/>
          </p:cNvPicPr>
          <p:nvPr/>
        </p:nvPicPr>
        <p:blipFill>
          <a:blip r:embed="rId2"/>
          <a:stretch>
            <a:fillRect/>
          </a:stretch>
        </p:blipFill>
        <p:spPr>
          <a:xfrm>
            <a:off x="220471" y="1953057"/>
            <a:ext cx="11751058" cy="4679085"/>
          </a:xfrm>
          <a:prstGeom prst="rect">
            <a:avLst/>
          </a:prstGeom>
        </p:spPr>
      </p:pic>
      <p:sp>
        <p:nvSpPr>
          <p:cNvPr id="6" name="Rectangle 5">
            <a:extLst>
              <a:ext uri="{FF2B5EF4-FFF2-40B4-BE49-F238E27FC236}">
                <a16:creationId xmlns:a16="http://schemas.microsoft.com/office/drawing/2014/main" id="{39AC558D-3DE2-92AA-27DF-3014C2D7B0D4}"/>
              </a:ext>
            </a:extLst>
          </p:cNvPr>
          <p:cNvSpPr/>
          <p:nvPr/>
        </p:nvSpPr>
        <p:spPr>
          <a:xfrm>
            <a:off x="220470" y="4216400"/>
            <a:ext cx="5276089" cy="206248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50B3E2CD-A734-B287-8821-A6CE72E02AA6}"/>
              </a:ext>
            </a:extLst>
          </p:cNvPr>
          <p:cNvSpPr txBox="1"/>
          <p:nvPr/>
        </p:nvSpPr>
        <p:spPr>
          <a:xfrm>
            <a:off x="4638485" y="6254775"/>
            <a:ext cx="2431628" cy="369332"/>
          </a:xfrm>
          <a:prstGeom prst="rect">
            <a:avLst/>
          </a:prstGeom>
          <a:solidFill>
            <a:schemeClr val="bg1"/>
          </a:solidFill>
        </p:spPr>
        <p:txBody>
          <a:bodyPr wrap="none" rtlCol="0">
            <a:spAutoFit/>
          </a:bodyPr>
          <a:lstStyle/>
          <a:p>
            <a:r>
              <a:rPr lang="zh-TW" altLang="en-US" dirty="0"/>
              <a:t>該</a:t>
            </a:r>
            <a:r>
              <a:rPr lang="en-US" altLang="zh-TW" dirty="0"/>
              <a:t>fragment</a:t>
            </a:r>
            <a:r>
              <a:rPr lang="zh-TW" altLang="en-US" dirty="0"/>
              <a:t>片段的數量</a:t>
            </a:r>
            <a:endParaRPr lang="en-US" dirty="0"/>
          </a:p>
        </p:txBody>
      </p:sp>
      <p:sp>
        <p:nvSpPr>
          <p:cNvPr id="8" name="TextBox 7">
            <a:extLst>
              <a:ext uri="{FF2B5EF4-FFF2-40B4-BE49-F238E27FC236}">
                <a16:creationId xmlns:a16="http://schemas.microsoft.com/office/drawing/2014/main" id="{82592259-96EE-93C2-5B88-4C8D2D2A8587}"/>
              </a:ext>
            </a:extLst>
          </p:cNvPr>
          <p:cNvSpPr txBox="1"/>
          <p:nvPr/>
        </p:nvSpPr>
        <p:spPr>
          <a:xfrm>
            <a:off x="143155" y="1497987"/>
            <a:ext cx="2715359" cy="369332"/>
          </a:xfrm>
          <a:prstGeom prst="rect">
            <a:avLst/>
          </a:prstGeom>
          <a:noFill/>
        </p:spPr>
        <p:txBody>
          <a:bodyPr wrap="none" rtlCol="0">
            <a:spAutoFit/>
          </a:bodyPr>
          <a:lstStyle/>
          <a:p>
            <a:r>
              <a:rPr lang="zh-TW" altLang="en-US" dirty="0"/>
              <a:t>每一行就是一條 </a:t>
            </a:r>
            <a:r>
              <a:rPr lang="en-US" altLang="zh-TW" dirty="0"/>
              <a:t>fragment</a:t>
            </a:r>
            <a:endParaRPr lang="en-US" dirty="0"/>
          </a:p>
        </p:txBody>
      </p:sp>
      <p:sp>
        <p:nvSpPr>
          <p:cNvPr id="9" name="TextBox 8">
            <a:extLst>
              <a:ext uri="{FF2B5EF4-FFF2-40B4-BE49-F238E27FC236}">
                <a16:creationId xmlns:a16="http://schemas.microsoft.com/office/drawing/2014/main" id="{EF747C43-4BD0-498D-34B2-E3212E87695A}"/>
              </a:ext>
            </a:extLst>
          </p:cNvPr>
          <p:cNvSpPr txBox="1"/>
          <p:nvPr/>
        </p:nvSpPr>
        <p:spPr>
          <a:xfrm>
            <a:off x="220470" y="3761330"/>
            <a:ext cx="877163" cy="369332"/>
          </a:xfrm>
          <a:prstGeom prst="rect">
            <a:avLst/>
          </a:prstGeom>
          <a:solidFill>
            <a:schemeClr val="bg1"/>
          </a:solidFill>
        </p:spPr>
        <p:txBody>
          <a:bodyPr wrap="none" rtlCol="0">
            <a:spAutoFit/>
          </a:bodyPr>
          <a:lstStyle/>
          <a:p>
            <a:r>
              <a:rPr lang="zh-TW" altLang="en-US" dirty="0"/>
              <a:t>染色體</a:t>
            </a:r>
            <a:endParaRPr lang="en-US" dirty="0"/>
          </a:p>
        </p:txBody>
      </p:sp>
      <p:sp>
        <p:nvSpPr>
          <p:cNvPr id="10" name="TextBox 9">
            <a:extLst>
              <a:ext uri="{FF2B5EF4-FFF2-40B4-BE49-F238E27FC236}">
                <a16:creationId xmlns:a16="http://schemas.microsoft.com/office/drawing/2014/main" id="{573FE316-9055-0CD6-2E71-ADDCFB7B90E3}"/>
              </a:ext>
            </a:extLst>
          </p:cNvPr>
          <p:cNvSpPr txBox="1"/>
          <p:nvPr/>
        </p:nvSpPr>
        <p:spPr>
          <a:xfrm>
            <a:off x="748528" y="6273022"/>
            <a:ext cx="1107996" cy="369332"/>
          </a:xfrm>
          <a:prstGeom prst="rect">
            <a:avLst/>
          </a:prstGeom>
          <a:solidFill>
            <a:schemeClr val="bg1"/>
          </a:solidFill>
        </p:spPr>
        <p:txBody>
          <a:bodyPr wrap="none" rtlCol="0">
            <a:spAutoFit/>
          </a:bodyPr>
          <a:lstStyle/>
          <a:p>
            <a:r>
              <a:rPr lang="zh-TW" altLang="en-US" dirty="0"/>
              <a:t>起始位置</a:t>
            </a:r>
            <a:endParaRPr lang="en-US" dirty="0"/>
          </a:p>
        </p:txBody>
      </p:sp>
      <p:sp>
        <p:nvSpPr>
          <p:cNvPr id="11" name="TextBox 10">
            <a:extLst>
              <a:ext uri="{FF2B5EF4-FFF2-40B4-BE49-F238E27FC236}">
                <a16:creationId xmlns:a16="http://schemas.microsoft.com/office/drawing/2014/main" id="{AD2FA744-8EC2-D983-1C07-BCAD0CAE9762}"/>
              </a:ext>
            </a:extLst>
          </p:cNvPr>
          <p:cNvSpPr txBox="1"/>
          <p:nvPr/>
        </p:nvSpPr>
        <p:spPr>
          <a:xfrm>
            <a:off x="1640268" y="3769365"/>
            <a:ext cx="1107996" cy="369332"/>
          </a:xfrm>
          <a:prstGeom prst="rect">
            <a:avLst/>
          </a:prstGeom>
          <a:solidFill>
            <a:schemeClr val="bg1"/>
          </a:solidFill>
        </p:spPr>
        <p:txBody>
          <a:bodyPr wrap="none" rtlCol="0">
            <a:spAutoFit/>
          </a:bodyPr>
          <a:lstStyle/>
          <a:p>
            <a:r>
              <a:rPr lang="zh-TW" altLang="en-US" dirty="0"/>
              <a:t>終止位置</a:t>
            </a:r>
            <a:endParaRPr lang="en-US" dirty="0"/>
          </a:p>
        </p:txBody>
      </p:sp>
      <p:sp>
        <p:nvSpPr>
          <p:cNvPr id="12" name="TextBox 11">
            <a:extLst>
              <a:ext uri="{FF2B5EF4-FFF2-40B4-BE49-F238E27FC236}">
                <a16:creationId xmlns:a16="http://schemas.microsoft.com/office/drawing/2014/main" id="{4065D1B2-0F1A-A671-ECC7-FF2556CECF1D}"/>
              </a:ext>
            </a:extLst>
          </p:cNvPr>
          <p:cNvSpPr txBox="1"/>
          <p:nvPr/>
        </p:nvSpPr>
        <p:spPr>
          <a:xfrm>
            <a:off x="2858514" y="6278880"/>
            <a:ext cx="1410451" cy="369332"/>
          </a:xfrm>
          <a:prstGeom prst="rect">
            <a:avLst/>
          </a:prstGeom>
          <a:solidFill>
            <a:schemeClr val="bg1"/>
          </a:solidFill>
        </p:spPr>
        <p:txBody>
          <a:bodyPr wrap="none" rtlCol="0">
            <a:spAutoFit/>
          </a:bodyPr>
          <a:lstStyle/>
          <a:p>
            <a:r>
              <a:rPr lang="zh-TW" altLang="en-US" dirty="0"/>
              <a:t>對應</a:t>
            </a:r>
            <a:r>
              <a:rPr lang="en-US" altLang="zh-TW" dirty="0"/>
              <a:t>barcode</a:t>
            </a:r>
            <a:endParaRPr lang="en-US" dirty="0"/>
          </a:p>
        </p:txBody>
      </p:sp>
    </p:spTree>
    <p:extLst>
      <p:ext uri="{BB962C8B-B14F-4D97-AF65-F5344CB8AC3E}">
        <p14:creationId xmlns:p14="http://schemas.microsoft.com/office/powerpoint/2010/main" val="144699532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20678-AF3A-D62A-FE48-9E6AF938E728}"/>
              </a:ext>
            </a:extLst>
          </p:cNvPr>
          <p:cNvSpPr>
            <a:spLocks noGrp="1"/>
          </p:cNvSpPr>
          <p:nvPr>
            <p:ph type="title"/>
          </p:nvPr>
        </p:nvSpPr>
        <p:spPr/>
        <p:txBody>
          <a:bodyPr/>
          <a:lstStyle/>
          <a:p>
            <a:r>
              <a:rPr lang="en-US" dirty="0"/>
              <a:t>head(annotations)</a:t>
            </a:r>
          </a:p>
        </p:txBody>
      </p:sp>
      <p:pic>
        <p:nvPicPr>
          <p:cNvPr id="5" name="Picture 4">
            <a:extLst>
              <a:ext uri="{FF2B5EF4-FFF2-40B4-BE49-F238E27FC236}">
                <a16:creationId xmlns:a16="http://schemas.microsoft.com/office/drawing/2014/main" id="{FC595698-FEDC-764F-D86F-68D2F8263916}"/>
              </a:ext>
            </a:extLst>
          </p:cNvPr>
          <p:cNvPicPr>
            <a:picLocks noChangeAspect="1"/>
          </p:cNvPicPr>
          <p:nvPr/>
        </p:nvPicPr>
        <p:blipFill>
          <a:blip r:embed="rId2"/>
          <a:stretch>
            <a:fillRect/>
          </a:stretch>
        </p:blipFill>
        <p:spPr>
          <a:xfrm>
            <a:off x="1006028" y="2118547"/>
            <a:ext cx="10179944" cy="4271862"/>
          </a:xfrm>
          <a:prstGeom prst="rect">
            <a:avLst/>
          </a:prstGeom>
        </p:spPr>
      </p:pic>
    </p:spTree>
    <p:extLst>
      <p:ext uri="{BB962C8B-B14F-4D97-AF65-F5344CB8AC3E}">
        <p14:creationId xmlns:p14="http://schemas.microsoft.com/office/powerpoint/2010/main" val="79353269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20678-AF3A-D62A-FE48-9E6AF938E728}"/>
              </a:ext>
            </a:extLst>
          </p:cNvPr>
          <p:cNvSpPr>
            <a:spLocks noGrp="1"/>
          </p:cNvSpPr>
          <p:nvPr>
            <p:ph type="title"/>
          </p:nvPr>
        </p:nvSpPr>
        <p:spPr/>
        <p:txBody>
          <a:bodyPr/>
          <a:lstStyle/>
          <a:p>
            <a:r>
              <a:rPr lang="en-US" dirty="0"/>
              <a:t>atac_v1_pbmc_10k_singlecell.csv</a:t>
            </a:r>
          </a:p>
        </p:txBody>
      </p:sp>
      <p:pic>
        <p:nvPicPr>
          <p:cNvPr id="2050" name="Picture 2">
            <a:extLst>
              <a:ext uri="{FF2B5EF4-FFF2-40B4-BE49-F238E27FC236}">
                <a16:creationId xmlns:a16="http://schemas.microsoft.com/office/drawing/2014/main" id="{4A8F61D5-FCE9-6A5E-7581-76AADCB51B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460625"/>
            <a:ext cx="12192000" cy="1936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667469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C4E3A-5931-AEC1-654B-B2A948E291F7}"/>
              </a:ext>
            </a:extLst>
          </p:cNvPr>
          <p:cNvSpPr>
            <a:spLocks noGrp="1"/>
          </p:cNvSpPr>
          <p:nvPr>
            <p:ph type="title"/>
          </p:nvPr>
        </p:nvSpPr>
        <p:spPr>
          <a:xfrm>
            <a:off x="482600" y="375285"/>
            <a:ext cx="6385560" cy="925195"/>
          </a:xfrm>
        </p:spPr>
        <p:txBody>
          <a:bodyPr>
            <a:normAutofit/>
          </a:bodyPr>
          <a:lstStyle/>
          <a:p>
            <a:r>
              <a:rPr lang="zh-TW" altLang="en-US" sz="3600" dirty="0"/>
              <a:t>補充：函數 </a:t>
            </a:r>
            <a:r>
              <a:rPr lang="en-US" altLang="zh-TW" sz="3600" dirty="0" err="1"/>
              <a:t>NucleosomeSignal</a:t>
            </a:r>
            <a:r>
              <a:rPr lang="en-US" altLang="zh-TW" sz="3600" dirty="0"/>
              <a:t>()</a:t>
            </a:r>
            <a:endParaRPr lang="en-US" sz="3600" dirty="0"/>
          </a:p>
        </p:txBody>
      </p:sp>
      <p:pic>
        <p:nvPicPr>
          <p:cNvPr id="5" name="Picture 4">
            <a:extLst>
              <a:ext uri="{FF2B5EF4-FFF2-40B4-BE49-F238E27FC236}">
                <a16:creationId xmlns:a16="http://schemas.microsoft.com/office/drawing/2014/main" id="{EF14D8EC-F795-286A-E6F7-F29A8E235CB0}"/>
              </a:ext>
            </a:extLst>
          </p:cNvPr>
          <p:cNvPicPr>
            <a:picLocks noChangeAspect="1"/>
          </p:cNvPicPr>
          <p:nvPr/>
        </p:nvPicPr>
        <p:blipFill>
          <a:blip r:embed="rId3"/>
          <a:stretch>
            <a:fillRect/>
          </a:stretch>
        </p:blipFill>
        <p:spPr>
          <a:xfrm>
            <a:off x="674270" y="2259270"/>
            <a:ext cx="5590235" cy="800150"/>
          </a:xfrm>
          <a:prstGeom prst="rect">
            <a:avLst/>
          </a:prstGeom>
        </p:spPr>
      </p:pic>
      <p:pic>
        <p:nvPicPr>
          <p:cNvPr id="7" name="Picture 6">
            <a:extLst>
              <a:ext uri="{FF2B5EF4-FFF2-40B4-BE49-F238E27FC236}">
                <a16:creationId xmlns:a16="http://schemas.microsoft.com/office/drawing/2014/main" id="{30CD26B7-2D75-AA74-6132-24951570B618}"/>
              </a:ext>
            </a:extLst>
          </p:cNvPr>
          <p:cNvPicPr>
            <a:picLocks noChangeAspect="1"/>
          </p:cNvPicPr>
          <p:nvPr/>
        </p:nvPicPr>
        <p:blipFill>
          <a:blip r:embed="rId4"/>
          <a:stretch>
            <a:fillRect/>
          </a:stretch>
        </p:blipFill>
        <p:spPr>
          <a:xfrm>
            <a:off x="7010400" y="620266"/>
            <a:ext cx="4841240" cy="6009015"/>
          </a:xfrm>
          <a:prstGeom prst="rect">
            <a:avLst/>
          </a:prstGeom>
        </p:spPr>
      </p:pic>
      <p:sp>
        <p:nvSpPr>
          <p:cNvPr id="8" name="TextBox 7">
            <a:extLst>
              <a:ext uri="{FF2B5EF4-FFF2-40B4-BE49-F238E27FC236}">
                <a16:creationId xmlns:a16="http://schemas.microsoft.com/office/drawing/2014/main" id="{43200EB2-81DE-501B-5440-0D9DFC949C15}"/>
              </a:ext>
            </a:extLst>
          </p:cNvPr>
          <p:cNvSpPr txBox="1"/>
          <p:nvPr/>
        </p:nvSpPr>
        <p:spPr>
          <a:xfrm>
            <a:off x="1458550" y="3624773"/>
            <a:ext cx="3078087" cy="923330"/>
          </a:xfrm>
          <a:prstGeom prst="rect">
            <a:avLst/>
          </a:prstGeom>
          <a:noFill/>
        </p:spPr>
        <p:txBody>
          <a:bodyPr wrap="none" rtlCol="0">
            <a:spAutoFit/>
          </a:bodyPr>
          <a:lstStyle/>
          <a:p>
            <a:r>
              <a:rPr lang="zh-TW" altLang="en-US" dirty="0"/>
              <a:t>計算核小體信號：</a:t>
            </a:r>
            <a:endParaRPr lang="en-US" altLang="zh-TW" dirty="0"/>
          </a:p>
          <a:p>
            <a:r>
              <a:rPr lang="en-US" altLang="zh-TW" dirty="0"/>
              <a:t>- </a:t>
            </a:r>
            <a:r>
              <a:rPr lang="zh-TW" altLang="en-US" dirty="0"/>
              <a:t>核小體信號強：關閉染色體</a:t>
            </a:r>
            <a:endParaRPr lang="en-US" altLang="zh-TW" dirty="0"/>
          </a:p>
          <a:p>
            <a:r>
              <a:rPr lang="en-US" dirty="0"/>
              <a:t>- </a:t>
            </a:r>
            <a:r>
              <a:rPr lang="zh-TW" altLang="en-US" dirty="0"/>
              <a:t>核小體信號弱：開放染色體</a:t>
            </a:r>
            <a:endParaRPr lang="en-US" dirty="0"/>
          </a:p>
        </p:txBody>
      </p:sp>
    </p:spTree>
    <p:extLst>
      <p:ext uri="{BB962C8B-B14F-4D97-AF65-F5344CB8AC3E}">
        <p14:creationId xmlns:p14="http://schemas.microsoft.com/office/powerpoint/2010/main" val="132891405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51399-3331-7941-A5D4-DF66835A01A2}"/>
              </a:ext>
            </a:extLst>
          </p:cNvPr>
          <p:cNvSpPr>
            <a:spLocks noGrp="1"/>
          </p:cNvSpPr>
          <p:nvPr>
            <p:ph type="title"/>
          </p:nvPr>
        </p:nvSpPr>
        <p:spPr>
          <a:xfrm>
            <a:off x="472440" y="233045"/>
            <a:ext cx="5877560" cy="1097375"/>
          </a:xfrm>
        </p:spPr>
        <p:txBody>
          <a:bodyPr>
            <a:normAutofit/>
          </a:bodyPr>
          <a:lstStyle/>
          <a:p>
            <a:r>
              <a:rPr lang="zh-TW" altLang="en-US" sz="3600" dirty="0"/>
              <a:t>補充：函數 </a:t>
            </a:r>
            <a:r>
              <a:rPr lang="en-US" altLang="zh-TW" sz="3600" dirty="0" err="1"/>
              <a:t>TSSEnrichment</a:t>
            </a:r>
            <a:r>
              <a:rPr lang="en-US" altLang="zh-TW" sz="3600" dirty="0"/>
              <a:t>()</a:t>
            </a:r>
            <a:endParaRPr lang="en-US" sz="3600" dirty="0"/>
          </a:p>
        </p:txBody>
      </p:sp>
      <p:pic>
        <p:nvPicPr>
          <p:cNvPr id="5" name="Picture 4">
            <a:extLst>
              <a:ext uri="{FF2B5EF4-FFF2-40B4-BE49-F238E27FC236}">
                <a16:creationId xmlns:a16="http://schemas.microsoft.com/office/drawing/2014/main" id="{A0EFFF1B-8736-F302-7330-31FD47362DC4}"/>
              </a:ext>
            </a:extLst>
          </p:cNvPr>
          <p:cNvPicPr>
            <a:picLocks noChangeAspect="1"/>
          </p:cNvPicPr>
          <p:nvPr/>
        </p:nvPicPr>
        <p:blipFill>
          <a:blip r:embed="rId3"/>
          <a:stretch>
            <a:fillRect/>
          </a:stretch>
        </p:blipFill>
        <p:spPr>
          <a:xfrm>
            <a:off x="797560" y="2148792"/>
            <a:ext cx="5067739" cy="1097375"/>
          </a:xfrm>
          <a:prstGeom prst="rect">
            <a:avLst/>
          </a:prstGeom>
        </p:spPr>
      </p:pic>
      <p:pic>
        <p:nvPicPr>
          <p:cNvPr id="7" name="Picture 6">
            <a:extLst>
              <a:ext uri="{FF2B5EF4-FFF2-40B4-BE49-F238E27FC236}">
                <a16:creationId xmlns:a16="http://schemas.microsoft.com/office/drawing/2014/main" id="{C91B70FC-982E-3FC2-9412-DC7B52EEE5FC}"/>
              </a:ext>
            </a:extLst>
          </p:cNvPr>
          <p:cNvPicPr>
            <a:picLocks noChangeAspect="1"/>
          </p:cNvPicPr>
          <p:nvPr/>
        </p:nvPicPr>
        <p:blipFill>
          <a:blip r:embed="rId4"/>
          <a:stretch>
            <a:fillRect/>
          </a:stretch>
        </p:blipFill>
        <p:spPr>
          <a:xfrm>
            <a:off x="7024161" y="327391"/>
            <a:ext cx="4808637" cy="6203218"/>
          </a:xfrm>
          <a:prstGeom prst="rect">
            <a:avLst/>
          </a:prstGeom>
        </p:spPr>
      </p:pic>
      <p:sp>
        <p:nvSpPr>
          <p:cNvPr id="8" name="TextBox 7">
            <a:extLst>
              <a:ext uri="{FF2B5EF4-FFF2-40B4-BE49-F238E27FC236}">
                <a16:creationId xmlns:a16="http://schemas.microsoft.com/office/drawing/2014/main" id="{7066F8E2-E6C4-B94A-F55F-EB56E1B74E27}"/>
              </a:ext>
            </a:extLst>
          </p:cNvPr>
          <p:cNvSpPr txBox="1"/>
          <p:nvPr/>
        </p:nvSpPr>
        <p:spPr>
          <a:xfrm>
            <a:off x="835757" y="3611834"/>
            <a:ext cx="4332083" cy="879151"/>
          </a:xfrm>
          <a:prstGeom prst="rect">
            <a:avLst/>
          </a:prstGeom>
          <a:noFill/>
        </p:spPr>
        <p:txBody>
          <a:bodyPr wrap="none" rtlCol="0">
            <a:spAutoFit/>
          </a:bodyPr>
          <a:lstStyle/>
          <a:p>
            <a:pPr>
              <a:lnSpc>
                <a:spcPct val="150000"/>
              </a:lnSpc>
            </a:pPr>
            <a:r>
              <a:rPr lang="en-US" altLang="zh-TW" dirty="0"/>
              <a:t>TSS</a:t>
            </a:r>
            <a:r>
              <a:rPr lang="zh-TW" altLang="en-US" dirty="0"/>
              <a:t> </a:t>
            </a:r>
            <a:r>
              <a:rPr lang="en-US" altLang="zh-TW" dirty="0"/>
              <a:t>Score </a:t>
            </a:r>
            <a:r>
              <a:rPr lang="zh-TW" altLang="en-US" dirty="0"/>
              <a:t>愈大愈好：</a:t>
            </a:r>
            <a:endParaRPr lang="en-US" altLang="zh-TW" dirty="0"/>
          </a:p>
          <a:p>
            <a:pPr>
              <a:lnSpc>
                <a:spcPct val="150000"/>
              </a:lnSpc>
            </a:pPr>
            <a:r>
              <a:rPr lang="zh-TW" altLang="en-US" dirty="0"/>
              <a:t>表示該數據</a:t>
            </a:r>
            <a:r>
              <a:rPr lang="en-US" altLang="zh-TW" dirty="0"/>
              <a:t>(</a:t>
            </a:r>
            <a:r>
              <a:rPr lang="zh-TW" altLang="en-US" dirty="0"/>
              <a:t>該</a:t>
            </a:r>
            <a:r>
              <a:rPr lang="en-US" altLang="zh-TW" dirty="0"/>
              <a:t>peak)</a:t>
            </a:r>
            <a:r>
              <a:rPr lang="zh-TW" altLang="en-US" dirty="0"/>
              <a:t>在</a:t>
            </a:r>
            <a:r>
              <a:rPr lang="en-US" altLang="zh-TW" dirty="0"/>
              <a:t>TSS</a:t>
            </a:r>
            <a:r>
              <a:rPr lang="zh-TW" altLang="en-US" dirty="0"/>
              <a:t>區域富集的程度</a:t>
            </a:r>
            <a:endParaRPr lang="en-US" dirty="0"/>
          </a:p>
        </p:txBody>
      </p:sp>
    </p:spTree>
    <p:extLst>
      <p:ext uri="{BB962C8B-B14F-4D97-AF65-F5344CB8AC3E}">
        <p14:creationId xmlns:p14="http://schemas.microsoft.com/office/powerpoint/2010/main" val="160925676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F3C5187-8A1F-B224-482D-2B06CDA55C12}"/>
              </a:ext>
            </a:extLst>
          </p:cNvPr>
          <p:cNvPicPr>
            <a:picLocks noGrp="1" noChangeAspect="1"/>
          </p:cNvPicPr>
          <p:nvPr>
            <p:ph idx="1"/>
          </p:nvPr>
        </p:nvPicPr>
        <p:blipFill>
          <a:blip r:embed="rId3"/>
          <a:stretch>
            <a:fillRect/>
          </a:stretch>
        </p:blipFill>
        <p:spPr>
          <a:xfrm>
            <a:off x="1369060" y="399900"/>
            <a:ext cx="9453880" cy="6058200"/>
          </a:xfrm>
          <a:prstGeom prst="rect">
            <a:avLst/>
          </a:prstGeom>
        </p:spPr>
      </p:pic>
    </p:spTree>
    <p:extLst>
      <p:ext uri="{BB962C8B-B14F-4D97-AF65-F5344CB8AC3E}">
        <p14:creationId xmlns:p14="http://schemas.microsoft.com/office/powerpoint/2010/main" val="400782566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A2BF0D4-D5AB-0A01-6847-DE34AF61AC56}"/>
              </a:ext>
            </a:extLst>
          </p:cNvPr>
          <p:cNvPicPr>
            <a:picLocks noChangeAspect="1"/>
          </p:cNvPicPr>
          <p:nvPr/>
        </p:nvPicPr>
        <p:blipFill>
          <a:blip r:embed="rId3"/>
          <a:stretch>
            <a:fillRect/>
          </a:stretch>
        </p:blipFill>
        <p:spPr>
          <a:xfrm>
            <a:off x="0" y="279400"/>
            <a:ext cx="12192000" cy="6299200"/>
          </a:xfrm>
          <a:prstGeom prst="rect">
            <a:avLst/>
          </a:prstGeom>
        </p:spPr>
      </p:pic>
    </p:spTree>
    <p:extLst>
      <p:ext uri="{BB962C8B-B14F-4D97-AF65-F5344CB8AC3E}">
        <p14:creationId xmlns:p14="http://schemas.microsoft.com/office/powerpoint/2010/main" val="19746550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6BAC5FE-3177-0767-0E12-A8C12DE62861}"/>
              </a:ext>
            </a:extLst>
          </p:cNvPr>
          <p:cNvPicPr>
            <a:picLocks noChangeAspect="1"/>
          </p:cNvPicPr>
          <p:nvPr/>
        </p:nvPicPr>
        <p:blipFill>
          <a:blip r:embed="rId3"/>
          <a:stretch>
            <a:fillRect/>
          </a:stretch>
        </p:blipFill>
        <p:spPr>
          <a:xfrm>
            <a:off x="0" y="279400"/>
            <a:ext cx="12192000" cy="6299200"/>
          </a:xfrm>
          <a:prstGeom prst="rect">
            <a:avLst/>
          </a:prstGeom>
        </p:spPr>
      </p:pic>
    </p:spTree>
    <p:extLst>
      <p:ext uri="{BB962C8B-B14F-4D97-AF65-F5344CB8AC3E}">
        <p14:creationId xmlns:p14="http://schemas.microsoft.com/office/powerpoint/2010/main" val="197540619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CF634-AEF8-0D9B-86CE-25D55CECCE26}"/>
              </a:ext>
            </a:extLst>
          </p:cNvPr>
          <p:cNvSpPr>
            <a:spLocks noGrp="1"/>
          </p:cNvSpPr>
          <p:nvPr>
            <p:ph type="title"/>
          </p:nvPr>
        </p:nvSpPr>
        <p:spPr/>
        <p:txBody>
          <a:bodyPr/>
          <a:lstStyle/>
          <a:p>
            <a:r>
              <a:rPr lang="en-US" dirty="0"/>
              <a:t>Normalization</a:t>
            </a:r>
          </a:p>
        </p:txBody>
      </p:sp>
      <p:pic>
        <p:nvPicPr>
          <p:cNvPr id="5" name="Picture 4">
            <a:extLst>
              <a:ext uri="{FF2B5EF4-FFF2-40B4-BE49-F238E27FC236}">
                <a16:creationId xmlns:a16="http://schemas.microsoft.com/office/drawing/2014/main" id="{EFB32CD8-D6B1-5312-5952-47C405E7F9EC}"/>
              </a:ext>
            </a:extLst>
          </p:cNvPr>
          <p:cNvPicPr>
            <a:picLocks noChangeAspect="1"/>
          </p:cNvPicPr>
          <p:nvPr/>
        </p:nvPicPr>
        <p:blipFill>
          <a:blip r:embed="rId3"/>
          <a:stretch>
            <a:fillRect/>
          </a:stretch>
        </p:blipFill>
        <p:spPr>
          <a:xfrm>
            <a:off x="1645748" y="2202096"/>
            <a:ext cx="7831002" cy="3810084"/>
          </a:xfrm>
          <a:prstGeom prst="rect">
            <a:avLst/>
          </a:prstGeom>
        </p:spPr>
      </p:pic>
    </p:spTree>
    <p:extLst>
      <p:ext uri="{BB962C8B-B14F-4D97-AF65-F5344CB8AC3E}">
        <p14:creationId xmlns:p14="http://schemas.microsoft.com/office/powerpoint/2010/main" val="128145572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D46757C-467A-21D3-2F9D-052BDFE2B5B8}"/>
              </a:ext>
            </a:extLst>
          </p:cNvPr>
          <p:cNvPicPr>
            <a:picLocks noChangeAspect="1"/>
          </p:cNvPicPr>
          <p:nvPr/>
        </p:nvPicPr>
        <p:blipFill>
          <a:blip r:embed="rId3"/>
          <a:stretch>
            <a:fillRect/>
          </a:stretch>
        </p:blipFill>
        <p:spPr>
          <a:xfrm>
            <a:off x="0" y="279400"/>
            <a:ext cx="12192000" cy="6299200"/>
          </a:xfrm>
          <a:prstGeom prst="rect">
            <a:avLst/>
          </a:prstGeom>
        </p:spPr>
      </p:pic>
    </p:spTree>
    <p:extLst>
      <p:ext uri="{BB962C8B-B14F-4D97-AF65-F5344CB8AC3E}">
        <p14:creationId xmlns:p14="http://schemas.microsoft.com/office/powerpoint/2010/main" val="20200739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8AE06-9D14-7F59-3EBF-2CC4787721BC}"/>
              </a:ext>
            </a:extLst>
          </p:cNvPr>
          <p:cNvSpPr>
            <a:spLocks noGrp="1"/>
          </p:cNvSpPr>
          <p:nvPr>
            <p:ph type="title"/>
          </p:nvPr>
        </p:nvSpPr>
        <p:spPr/>
        <p:txBody>
          <a:bodyPr/>
          <a:lstStyle/>
          <a:p>
            <a:r>
              <a:rPr lang="en-US" altLang="zh-TW" dirty="0" err="1"/>
              <a:t>RunUMAP</a:t>
            </a:r>
            <a:r>
              <a:rPr lang="en-US" altLang="zh-TW" dirty="0"/>
              <a:t>()</a:t>
            </a:r>
            <a:endParaRPr lang="en-US" dirty="0"/>
          </a:p>
        </p:txBody>
      </p:sp>
      <p:pic>
        <p:nvPicPr>
          <p:cNvPr id="5" name="Picture 4">
            <a:extLst>
              <a:ext uri="{FF2B5EF4-FFF2-40B4-BE49-F238E27FC236}">
                <a16:creationId xmlns:a16="http://schemas.microsoft.com/office/drawing/2014/main" id="{07D3F14E-4EFD-3648-6D61-26CE463761C8}"/>
              </a:ext>
            </a:extLst>
          </p:cNvPr>
          <p:cNvPicPr>
            <a:picLocks noChangeAspect="1"/>
          </p:cNvPicPr>
          <p:nvPr/>
        </p:nvPicPr>
        <p:blipFill>
          <a:blip r:embed="rId2"/>
          <a:stretch>
            <a:fillRect/>
          </a:stretch>
        </p:blipFill>
        <p:spPr>
          <a:xfrm>
            <a:off x="1500742" y="1963228"/>
            <a:ext cx="9190516" cy="4435224"/>
          </a:xfrm>
          <a:prstGeom prst="rect">
            <a:avLst/>
          </a:prstGeom>
        </p:spPr>
      </p:pic>
    </p:spTree>
    <p:extLst>
      <p:ext uri="{BB962C8B-B14F-4D97-AF65-F5344CB8AC3E}">
        <p14:creationId xmlns:p14="http://schemas.microsoft.com/office/powerpoint/2010/main" val="391207902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3D8E3-7898-B6DA-5491-646B3122A738}"/>
              </a:ext>
            </a:extLst>
          </p:cNvPr>
          <p:cNvSpPr>
            <a:spLocks noGrp="1"/>
          </p:cNvSpPr>
          <p:nvPr>
            <p:ph type="title"/>
          </p:nvPr>
        </p:nvSpPr>
        <p:spPr/>
        <p:txBody>
          <a:bodyPr/>
          <a:lstStyle/>
          <a:p>
            <a:r>
              <a:rPr lang="zh-TW" altLang="en-US" dirty="0"/>
              <a:t>補充：函數 </a:t>
            </a:r>
            <a:r>
              <a:rPr lang="en-US" dirty="0" err="1"/>
              <a:t>GeneActivity</a:t>
            </a:r>
            <a:r>
              <a:rPr lang="en-US" dirty="0"/>
              <a:t>()</a:t>
            </a:r>
          </a:p>
        </p:txBody>
      </p:sp>
      <p:pic>
        <p:nvPicPr>
          <p:cNvPr id="5" name="Picture 4">
            <a:extLst>
              <a:ext uri="{FF2B5EF4-FFF2-40B4-BE49-F238E27FC236}">
                <a16:creationId xmlns:a16="http://schemas.microsoft.com/office/drawing/2014/main" id="{6145A89D-3367-F1D0-42A3-D2B3E9EB55CA}"/>
              </a:ext>
            </a:extLst>
          </p:cNvPr>
          <p:cNvPicPr>
            <a:picLocks noChangeAspect="1"/>
          </p:cNvPicPr>
          <p:nvPr/>
        </p:nvPicPr>
        <p:blipFill>
          <a:blip r:embed="rId2"/>
          <a:stretch>
            <a:fillRect/>
          </a:stretch>
        </p:blipFill>
        <p:spPr>
          <a:xfrm>
            <a:off x="2560013" y="2762192"/>
            <a:ext cx="7071973" cy="1333616"/>
          </a:xfrm>
          <a:prstGeom prst="rect">
            <a:avLst/>
          </a:prstGeom>
        </p:spPr>
      </p:pic>
    </p:spTree>
    <p:extLst>
      <p:ext uri="{BB962C8B-B14F-4D97-AF65-F5344CB8AC3E}">
        <p14:creationId xmlns:p14="http://schemas.microsoft.com/office/powerpoint/2010/main" val="420631536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3887A-52BE-C510-E49B-2C74711B1374}"/>
              </a:ext>
            </a:extLst>
          </p:cNvPr>
          <p:cNvSpPr>
            <a:spLocks noGrp="1"/>
          </p:cNvSpPr>
          <p:nvPr>
            <p:ph type="title"/>
          </p:nvPr>
        </p:nvSpPr>
        <p:spPr>
          <a:xfrm>
            <a:off x="546370" y="2320385"/>
            <a:ext cx="3743528" cy="1325563"/>
          </a:xfrm>
        </p:spPr>
        <p:txBody>
          <a:bodyPr>
            <a:noAutofit/>
          </a:bodyPr>
          <a:lstStyle/>
          <a:p>
            <a:pPr>
              <a:lnSpc>
                <a:spcPct val="150000"/>
              </a:lnSpc>
            </a:pPr>
            <a:r>
              <a:rPr lang="zh-TW" altLang="en-US" sz="3200" dirty="0"/>
              <a:t>補充：</a:t>
            </a:r>
            <a:br>
              <a:rPr lang="en-US" altLang="zh-TW" sz="3200" dirty="0"/>
            </a:br>
            <a:r>
              <a:rPr lang="zh-TW" altLang="en-US" sz="3200" dirty="0"/>
              <a:t>比較常見的 </a:t>
            </a:r>
            <a:r>
              <a:rPr lang="en-US" altLang="zh-TW" sz="3200" dirty="0"/>
              <a:t>variable</a:t>
            </a:r>
            <a:endParaRPr lang="en-US" sz="3200" dirty="0"/>
          </a:p>
        </p:txBody>
      </p:sp>
      <p:pic>
        <p:nvPicPr>
          <p:cNvPr id="5" name="Picture 4">
            <a:extLst>
              <a:ext uri="{FF2B5EF4-FFF2-40B4-BE49-F238E27FC236}">
                <a16:creationId xmlns:a16="http://schemas.microsoft.com/office/drawing/2014/main" id="{76441246-550A-BC33-A416-11BFC27838DF}"/>
              </a:ext>
            </a:extLst>
          </p:cNvPr>
          <p:cNvPicPr>
            <a:picLocks noChangeAspect="1"/>
          </p:cNvPicPr>
          <p:nvPr/>
        </p:nvPicPr>
        <p:blipFill>
          <a:blip r:embed="rId2"/>
          <a:stretch>
            <a:fillRect/>
          </a:stretch>
        </p:blipFill>
        <p:spPr>
          <a:xfrm>
            <a:off x="4755767" y="295407"/>
            <a:ext cx="6528318" cy="6267185"/>
          </a:xfrm>
          <a:prstGeom prst="rect">
            <a:avLst/>
          </a:prstGeom>
        </p:spPr>
      </p:pic>
    </p:spTree>
    <p:extLst>
      <p:ext uri="{BB962C8B-B14F-4D97-AF65-F5344CB8AC3E}">
        <p14:creationId xmlns:p14="http://schemas.microsoft.com/office/powerpoint/2010/main" val="161415518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F3D94-477F-0009-9D31-0CE08C12C49C}"/>
              </a:ext>
            </a:extLst>
          </p:cNvPr>
          <p:cNvSpPr>
            <a:spLocks noGrp="1"/>
          </p:cNvSpPr>
          <p:nvPr>
            <p:ph type="title"/>
          </p:nvPr>
        </p:nvSpPr>
        <p:spPr>
          <a:xfrm>
            <a:off x="716280" y="151765"/>
            <a:ext cx="10515600" cy="1325563"/>
          </a:xfrm>
        </p:spPr>
        <p:txBody>
          <a:bodyPr>
            <a:normAutofit/>
          </a:bodyPr>
          <a:lstStyle/>
          <a:p>
            <a:r>
              <a:rPr lang="zh-TW" altLang="en-US" sz="3600" dirty="0"/>
              <a:t>沒有跑 </a:t>
            </a:r>
            <a:r>
              <a:rPr lang="en-US" altLang="zh-TW" sz="3600" dirty="0" err="1"/>
              <a:t>DefaultAssay</a:t>
            </a:r>
            <a:r>
              <a:rPr lang="en-US" altLang="zh-TW" sz="3600" dirty="0"/>
              <a:t>(</a:t>
            </a:r>
            <a:r>
              <a:rPr lang="en-US" altLang="zh-TW" sz="3600" dirty="0" err="1"/>
              <a:t>pbmc</a:t>
            </a:r>
            <a:r>
              <a:rPr lang="en-US" altLang="zh-TW" sz="3600" dirty="0"/>
              <a:t>) &lt;- "RNA"</a:t>
            </a:r>
            <a:endParaRPr lang="en-US" sz="3600" dirty="0"/>
          </a:p>
        </p:txBody>
      </p:sp>
      <p:pic>
        <p:nvPicPr>
          <p:cNvPr id="5" name="Picture 4">
            <a:extLst>
              <a:ext uri="{FF2B5EF4-FFF2-40B4-BE49-F238E27FC236}">
                <a16:creationId xmlns:a16="http://schemas.microsoft.com/office/drawing/2014/main" id="{93327B4B-0598-3757-0EEA-64AA4AD6AE5B}"/>
              </a:ext>
            </a:extLst>
          </p:cNvPr>
          <p:cNvPicPr>
            <a:picLocks noChangeAspect="1"/>
          </p:cNvPicPr>
          <p:nvPr/>
        </p:nvPicPr>
        <p:blipFill>
          <a:blip r:embed="rId2"/>
          <a:stretch>
            <a:fillRect/>
          </a:stretch>
        </p:blipFill>
        <p:spPr>
          <a:xfrm>
            <a:off x="1132840" y="1348400"/>
            <a:ext cx="9926320" cy="5128599"/>
          </a:xfrm>
          <a:prstGeom prst="rect">
            <a:avLst/>
          </a:prstGeom>
        </p:spPr>
      </p:pic>
    </p:spTree>
    <p:extLst>
      <p:ext uri="{BB962C8B-B14F-4D97-AF65-F5344CB8AC3E}">
        <p14:creationId xmlns:p14="http://schemas.microsoft.com/office/powerpoint/2010/main" val="156375993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54F5E3B-23CF-4D41-6149-0EA4B68E2B90}"/>
              </a:ext>
            </a:extLst>
          </p:cNvPr>
          <p:cNvPicPr>
            <a:picLocks noChangeAspect="1"/>
          </p:cNvPicPr>
          <p:nvPr/>
        </p:nvPicPr>
        <p:blipFill>
          <a:blip r:embed="rId3"/>
          <a:stretch>
            <a:fillRect/>
          </a:stretch>
        </p:blipFill>
        <p:spPr>
          <a:xfrm>
            <a:off x="1097280" y="1477328"/>
            <a:ext cx="9611360" cy="4965869"/>
          </a:xfrm>
          <a:prstGeom prst="rect">
            <a:avLst/>
          </a:prstGeom>
        </p:spPr>
      </p:pic>
      <p:sp>
        <p:nvSpPr>
          <p:cNvPr id="6" name="Title 1">
            <a:extLst>
              <a:ext uri="{FF2B5EF4-FFF2-40B4-BE49-F238E27FC236}">
                <a16:creationId xmlns:a16="http://schemas.microsoft.com/office/drawing/2014/main" id="{FD45DD54-8B7C-C662-754A-585FF74313B9}"/>
              </a:ext>
            </a:extLst>
          </p:cNvPr>
          <p:cNvSpPr txBox="1">
            <a:spLocks/>
          </p:cNvSpPr>
          <p:nvPr/>
        </p:nvSpPr>
        <p:spPr>
          <a:xfrm>
            <a:off x="716280" y="15176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TW" altLang="en-US" sz="3600" dirty="0"/>
              <a:t>有跑 </a:t>
            </a:r>
            <a:r>
              <a:rPr lang="en-US" altLang="zh-TW" sz="3600" dirty="0" err="1"/>
              <a:t>DefaultAssay</a:t>
            </a:r>
            <a:r>
              <a:rPr lang="en-US" altLang="zh-TW" sz="3600" dirty="0"/>
              <a:t>(</a:t>
            </a:r>
            <a:r>
              <a:rPr lang="en-US" altLang="zh-TW" sz="3600" dirty="0" err="1"/>
              <a:t>pbmc</a:t>
            </a:r>
            <a:r>
              <a:rPr lang="en-US" altLang="zh-TW" sz="3600" dirty="0"/>
              <a:t>) &lt;- "RNA"</a:t>
            </a:r>
            <a:endParaRPr lang="en-US" sz="3600" dirty="0"/>
          </a:p>
        </p:txBody>
      </p:sp>
    </p:spTree>
    <p:extLst>
      <p:ext uri="{BB962C8B-B14F-4D97-AF65-F5344CB8AC3E}">
        <p14:creationId xmlns:p14="http://schemas.microsoft.com/office/powerpoint/2010/main" val="328648674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B5B9CAF-ED19-847A-F25A-417BA6860C20}"/>
              </a:ext>
            </a:extLst>
          </p:cNvPr>
          <p:cNvPicPr>
            <a:picLocks noChangeAspect="1"/>
          </p:cNvPicPr>
          <p:nvPr/>
        </p:nvPicPr>
        <p:blipFill>
          <a:blip r:embed="rId2"/>
          <a:stretch>
            <a:fillRect/>
          </a:stretch>
        </p:blipFill>
        <p:spPr>
          <a:xfrm>
            <a:off x="0" y="279400"/>
            <a:ext cx="12192000" cy="6299200"/>
          </a:xfrm>
          <a:prstGeom prst="rect">
            <a:avLst/>
          </a:prstGeom>
        </p:spPr>
      </p:pic>
    </p:spTree>
    <p:extLst>
      <p:ext uri="{BB962C8B-B14F-4D97-AF65-F5344CB8AC3E}">
        <p14:creationId xmlns:p14="http://schemas.microsoft.com/office/powerpoint/2010/main" val="178037575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D5949-1D6D-E748-8B6B-9A85BED64DD5}"/>
              </a:ext>
            </a:extLst>
          </p:cNvPr>
          <p:cNvSpPr>
            <a:spLocks noGrp="1"/>
          </p:cNvSpPr>
          <p:nvPr>
            <p:ph type="title"/>
          </p:nvPr>
        </p:nvSpPr>
        <p:spPr/>
        <p:txBody>
          <a:bodyPr/>
          <a:lstStyle/>
          <a:p>
            <a:r>
              <a:rPr lang="en-US" altLang="zh-TW" dirty="0"/>
              <a:t>Future Works</a:t>
            </a:r>
            <a:endParaRPr lang="en-US" dirty="0"/>
          </a:p>
        </p:txBody>
      </p:sp>
      <p:sp>
        <p:nvSpPr>
          <p:cNvPr id="3" name="Content Placeholder 2">
            <a:extLst>
              <a:ext uri="{FF2B5EF4-FFF2-40B4-BE49-F238E27FC236}">
                <a16:creationId xmlns:a16="http://schemas.microsoft.com/office/drawing/2014/main" id="{AE54DC90-BF49-3A65-09D7-9CC0A02634F4}"/>
              </a:ext>
            </a:extLst>
          </p:cNvPr>
          <p:cNvSpPr>
            <a:spLocks noGrp="1"/>
          </p:cNvSpPr>
          <p:nvPr>
            <p:ph idx="1"/>
          </p:nvPr>
        </p:nvSpPr>
        <p:spPr/>
        <p:txBody>
          <a:bodyPr/>
          <a:lstStyle/>
          <a:p>
            <a:r>
              <a:rPr lang="en-US" altLang="zh-TW" dirty="0"/>
              <a:t>Comparison of the Cell Annotation</a:t>
            </a:r>
          </a:p>
          <a:p>
            <a:pPr marL="457200" lvl="1" indent="0">
              <a:buNone/>
            </a:pPr>
            <a:endParaRPr lang="en-US" altLang="zh-TW" dirty="0"/>
          </a:p>
          <a:p>
            <a:r>
              <a:rPr lang="zh-TW" altLang="en-US" dirty="0"/>
              <a:t>空間轉錄組分析</a:t>
            </a:r>
            <a:endParaRPr lang="en-US" altLang="zh-TW" dirty="0"/>
          </a:p>
          <a:p>
            <a:pPr lvl="1"/>
            <a:r>
              <a:rPr lang="en-US" altLang="zh-TW" dirty="0"/>
              <a:t>Future-Future Work</a:t>
            </a:r>
          </a:p>
        </p:txBody>
      </p:sp>
    </p:spTree>
    <p:extLst>
      <p:ext uri="{BB962C8B-B14F-4D97-AF65-F5344CB8AC3E}">
        <p14:creationId xmlns:p14="http://schemas.microsoft.com/office/powerpoint/2010/main" val="21957714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9A165-BDD4-FCA6-2F8F-BF9C00E431BA}"/>
              </a:ext>
            </a:extLst>
          </p:cNvPr>
          <p:cNvSpPr>
            <a:spLocks noGrp="1"/>
          </p:cNvSpPr>
          <p:nvPr>
            <p:ph type="title"/>
          </p:nvPr>
        </p:nvSpPr>
        <p:spPr/>
        <p:txBody>
          <a:bodyPr/>
          <a:lstStyle/>
          <a:p>
            <a:r>
              <a:rPr lang="en-US" altLang="zh-TW" dirty="0"/>
              <a:t>Reference</a:t>
            </a:r>
            <a:r>
              <a:rPr lang="zh-TW" altLang="en-US" dirty="0"/>
              <a:t> </a:t>
            </a:r>
            <a:r>
              <a:rPr lang="en-US" altLang="zh-TW" dirty="0"/>
              <a:t>– Problem Solved</a:t>
            </a:r>
            <a:endParaRPr lang="en-US" dirty="0"/>
          </a:p>
        </p:txBody>
      </p:sp>
      <p:sp>
        <p:nvSpPr>
          <p:cNvPr id="3" name="Content Placeholder 2">
            <a:extLst>
              <a:ext uri="{FF2B5EF4-FFF2-40B4-BE49-F238E27FC236}">
                <a16:creationId xmlns:a16="http://schemas.microsoft.com/office/drawing/2014/main" id="{A3B94820-553B-A3E9-D8F0-4A4E3E1C2C2F}"/>
              </a:ext>
            </a:extLst>
          </p:cNvPr>
          <p:cNvSpPr>
            <a:spLocks noGrp="1"/>
          </p:cNvSpPr>
          <p:nvPr>
            <p:ph idx="1"/>
          </p:nvPr>
        </p:nvSpPr>
        <p:spPr/>
        <p:txBody>
          <a:bodyPr/>
          <a:lstStyle/>
          <a:p>
            <a:pPr marL="0" indent="0">
              <a:buNone/>
            </a:pPr>
            <a:r>
              <a:rPr lang="en-US" altLang="zh-CN" b="1" dirty="0">
                <a:solidFill>
                  <a:srgbClr val="121212"/>
                </a:solidFill>
                <a:latin typeface="-apple-system"/>
                <a:hlinkClick r:id="rId2"/>
              </a:rPr>
              <a:t>Monocle</a:t>
            </a:r>
            <a:endParaRPr lang="en-US" altLang="zh-CN" b="1" i="0" dirty="0">
              <a:solidFill>
                <a:srgbClr val="121212"/>
              </a:solidFill>
              <a:effectLst/>
              <a:latin typeface="-apple-system"/>
              <a:hlinkClick r:id="rId2"/>
            </a:endParaRPr>
          </a:p>
          <a:p>
            <a:r>
              <a:rPr lang="zh-CN" altLang="en-US" b="1" i="0" dirty="0">
                <a:solidFill>
                  <a:srgbClr val="121212"/>
                </a:solidFill>
                <a:effectLst/>
                <a:latin typeface="-apple-system"/>
                <a:hlinkClick r:id="rId2"/>
              </a:rPr>
              <a:t>单细胞分析实录</a:t>
            </a:r>
            <a:r>
              <a:rPr lang="en-US" altLang="zh-CN" b="1" i="0" dirty="0">
                <a:solidFill>
                  <a:srgbClr val="121212"/>
                </a:solidFill>
                <a:effectLst/>
                <a:latin typeface="-apple-system"/>
                <a:hlinkClick r:id="rId2"/>
              </a:rPr>
              <a:t>(15): </a:t>
            </a:r>
            <a:r>
              <a:rPr lang="zh-CN" altLang="en-US" b="1" i="0" dirty="0">
                <a:solidFill>
                  <a:srgbClr val="121212"/>
                </a:solidFill>
                <a:effectLst/>
                <a:latin typeface="-apple-system"/>
                <a:hlinkClick r:id="rId2"/>
              </a:rPr>
              <a:t>基于</a:t>
            </a:r>
            <a:r>
              <a:rPr lang="en-US" altLang="zh-CN" b="1" i="0" dirty="0">
                <a:solidFill>
                  <a:srgbClr val="121212"/>
                </a:solidFill>
                <a:effectLst/>
                <a:latin typeface="-apple-system"/>
                <a:hlinkClick r:id="rId2"/>
              </a:rPr>
              <a:t>monocle2</a:t>
            </a:r>
            <a:r>
              <a:rPr lang="zh-CN" altLang="en-US" b="1" i="0" dirty="0">
                <a:solidFill>
                  <a:srgbClr val="121212"/>
                </a:solidFill>
                <a:effectLst/>
                <a:latin typeface="-apple-system"/>
                <a:hlinkClick r:id="rId2"/>
              </a:rPr>
              <a:t>的拟时序分析</a:t>
            </a:r>
            <a:endParaRPr lang="en-US" altLang="zh-CN" b="1" i="0" dirty="0">
              <a:solidFill>
                <a:srgbClr val="121212"/>
              </a:solidFill>
              <a:effectLst/>
              <a:latin typeface="-apple-system"/>
            </a:endParaRPr>
          </a:p>
          <a:p>
            <a:r>
              <a:rPr lang="en-US" b="1" i="0" dirty="0">
                <a:solidFill>
                  <a:srgbClr val="222222"/>
                </a:solidFill>
                <a:effectLst/>
                <a:latin typeface="-apple-system"/>
                <a:hlinkClick r:id="rId3"/>
              </a:rPr>
              <a:t>monocle</a:t>
            </a:r>
            <a:r>
              <a:rPr lang="zh-TW" altLang="en-US" b="1" i="0" dirty="0">
                <a:solidFill>
                  <a:srgbClr val="222222"/>
                </a:solidFill>
                <a:effectLst/>
                <a:latin typeface="-apple-system"/>
                <a:hlinkClick r:id="rId3"/>
              </a:rPr>
              <a:t>的一些报错</a:t>
            </a:r>
            <a:endParaRPr lang="en-US" altLang="zh-TW" b="1" i="0" dirty="0">
              <a:solidFill>
                <a:srgbClr val="222222"/>
              </a:solidFill>
              <a:effectLst/>
              <a:latin typeface="-apple-system"/>
            </a:endParaRPr>
          </a:p>
          <a:p>
            <a:r>
              <a:rPr lang="en-US" b="1" i="0" dirty="0">
                <a:solidFill>
                  <a:srgbClr val="222226"/>
                </a:solidFill>
                <a:effectLst/>
                <a:latin typeface="PingFang SC"/>
                <a:hlinkClick r:id="rId4"/>
              </a:rPr>
              <a:t>monocle 2.4</a:t>
            </a:r>
            <a:r>
              <a:rPr lang="zh-TW" altLang="en-US" b="1" i="0" dirty="0">
                <a:solidFill>
                  <a:srgbClr val="222226"/>
                </a:solidFill>
                <a:effectLst/>
                <a:latin typeface="PingFang SC"/>
                <a:hlinkClick r:id="rId4"/>
              </a:rPr>
              <a:t>相关 </a:t>
            </a:r>
            <a:r>
              <a:rPr lang="en-US" b="1" i="0" dirty="0">
                <a:solidFill>
                  <a:srgbClr val="222226"/>
                </a:solidFill>
                <a:effectLst/>
                <a:latin typeface="PingFang SC"/>
                <a:hlinkClick r:id="rId4"/>
              </a:rPr>
              <a:t>bug</a:t>
            </a:r>
            <a:r>
              <a:rPr lang="zh-TW" altLang="en-US" b="1" i="0" dirty="0">
                <a:solidFill>
                  <a:srgbClr val="222226"/>
                </a:solidFill>
                <a:effectLst/>
                <a:latin typeface="PingFang SC"/>
                <a:hlinkClick r:id="rId4"/>
              </a:rPr>
              <a:t>修复</a:t>
            </a:r>
            <a:endParaRPr lang="en-US" altLang="zh-TW" b="1" i="0" dirty="0">
              <a:solidFill>
                <a:srgbClr val="222226"/>
              </a:solidFill>
              <a:effectLst/>
              <a:latin typeface="PingFang SC"/>
            </a:endParaRPr>
          </a:p>
          <a:p>
            <a:r>
              <a:rPr lang="en-US" b="1" i="0" dirty="0" err="1">
                <a:solidFill>
                  <a:srgbClr val="222226"/>
                </a:solidFill>
                <a:effectLst/>
                <a:latin typeface="PingFang SC"/>
                <a:hlinkClick r:id="rId5"/>
              </a:rPr>
              <a:t>beam_res</a:t>
            </a:r>
            <a:r>
              <a:rPr lang="en-US" b="1" i="0" dirty="0">
                <a:solidFill>
                  <a:srgbClr val="222226"/>
                </a:solidFill>
                <a:effectLst/>
                <a:latin typeface="PingFang SC"/>
                <a:hlinkClick r:id="rId5"/>
              </a:rPr>
              <a:t> ＜- BEAM(</a:t>
            </a:r>
            <a:r>
              <a:rPr lang="en-US" b="1" i="0" dirty="0" err="1">
                <a:solidFill>
                  <a:srgbClr val="222226"/>
                </a:solidFill>
                <a:effectLst/>
                <a:latin typeface="PingFang SC"/>
                <a:hlinkClick r:id="rId5"/>
              </a:rPr>
              <a:t>mycds_sub</a:t>
            </a:r>
            <a:r>
              <a:rPr lang="en-US" b="1" i="0" dirty="0">
                <a:solidFill>
                  <a:srgbClr val="222226"/>
                </a:solidFill>
                <a:effectLst/>
                <a:latin typeface="PingFang SC"/>
                <a:hlinkClick r:id="rId5"/>
              </a:rPr>
              <a:t>, </a:t>
            </a:r>
            <a:r>
              <a:rPr lang="en-US" b="1" i="0" dirty="0" err="1">
                <a:solidFill>
                  <a:srgbClr val="222226"/>
                </a:solidFill>
                <a:effectLst/>
                <a:latin typeface="PingFang SC"/>
                <a:hlinkClick r:id="rId5"/>
              </a:rPr>
              <a:t>branch_point</a:t>
            </a:r>
            <a:r>
              <a:rPr lang="en-US" b="1" i="0" dirty="0">
                <a:solidFill>
                  <a:srgbClr val="222226"/>
                </a:solidFill>
                <a:effectLst/>
                <a:latin typeface="PingFang SC"/>
                <a:hlinkClick r:id="rId5"/>
              </a:rPr>
              <a:t> = 1) #, cores = 8 Error in if (</a:t>
            </a:r>
            <a:r>
              <a:rPr lang="en-US" b="1" i="0" dirty="0" err="1">
                <a:solidFill>
                  <a:srgbClr val="222226"/>
                </a:solidFill>
                <a:effectLst/>
                <a:latin typeface="PingFang SC"/>
                <a:hlinkClick r:id="rId5"/>
              </a:rPr>
              <a:t>progenitor_method</a:t>
            </a:r>
            <a:r>
              <a:rPr lang="en-US" b="1" i="0" dirty="0">
                <a:solidFill>
                  <a:srgbClr val="222226"/>
                </a:solidFill>
                <a:effectLst/>
                <a:latin typeface="PingFang SC"/>
                <a:hlinkClick r:id="rId5"/>
              </a:rPr>
              <a:t> == “</a:t>
            </a:r>
            <a:r>
              <a:rPr lang="en-US" b="1" i="0" dirty="0" err="1">
                <a:solidFill>
                  <a:srgbClr val="222226"/>
                </a:solidFill>
                <a:effectLst/>
                <a:latin typeface="PingFang SC"/>
                <a:hlinkClick r:id="rId5"/>
              </a:rPr>
              <a:t>duplic</a:t>
            </a:r>
            <a:r>
              <a:rPr lang="en-US" b="1" i="0" dirty="0">
                <a:solidFill>
                  <a:srgbClr val="222226"/>
                </a:solidFill>
                <a:effectLst/>
                <a:latin typeface="PingFang SC"/>
              </a:rPr>
              <a:t> (</a:t>
            </a:r>
            <a:r>
              <a:rPr lang="en-US" altLang="zh-TW" b="1" i="0" dirty="0">
                <a:solidFill>
                  <a:srgbClr val="222226"/>
                </a:solidFill>
                <a:effectLst/>
                <a:latin typeface="PingFang SC"/>
              </a:rPr>
              <a:t>Adopted)</a:t>
            </a:r>
            <a:endParaRPr lang="en-US" b="1" i="0" dirty="0">
              <a:solidFill>
                <a:srgbClr val="222226"/>
              </a:solidFill>
              <a:effectLst/>
              <a:latin typeface="PingFang SC"/>
            </a:endParaRPr>
          </a:p>
          <a:p>
            <a:endParaRPr lang="zh-TW" altLang="en-US" b="1" i="0" dirty="0">
              <a:solidFill>
                <a:srgbClr val="222226"/>
              </a:solidFill>
              <a:effectLst/>
              <a:latin typeface="PingFang SC"/>
            </a:endParaRPr>
          </a:p>
          <a:p>
            <a:endParaRPr lang="zh-TW" altLang="en-US" b="1" i="0" dirty="0">
              <a:solidFill>
                <a:srgbClr val="222222"/>
              </a:solidFill>
              <a:effectLst/>
              <a:latin typeface="-apple-system"/>
            </a:endParaRPr>
          </a:p>
          <a:p>
            <a:endParaRPr lang="zh-CN" altLang="en-US" b="1" i="0" dirty="0">
              <a:solidFill>
                <a:srgbClr val="121212"/>
              </a:solidFill>
              <a:effectLst/>
              <a:latin typeface="-apple-system"/>
            </a:endParaRPr>
          </a:p>
          <a:p>
            <a:endParaRPr lang="en-US" dirty="0"/>
          </a:p>
        </p:txBody>
      </p:sp>
    </p:spTree>
    <p:extLst>
      <p:ext uri="{BB962C8B-B14F-4D97-AF65-F5344CB8AC3E}">
        <p14:creationId xmlns:p14="http://schemas.microsoft.com/office/powerpoint/2010/main" val="223730448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F3EC7-849D-3258-5D02-477FAEC1AD66}"/>
              </a:ext>
            </a:extLst>
          </p:cNvPr>
          <p:cNvSpPr>
            <a:spLocks noGrp="1"/>
          </p:cNvSpPr>
          <p:nvPr>
            <p:ph type="title"/>
          </p:nvPr>
        </p:nvSpPr>
        <p:spPr/>
        <p:txBody>
          <a:bodyPr/>
          <a:lstStyle/>
          <a:p>
            <a:r>
              <a:rPr lang="en-US" dirty="0"/>
              <a:t>Reference - Other</a:t>
            </a:r>
          </a:p>
        </p:txBody>
      </p:sp>
      <p:sp>
        <p:nvSpPr>
          <p:cNvPr id="3" name="Content Placeholder 2">
            <a:extLst>
              <a:ext uri="{FF2B5EF4-FFF2-40B4-BE49-F238E27FC236}">
                <a16:creationId xmlns:a16="http://schemas.microsoft.com/office/drawing/2014/main" id="{379E8134-7B5C-B2FB-DC6C-DC86695AFAC4}"/>
              </a:ext>
            </a:extLst>
          </p:cNvPr>
          <p:cNvSpPr>
            <a:spLocks noGrp="1"/>
          </p:cNvSpPr>
          <p:nvPr>
            <p:ph idx="1"/>
          </p:nvPr>
        </p:nvSpPr>
        <p:spPr/>
        <p:txBody>
          <a:bodyPr/>
          <a:lstStyle/>
          <a:p>
            <a:pPr algn="l"/>
            <a:r>
              <a:rPr lang="en-US" altLang="zh-TW" b="0" i="0" dirty="0">
                <a:effectLst/>
                <a:latin typeface="PingFang SC"/>
                <a:hlinkClick r:id="rId2"/>
              </a:rPr>
              <a:t>Monocle: </a:t>
            </a:r>
            <a:r>
              <a:rPr lang="zh-CN" altLang="en-US" b="0" i="0" dirty="0">
                <a:effectLst/>
                <a:latin typeface="PingFang SC"/>
                <a:hlinkClick r:id="rId2"/>
              </a:rPr>
              <a:t>保姆级教程续集</a:t>
            </a:r>
            <a:r>
              <a:rPr lang="en-US" altLang="zh-CN" b="0" i="0" dirty="0">
                <a:effectLst/>
                <a:latin typeface="PingFang SC"/>
                <a:hlinkClick r:id="rId2"/>
              </a:rPr>
              <a:t>《</a:t>
            </a:r>
            <a:r>
              <a:rPr lang="zh-CN" altLang="en-US" b="0" i="0" dirty="0">
                <a:effectLst/>
                <a:latin typeface="PingFang SC"/>
                <a:hlinkClick r:id="rId2"/>
              </a:rPr>
              <a:t>单细胞测序数据分析</a:t>
            </a:r>
            <a:r>
              <a:rPr lang="en-US" altLang="zh-CN" b="0" i="0" dirty="0">
                <a:effectLst/>
                <a:latin typeface="PingFang SC"/>
                <a:hlinkClick r:id="rId2"/>
              </a:rPr>
              <a:t>》—</a:t>
            </a:r>
            <a:r>
              <a:rPr lang="zh-CN" altLang="en-US" b="0" i="0" dirty="0">
                <a:effectLst/>
                <a:latin typeface="PingFang SC"/>
                <a:hlinkClick r:id="rId2"/>
              </a:rPr>
              <a:t>拟时序分析</a:t>
            </a:r>
            <a:endParaRPr lang="zh-CN" altLang="en-US" b="0" i="0" dirty="0">
              <a:effectLst/>
              <a:latin typeface="PingFang SC"/>
            </a:endParaRPr>
          </a:p>
        </p:txBody>
      </p:sp>
    </p:spTree>
    <p:extLst>
      <p:ext uri="{BB962C8B-B14F-4D97-AF65-F5344CB8AC3E}">
        <p14:creationId xmlns:p14="http://schemas.microsoft.com/office/powerpoint/2010/main" val="15050129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2354</TotalTime>
  <Words>5382</Words>
  <Application>Microsoft Office PowerPoint</Application>
  <PresentationFormat>Widescreen</PresentationFormat>
  <Paragraphs>291</Paragraphs>
  <Slides>70</Slides>
  <Notes>51</Notes>
  <HiddenSlides>23</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70</vt:i4>
      </vt:variant>
    </vt:vector>
  </HeadingPairs>
  <TitlesOfParts>
    <vt:vector size="78" baseType="lpstr">
      <vt:lpstr>-apple-system</vt:lpstr>
      <vt:lpstr>Atkinson Hyperlegible</vt:lpstr>
      <vt:lpstr>PingFang SC</vt:lpstr>
      <vt:lpstr>Söhne</vt:lpstr>
      <vt:lpstr>Arial</vt:lpstr>
      <vt:lpstr>Calibri</vt:lpstr>
      <vt:lpstr>Calibri Light</vt:lpstr>
      <vt:lpstr>Office Theme</vt:lpstr>
      <vt:lpstr>Progress Report</vt:lpstr>
      <vt:lpstr>問題</vt:lpstr>
      <vt:lpstr>Outline</vt:lpstr>
      <vt:lpstr>Monocle 後續分析</vt:lpstr>
      <vt:lpstr>plot_cluster</vt:lpstr>
      <vt:lpstr>PowerPoint Presentation</vt:lpstr>
      <vt:lpstr>Monocle vs. Seurat</vt:lpstr>
      <vt:lpstr>分群展示</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PART2 非監督式</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scATAC Analysis</vt:lpstr>
      <vt:lpstr>前導影片和文章</vt:lpstr>
      <vt:lpstr>安裝 Signac 的各種問題</vt:lpstr>
      <vt:lpstr>安裝 Signac 的各種問題</vt:lpstr>
      <vt:lpstr>安裝 Signac 的各種問題</vt:lpstr>
      <vt:lpstr>安裝 Signac 的各種問題</vt:lpstr>
      <vt:lpstr>安裝 Signac 的各種問題</vt:lpstr>
      <vt:lpstr>安裝 Signac 的各種問題</vt:lpstr>
      <vt:lpstr>安裝 Signac 的各種問題</vt:lpstr>
      <vt:lpstr>安裝 Signac 的各種問題</vt:lpstr>
      <vt:lpstr>scATAC Analysis</vt:lpstr>
      <vt:lpstr>Dataset 獲取</vt:lpstr>
      <vt:lpstr>PowerPoint Presentation</vt:lpstr>
      <vt:lpstr>PowerPoint Presentation</vt:lpstr>
      <vt:lpstr>PowerPoint Presentation</vt:lpstr>
      <vt:lpstr>PowerPoint Presentation</vt:lpstr>
      <vt:lpstr>PowerPoint Presentation</vt:lpstr>
      <vt:lpstr>PowerPoint Presentation</vt:lpstr>
      <vt:lpstr>Understanding Important Data Structure</vt:lpstr>
      <vt:lpstr>Understanding Important Data Structure(cont)</vt:lpstr>
      <vt:lpstr>補充：sep 參數的用途</vt:lpstr>
      <vt:lpstr>Peak/Cell Matrix</vt:lpstr>
      <vt:lpstr>查看 fragment.tsv.gz 內容</vt:lpstr>
      <vt:lpstr>head(annotations)</vt:lpstr>
      <vt:lpstr>atac_v1_pbmc_10k_singlecell.csv</vt:lpstr>
      <vt:lpstr>補充：函數 NucleosomeSignal()</vt:lpstr>
      <vt:lpstr>補充：函數 TSSEnrichment()</vt:lpstr>
      <vt:lpstr>PowerPoint Presentation</vt:lpstr>
      <vt:lpstr>PowerPoint Presentation</vt:lpstr>
      <vt:lpstr>PowerPoint Presentation</vt:lpstr>
      <vt:lpstr>Normalization</vt:lpstr>
      <vt:lpstr>PowerPoint Presentation</vt:lpstr>
      <vt:lpstr>RunUMAP()</vt:lpstr>
      <vt:lpstr>補充：函數 GeneActivity()</vt:lpstr>
      <vt:lpstr>補充： 比較常見的 variable</vt:lpstr>
      <vt:lpstr>沒有跑 DefaultAssay(pbmc) &lt;- "RNA"</vt:lpstr>
      <vt:lpstr>PowerPoint Presentation</vt:lpstr>
      <vt:lpstr>PowerPoint Presentation</vt:lpstr>
      <vt:lpstr>Future Works</vt:lpstr>
      <vt:lpstr>Reference – Problem Solved</vt:lpstr>
      <vt:lpstr>Reference - Other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Progress Report</dc:title>
  <dc:creator>Yi Jie Chen</dc:creator>
  <cp:lastModifiedBy>Yi Jie Chen</cp:lastModifiedBy>
  <cp:revision>66</cp:revision>
  <dcterms:created xsi:type="dcterms:W3CDTF">2023-10-20T23:32:30Z</dcterms:created>
  <dcterms:modified xsi:type="dcterms:W3CDTF">2023-11-24T14:14:21Z</dcterms:modified>
</cp:coreProperties>
</file>