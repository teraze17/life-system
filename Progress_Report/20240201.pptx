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7" r:id="rId2"/>
    <p:sldId id="258" r:id="rId3"/>
    <p:sldId id="260" r:id="rId4"/>
    <p:sldId id="259" r:id="rId5"/>
    <p:sldId id="261" r:id="rId6"/>
    <p:sldId id="272" r:id="rId7"/>
    <p:sldId id="262" r:id="rId8"/>
    <p:sldId id="269" r:id="rId9"/>
    <p:sldId id="273" r:id="rId10"/>
    <p:sldId id="264" r:id="rId11"/>
    <p:sldId id="263" r:id="rId12"/>
    <p:sldId id="266" r:id="rId13"/>
    <p:sldId id="265" r:id="rId14"/>
    <p:sldId id="280" r:id="rId15"/>
    <p:sldId id="278" r:id="rId16"/>
    <p:sldId id="274" r:id="rId17"/>
    <p:sldId id="267" r:id="rId18"/>
    <p:sldId id="268" r:id="rId19"/>
    <p:sldId id="271" r:id="rId20"/>
    <p:sldId id="270" r:id="rId21"/>
    <p:sldId id="275" r:id="rId22"/>
    <p:sldId id="276" r:id="rId23"/>
    <p:sldId id="27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C2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673" autoAdjust="0"/>
  </p:normalViewPr>
  <p:slideViewPr>
    <p:cSldViewPr snapToGrid="0">
      <p:cViewPr varScale="1">
        <p:scale>
          <a:sx n="66" d="100"/>
          <a:sy n="66" d="100"/>
        </p:scale>
        <p:origin x="130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EB4F5C-9E3A-4531-8D55-69A0E12B2D3C}" type="datetimeFigureOut">
              <a:rPr lang="en-US" smtClean="0"/>
              <a:t>2/2/2024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79A4CD-4B85-4B10-96CA-9808B3B85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860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Samples: </a:t>
            </a:r>
            <a:r>
              <a:rPr lang="en-US" b="1" i="0" dirty="0">
                <a:effectLst/>
                <a:latin typeface="Söhne"/>
              </a:rPr>
              <a:t>LUNG</a:t>
            </a:r>
            <a:r>
              <a:rPr lang="en-US" b="0" i="0" dirty="0">
                <a:effectLst/>
                <a:latin typeface="Söhne"/>
              </a:rPr>
              <a:t>(</a:t>
            </a:r>
            <a:r>
              <a:rPr lang="zh-TW" altLang="en-US" b="0" i="0" dirty="0">
                <a:effectLst/>
                <a:latin typeface="Söhne"/>
              </a:rPr>
              <a:t>樣本直接來自肺部</a:t>
            </a:r>
            <a:r>
              <a:rPr lang="en-US" altLang="zh-TW" b="0" i="0" dirty="0">
                <a:effectLst/>
                <a:latin typeface="Söhne"/>
              </a:rPr>
              <a:t>)</a:t>
            </a:r>
            <a:r>
              <a:rPr lang="zh-TW" altLang="en-US" b="0" i="0" dirty="0">
                <a:effectLst/>
                <a:latin typeface="Söhne"/>
              </a:rPr>
              <a:t>；</a:t>
            </a:r>
            <a:r>
              <a:rPr lang="en-US" b="1" i="0" dirty="0">
                <a:effectLst/>
                <a:latin typeface="Söhne"/>
              </a:rPr>
              <a:t>EBUS</a:t>
            </a:r>
            <a:r>
              <a:rPr lang="en-US" b="0" i="0" dirty="0">
                <a:effectLst/>
                <a:latin typeface="Söhne"/>
              </a:rPr>
              <a:t> (Endobronchial Ultrasound</a:t>
            </a:r>
            <a:r>
              <a:rPr lang="zh-TW" altLang="en-US" b="1" i="0" dirty="0">
                <a:effectLst/>
                <a:latin typeface="Söhne"/>
              </a:rPr>
              <a:t>，</a:t>
            </a:r>
            <a:r>
              <a:rPr lang="zh-TW" altLang="en-US" b="0" i="0" dirty="0">
                <a:solidFill>
                  <a:srgbClr val="374151"/>
                </a:solidFill>
                <a:effectLst/>
                <a:latin typeface="Söhne"/>
              </a:rPr>
              <a:t>一種內窺鏡超聲波引導下的支氣管穿刺技術，用於取得肺部或周圍結構（通常是淋巴結）的樣本</a:t>
            </a:r>
            <a:r>
              <a:rPr lang="en-US" b="1" i="0" dirty="0">
                <a:effectLst/>
                <a:latin typeface="Söhne"/>
              </a:rPr>
              <a:t>)</a:t>
            </a:r>
            <a:r>
              <a:rPr lang="zh-TW" altLang="en-US" b="1" i="0" dirty="0">
                <a:effectLst/>
                <a:latin typeface="Söhne"/>
              </a:rPr>
              <a:t>；</a:t>
            </a:r>
            <a:r>
              <a:rPr lang="en-US" altLang="zh-TW" b="1" i="0" dirty="0">
                <a:effectLst/>
                <a:latin typeface="Söhne"/>
              </a:rPr>
              <a:t>B</a:t>
            </a:r>
            <a:r>
              <a:rPr lang="en-US" b="1" i="0" dirty="0">
                <a:effectLst/>
                <a:latin typeface="Söhne"/>
              </a:rPr>
              <a:t>RONCHO </a:t>
            </a:r>
            <a:r>
              <a:rPr lang="en-US" b="0" i="0" dirty="0">
                <a:effectLst/>
                <a:latin typeface="Söhne"/>
              </a:rPr>
              <a:t>(Bronchoscopy</a:t>
            </a:r>
            <a:r>
              <a:rPr lang="zh-TW" altLang="en-US" b="0" i="0" dirty="0">
                <a:effectLst/>
                <a:latin typeface="Söhne"/>
              </a:rPr>
              <a:t>，通過支氣管鏡進行肺部樣本採集</a:t>
            </a:r>
            <a:r>
              <a:rPr lang="en-US" b="0" i="0" dirty="0">
                <a:effectLst/>
                <a:latin typeface="Söhne"/>
              </a:rPr>
              <a:t>)</a:t>
            </a:r>
            <a:endParaRPr lang="en-US" b="0" dirty="0"/>
          </a:p>
          <a:p>
            <a:r>
              <a:rPr lang="en-US" dirty="0"/>
              <a:t>Histology: ADC (Adenocarcinoma)</a:t>
            </a:r>
            <a:r>
              <a:rPr lang="zh-TW" altLang="en-US" dirty="0"/>
              <a:t>；</a:t>
            </a:r>
            <a:r>
              <a:rPr lang="en-US" altLang="zh-TW" dirty="0"/>
              <a:t>Double</a:t>
            </a:r>
            <a:r>
              <a:rPr lang="zh-TW" altLang="en-US" dirty="0"/>
              <a:t> 可能意味著</a:t>
            </a:r>
            <a:r>
              <a:rPr lang="zh-TW" altLang="en-US" b="0" i="0" dirty="0">
                <a:solidFill>
                  <a:srgbClr val="374151"/>
                </a:solidFill>
                <a:effectLst/>
                <a:latin typeface="Söhne"/>
              </a:rPr>
              <a:t>在臨床實踐中，一個患者有兩個原發性腫瘤 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Söhne"/>
              </a:rPr>
              <a:t>(</a:t>
            </a:r>
            <a:r>
              <a:rPr lang="zh-TW" altLang="en-US" b="0" i="0" dirty="0">
                <a:solidFill>
                  <a:srgbClr val="374151"/>
                </a:solidFill>
                <a:effectLst/>
                <a:latin typeface="Söhne"/>
              </a:rPr>
              <a:t>或者腫瘤有兩種不同的組織學特徵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Söhne"/>
              </a:rPr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79A4CD-4B85-4B10-96CA-9808B3B857A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4637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Upper Lobe: </a:t>
            </a:r>
            <a:r>
              <a:rPr lang="zh-TW" altLang="en-US" dirty="0"/>
              <a:t>腫瘤位在肺的上葉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Lower Lobe: </a:t>
            </a:r>
            <a:r>
              <a:rPr lang="zh-TW" altLang="en-US" dirty="0"/>
              <a:t>腫瘤位在肺的下葉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79A4CD-4B85-4B10-96CA-9808B3B857A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6933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79A4CD-4B85-4B10-96CA-9808B3B857A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8163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APOC1 </a:t>
            </a:r>
            <a:r>
              <a:rPr lang="zh-TW" altLang="en-US" dirty="0"/>
              <a:t>和脂蛋白有關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79A4CD-4B85-4B10-96CA-9808B3B857A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6636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79A4CD-4B85-4B10-96CA-9808B3B857A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7469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APOC1 </a:t>
            </a:r>
            <a:r>
              <a:rPr lang="zh-TW" altLang="en-US" dirty="0"/>
              <a:t>和脂蛋白有關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79A4CD-4B85-4B10-96CA-9808B3B857A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1181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79A4CD-4B85-4B10-96CA-9808B3B857A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2415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本研究也發現</a:t>
            </a:r>
            <a:r>
              <a:rPr lang="en-US" altLang="zh-TW" b="0" i="0" dirty="0">
                <a:solidFill>
                  <a:srgbClr val="EA4335"/>
                </a:solidFill>
                <a:effectLst/>
                <a:latin typeface="arial" panose="020B0604020202020204" pitchFamily="34" charset="0"/>
              </a:rPr>
              <a:t>S100P</a:t>
            </a:r>
            <a:r>
              <a:rPr lang="zh-TW" alt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大量表現在非小型肺腺癌的病患的腫瘤組織中。由此研究證實，</a:t>
            </a:r>
            <a:r>
              <a:rPr lang="en-US" altLang="zh-TW" b="0" i="0" dirty="0">
                <a:solidFill>
                  <a:srgbClr val="EA4335"/>
                </a:solidFill>
                <a:effectLst/>
                <a:latin typeface="arial" panose="020B0604020202020204" pitchFamily="34" charset="0"/>
              </a:rPr>
              <a:t>S100P</a:t>
            </a:r>
            <a:r>
              <a:rPr lang="zh-TW" alt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在肺癌轉移上可當作是一個標靶</a:t>
            </a:r>
            <a:r>
              <a:rPr lang="zh-TW" altLang="en-US" b="0" i="0" dirty="0">
                <a:solidFill>
                  <a:srgbClr val="EA4335"/>
                </a:solidFill>
                <a:effectLst/>
                <a:latin typeface="arial" panose="020B0604020202020204" pitchFamily="34" charset="0"/>
              </a:rPr>
              <a:t>基因</a:t>
            </a:r>
            <a:r>
              <a:rPr lang="zh-TW" altLang="en-US" b="0" i="0" dirty="0">
                <a:solidFill>
                  <a:srgbClr val="4B5F7B"/>
                </a:solidFill>
                <a:effectLst/>
                <a:latin typeface="Inter"/>
              </a:rPr>
              <a:t>，也可以當作預後的生物指標</a:t>
            </a:r>
            <a:endParaRPr lang="en-US" altLang="zh-TW" b="0" i="0" dirty="0">
              <a:solidFill>
                <a:srgbClr val="4B5F7B"/>
              </a:solidFill>
              <a:effectLst/>
              <a:latin typeface="Inter"/>
            </a:endParaRPr>
          </a:p>
          <a:p>
            <a:r>
              <a:rPr lang="en-US" dirty="0"/>
              <a:t>https://www.airitilibrary.com/Article/Detail/U0011-1807201416474700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79A4CD-4B85-4B10-96CA-9808B3B857A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676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594AD-A58A-96C1-02B3-56900778A4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FF673E-D81A-285E-804F-834AC7A8F7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71DD23-1A8E-66CD-6CBB-D4ABC60E7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CF8C1-8C8B-4962-B425-DB48B5FCFD96}" type="datetimeFigureOut">
              <a:rPr lang="en-US" smtClean="0"/>
              <a:t>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E266CB-583E-B058-B193-3009BABC3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4DA373-623C-7D40-0771-1240B887D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9881-899F-4AEC-B9BC-D77D24878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30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26865-8A98-5CCD-E005-F9BF851C8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72162-EB24-91BA-CDDF-023CF16CF1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0C757-1AB6-072C-2F16-0945C8398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CF8C1-8C8B-4962-B425-DB48B5FCFD96}" type="datetimeFigureOut">
              <a:rPr lang="en-US" smtClean="0"/>
              <a:t>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2BF754-9567-1DD6-F3F6-4F12AEDA8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F91EFC-2B87-A078-000B-6A0436DC2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9881-899F-4AEC-B9BC-D77D24878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996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873B2-1B74-0437-8B55-DF97C0E38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A83DF-D49B-A6E9-34D3-CF84B38F94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143F2-DBDF-2ED2-2291-CB747099F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CF8C1-8C8B-4962-B425-DB48B5FCFD96}" type="datetimeFigureOut">
              <a:rPr lang="en-US" smtClean="0"/>
              <a:t>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42A7C-4BA3-F3CC-FE6E-5FCCB6E58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E5519F-ADE9-49AE-4466-D5ED6E06A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9881-899F-4AEC-B9BC-D77D24878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956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4D954-62F1-4220-6135-27AD22C7F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8F0E0-502E-84CF-469B-C5E5C5D6B2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775664-006A-20A0-820D-0E65354822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BD034D-480F-884D-2D1F-32E96F563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CF8C1-8C8B-4962-B425-DB48B5FCFD96}" type="datetimeFigureOut">
              <a:rPr lang="en-US" smtClean="0"/>
              <a:t>2/2/2024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D36F54-6342-0A81-825A-F05587C2F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F9C5D9-485F-5AF6-A939-959989B5F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9881-899F-4AEC-B9BC-D77D24878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115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4C34E-E081-229C-D4B6-425124BD7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CCCF90-DB24-F22A-F92F-D96D9FA1A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D171C3-A2B0-5467-667A-36C55A4722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D61184-827A-0DF5-C348-271A2A24B8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F807A6-E6DF-4A31-B970-643BA8962E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73C59B-6B9D-9687-1CEB-22B1AB5C0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CF8C1-8C8B-4962-B425-DB48B5FCFD96}" type="datetimeFigureOut">
              <a:rPr lang="en-US" smtClean="0"/>
              <a:t>2/2/2024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44D335-EC60-585D-8160-4B00B0F10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CD473D-5F53-6725-6BFA-CD6F528C9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9881-899F-4AEC-B9BC-D77D24878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705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23A12-9A78-4D81-920D-0ED3A14E6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324925-48AA-E846-67F4-790A3ABA5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CF8C1-8C8B-4962-B425-DB48B5FCFD96}" type="datetimeFigureOut">
              <a:rPr lang="en-US" smtClean="0"/>
              <a:t>2/2/2024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11837B-A7E0-DC61-6552-2221B3B41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40C4B0-C697-2C42-A6E6-0F270CC8A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9881-899F-4AEC-B9BC-D77D24878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932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AB82A4-137E-B4B8-82DE-1DC32EE8D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CF8C1-8C8B-4962-B425-DB48B5FCFD96}" type="datetimeFigureOut">
              <a:rPr lang="en-US" smtClean="0"/>
              <a:t>2/2/2024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8E14A8-0D29-B7ED-C732-D42E2F0E2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06E4AD-02E5-4BDF-E6E8-037C37015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9881-899F-4AEC-B9BC-D77D24878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225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1BE1B-A199-34C9-122E-B4BDDE8EF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3DB7C-FFAB-5184-E6C6-AF8DDCDC26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FA7BFE-CE55-2BC9-81D1-B0A277FADC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445367-0B26-641E-9D6B-D6EEE27D7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CF8C1-8C8B-4962-B425-DB48B5FCFD96}" type="datetimeFigureOut">
              <a:rPr lang="en-US" smtClean="0"/>
              <a:t>2/2/2024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99E191-8CDA-13F2-9A37-A033B3A4B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9DD4D5-709E-9F91-8E5E-003E16EE3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9881-899F-4AEC-B9BC-D77D24878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895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4AF14-689B-0B8D-704D-A2FAF162A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C6D921-7F71-2906-3614-244A654EB1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7AAE44-C926-B0B2-431D-3742E5F4B7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DB3EBD-172D-D40C-E73F-1D3BD12A9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CF8C1-8C8B-4962-B425-DB48B5FCFD96}" type="datetimeFigureOut">
              <a:rPr lang="en-US" smtClean="0"/>
              <a:t>2/2/2024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A75CB1-3637-1C86-AA02-DC34ABB8F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A2B820-D86F-E6AD-11C2-428C80061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9881-899F-4AEC-B9BC-D77D24878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957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07BC1-497F-796B-9184-184271B5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CF2D6C-55D6-AC69-09F6-BEDCF168F1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B899FA-B658-2002-0B6D-ECFDC8971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CF8C1-8C8B-4962-B425-DB48B5FCFD96}" type="datetimeFigureOut">
              <a:rPr lang="en-US" smtClean="0"/>
              <a:t>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8F09A-5936-B1C0-5F07-C704D1181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17748-45E4-5915-6120-F1249C7A0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9881-899F-4AEC-B9BC-D77D24878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552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FAA95B-55A2-490B-2321-E414DD3303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1DCB72-4263-8CFC-9FC9-F2490EAF8F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E1C355-67B4-E6D3-03E5-EA7F4B5DC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CF8C1-8C8B-4962-B425-DB48B5FCFD96}" type="datetimeFigureOut">
              <a:rPr lang="en-US" smtClean="0"/>
              <a:t>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C59AFC-9D1C-3A19-7C77-7E5381C90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6E0D4A-DD65-5648-A5BE-3E093C1FB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9881-899F-4AEC-B9BC-D77D24878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674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5C9721-DC7A-7C1A-8604-EAE971EF6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D0E5E4-3207-525E-755D-8E1DB66E3E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B03726-B186-F69F-A0CE-3183923474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3CF8C1-8C8B-4962-B425-DB48B5FCFD96}" type="datetimeFigureOut">
              <a:rPr lang="en-US" smtClean="0"/>
              <a:t>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0BA0BF-958C-E654-DAAB-2BA8D4E659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6A45E-0273-FE00-DF3C-7647DBBC30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0A9881-899F-4AEC-B9BC-D77D24878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153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FB6F9-B91E-12C9-4E9F-E47FE33DC1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26324"/>
            <a:ext cx="9144000" cy="238760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altLang="zh-TW" dirty="0"/>
              <a:t>Single Cell Analysis of </a:t>
            </a:r>
            <a:br>
              <a:rPr lang="en-US" altLang="zh-TW" dirty="0"/>
            </a:br>
            <a:r>
              <a:rPr lang="en-US" altLang="zh-TW" dirty="0"/>
              <a:t>LUAD</a:t>
            </a:r>
            <a:r>
              <a:rPr lang="zh-TW" altLang="en-US" dirty="0"/>
              <a:t> </a:t>
            </a:r>
            <a:r>
              <a:rPr lang="en-US" altLang="zh-TW" dirty="0"/>
              <a:t>in Different Stages(I)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FD6768-7D74-DE12-CED7-10A09B347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69178"/>
            <a:ext cx="9144000" cy="989839"/>
          </a:xfrm>
        </p:spPr>
        <p:txBody>
          <a:bodyPr/>
          <a:lstStyle/>
          <a:p>
            <a:r>
              <a:rPr lang="en-US" dirty="0"/>
              <a:t>2024/02/01</a:t>
            </a:r>
          </a:p>
          <a:p>
            <a:r>
              <a:rPr lang="en-US" dirty="0"/>
              <a:t>Yi Jie, Chen</a:t>
            </a:r>
          </a:p>
        </p:txBody>
      </p:sp>
    </p:spTree>
    <p:extLst>
      <p:ext uri="{BB962C8B-B14F-4D97-AF65-F5344CB8AC3E}">
        <p14:creationId xmlns:p14="http://schemas.microsoft.com/office/powerpoint/2010/main" val="1012989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E3002-128C-4437-0CDF-88F69D747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Collection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9ECBBA8-51AE-0200-407B-DB352937E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2" y="2042125"/>
            <a:ext cx="9912300" cy="33747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11EF698-6CBA-09FA-E03B-6BBF36B64250}"/>
              </a:ext>
            </a:extLst>
          </p:cNvPr>
          <p:cNvSpPr/>
          <p:nvPr/>
        </p:nvSpPr>
        <p:spPr>
          <a:xfrm>
            <a:off x="685799" y="2822713"/>
            <a:ext cx="10515599" cy="6062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31F797-0919-4162-18F6-D610419638A7}"/>
              </a:ext>
            </a:extLst>
          </p:cNvPr>
          <p:cNvSpPr txBox="1"/>
          <p:nvPr/>
        </p:nvSpPr>
        <p:spPr>
          <a:xfrm>
            <a:off x="6679096" y="1220075"/>
            <a:ext cx="31625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arenR"/>
            </a:pPr>
            <a:r>
              <a:rPr lang="en-US" dirty="0"/>
              <a:t>Clinical Records are detailed</a:t>
            </a:r>
          </a:p>
          <a:p>
            <a:pPr marL="342900" indent="-342900">
              <a:buAutoNum type="arabicParenR"/>
            </a:pPr>
            <a:r>
              <a:rPr lang="en-US" dirty="0"/>
              <a:t>Comprehensive and clear</a:t>
            </a:r>
          </a:p>
        </p:txBody>
      </p:sp>
    </p:spTree>
    <p:extLst>
      <p:ext uri="{BB962C8B-B14F-4D97-AF65-F5344CB8AC3E}">
        <p14:creationId xmlns:p14="http://schemas.microsoft.com/office/powerpoint/2010/main" val="4252478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6C2B0-DD87-CB1F-5A34-367F4D091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Format</a:t>
            </a:r>
            <a:r>
              <a:rPr lang="zh-TW" altLang="en-US" dirty="0"/>
              <a:t> </a:t>
            </a:r>
            <a:r>
              <a:rPr lang="en-US" altLang="zh-TW" dirty="0"/>
              <a:t>(GSE131907)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E050C1-DEA7-D468-FA68-B08CF84419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2353" y="1506804"/>
            <a:ext cx="8296291" cy="498607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11DFAAB-4F44-9598-951D-8162F3ABBFAE}"/>
              </a:ext>
            </a:extLst>
          </p:cNvPr>
          <p:cNvSpPr/>
          <p:nvPr/>
        </p:nvSpPr>
        <p:spPr>
          <a:xfrm>
            <a:off x="8319052" y="1321904"/>
            <a:ext cx="924339" cy="53969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3897BFB-7B36-3967-BCE6-5B7495D2A5C7}"/>
              </a:ext>
            </a:extLst>
          </p:cNvPr>
          <p:cNvSpPr/>
          <p:nvPr/>
        </p:nvSpPr>
        <p:spPr>
          <a:xfrm>
            <a:off x="8209721" y="550596"/>
            <a:ext cx="1133062" cy="63084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Stages</a:t>
            </a:r>
          </a:p>
        </p:txBody>
      </p:sp>
    </p:spTree>
    <p:extLst>
      <p:ext uri="{BB962C8B-B14F-4D97-AF65-F5344CB8AC3E}">
        <p14:creationId xmlns:p14="http://schemas.microsoft.com/office/powerpoint/2010/main" val="2184806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67FE5-107C-7EA3-43E0-E4D40D3FC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557" y="424328"/>
            <a:ext cx="10515600" cy="1325563"/>
          </a:xfrm>
        </p:spPr>
        <p:txBody>
          <a:bodyPr/>
          <a:lstStyle/>
          <a:p>
            <a:r>
              <a:rPr lang="en-US" altLang="zh-TW" dirty="0"/>
              <a:t>Data Transformation (10LUAD vs. 10Healthy)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E405DF-CF70-BE7B-5EB8-5D39A68DC2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756" y="1973565"/>
            <a:ext cx="11350487" cy="337677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3769788-1894-9239-5DE8-43C789A694A0}"/>
              </a:ext>
            </a:extLst>
          </p:cNvPr>
          <p:cNvSpPr/>
          <p:nvPr/>
        </p:nvSpPr>
        <p:spPr>
          <a:xfrm>
            <a:off x="5350567" y="1690688"/>
            <a:ext cx="2435086" cy="41644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73FE857D-A22B-8155-DAAD-396BAEDF5A05}"/>
              </a:ext>
            </a:extLst>
          </p:cNvPr>
          <p:cNvSpPr/>
          <p:nvPr/>
        </p:nvSpPr>
        <p:spPr>
          <a:xfrm>
            <a:off x="7673009" y="3343898"/>
            <a:ext cx="1709530" cy="4572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68BE22-D207-D9B1-04E0-AE4360C9C5E8}"/>
              </a:ext>
            </a:extLst>
          </p:cNvPr>
          <p:cNvSpPr/>
          <p:nvPr/>
        </p:nvSpPr>
        <p:spPr>
          <a:xfrm>
            <a:off x="9236766" y="1923637"/>
            <a:ext cx="1596886" cy="39315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8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CF50-3838-AC49-315A-53886EEF1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203" y="260952"/>
            <a:ext cx="10515600" cy="1325563"/>
          </a:xfrm>
        </p:spPr>
        <p:txBody>
          <a:bodyPr/>
          <a:lstStyle/>
          <a:p>
            <a:r>
              <a:rPr lang="en-US" dirty="0"/>
              <a:t>Data Extraction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A7C849-3182-5CE0-51FA-9989FCEF0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8249" y="1494038"/>
            <a:ext cx="7905508" cy="499883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8AE5317-763A-448D-3B5F-448ECF7FEE12}"/>
              </a:ext>
            </a:extLst>
          </p:cNvPr>
          <p:cNvSpPr/>
          <p:nvPr/>
        </p:nvSpPr>
        <p:spPr>
          <a:xfrm>
            <a:off x="7697165" y="1494038"/>
            <a:ext cx="706055" cy="49988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2208D2-0C34-14E3-8BA5-CF769E9D40B4}"/>
              </a:ext>
            </a:extLst>
          </p:cNvPr>
          <p:cNvSpPr txBox="1"/>
          <p:nvPr/>
        </p:nvSpPr>
        <p:spPr>
          <a:xfrm>
            <a:off x="4687746" y="461007"/>
            <a:ext cx="31830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sz="2400" dirty="0"/>
              <a:t>Mutation is fixed</a:t>
            </a:r>
          </a:p>
          <a:p>
            <a:pPr marL="342900" indent="-342900">
              <a:buAutoNum type="arabicParenR"/>
            </a:pPr>
            <a:r>
              <a:rPr lang="en-US" sz="2400" dirty="0"/>
              <a:t>Colored by Stage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329F0D7-2CC9-4527-31D5-EEBA6AF18AA9}"/>
              </a:ext>
            </a:extLst>
          </p:cNvPr>
          <p:cNvSpPr/>
          <p:nvPr/>
        </p:nvSpPr>
        <p:spPr>
          <a:xfrm>
            <a:off x="871373" y="1904835"/>
            <a:ext cx="506015" cy="54899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I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DBB3945-7F09-CFC1-8EDA-65CE100DFF77}"/>
              </a:ext>
            </a:extLst>
          </p:cNvPr>
          <p:cNvSpPr/>
          <p:nvPr/>
        </p:nvSpPr>
        <p:spPr>
          <a:xfrm>
            <a:off x="878796" y="3029508"/>
            <a:ext cx="506015" cy="548998"/>
          </a:xfrm>
          <a:prstGeom prst="roundRect">
            <a:avLst/>
          </a:prstGeom>
          <a:solidFill>
            <a:srgbClr val="D4C2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II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6E6DA37-1AAE-2749-DBD1-1E12657F5ACF}"/>
              </a:ext>
            </a:extLst>
          </p:cNvPr>
          <p:cNvSpPr/>
          <p:nvPr/>
        </p:nvSpPr>
        <p:spPr>
          <a:xfrm>
            <a:off x="886219" y="4154181"/>
            <a:ext cx="506015" cy="548998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III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99EA55F-6EF0-1716-5972-3B8D13D80BB9}"/>
              </a:ext>
            </a:extLst>
          </p:cNvPr>
          <p:cNvSpPr/>
          <p:nvPr/>
        </p:nvSpPr>
        <p:spPr>
          <a:xfrm>
            <a:off x="893642" y="5278854"/>
            <a:ext cx="506015" cy="54899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IV</a:t>
            </a:r>
          </a:p>
        </p:txBody>
      </p:sp>
    </p:spTree>
    <p:extLst>
      <p:ext uri="{BB962C8B-B14F-4D97-AF65-F5344CB8AC3E}">
        <p14:creationId xmlns:p14="http://schemas.microsoft.com/office/powerpoint/2010/main" val="3954332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FB6F9-B91E-12C9-4E9F-E47FE33DC1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9828" y="2500132"/>
            <a:ext cx="9144000" cy="1307938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Marker genes and Cell type</a:t>
            </a:r>
          </a:p>
        </p:txBody>
      </p:sp>
    </p:spTree>
    <p:extLst>
      <p:ext uri="{BB962C8B-B14F-4D97-AF65-F5344CB8AC3E}">
        <p14:creationId xmlns:p14="http://schemas.microsoft.com/office/powerpoint/2010/main" val="3281733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136B5-EBBC-8D4C-F4E2-60E0C482E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Patients in different stages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35AF6-45E4-756F-2C35-0D1C63957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0901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LUAD I: LUNG_N01</a:t>
            </a:r>
            <a:r>
              <a:rPr lang="zh-TW" altLang="en-US" dirty="0"/>
              <a:t> </a:t>
            </a:r>
            <a:r>
              <a:rPr lang="en-US" altLang="zh-TW" dirty="0"/>
              <a:t>/ LUNG_N20 / LUNG_T20</a:t>
            </a:r>
          </a:p>
          <a:p>
            <a:pPr>
              <a:lnSpc>
                <a:spcPct val="150000"/>
              </a:lnSpc>
            </a:pPr>
            <a:r>
              <a:rPr lang="en-US" altLang="zh-TW" dirty="0"/>
              <a:t>LUAD II: LUNG_N09 </a:t>
            </a:r>
          </a:p>
          <a:p>
            <a:pPr>
              <a:lnSpc>
                <a:spcPct val="150000"/>
              </a:lnSpc>
            </a:pPr>
            <a:r>
              <a:rPr lang="en-US" altLang="zh-TW" dirty="0"/>
              <a:t>LUAD III: LUNG_N28</a:t>
            </a:r>
          </a:p>
          <a:p>
            <a:pPr>
              <a:lnSpc>
                <a:spcPct val="150000"/>
              </a:lnSpc>
            </a:pPr>
            <a:r>
              <a:rPr lang="en-US" altLang="zh-TW" dirty="0"/>
              <a:t>LUAD IV:</a:t>
            </a:r>
            <a:r>
              <a:rPr lang="zh-TW" altLang="en-US" dirty="0"/>
              <a:t> </a:t>
            </a:r>
            <a:r>
              <a:rPr lang="en-US" dirty="0"/>
              <a:t>EBUS_28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010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1FDA7-1C0F-365D-0EC3-0CFB9B269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LUAD 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3A723F-1B08-E70D-AED5-7D9A2ABA7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171" y="1116435"/>
            <a:ext cx="8856939" cy="55621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3D6B9D-54CE-C7C6-6B95-A4F61195722D}"/>
              </a:ext>
            </a:extLst>
          </p:cNvPr>
          <p:cNvSpPr txBox="1"/>
          <p:nvPr/>
        </p:nvSpPr>
        <p:spPr>
          <a:xfrm>
            <a:off x="395890" y="2325245"/>
            <a:ext cx="3391185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 clusters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CD8+ T cell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</a:rPr>
              <a:t>Immune-related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Fibroblasts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</a:rPr>
              <a:t>Dendritic cells sub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Mast cells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Dendritic cells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 cells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Plasmacytoid dendritic cells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Endothelial cells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Pulmonary alveolar type II cells</a:t>
            </a:r>
          </a:p>
        </p:txBody>
      </p:sp>
    </p:spTree>
    <p:extLst>
      <p:ext uri="{BB962C8B-B14F-4D97-AF65-F5344CB8AC3E}">
        <p14:creationId xmlns:p14="http://schemas.microsoft.com/office/powerpoint/2010/main" val="1020620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7486F-A5A1-9672-6D37-C88D9689A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LUAD II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809291-5AF9-A56B-BEE8-AEBF408D6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4964" y="1284790"/>
            <a:ext cx="9462156" cy="55732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6609AC-FA51-1C6E-2A3E-F02937174FB0}"/>
              </a:ext>
            </a:extLst>
          </p:cNvPr>
          <p:cNvSpPr txBox="1"/>
          <p:nvPr/>
        </p:nvSpPr>
        <p:spPr>
          <a:xfrm>
            <a:off x="395890" y="2325245"/>
            <a:ext cx="3391185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 clusters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CD8+ T cell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NK cells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 cells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Fibroblasts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Mast cells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Dendritic cells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Dendritic cells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</a:rPr>
              <a:t>Plasma cells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Endothelial cells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Pulmonary alveolar type II cells</a:t>
            </a:r>
          </a:p>
        </p:txBody>
      </p:sp>
    </p:spTree>
    <p:extLst>
      <p:ext uri="{BB962C8B-B14F-4D97-AF65-F5344CB8AC3E}">
        <p14:creationId xmlns:p14="http://schemas.microsoft.com/office/powerpoint/2010/main" val="2310952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CA7C9-502E-A3C3-6F31-D1F9A23EC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LUNG_N20 </a:t>
            </a:r>
            <a:r>
              <a:rPr lang="en-US" altLang="zh-TW" dirty="0"/>
              <a:t>(</a:t>
            </a:r>
            <a:r>
              <a:rPr lang="en-US" dirty="0"/>
              <a:t>LUNG_N01</a:t>
            </a:r>
            <a:r>
              <a:rPr lang="en-US" altLang="zh-TW" dirty="0"/>
              <a:t>)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2B582D-ACD8-F1A2-0491-80EBFC345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0229" y="1580729"/>
            <a:ext cx="6803571" cy="5167312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E8AAEA4-0A34-20CA-2E06-2BAB4BC2B04E}"/>
              </a:ext>
            </a:extLst>
          </p:cNvPr>
          <p:cNvSpPr/>
          <p:nvPr/>
        </p:nvSpPr>
        <p:spPr>
          <a:xfrm>
            <a:off x="385209" y="6123008"/>
            <a:ext cx="1466740" cy="62503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Stage I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45D474-CA77-61CD-C7F2-439BB89DE9FA}"/>
              </a:ext>
            </a:extLst>
          </p:cNvPr>
          <p:cNvSpPr txBox="1"/>
          <p:nvPr/>
        </p:nvSpPr>
        <p:spPr>
          <a:xfrm>
            <a:off x="500957" y="2106354"/>
            <a:ext cx="39668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arenR"/>
            </a:pPr>
            <a:r>
              <a:rPr lang="en-US" sz="2400" dirty="0"/>
              <a:t>Gene Marker is Specified</a:t>
            </a:r>
          </a:p>
          <a:p>
            <a:pPr marL="457200" indent="-457200">
              <a:buAutoNum type="arabicParenR"/>
            </a:pPr>
            <a:r>
              <a:rPr lang="en-US" altLang="zh-TW" sz="2400" dirty="0"/>
              <a:t>Cell type Annotation is harder than Stage II</a:t>
            </a:r>
          </a:p>
        </p:txBody>
      </p:sp>
    </p:spTree>
    <p:extLst>
      <p:ext uri="{BB962C8B-B14F-4D97-AF65-F5344CB8AC3E}">
        <p14:creationId xmlns:p14="http://schemas.microsoft.com/office/powerpoint/2010/main" val="3543130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04BF4-4F24-746E-819D-36475AD2F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LUNG_T20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79880E-8B32-950C-4FDB-A429F80E3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8638" y="557972"/>
            <a:ext cx="6449325" cy="59349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9673F8-79A7-3F51-264D-B7E3706C86C3}"/>
              </a:ext>
            </a:extLst>
          </p:cNvPr>
          <p:cNvSpPr txBox="1"/>
          <p:nvPr/>
        </p:nvSpPr>
        <p:spPr>
          <a:xfrm>
            <a:off x="385209" y="1875098"/>
            <a:ext cx="37298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1) Immune-related Genes </a:t>
            </a:r>
            <a:r>
              <a:rPr lang="zh-TW" altLang="en-US" sz="2400" dirty="0"/>
              <a:t>↑</a:t>
            </a:r>
            <a:endParaRPr lang="en-US" altLang="zh-TW" sz="2400" dirty="0"/>
          </a:p>
          <a:p>
            <a:r>
              <a:rPr lang="en-US" altLang="zh-TW" sz="2400" dirty="0"/>
              <a:t>2) Multiple Markers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27C155F-6A03-8C97-AA54-128CA3C813F2}"/>
              </a:ext>
            </a:extLst>
          </p:cNvPr>
          <p:cNvSpPr/>
          <p:nvPr/>
        </p:nvSpPr>
        <p:spPr>
          <a:xfrm>
            <a:off x="385209" y="6123008"/>
            <a:ext cx="1466740" cy="62503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Stage I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03516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EA8C4-0560-39D1-7229-DE7FBE470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LUNG_N09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5272574-7429-E091-F579-A558ABCC7A16}"/>
              </a:ext>
            </a:extLst>
          </p:cNvPr>
          <p:cNvSpPr/>
          <p:nvPr/>
        </p:nvSpPr>
        <p:spPr>
          <a:xfrm>
            <a:off x="385209" y="6123008"/>
            <a:ext cx="1466740" cy="62503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Stage II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38E9B3-99D3-494A-869F-65063E2A2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5793" y="1635520"/>
            <a:ext cx="8290998" cy="488339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F45CC51-6948-C6EE-FBF8-6BE1BF2AEC85}"/>
              </a:ext>
            </a:extLst>
          </p:cNvPr>
          <p:cNvSpPr txBox="1"/>
          <p:nvPr/>
        </p:nvSpPr>
        <p:spPr>
          <a:xfrm>
            <a:off x="520859" y="2706518"/>
            <a:ext cx="290233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Compare to stage I, 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zh-TW" sz="2400" dirty="0">
                <a:solidFill>
                  <a:prstClr val="black"/>
                </a:solidFill>
                <a:latin typeface="Calibri" panose="020F0502020204030204"/>
                <a:ea typeface="新細明體" panose="02020500000000000000" pitchFamily="18" charset="-120"/>
              </a:rPr>
              <a:t>Easier to do the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“Cell Annotation”</a:t>
            </a:r>
          </a:p>
        </p:txBody>
      </p:sp>
    </p:spTree>
    <p:extLst>
      <p:ext uri="{BB962C8B-B14F-4D97-AF65-F5344CB8AC3E}">
        <p14:creationId xmlns:p14="http://schemas.microsoft.com/office/powerpoint/2010/main" val="23006066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101DB-BD8F-D7EB-A0C0-D108C4B7A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LUNG_N28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E5D66F-9171-666D-7C79-3BC2F2026A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8926" y="933889"/>
            <a:ext cx="7846135" cy="5558986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B8568C6-3585-965A-0BE4-F9157CB4A2C4}"/>
              </a:ext>
            </a:extLst>
          </p:cNvPr>
          <p:cNvSpPr/>
          <p:nvPr/>
        </p:nvSpPr>
        <p:spPr>
          <a:xfrm>
            <a:off x="385209" y="6123008"/>
            <a:ext cx="1466740" cy="62503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Stage III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56038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FB6F9-B91E-12C9-4E9F-E47FE33DC1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9828" y="2500132"/>
            <a:ext cx="9144000" cy="1307938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altLang="zh-TW" dirty="0"/>
              <a:t>Exhausted Genes 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49468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101DB-BD8F-D7EB-A0C0-D108C4B7A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LUNG_N01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B8568C6-3585-965A-0BE4-F9157CB4A2C4}"/>
              </a:ext>
            </a:extLst>
          </p:cNvPr>
          <p:cNvSpPr/>
          <p:nvPr/>
        </p:nvSpPr>
        <p:spPr>
          <a:xfrm>
            <a:off x="385209" y="6123008"/>
            <a:ext cx="1466740" cy="62503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Stage I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37A617-BD5E-CAFB-52C4-2E83533513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446" y="1590155"/>
            <a:ext cx="9815871" cy="490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2347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101DB-BD8F-D7EB-A0C0-D108C4B7A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LUNG_N09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B8568C6-3585-965A-0BE4-F9157CB4A2C4}"/>
              </a:ext>
            </a:extLst>
          </p:cNvPr>
          <p:cNvSpPr/>
          <p:nvPr/>
        </p:nvSpPr>
        <p:spPr>
          <a:xfrm>
            <a:off x="385209" y="6123008"/>
            <a:ext cx="1466740" cy="62503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Stage II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D39A1A-4098-5696-1355-1DEBF42E7E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3748" y="1539450"/>
            <a:ext cx="9733043" cy="486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912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101DB-BD8F-D7EB-A0C0-D108C4B7A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LUNG_N28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B8568C6-3585-965A-0BE4-F9157CB4A2C4}"/>
              </a:ext>
            </a:extLst>
          </p:cNvPr>
          <p:cNvSpPr/>
          <p:nvPr/>
        </p:nvSpPr>
        <p:spPr>
          <a:xfrm>
            <a:off x="385209" y="6123008"/>
            <a:ext cx="1466740" cy="62503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Stage III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6CEA3B-3539-143A-95C7-2B405F2C57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1868" y="1631354"/>
            <a:ext cx="9896650" cy="4943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0507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101DB-BD8F-D7EB-A0C0-D108C4B7A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EBUS_28</a:t>
            </a:r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B8568C6-3585-965A-0BE4-F9157CB4A2C4}"/>
              </a:ext>
            </a:extLst>
          </p:cNvPr>
          <p:cNvSpPr/>
          <p:nvPr/>
        </p:nvSpPr>
        <p:spPr>
          <a:xfrm>
            <a:off x="385209" y="6123008"/>
            <a:ext cx="1466740" cy="62503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Stage IV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5D5539-A3DD-A512-F977-17108EECF1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4137" y="816016"/>
            <a:ext cx="8372654" cy="593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4009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FB6F9-B91E-12C9-4E9F-E47FE33DC1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9828" y="2500132"/>
            <a:ext cx="9144000" cy="1307938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Trajectory Analysis</a:t>
            </a:r>
          </a:p>
        </p:txBody>
      </p:sp>
    </p:spTree>
    <p:extLst>
      <p:ext uri="{BB962C8B-B14F-4D97-AF65-F5344CB8AC3E}">
        <p14:creationId xmlns:p14="http://schemas.microsoft.com/office/powerpoint/2010/main" val="14486897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52BB901-362F-73AC-9A74-B68A0294F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894" y="636608"/>
            <a:ext cx="10764974" cy="6001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290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212179-8E13-1AB1-8653-BAE1170D4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872" y="772249"/>
            <a:ext cx="10667398" cy="6085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5121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8D24208-7F4F-F0F9-CF31-66FEE7383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91" y="682593"/>
            <a:ext cx="11239018" cy="5698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3137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30CCD0-F973-0DEF-B68F-0D01B4D5B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689" y="567098"/>
            <a:ext cx="9648710" cy="6117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205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988</TotalTime>
  <Words>489</Words>
  <Application>Microsoft Office PowerPoint</Application>
  <PresentationFormat>Widescreen</PresentationFormat>
  <Paragraphs>90</Paragraphs>
  <Slides>23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Inter</vt:lpstr>
      <vt:lpstr>Söhne</vt:lpstr>
      <vt:lpstr>Arial</vt:lpstr>
      <vt:lpstr>Arial</vt:lpstr>
      <vt:lpstr>Calibri</vt:lpstr>
      <vt:lpstr>Calibri Light</vt:lpstr>
      <vt:lpstr>Office Theme</vt:lpstr>
      <vt:lpstr>Single Cell Analysis of  LUAD in Different Stages(I)</vt:lpstr>
      <vt:lpstr>Data Collection</vt:lpstr>
      <vt:lpstr>Data Format (GSE131907)</vt:lpstr>
      <vt:lpstr>Data Transformation (10LUAD vs. 10Healthy)</vt:lpstr>
      <vt:lpstr>Data Extraction</vt:lpstr>
      <vt:lpstr>Marker genes and Cell type</vt:lpstr>
      <vt:lpstr>Patients in different stages</vt:lpstr>
      <vt:lpstr>LUAD I</vt:lpstr>
      <vt:lpstr>LUAD II</vt:lpstr>
      <vt:lpstr>LUNG_N20 (LUNG_N01)</vt:lpstr>
      <vt:lpstr>LUNG_T20</vt:lpstr>
      <vt:lpstr>LUNG_N09</vt:lpstr>
      <vt:lpstr>LUNG_N28</vt:lpstr>
      <vt:lpstr>Exhausted Genes Analysis</vt:lpstr>
      <vt:lpstr>LUNG_N01</vt:lpstr>
      <vt:lpstr>LUNG_N09</vt:lpstr>
      <vt:lpstr>LUNG_N28</vt:lpstr>
      <vt:lpstr>EBUS_28</vt:lpstr>
      <vt:lpstr>Trajectory Analysis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Single Cell Analysis of  LUAD in Different Stages(I)</dc:title>
  <dc:creator>Yi Jie Chen</dc:creator>
  <cp:lastModifiedBy>Yi Jie Chen</cp:lastModifiedBy>
  <cp:revision>21</cp:revision>
  <dcterms:created xsi:type="dcterms:W3CDTF">2024-02-01T15:57:37Z</dcterms:created>
  <dcterms:modified xsi:type="dcterms:W3CDTF">2024-02-02T08:54:31Z</dcterms:modified>
</cp:coreProperties>
</file>